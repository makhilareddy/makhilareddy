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502E9-2B4C-4017-D9B3-2D662AEF70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78F7E1-DD18-E5CC-EF59-86B862480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9552FD-3BC2-BE59-A8BA-09DE5684F40B}"/>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5" name="Footer Placeholder 4">
            <a:extLst>
              <a:ext uri="{FF2B5EF4-FFF2-40B4-BE49-F238E27FC236}">
                <a16:creationId xmlns:a16="http://schemas.microsoft.com/office/drawing/2014/main" id="{0474429B-5B58-8DA3-F523-B38EAC8CD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5BA8D-8D04-DBBB-0E77-74389F06C929}"/>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2299396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8C86B-5CD2-11D7-25DC-25C6467F7B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0FF4BA-D01A-5B11-0CC3-6915781B52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49EA83-2B1D-79C9-9607-635572397B68}"/>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5" name="Footer Placeholder 4">
            <a:extLst>
              <a:ext uri="{FF2B5EF4-FFF2-40B4-BE49-F238E27FC236}">
                <a16:creationId xmlns:a16="http://schemas.microsoft.com/office/drawing/2014/main" id="{C187FFFB-FDB6-3D9C-9614-DEAF83B12D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0FC50-5E31-A8E2-8927-5204FD6EFE8E}"/>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2460033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DC13-0814-B728-F1C9-086D7FD04D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7CD903-80B4-D920-E462-42B11CA71E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77CEB0-E57C-14D6-F6D8-5BDD90B450C8}"/>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5" name="Footer Placeholder 4">
            <a:extLst>
              <a:ext uri="{FF2B5EF4-FFF2-40B4-BE49-F238E27FC236}">
                <a16:creationId xmlns:a16="http://schemas.microsoft.com/office/drawing/2014/main" id="{568C2B92-555C-A310-AF23-1C1B5C1D9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80C22-74F4-E3F0-1ACA-DC2561B3461F}"/>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427509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ADF0-2CAF-0DC8-D47A-48CC2A93E9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6891B6-72E2-16F4-AF3D-37B4877610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25B5C6-0B1A-CEAC-7281-6EBA94A319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C479B1-4FE4-625C-9CC3-8B9C2C666AEF}"/>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6" name="Footer Placeholder 5">
            <a:extLst>
              <a:ext uri="{FF2B5EF4-FFF2-40B4-BE49-F238E27FC236}">
                <a16:creationId xmlns:a16="http://schemas.microsoft.com/office/drawing/2014/main" id="{82F42CC5-362D-9EC7-36FA-22D862F81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77E521-56D9-4976-CDBF-4E5B5DB92F0E}"/>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4223483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A3A41-2422-5102-1880-C8B609C775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83854D-88B1-D562-37C5-64DC4597C1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FA7C4E-4BD6-A0A8-45CB-6249776CFD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05310C-5090-8A66-1800-2EBDAD140F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79673E-B91D-6CFF-B914-E783A7052A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224CCC-FF2A-90B5-6090-A51121E9C59E}"/>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8" name="Footer Placeholder 7">
            <a:extLst>
              <a:ext uri="{FF2B5EF4-FFF2-40B4-BE49-F238E27FC236}">
                <a16:creationId xmlns:a16="http://schemas.microsoft.com/office/drawing/2014/main" id="{DC9B7AA4-5108-A778-E567-82A9382A1E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62E7D8-BDAD-B42F-A9B2-DC1D70BE0E54}"/>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71295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3454-8E0D-729A-C888-20675AFBAA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9B6B9F-7EFF-211C-3EDA-948618FBDE87}"/>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4" name="Footer Placeholder 3">
            <a:extLst>
              <a:ext uri="{FF2B5EF4-FFF2-40B4-BE49-F238E27FC236}">
                <a16:creationId xmlns:a16="http://schemas.microsoft.com/office/drawing/2014/main" id="{A4E404C5-6A39-D037-57F1-0D47523F51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6FA70E-AFAE-69B0-AEE4-353D7460F0E7}"/>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323836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9EBF02-22F9-B651-DEEF-9D1C96BB54C5}"/>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3" name="Footer Placeholder 2">
            <a:extLst>
              <a:ext uri="{FF2B5EF4-FFF2-40B4-BE49-F238E27FC236}">
                <a16:creationId xmlns:a16="http://schemas.microsoft.com/office/drawing/2014/main" id="{08B084F0-AB40-A6E1-43C5-C874F1A537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E48B22-2D3D-6217-4AEC-33B7AD1E35D9}"/>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181819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C80F5-871A-92DF-51C1-2C81CF5888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C4DE9C-F7B2-978D-AFCE-F34989569E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6110B5-CBF8-6C51-21E4-7401198ED8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E82DA-29A5-5968-E755-19031B33BEAC}"/>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6" name="Footer Placeholder 5">
            <a:extLst>
              <a:ext uri="{FF2B5EF4-FFF2-40B4-BE49-F238E27FC236}">
                <a16:creationId xmlns:a16="http://schemas.microsoft.com/office/drawing/2014/main" id="{09AF0114-9C39-D0FD-1476-18A48798A9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9B58F-4FA2-53FC-C838-75D87ED5CA6B}"/>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214514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3E540-8B04-0FE9-FF5A-2AD5BBEC8E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297F8-1AF5-773C-0A46-6BA6CF45FA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C6C7CA-0DD3-19DF-F6E1-061E9E024F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CDA339-68A3-F4B7-8124-2B97C29C0A6B}"/>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6" name="Footer Placeholder 5">
            <a:extLst>
              <a:ext uri="{FF2B5EF4-FFF2-40B4-BE49-F238E27FC236}">
                <a16:creationId xmlns:a16="http://schemas.microsoft.com/office/drawing/2014/main" id="{D3A2F7FE-A655-C5A5-E6BA-5B7EFFF64E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3283F-E182-F670-FFE3-91EFDA6E5C72}"/>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1958902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DDD9D-8D82-9586-0ECC-76D324A8C7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3CFC0-1F74-FE12-6795-5D6344BBD3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AC235-F00F-130A-7428-A0B44F147006}"/>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5" name="Footer Placeholder 4">
            <a:extLst>
              <a:ext uri="{FF2B5EF4-FFF2-40B4-BE49-F238E27FC236}">
                <a16:creationId xmlns:a16="http://schemas.microsoft.com/office/drawing/2014/main" id="{666E72AF-0E88-4F3D-836D-2E84B341EF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E904F3-D935-59B6-F6CA-488184D5FF7C}"/>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1583882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7C5293-B0A0-68A9-FA69-C3B5B49A5F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1DFA88-417A-A799-5AC4-81D83A3A47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1D07D3-C723-5524-16AE-255CBE46721E}"/>
              </a:ext>
            </a:extLst>
          </p:cNvPr>
          <p:cNvSpPr>
            <a:spLocks noGrp="1"/>
          </p:cNvSpPr>
          <p:nvPr>
            <p:ph type="dt" sz="half" idx="10"/>
          </p:nvPr>
        </p:nvSpPr>
        <p:spPr/>
        <p:txBody>
          <a:bodyPr/>
          <a:lstStyle/>
          <a:p>
            <a:fld id="{194C3ADF-E22B-4D21-9A8D-0E5BE67A393D}" type="datetimeFigureOut">
              <a:rPr lang="en-US" smtClean="0"/>
              <a:t>10/14/2025</a:t>
            </a:fld>
            <a:endParaRPr lang="en-US"/>
          </a:p>
        </p:txBody>
      </p:sp>
      <p:sp>
        <p:nvSpPr>
          <p:cNvPr id="5" name="Footer Placeholder 4">
            <a:extLst>
              <a:ext uri="{FF2B5EF4-FFF2-40B4-BE49-F238E27FC236}">
                <a16:creationId xmlns:a16="http://schemas.microsoft.com/office/drawing/2014/main" id="{29218036-BF22-308B-B4AF-22F292757C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0557A0-54B0-3B63-039D-D84E4523AEEA}"/>
              </a:ext>
            </a:extLst>
          </p:cNvPr>
          <p:cNvSpPr>
            <a:spLocks noGrp="1"/>
          </p:cNvSpPr>
          <p:nvPr>
            <p:ph type="sldNum" sz="quarter" idx="12"/>
          </p:nvPr>
        </p:nvSpPr>
        <p:spPr/>
        <p:txBody>
          <a:bodyPr/>
          <a:lstStyle/>
          <a:p>
            <a:fld id="{68C55432-7643-4BC8-93D4-ED0ACF90FE2A}" type="slidenum">
              <a:rPr lang="en-US" smtClean="0"/>
              <a:t>‹#›</a:t>
            </a:fld>
            <a:endParaRPr lang="en-US"/>
          </a:p>
        </p:txBody>
      </p:sp>
    </p:spTree>
    <p:extLst>
      <p:ext uri="{BB962C8B-B14F-4D97-AF65-F5344CB8AC3E}">
        <p14:creationId xmlns:p14="http://schemas.microsoft.com/office/powerpoint/2010/main" val="3133368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3DE8A-A6E0-5E15-F6BF-EC1CEC3E71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9AF9FA-B21F-3677-9D09-E20AF64CC5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6CBC6A-AD99-25EF-B53A-85A979392F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4C3ADF-E22B-4D21-9A8D-0E5BE67A393D}" type="datetimeFigureOut">
              <a:rPr lang="en-US" smtClean="0"/>
              <a:t>10/14/2025</a:t>
            </a:fld>
            <a:endParaRPr lang="en-US"/>
          </a:p>
        </p:txBody>
      </p:sp>
      <p:sp>
        <p:nvSpPr>
          <p:cNvPr id="5" name="Footer Placeholder 4">
            <a:extLst>
              <a:ext uri="{FF2B5EF4-FFF2-40B4-BE49-F238E27FC236}">
                <a16:creationId xmlns:a16="http://schemas.microsoft.com/office/drawing/2014/main" id="{A0315C07-07D6-8263-E2A1-1DCE9712FE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C8759E-7351-BB48-E4B7-C93BF70FED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C55432-7643-4BC8-93D4-ED0ACF90FE2A}" type="slidenum">
              <a:rPr lang="en-US" smtClean="0"/>
              <a:t>‹#›</a:t>
            </a:fld>
            <a:endParaRPr lang="en-US"/>
          </a:p>
        </p:txBody>
      </p:sp>
    </p:spTree>
    <p:extLst>
      <p:ext uri="{BB962C8B-B14F-4D97-AF65-F5344CB8AC3E}">
        <p14:creationId xmlns:p14="http://schemas.microsoft.com/office/powerpoint/2010/main" val="3911906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60F0D5-CFA5-2CB0-0756-40551FBEC298}"/>
              </a:ext>
            </a:extLst>
          </p:cNvPr>
          <p:cNvSpPr txBox="1"/>
          <p:nvPr/>
        </p:nvSpPr>
        <p:spPr>
          <a:xfrm>
            <a:off x="6200776" y="390525"/>
            <a:ext cx="4244975" cy="2370138"/>
          </a:xfrm>
          <a:prstGeom prst="rect">
            <a:avLst/>
          </a:prstGeom>
          <a:noFill/>
          <a:ln w="9525">
            <a:noFill/>
            <a:miter lim="800000"/>
            <a:headEnd/>
            <a:tailEnd/>
          </a:ln>
        </p:spPr>
        <p:txBody>
          <a:bodyPr lIns="0" tIns="0" rIns="0" bIns="0">
            <a:spAutoFit/>
          </a:bodyPr>
          <a:lstStyle/>
          <a:p>
            <a:pPr marL="57150" algn="just">
              <a:buClr>
                <a:schemeClr val="tx2"/>
              </a:buClr>
              <a:defRPr/>
            </a:pPr>
            <a:r>
              <a:rPr lang="en-US" b="1" dirty="0">
                <a:latin typeface="Calibri" pitchFamily="34" charset="0"/>
              </a:rPr>
              <a:t>Achievements:</a:t>
            </a:r>
          </a:p>
          <a:p>
            <a:pPr marL="285750" indent="-171450" algn="just">
              <a:buClr>
                <a:schemeClr val="tx2"/>
              </a:buClr>
              <a:buFont typeface="Arial" panose="020B0604020202020204" pitchFamily="34" charset="0"/>
              <a:buChar char="•"/>
              <a:defRPr/>
            </a:pPr>
            <a:r>
              <a:rPr lang="en-US" sz="1200" b="1" dirty="0">
                <a:solidFill>
                  <a:srgbClr val="0070C0"/>
                </a:solidFill>
                <a:latin typeface="Calibri" panose="020F0502020204030204" pitchFamily="34" charset="0"/>
              </a:rPr>
              <a:t>Alternate Display Vendor identification</a:t>
            </a:r>
          </a:p>
          <a:p>
            <a:pPr marL="742950" lvl="1" indent="-171450" algn="just">
              <a:buClr>
                <a:schemeClr val="tx2"/>
              </a:buClr>
              <a:buFont typeface="Arial" panose="020B0604020202020204" pitchFamily="34" charset="0"/>
              <a:buChar char="•"/>
              <a:defRPr/>
            </a:pPr>
            <a:r>
              <a:rPr lang="en-US" sz="1400" dirty="0">
                <a:latin typeface="Calibri" panose="020F0502020204030204" pitchFamily="34" charset="0"/>
              </a:rPr>
              <a:t>Existing Display Cost: $42.75</a:t>
            </a:r>
          </a:p>
          <a:p>
            <a:pPr marL="742950" lvl="1" indent="-171450" algn="just">
              <a:buClr>
                <a:schemeClr val="tx2"/>
              </a:buClr>
              <a:buFont typeface="Arial" panose="020B0604020202020204" pitchFamily="34" charset="0"/>
              <a:buChar char="•"/>
              <a:defRPr/>
            </a:pPr>
            <a:r>
              <a:rPr lang="en-US" sz="1400" dirty="0">
                <a:latin typeface="Calibri" panose="020F0502020204030204" pitchFamily="34" charset="0"/>
              </a:rPr>
              <a:t>Alternate Display Cost: $16</a:t>
            </a:r>
          </a:p>
          <a:p>
            <a:pPr marL="571500" lvl="1" algn="just">
              <a:buClr>
                <a:schemeClr val="tx2"/>
              </a:buClr>
              <a:defRPr/>
            </a:pPr>
            <a:endParaRPr lang="en-US" sz="1400" dirty="0">
              <a:latin typeface="Calibri" panose="020F0502020204030204" pitchFamily="34" charset="0"/>
            </a:endParaRPr>
          </a:p>
          <a:p>
            <a:pPr marL="285750" indent="-171450" algn="just">
              <a:buClr>
                <a:schemeClr val="tx2"/>
              </a:buClr>
              <a:buFont typeface="Arial" panose="020B0604020202020204" pitchFamily="34" charset="0"/>
              <a:buChar char="•"/>
              <a:defRPr/>
            </a:pPr>
            <a:r>
              <a:rPr lang="en-US" sz="1200" b="1" dirty="0">
                <a:solidFill>
                  <a:srgbClr val="0070C0"/>
                </a:solidFill>
                <a:latin typeface="Calibri" panose="020F0502020204030204" pitchFamily="34" charset="0"/>
              </a:rPr>
              <a:t>Cost Reduction Opportunities:</a:t>
            </a:r>
          </a:p>
          <a:p>
            <a:pPr marL="742950" lvl="1" indent="-171450" algn="just">
              <a:buClr>
                <a:schemeClr val="tx2"/>
              </a:buClr>
              <a:buFont typeface="Arial" panose="020B0604020202020204" pitchFamily="34" charset="0"/>
              <a:buChar char="•"/>
              <a:defRPr/>
            </a:pPr>
            <a:r>
              <a:rPr lang="en-US" sz="1400" dirty="0">
                <a:latin typeface="Calibri" panose="020F0502020204030204" pitchFamily="34" charset="0"/>
              </a:rPr>
              <a:t>Electrical Cost Reduction – 28.7%</a:t>
            </a:r>
          </a:p>
          <a:p>
            <a:pPr marL="571500" lvl="1" algn="just">
              <a:buClr>
                <a:schemeClr val="tx2"/>
              </a:buClr>
              <a:defRPr/>
            </a:pPr>
            <a:endParaRPr lang="en-US" sz="1400" dirty="0">
              <a:latin typeface="Calibri" panose="020F0502020204030204" pitchFamily="34" charset="0"/>
            </a:endParaRPr>
          </a:p>
          <a:p>
            <a:pPr marL="400050" indent="-285750" algn="just">
              <a:buClr>
                <a:schemeClr val="tx2"/>
              </a:buClr>
              <a:buFont typeface="Arial" panose="020B0604020202020204" pitchFamily="34" charset="0"/>
              <a:buChar char="•"/>
              <a:defRPr/>
            </a:pPr>
            <a:r>
              <a:rPr lang="en-US" sz="1400" dirty="0">
                <a:latin typeface="Calibri" panose="020F0502020204030204" pitchFamily="34" charset="0"/>
              </a:rPr>
              <a:t>Identified Display vendors from US as well as China.</a:t>
            </a:r>
          </a:p>
          <a:p>
            <a:pPr marL="400050" indent="-285750" algn="just">
              <a:buClr>
                <a:schemeClr val="tx2"/>
              </a:buClr>
              <a:buFont typeface="Arial" panose="020B0604020202020204" pitchFamily="34" charset="0"/>
              <a:buChar char="•"/>
              <a:defRPr/>
            </a:pPr>
            <a:r>
              <a:rPr lang="en-US" sz="1400" dirty="0">
                <a:latin typeface="Calibri" panose="020F0502020204030204" pitchFamily="34" charset="0"/>
              </a:rPr>
              <a:t>The estimated saving with the projected Annual Quantity is </a:t>
            </a:r>
            <a:r>
              <a:rPr lang="en-US" sz="1400" b="1" dirty="0">
                <a:latin typeface="Calibri" panose="020F0502020204030204" pitchFamily="34" charset="0"/>
              </a:rPr>
              <a:t>0.9M USD</a:t>
            </a:r>
            <a:r>
              <a:rPr lang="en-US" sz="1400" dirty="0">
                <a:latin typeface="Calibri" panose="020F0502020204030204" pitchFamily="34" charset="0"/>
              </a:rPr>
              <a:t>.</a:t>
            </a:r>
          </a:p>
        </p:txBody>
      </p:sp>
      <p:cxnSp>
        <p:nvCxnSpPr>
          <p:cNvPr id="5" name="Straight Connector 4">
            <a:extLst>
              <a:ext uri="{FF2B5EF4-FFF2-40B4-BE49-F238E27FC236}">
                <a16:creationId xmlns:a16="http://schemas.microsoft.com/office/drawing/2014/main" id="{9F7A7A14-22BF-0AA6-A902-1E86058D4EC5}"/>
              </a:ext>
            </a:extLst>
          </p:cNvPr>
          <p:cNvCxnSpPr/>
          <p:nvPr/>
        </p:nvCxnSpPr>
        <p:spPr>
          <a:xfrm>
            <a:off x="1717676" y="3581400"/>
            <a:ext cx="8728075" cy="0"/>
          </a:xfrm>
          <a:prstGeom prst="line">
            <a:avLst/>
          </a:prstGeom>
          <a:ln w="3175">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Box 36">
            <a:extLst>
              <a:ext uri="{FF2B5EF4-FFF2-40B4-BE49-F238E27FC236}">
                <a16:creationId xmlns:a16="http://schemas.microsoft.com/office/drawing/2014/main" id="{6B896052-633D-D099-403F-61E0B116BA01}"/>
              </a:ext>
            </a:extLst>
          </p:cNvPr>
          <p:cNvSpPr txBox="1">
            <a:spLocks noChangeArrowheads="1"/>
          </p:cNvSpPr>
          <p:nvPr/>
        </p:nvSpPr>
        <p:spPr bwMode="auto">
          <a:xfrm>
            <a:off x="1671638" y="1371600"/>
            <a:ext cx="4348162"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715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just">
              <a:buClr>
                <a:schemeClr val="tx2"/>
              </a:buClr>
              <a:defRPr/>
            </a:pPr>
            <a:r>
              <a:rPr lang="en-US" altLang="en-US" sz="1800" b="1" dirty="0">
                <a:latin typeface="Calibri" pitchFamily="34" charset="0"/>
              </a:rPr>
              <a:t>Scope:</a:t>
            </a:r>
          </a:p>
          <a:p>
            <a:pPr algn="just">
              <a:buClr>
                <a:schemeClr val="tx2"/>
              </a:buClr>
              <a:defRPr/>
            </a:pPr>
            <a:endParaRPr lang="en-US" altLang="en-US" sz="1400" b="1" dirty="0">
              <a:latin typeface="Calibri" pitchFamily="34" charset="0"/>
            </a:endParaRPr>
          </a:p>
          <a:p>
            <a:pPr algn="just">
              <a:buClr>
                <a:schemeClr val="tx2"/>
              </a:buClr>
              <a:defRPr/>
            </a:pPr>
            <a:r>
              <a:rPr lang="en-US" altLang="en-US" sz="1400" dirty="0">
                <a:latin typeface="Calibri" pitchFamily="34" charset="0"/>
              </a:rPr>
              <a:t>To perform VAVE Analysis on the PHD50 display product. The target was to study the existing Display and explore Cost Reduction opportunities on the existing product cost. There were constraints like Controller, RAM, Mechanical should not be changed. The project scope included the following:</a:t>
            </a:r>
          </a:p>
          <a:p>
            <a:pPr algn="just">
              <a:buClr>
                <a:schemeClr val="tx2"/>
              </a:buClr>
              <a:defRPr/>
            </a:pPr>
            <a:endParaRPr lang="en-US" altLang="en-US" sz="1400" dirty="0">
              <a:latin typeface="Calibri" pitchFamily="34" charset="0"/>
            </a:endParaRPr>
          </a:p>
          <a:p>
            <a:pPr marL="228600" indent="-171450" algn="just">
              <a:buClr>
                <a:schemeClr val="tx2"/>
              </a:buClr>
              <a:buFont typeface="Arial" panose="020B0604020202020204" pitchFamily="34" charset="0"/>
              <a:buChar char="•"/>
              <a:defRPr/>
            </a:pPr>
            <a:r>
              <a:rPr lang="en-US" altLang="en-US" sz="1400" dirty="0">
                <a:latin typeface="Calibri" pitchFamily="34" charset="0"/>
              </a:rPr>
              <a:t>Electrical Cost Reduction</a:t>
            </a:r>
          </a:p>
        </p:txBody>
      </p:sp>
      <p:sp>
        <p:nvSpPr>
          <p:cNvPr id="7" name="TextBox 6">
            <a:extLst>
              <a:ext uri="{FF2B5EF4-FFF2-40B4-BE49-F238E27FC236}">
                <a16:creationId xmlns:a16="http://schemas.microsoft.com/office/drawing/2014/main" id="{86427AC5-1490-4AED-B2BA-23D3DCF302EA}"/>
              </a:ext>
            </a:extLst>
          </p:cNvPr>
          <p:cNvSpPr txBox="1"/>
          <p:nvPr/>
        </p:nvSpPr>
        <p:spPr>
          <a:xfrm>
            <a:off x="1639888" y="3733801"/>
            <a:ext cx="4348162" cy="1323975"/>
          </a:xfrm>
          <a:prstGeom prst="rect">
            <a:avLst/>
          </a:prstGeom>
          <a:noFill/>
          <a:ln w="9525">
            <a:noFill/>
            <a:miter lim="800000"/>
            <a:headEnd/>
            <a:tailEnd/>
          </a:ln>
        </p:spPr>
        <p:txBody>
          <a:bodyPr lIns="0" tIns="0" rIns="0" bIns="0">
            <a:spAutoFit/>
          </a:bodyPr>
          <a:lstStyle/>
          <a:p>
            <a:pPr marL="57150" algn="just">
              <a:buClr>
                <a:schemeClr val="tx2"/>
              </a:buClr>
              <a:defRPr/>
            </a:pPr>
            <a:r>
              <a:rPr lang="en-US" b="1" dirty="0">
                <a:latin typeface="Calibri" panose="020F0502020204030204" pitchFamily="34" charset="0"/>
              </a:rPr>
              <a:t>Tools/Techniques used:</a:t>
            </a:r>
          </a:p>
          <a:p>
            <a:pPr marL="57150" algn="just">
              <a:buClr>
                <a:schemeClr val="tx2"/>
              </a:buClr>
              <a:defRPr/>
            </a:pPr>
            <a:endParaRPr lang="en-US" sz="1200" b="1" dirty="0">
              <a:latin typeface="Calibri" panose="020F0502020204030204" pitchFamily="34" charset="0"/>
            </a:endParaRPr>
          </a:p>
          <a:p>
            <a:pPr marL="285750" indent="-171450" algn="just">
              <a:buClr>
                <a:schemeClr val="tx2"/>
              </a:buClr>
              <a:buFont typeface="Arial" panose="020B0604020202020204" pitchFamily="34" charset="0"/>
              <a:buChar char="•"/>
              <a:defRPr/>
            </a:pPr>
            <a:r>
              <a:rPr lang="en-US" sz="1400" dirty="0">
                <a:latin typeface="Calibri" pitchFamily="34" charset="0"/>
              </a:rPr>
              <a:t>Silicon Expert</a:t>
            </a:r>
          </a:p>
          <a:p>
            <a:pPr marL="285750" indent="-171450" algn="just">
              <a:buClr>
                <a:schemeClr val="tx2"/>
              </a:buClr>
              <a:buFont typeface="Arial" panose="020B0604020202020204" pitchFamily="34" charset="0"/>
              <a:buChar char="•"/>
              <a:defRPr/>
            </a:pPr>
            <a:r>
              <a:rPr lang="en-US" sz="1400" dirty="0">
                <a:latin typeface="Calibri" pitchFamily="34" charset="0"/>
              </a:rPr>
              <a:t>Q-STAR</a:t>
            </a:r>
          </a:p>
          <a:p>
            <a:pPr marL="285750" indent="-171450" algn="just">
              <a:buClr>
                <a:schemeClr val="tx2"/>
              </a:buClr>
              <a:buFont typeface="Arial" panose="020B0604020202020204" pitchFamily="34" charset="0"/>
              <a:buChar char="•"/>
              <a:defRPr/>
            </a:pPr>
            <a:r>
              <a:rPr lang="en-US" sz="1400" dirty="0">
                <a:latin typeface="Calibri" pitchFamily="34" charset="0"/>
              </a:rPr>
              <a:t>Pugh Matrix</a:t>
            </a:r>
          </a:p>
          <a:p>
            <a:pPr marL="285750" indent="-171450" algn="just">
              <a:buClr>
                <a:schemeClr val="tx2"/>
              </a:buClr>
              <a:buFont typeface="Arial" panose="020B0604020202020204" pitchFamily="34" charset="0"/>
              <a:buChar char="•"/>
              <a:defRPr/>
            </a:pPr>
            <a:r>
              <a:rPr lang="en-US" sz="1400" dirty="0">
                <a:latin typeface="Calibri" pitchFamily="34" charset="0"/>
              </a:rPr>
              <a:t>Pareto Analysis</a:t>
            </a:r>
          </a:p>
        </p:txBody>
      </p:sp>
      <p:cxnSp>
        <p:nvCxnSpPr>
          <p:cNvPr id="8" name="Straight Connector 7">
            <a:extLst>
              <a:ext uri="{FF2B5EF4-FFF2-40B4-BE49-F238E27FC236}">
                <a16:creationId xmlns:a16="http://schemas.microsoft.com/office/drawing/2014/main" id="{0845184E-67A9-912F-7D91-B20649BB8093}"/>
              </a:ext>
            </a:extLst>
          </p:cNvPr>
          <p:cNvCxnSpPr/>
          <p:nvPr/>
        </p:nvCxnSpPr>
        <p:spPr>
          <a:xfrm>
            <a:off x="6162675" y="3975100"/>
            <a:ext cx="0" cy="2484438"/>
          </a:xfrm>
          <a:prstGeom prst="line">
            <a:avLst/>
          </a:prstGeom>
          <a:ln w="31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BEB8B72-4B00-F344-7EFE-67ABDC045070}"/>
              </a:ext>
            </a:extLst>
          </p:cNvPr>
          <p:cNvCxnSpPr/>
          <p:nvPr/>
        </p:nvCxnSpPr>
        <p:spPr>
          <a:xfrm>
            <a:off x="6162675" y="236539"/>
            <a:ext cx="0" cy="3748087"/>
          </a:xfrm>
          <a:prstGeom prst="line">
            <a:avLst/>
          </a:prstGeom>
          <a:ln w="3175">
            <a:solidFill>
              <a:srgbClr val="0070C0"/>
            </a:solidFill>
          </a:ln>
        </p:spPr>
        <p:style>
          <a:lnRef idx="1">
            <a:schemeClr val="accent1"/>
          </a:lnRef>
          <a:fillRef idx="0">
            <a:schemeClr val="accent1"/>
          </a:fillRef>
          <a:effectRef idx="0">
            <a:schemeClr val="accent1"/>
          </a:effectRef>
          <a:fontRef idx="minor">
            <a:schemeClr val="tx1"/>
          </a:fontRef>
        </p:style>
      </p:cxnSp>
      <p:pic>
        <p:nvPicPr>
          <p:cNvPr id="10" name="Picture 2">
            <a:extLst>
              <a:ext uri="{FF2B5EF4-FFF2-40B4-BE49-F238E27FC236}">
                <a16:creationId xmlns:a16="http://schemas.microsoft.com/office/drawing/2014/main" id="{004FEA87-851E-EF0C-22D7-AD78CFBE3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733800"/>
            <a:ext cx="1620838"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B051E1DF-FA62-3A20-D0C4-E0171ACC5C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6989" y="5227639"/>
            <a:ext cx="1514475" cy="1017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a:extLst>
              <a:ext uri="{FF2B5EF4-FFF2-40B4-BE49-F238E27FC236}">
                <a16:creationId xmlns:a16="http://schemas.microsoft.com/office/drawing/2014/main" id="{C8D4321B-77B4-4F06-2C64-EB36971812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9450" y="3821114"/>
            <a:ext cx="2209800" cy="1139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6">
            <a:extLst>
              <a:ext uri="{FF2B5EF4-FFF2-40B4-BE49-F238E27FC236}">
                <a16:creationId xmlns:a16="http://schemas.microsoft.com/office/drawing/2014/main" id="{44AC0AB2-07D6-FD7F-D7F6-B3EF773597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5189" y="5086351"/>
            <a:ext cx="1836737" cy="1033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3996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117</Words>
  <Application>Microsoft Office PowerPoint</Application>
  <PresentationFormat>Widescreen</PresentationFormat>
  <Paragraphs>21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Maddikunta Akhila</dc:creator>
  <cp:lastModifiedBy>Maddikunta Akhila</cp:lastModifiedBy>
  <cp:revision>1</cp:revision>
  <dcterms:created xsi:type="dcterms:W3CDTF">2025-10-14T07:13:34Z</dcterms:created>
  <dcterms:modified xsi:type="dcterms:W3CDTF">2025-10-14T07:14:23Z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331f486-f8b5-456b-a19a-dbe0d296c5fd_Enabled">
    <vt:lpwstr>true</vt:lpwstr>
  </property>
  <property fmtid="{D5CDD505-2E9C-101B-9397-08002B2CF9AE}" pid="3" name="MSIP_Label_7331f486-f8b5-456b-a19a-dbe0d296c5fd_SetDate">
    <vt:lpwstr>2025-10-14T07:14:23Z</vt:lpwstr>
  </property>
  <property fmtid="{D5CDD505-2E9C-101B-9397-08002B2CF9AE}" pid="4" name="MSIP_Label_7331f486-f8b5-456b-a19a-dbe0d296c5fd_Method">
    <vt:lpwstr>Privileged</vt:lpwstr>
  </property>
  <property fmtid="{D5CDD505-2E9C-101B-9397-08002B2CF9AE}" pid="5" name="MSIP_Label_7331f486-f8b5-456b-a19a-dbe0d296c5fd_Name">
    <vt:lpwstr>Company Confidential Internal Use</vt:lpwstr>
  </property>
  <property fmtid="{D5CDD505-2E9C-101B-9397-08002B2CF9AE}" pid="6" name="MSIP_Label_7331f486-f8b5-456b-a19a-dbe0d296c5fd_SiteId">
    <vt:lpwstr>edf442f5-b994-4c86-a131-b42b03a16c95</vt:lpwstr>
  </property>
  <property fmtid="{D5CDD505-2E9C-101B-9397-08002B2CF9AE}" pid="7" name="MSIP_Label_7331f486-f8b5-456b-a19a-dbe0d296c5fd_ActionId">
    <vt:lpwstr>03990cdd-c9e5-400a-8c53-b0b99d87f988</vt:lpwstr>
  </property>
  <property fmtid="{D5CDD505-2E9C-101B-9397-08002B2CF9AE}" pid="8" name="MSIP_Label_7331f486-f8b5-456b-a19a-dbe0d296c5fd_ContentBits">
    <vt:lpwstr>0</vt:lpwstr>
  </property>
  <property fmtid="{D5CDD505-2E9C-101B-9397-08002B2CF9AE}" pid="9" name="MSIP_Label_7331f486-f8b5-456b-a19a-dbe0d296c5fd_Tag">
    <vt:lpwstr>10, 0, 1, 1</vt:lpwstr>
  </property>
</Properties>
</file>