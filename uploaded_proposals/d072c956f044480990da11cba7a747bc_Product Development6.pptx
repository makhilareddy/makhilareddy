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934E-F161-7B56-00C5-3BC2B90BF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E63AA-4DEA-AA65-052E-71EEF705D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8317-A919-093E-06B1-53504FC8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F498E-E0CE-6852-C88E-2B0DC846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2793-E2D1-94B2-DFE9-CCE65635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7FD6-1C84-DB96-F016-441CFA8E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95BA-648D-913C-4A90-A7FA709FA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8CB4-39F7-3795-40DF-EC53A16F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E709-1289-1E63-390B-F47458AD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90961-43FC-0191-6AE2-7D29F476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6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34A8-6A06-FF23-35FF-159FABD7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58887-2684-32EF-AE52-1E3111EE2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B2571-3994-D2D8-F692-DD02D99B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BE88-75C4-3BD2-B205-56B06834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28C0-74D1-E692-940E-E3C62291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8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2ADD-37B2-B5DD-9342-2E45D71F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1CDA-DF34-C3BD-F990-3A9FCF39B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A9C1-DD54-ED02-8F62-38CC7310B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FD8EE-0209-D7D4-DB3B-C59C0B4F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E689F-C5A6-D76C-EE25-AB1B6023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49E81-5179-F8F0-1A49-57D655C3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2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C3CA-4494-A9B3-7EBD-A9E4F2BB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AAA7B-71F6-6ECC-C2CB-F1E48CE0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8332F-0E16-B5D8-90F1-C4F5495E1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60D83-11CD-FCA3-7F59-414CC8533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4B414-B8C1-6798-E94D-29D5CB712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2E11A-439C-9D4F-DD53-DF64846E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3F0D9-AF17-4B95-5D0E-20B261F7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EDD4E-984D-18A7-E113-B168E12C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6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DFD9-2909-5192-9E06-2FA0E67C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D9BEB-C028-3E10-5582-9FCE29EB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E08CE-DA73-9C56-FBCC-DD29866F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831A6-CD99-4E29-637F-CC2C725F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99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B8F08-4459-8D7A-8FBA-0E2E606E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9B8F1-FD09-9393-0C74-76900C80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F355E-8DC0-6B99-333B-2F388A39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2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21D7-17DA-3761-7FEA-38CD5AE3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AB96-F091-B8FA-DC48-D8EB62A6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04A02-F4B8-177A-41E7-78B32E73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06488-7950-B3F3-95AD-0A6A69CD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65204-B836-041F-DFA2-0830CAC2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6ECBA-3CD6-596D-329D-6B88FD2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9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38BF-06C0-AE58-330A-B5B57D96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85EC4-E35A-34E3-2D35-C97546ACA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B59BF-143C-95E0-2278-8A884B173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0A137-5BB3-FF87-3499-9DB22FB0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46DAC-51E1-7438-A981-F42A07C6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224D8-591A-3A31-0EBF-6C56FECB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2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D1B1-2D6F-F7A4-B247-B1F6C906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AC75D-1DFC-5D0A-9C08-09452C26F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EFE43-4E65-289D-F347-45448DA1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8F530-B197-E2EB-86C9-AB418CFC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E2648-5135-CBB9-DD1D-21B078D6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3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6719E-75EA-D6D5-5216-0B3073212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43EEF-FAB6-5E84-B3E8-51CCDC825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0FE38-F01A-CE0B-B43F-EC6A6D17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7F5A-F6DD-9D5C-0418-982A7ACB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82FC2-FC03-FF19-E185-E55492EA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1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63228-3B05-47B5-231B-DEEE7C30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9007-36EF-1835-FAD3-D725240FA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D54C-5DC2-32B8-5FDA-3F12FA0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9D9BC-FC23-4473-84B0-AD9D25EDA53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968A-1509-A80D-C9FC-BF4B1EEB1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9A4F9-BE5A-4980-E36D-35DB2B8E3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3CE47-8734-4542-B7D7-A97E5B43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7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948996-6601-97B4-AA8E-BFB3F8722DCB}"/>
              </a:ext>
            </a:extLst>
          </p:cNvPr>
          <p:cNvSpPr>
            <a:spLocks noGrp="1"/>
          </p:cNvSpPr>
          <p:nvPr/>
        </p:nvSpPr>
        <p:spPr bwMode="gray">
          <a:xfrm>
            <a:off x="385742" y="464940"/>
            <a:ext cx="982349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r>
              <a:rPr lang="en-US"/>
              <a:t>LabVIEW based Test Simulator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B47A4-9FBA-3F5F-86B5-AB68BE7469BD}"/>
              </a:ext>
            </a:extLst>
          </p:cNvPr>
          <p:cNvSpPr/>
          <p:nvPr/>
        </p:nvSpPr>
        <p:spPr>
          <a:xfrm>
            <a:off x="622482" y="1508929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39F28D-772C-CC95-7723-FF50E2324C81}"/>
              </a:ext>
            </a:extLst>
          </p:cNvPr>
          <p:cNvSpPr/>
          <p:nvPr/>
        </p:nvSpPr>
        <p:spPr>
          <a:xfrm>
            <a:off x="622482" y="1945954"/>
            <a:ext cx="3303635" cy="151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9026" indent="-162980">
              <a:spcAft>
                <a:spcPts val="533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Test Simulator to aid in regression testing of the Control Boards of various Chillers</a:t>
            </a:r>
          </a:p>
          <a:p>
            <a:pPr marL="309026" indent="-162980">
              <a:spcAft>
                <a:spcPts val="533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Hardware setup to simulate various electrical sensors</a:t>
            </a:r>
          </a:p>
          <a:p>
            <a:pPr marL="309026" indent="-162980">
              <a:spcAft>
                <a:spcPts val="533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Interface custom or proprietary tools to the simulation environment.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08BDC-7128-FFEE-64DF-3F0A543B00A5}"/>
              </a:ext>
            </a:extLst>
          </p:cNvPr>
          <p:cNvSpPr/>
          <p:nvPr/>
        </p:nvSpPr>
        <p:spPr>
          <a:xfrm>
            <a:off x="4044108" y="3617435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Challenges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3E549-4214-A037-D756-0B3CF6882854}"/>
              </a:ext>
            </a:extLst>
          </p:cNvPr>
          <p:cNvSpPr/>
          <p:nvPr/>
        </p:nvSpPr>
        <p:spPr>
          <a:xfrm>
            <a:off x="4044108" y="4117794"/>
            <a:ext cx="3460951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Custom protocol implementation in LabVIEW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Plug and Play harness to test various control boards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B3CEDF-264E-F432-DD54-B40E5A75F41F}"/>
              </a:ext>
            </a:extLst>
          </p:cNvPr>
          <p:cNvSpPr/>
          <p:nvPr/>
        </p:nvSpPr>
        <p:spPr>
          <a:xfrm>
            <a:off x="7605882" y="2985472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E1BCAA-32B4-9E47-3E11-50FF11D55D0D}"/>
              </a:ext>
            </a:extLst>
          </p:cNvPr>
          <p:cNvSpPr/>
          <p:nvPr/>
        </p:nvSpPr>
        <p:spPr>
          <a:xfrm>
            <a:off x="7437395" y="3392238"/>
            <a:ext cx="4368864" cy="30008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LabVIEW based Simulator is a customized Automated Test Execution Tool</a:t>
            </a:r>
          </a:p>
          <a:p>
            <a:pPr marL="380990" indent="-38099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The Simulator shall load the Test Cases provided as excel templates or test step and execute the Test Cases</a:t>
            </a:r>
          </a:p>
          <a:p>
            <a:pPr marL="380990" indent="-38099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The Simulator shall allow the electrical components of a Heating Ventilation and Air Conditioning (HVAC) system to be tested in a laboratory environment</a:t>
            </a:r>
          </a:p>
          <a:p>
            <a:pPr marL="380990" indent="-38099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Proprietary Protocols, NI, Pickering and Advantech drivers are integrated to Smart Simulator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9A957-EE6A-1213-78D5-62599FAD5E5E}"/>
              </a:ext>
            </a:extLst>
          </p:cNvPr>
          <p:cNvSpPr/>
          <p:nvPr/>
        </p:nvSpPr>
        <p:spPr>
          <a:xfrm>
            <a:off x="701139" y="3637144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B2818E-C83C-F1DA-FCAC-43D2B7C98586}"/>
              </a:ext>
            </a:extLst>
          </p:cNvPr>
          <p:cNvSpPr/>
          <p:nvPr/>
        </p:nvSpPr>
        <p:spPr>
          <a:xfrm>
            <a:off x="701139" y="4236614"/>
            <a:ext cx="3441281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n-lt"/>
              </a:rPr>
              <a:t>  LabVIEW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n-lt"/>
              </a:rPr>
              <a:t>  Microsoft Excel</a:t>
            </a:r>
          </a:p>
          <a:p>
            <a:pPr>
              <a:buFont typeface="Arial" pitchFamily="34" charset="0"/>
              <a:buChar char="•"/>
            </a:pPr>
            <a:r>
              <a:rPr lang="en-IN" sz="1400" dirty="0">
                <a:solidFill>
                  <a:prstClr val="black"/>
                </a:solidFill>
                <a:latin typeface="+mn-lt"/>
              </a:rPr>
              <a:t>  Visual Studio MS Test Agent</a:t>
            </a:r>
          </a:p>
          <a:p>
            <a:pPr marL="146047" indent="-146047">
              <a:buFont typeface="Arial" pitchFamily="34" charset="0"/>
              <a:buChar char="•"/>
            </a:pPr>
            <a:r>
              <a:rPr lang="en-IN" sz="1400" dirty="0">
                <a:solidFill>
                  <a:prstClr val="black"/>
                </a:solidFill>
                <a:latin typeface="+mn-lt"/>
              </a:rPr>
              <a:t>HPALMQC, Tortoise SVN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9B3F8F-06DE-BE67-230D-AA99793A0628}"/>
              </a:ext>
            </a:extLst>
          </p:cNvPr>
          <p:cNvCxnSpPr/>
          <p:nvPr/>
        </p:nvCxnSpPr>
        <p:spPr>
          <a:xfrm flipV="1">
            <a:off x="720799" y="1883369"/>
            <a:ext cx="280416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205761-63DE-1F0C-BEE4-F8B6597A12C5}"/>
              </a:ext>
            </a:extLst>
          </p:cNvPr>
          <p:cNvCxnSpPr/>
          <p:nvPr/>
        </p:nvCxnSpPr>
        <p:spPr>
          <a:xfrm flipV="1">
            <a:off x="4162088" y="4040458"/>
            <a:ext cx="304800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9BBB9B-AE3D-B4A7-1948-0CB03DF27EE5}"/>
              </a:ext>
            </a:extLst>
          </p:cNvPr>
          <p:cNvCxnSpPr/>
          <p:nvPr/>
        </p:nvCxnSpPr>
        <p:spPr>
          <a:xfrm flipV="1">
            <a:off x="7568731" y="3390301"/>
            <a:ext cx="377952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F2E9AB-2CB4-4AF4-0302-F628C26B9BED}"/>
              </a:ext>
            </a:extLst>
          </p:cNvPr>
          <p:cNvCxnSpPr/>
          <p:nvPr/>
        </p:nvCxnSpPr>
        <p:spPr>
          <a:xfrm flipV="1">
            <a:off x="701138" y="4039920"/>
            <a:ext cx="280416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499DF2D-35B1-10D1-0D8E-0461FBC31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14933"/>
          <a:stretch/>
        </p:blipFill>
        <p:spPr bwMode="auto">
          <a:xfrm>
            <a:off x="4442830" y="1487414"/>
            <a:ext cx="3068127" cy="201842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2936CF-A186-B4D0-8E85-C4C754912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89553" y="1398826"/>
            <a:ext cx="3231679" cy="16210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5FD9D1-A7E8-00BC-73BC-4D6DB3332364}"/>
              </a:ext>
            </a:extLst>
          </p:cNvPr>
          <p:cNvSpPr/>
          <p:nvPr/>
        </p:nvSpPr>
        <p:spPr>
          <a:xfrm>
            <a:off x="622481" y="5230963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Business Benefits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4BC5FA-1A95-B183-E506-E49CCD59DDCC}"/>
              </a:ext>
            </a:extLst>
          </p:cNvPr>
          <p:cNvCxnSpPr/>
          <p:nvPr/>
        </p:nvCxnSpPr>
        <p:spPr>
          <a:xfrm flipV="1">
            <a:off x="740462" y="5653987"/>
            <a:ext cx="304800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E544DCA-FE32-A655-8CE6-2C0E007907DD}"/>
              </a:ext>
            </a:extLst>
          </p:cNvPr>
          <p:cNvSpPr/>
          <p:nvPr/>
        </p:nvSpPr>
        <p:spPr>
          <a:xfrm>
            <a:off x="622482" y="5760014"/>
            <a:ext cx="658760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Virtual Testing allows the user to test the application developed with out the actual chiller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Reduction in cost by ~1600USD per 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418670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2025-10-14T06:40:34Z</dcterms:created>
  <dcterms:modified xsi:type="dcterms:W3CDTF">2025-10-14T06:41:25Z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2025-10-14T06:41:25Z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7f23895a-3a4a-4302-b33d-b6665d08d556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