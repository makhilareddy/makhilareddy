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38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E073D-BA3E-3652-281B-DF89C4317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1F1723-C94B-10A5-1746-1E9BBC9CFE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4323D-0784-A454-7D7D-885CCD85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3192-4256-489C-A9BB-E0234AC34A9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79F26-FFC4-332F-EC6C-BA2CD1C5A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10749-3808-6896-93F1-86808F36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2D54-C93C-448E-93ED-6831F0D11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9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98D1-3E07-9C42-5D9B-1AB3403E9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4FC91-BD24-D46F-9FCA-ABBFF49AC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F5CDF-B8E2-93E6-7943-734315FA7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3192-4256-489C-A9BB-E0234AC34A9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74D76-5773-537F-7277-B956F4F70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1BDB1-93B9-F143-F0A5-91794A3C7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2D54-C93C-448E-93ED-6831F0D11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72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2244B-4E43-209A-F6C6-EAA18B774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1E0C9-A79B-73F8-5F10-E84FF35DD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C44E-D0CA-64C9-02BB-BB8C33EB7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3192-4256-489C-A9BB-E0234AC34A9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23478-F0FB-7904-D9E4-273E59405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12D1D-A3D0-4D0D-7663-99F0137AF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2D54-C93C-448E-93ED-6831F0D11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82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5751C-0DF2-FF26-2459-FCDD453CD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41090-6332-5CA9-6960-534E5FBA3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1EBC1-6800-E99D-0BA3-BA4E212B1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EA98B-B8A9-CCEE-ED34-877419D8F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3192-4256-489C-A9BB-E0234AC34A9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77225-DE97-3CD2-65BE-5AB3BE95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8EB27-74CB-D253-1563-1F04EEA2B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2D54-C93C-448E-93ED-6831F0D11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0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56BE8-99A1-0D53-7DF7-5A38F582E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59066-1E47-AB42-CE7E-4FDB2E06A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C71D-E33D-D37D-E194-8A4C3511C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3C537D-661C-83E5-361F-55E4E7AFB4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F3125F-AEEA-5428-9643-EC1D23A135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D74DA3-C266-49D3-69F1-3716610B7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3192-4256-489C-A9BB-E0234AC34A9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94F56-214D-1AA7-1F41-58CCD76AF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B62DCD-50F6-7BFA-F592-00EE65ECA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2D54-C93C-448E-93ED-6831F0D11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6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2B7C-5F04-B8D2-3AEB-9D2A27BF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E65A59-7DC6-6646-2B11-69327C99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3192-4256-489C-A9BB-E0234AC34A9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7FBFA-4275-7C28-DA8A-E1804E767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60E8E7-C6AB-A134-8734-690CE9E86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2D54-C93C-448E-93ED-6831F0D11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706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FE7752-EB97-9419-55BD-A690CBE1C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3192-4256-489C-A9BB-E0234AC34A9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68B267-7BA5-C2C4-BDE3-2E3B0B737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2ECA8-8453-1077-33C6-CD6311A0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2D54-C93C-448E-93ED-6831F0D11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535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C915-9C10-0389-B607-BDFE50037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249E1-84F6-2638-9F14-7E6820AF4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283C65-6D28-75FA-0F66-1F13BAF01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3505E-619C-935B-87BC-AE439C25D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3192-4256-489C-A9BB-E0234AC34A9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02931-DCAE-5756-8BE2-9CF3EBEF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383A3-B61B-80BF-6201-619472E53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2D54-C93C-448E-93ED-6831F0D11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76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A31A3-A43D-83B2-BC8F-009E9F5C8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13BBCB-048B-5755-100D-6A21615B4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A8639-8EE0-6843-75EF-748B87816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DFFBF-0AAC-7AFE-A260-27F4412B7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3192-4256-489C-A9BB-E0234AC34A9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D1514-87D7-EE6F-E122-A78026C19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AE826-E6C5-0E8B-1244-C5312670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2D54-C93C-448E-93ED-6831F0D11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0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B5FDD-10D7-6AED-53F2-E2E7CA277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D0D1C2-5BD9-C1F2-A73F-B585F0500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A48AF-D970-AE48-2D77-F7FE6A0DB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3192-4256-489C-A9BB-E0234AC34A9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32E48-50AA-2B90-8499-6E7DCCDB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B4F0F-2F0D-E9E7-CC4F-FB431631F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2D54-C93C-448E-93ED-6831F0D11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73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01BE3F-8BC2-2677-EEE8-5A7A46F1B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06E38-6353-3D4A-5DEE-F80A31015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59F76-16B6-275E-3149-28262C49D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3192-4256-489C-A9BB-E0234AC34A9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53C16-6D16-98AA-E0F2-D2C0DE6CE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BD584-5586-AF36-824E-C59F6773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2D54-C93C-448E-93ED-6831F0D11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05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flipH="1">
            <a:off x="-5" y="247653"/>
            <a:ext cx="10582280" cy="7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5969" y="377986"/>
            <a:ext cx="10440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60" y="968081"/>
            <a:ext cx="10566593" cy="232635"/>
          </a:xfrm>
          <a:prstGeom prst="rect">
            <a:avLst/>
          </a:prstGeom>
        </p:spPr>
      </p:pic>
      <p:sp>
        <p:nvSpPr>
          <p:cNvPr id="20" name="Title 1"/>
          <p:cNvSpPr>
            <a:spLocks noGrp="1"/>
          </p:cNvSpPr>
          <p:nvPr>
            <p:ph type="title"/>
          </p:nvPr>
        </p:nvSpPr>
        <p:spPr bwMode="gray">
          <a:xfrm>
            <a:off x="530183" y="393375"/>
            <a:ext cx="9823495" cy="430887"/>
          </a:xfr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>
            <a:lvl1pPr algn="l"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6C96D009-BD9B-4C2A-8352-92EEEC286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811" y="484049"/>
            <a:ext cx="935991" cy="265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365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260EDB-7CFE-75A5-DD6B-5DA75F37E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4B32B-2C9C-FB6D-F8CD-1FA8EFDCE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4F238-6B74-64A9-7E02-A9A4D5358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283192-4256-489C-A9BB-E0234AC34A9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0D5BD-4042-448C-6E6C-243998EC15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8FDDC-7416-E750-9C00-0EAEACBB63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62D54-C93C-448E-93ED-6831F0D11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75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056" y="393375"/>
            <a:ext cx="9823495" cy="387798"/>
          </a:xfrm>
          <a:noFill/>
          <a:ln w="9525">
            <a:noFill/>
            <a:miter lim="800000"/>
            <a:headEnd/>
            <a:tailEnd/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/>
              <a:t>Obsolescence Management – Power Devices &amp; others</a:t>
            </a:r>
          </a:p>
        </p:txBody>
      </p:sp>
      <p:sp>
        <p:nvSpPr>
          <p:cNvPr id="13" name="TextBox 36"/>
          <p:cNvSpPr txBox="1">
            <a:spLocks noChangeArrowheads="1"/>
          </p:cNvSpPr>
          <p:nvPr/>
        </p:nvSpPr>
        <p:spPr bwMode="auto">
          <a:xfrm>
            <a:off x="604563" y="1129971"/>
            <a:ext cx="5797551" cy="2303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5715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just">
              <a:buClr>
                <a:schemeClr val="tx2"/>
              </a:buClr>
              <a:defRPr/>
            </a:pPr>
            <a:r>
              <a:rPr lang="en-US" altLang="en-US" sz="1600" b="1" dirty="0">
                <a:solidFill>
                  <a:schemeClr val="tx2"/>
                </a:solidFill>
                <a:latin typeface="+mj-lt"/>
              </a:rPr>
              <a:t>Scope:</a:t>
            </a:r>
          </a:p>
          <a:p>
            <a:pPr marL="95996" algn="just">
              <a:spcBef>
                <a:spcPts val="200"/>
              </a:spcBef>
              <a:spcAft>
                <a:spcPts val="200"/>
              </a:spcAft>
              <a:defRPr/>
            </a:pPr>
            <a:r>
              <a:rPr lang="en-US" sz="1400" dirty="0">
                <a:latin typeface="+mj-lt"/>
              </a:rPr>
              <a:t>Complete Ownership of product obsolescence activities for components in VFDs:</a:t>
            </a:r>
          </a:p>
          <a:p>
            <a:pPr marL="335984" indent="-239989" algn="just">
              <a:spcBef>
                <a:spcPts val="200"/>
              </a:spcBef>
              <a:spcAft>
                <a:spcPts val="200"/>
              </a:spcAft>
              <a:buFont typeface="Times" panose="02020603050405020304" pitchFamily="18" charset="0"/>
              <a:buChar char="•"/>
              <a:defRPr/>
            </a:pPr>
            <a:r>
              <a:rPr lang="en-US" sz="1400" dirty="0">
                <a:latin typeface="+mj-lt"/>
              </a:rPr>
              <a:t>Requirement analysis based on PCN / </a:t>
            </a:r>
            <a:r>
              <a:rPr lang="en-US" sz="1400" dirty="0" err="1">
                <a:latin typeface="+mj-lt"/>
              </a:rPr>
              <a:t>EoL</a:t>
            </a:r>
            <a:r>
              <a:rPr lang="en-US" sz="1400" dirty="0">
                <a:latin typeface="+mj-lt"/>
              </a:rPr>
              <a:t> notification from suppliers</a:t>
            </a:r>
          </a:p>
          <a:p>
            <a:pPr marL="335984" indent="-239989" algn="just">
              <a:spcBef>
                <a:spcPts val="200"/>
              </a:spcBef>
              <a:spcAft>
                <a:spcPts val="200"/>
              </a:spcAft>
              <a:buFont typeface="Times" panose="02020603050405020304" pitchFamily="18" charset="0"/>
              <a:buChar char="•"/>
              <a:defRPr/>
            </a:pPr>
            <a:r>
              <a:rPr lang="en-US" sz="1400" dirty="0">
                <a:latin typeface="+mj-lt"/>
              </a:rPr>
              <a:t>Component usage in products, BoM affected by change</a:t>
            </a:r>
          </a:p>
          <a:p>
            <a:pPr marL="335984" indent="-239989" algn="just">
              <a:spcBef>
                <a:spcPts val="200"/>
              </a:spcBef>
              <a:spcAft>
                <a:spcPts val="200"/>
              </a:spcAft>
              <a:buFont typeface="Times" panose="02020603050405020304" pitchFamily="18" charset="0"/>
              <a:buChar char="•"/>
              <a:defRPr/>
            </a:pPr>
            <a:r>
              <a:rPr lang="en-US" sz="1400" dirty="0">
                <a:latin typeface="+mj-lt"/>
              </a:rPr>
              <a:t>Assess impact on UL file</a:t>
            </a:r>
          </a:p>
          <a:p>
            <a:pPr marL="335984" indent="-239989" algn="just">
              <a:spcBef>
                <a:spcPts val="200"/>
              </a:spcBef>
              <a:spcAft>
                <a:spcPts val="200"/>
              </a:spcAft>
              <a:buFont typeface="Times" panose="02020603050405020304" pitchFamily="18" charset="0"/>
              <a:buChar char="•"/>
              <a:defRPr/>
            </a:pPr>
            <a:r>
              <a:rPr lang="en-US" sz="1400" dirty="0">
                <a:latin typeface="+mj-lt"/>
              </a:rPr>
              <a:t>Search alternate components, generate technical comparison and propose commercial strategy</a:t>
            </a:r>
          </a:p>
          <a:p>
            <a:pPr marL="335984" indent="-239989" algn="just">
              <a:spcBef>
                <a:spcPts val="200"/>
              </a:spcBef>
              <a:spcAft>
                <a:spcPts val="200"/>
              </a:spcAft>
              <a:buFont typeface="Times" panose="02020603050405020304" pitchFamily="18" charset="0"/>
              <a:buChar char="•"/>
              <a:defRPr/>
            </a:pPr>
            <a:r>
              <a:rPr lang="en-US" sz="1400" dirty="0">
                <a:latin typeface="+mj-lt"/>
              </a:rPr>
              <a:t>Procure samples, validate and generate test reports</a:t>
            </a:r>
          </a:p>
          <a:p>
            <a:pPr marL="335984" indent="-239989" algn="just">
              <a:spcBef>
                <a:spcPts val="200"/>
              </a:spcBef>
              <a:spcAft>
                <a:spcPts val="200"/>
              </a:spcAft>
              <a:buFont typeface="Times" panose="02020603050405020304" pitchFamily="18" charset="0"/>
              <a:buChar char="•"/>
              <a:defRPr/>
            </a:pPr>
            <a:r>
              <a:rPr lang="en-US" sz="1400" dirty="0">
                <a:latin typeface="+mj-lt"/>
              </a:rPr>
              <a:t>Raise ECN and update design documents (BoM, schematics, layouts, </a:t>
            </a:r>
            <a:r>
              <a:rPr lang="en-US" sz="1400" dirty="0" err="1">
                <a:latin typeface="+mj-lt"/>
              </a:rPr>
              <a:t>etc</a:t>
            </a:r>
            <a:r>
              <a:rPr lang="en-US" sz="1400" dirty="0">
                <a:latin typeface="+mj-lt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563" y="3781964"/>
            <a:ext cx="6922672" cy="2831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76197" algn="just">
              <a:buClr>
                <a:schemeClr val="tx2"/>
              </a:buClr>
              <a:defRPr/>
            </a:pPr>
            <a:r>
              <a:rPr lang="en-US" sz="1600" b="1" dirty="0">
                <a:solidFill>
                  <a:schemeClr val="tx2"/>
                </a:solidFill>
                <a:latin typeface="+mj-lt"/>
              </a:rPr>
              <a:t>CIB modules and IGBTs:</a:t>
            </a:r>
          </a:p>
          <a:p>
            <a:pPr marL="335984" indent="-228589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+mj-lt"/>
              </a:rPr>
              <a:t>Characteristic comparison</a:t>
            </a:r>
          </a:p>
          <a:p>
            <a:pPr marL="335984" indent="-228589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+mj-lt"/>
              </a:rPr>
              <a:t>Gate resistance assessment</a:t>
            </a:r>
          </a:p>
          <a:p>
            <a:pPr marL="335984" indent="-228589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+mj-lt"/>
              </a:rPr>
              <a:t>Power Loss calculation and assess changes required in product</a:t>
            </a:r>
          </a:p>
          <a:p>
            <a:pPr marL="335984" indent="-228589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+mj-lt"/>
              </a:rPr>
              <a:t>Procure samples and validate</a:t>
            </a:r>
          </a:p>
          <a:p>
            <a:pPr marL="945568" lvl="1" indent="-228589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+mj-lt"/>
              </a:rPr>
              <a:t>Switching characteristics</a:t>
            </a:r>
          </a:p>
          <a:p>
            <a:pPr marL="945568" lvl="1" indent="-228589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+mj-lt"/>
              </a:rPr>
              <a:t>Temperature rise test</a:t>
            </a:r>
          </a:p>
          <a:p>
            <a:pPr marL="945568" lvl="1" indent="-228589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+mj-lt"/>
              </a:rPr>
              <a:t>Overload behavior</a:t>
            </a:r>
          </a:p>
          <a:p>
            <a:pPr marL="335984" indent="-228589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+mj-lt"/>
              </a:rPr>
              <a:t>BoM, schematic and PCB layout update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617" y="1425965"/>
            <a:ext cx="2155647" cy="1695548"/>
          </a:xfrm>
          <a:prstGeom prst="rect">
            <a:avLst/>
          </a:prstGeom>
        </p:spPr>
      </p:pic>
      <p:pic>
        <p:nvPicPr>
          <p:cNvPr id="12294" name="Picture 6" descr="Image result for CIB modul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1203" y="1425964"/>
            <a:ext cx="2286000" cy="171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36"/>
          <p:cNvSpPr txBox="1">
            <a:spLocks noChangeArrowheads="1"/>
          </p:cNvSpPr>
          <p:nvPr/>
        </p:nvSpPr>
        <p:spPr bwMode="auto">
          <a:xfrm>
            <a:off x="8121672" y="5106705"/>
            <a:ext cx="237881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715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just">
              <a:buClr>
                <a:schemeClr val="tx2"/>
              </a:buClr>
              <a:defRPr/>
            </a:pPr>
            <a:r>
              <a:rPr lang="en-US" altLang="en-US" sz="1100" b="1" dirty="0">
                <a:solidFill>
                  <a:schemeClr val="bg2"/>
                </a:solidFill>
                <a:latin typeface="+mj-lt"/>
              </a:rPr>
              <a:t>Regenerative test set-up in PE lab</a:t>
            </a:r>
            <a:endParaRPr lang="en-US" sz="1100" dirty="0">
              <a:latin typeface="+mj-lt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r="67325"/>
          <a:stretch/>
        </p:blipFill>
        <p:spPr>
          <a:xfrm>
            <a:off x="8057160" y="3240745"/>
            <a:ext cx="2443329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95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</vt:lpstr>
      <vt:lpstr>Office Theme</vt:lpstr>
      <vt:lpstr>Obsolescence Management – Power Devices &amp; others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2</cp:revision>
  <dcterms:created xsi:type="dcterms:W3CDTF">2025-10-14T11:41:52Z</dcterms:created>
  <dcterms:modified xsi:type="dcterms:W3CDTF">2025-10-14T11:42:52Z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2025-10-14T11:42:37Z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bb1e7231-1d78-4c9c-892d-f7f3295daa4c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