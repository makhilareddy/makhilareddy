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1C33D-BDED-0B25-5071-A8F25BE0C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61D9-041E-2EA7-0DC6-6CBDF3EDC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8A303-471C-0196-753D-D24684D64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F8320-9EE6-4596-A021-CB3C9541C45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19F7F-0F7C-5BF0-AD98-A7BA537A8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3B294-258C-9F11-31C1-7159611E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126A-6232-4CAA-8D5A-A9DF2E62D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5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913CB-A15D-1709-96FF-388DEA105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ED5EB-7AFE-9958-F0BF-850FB7574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58435-6E42-5D53-28E4-E96589E7C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F8320-9EE6-4596-A021-CB3C9541C45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2FCF5-D434-078C-48BC-28B77FE8D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14531-5A71-7E63-B0FF-C3434632B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126A-6232-4CAA-8D5A-A9DF2E62D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57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2152A-C071-44C4-3D35-65D8AB48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746EF-A200-0527-555A-8A6367F26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04254-7D81-0DA4-3B2A-BDAC65D77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F8320-9EE6-4596-A021-CB3C9541C45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0815D-29DA-4276-8922-9C678D633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4A226-6C8D-92F3-0BC7-05E9170C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126A-6232-4CAA-8D5A-A9DF2E62D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85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21624-827B-BB80-F690-255FAD0F3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B7F9C-81AF-D3A0-8333-04C63562E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E8250F-E1EA-424A-755E-CFF031AA8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B2A7A-F6A5-5045-7347-2A62010BB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F8320-9EE6-4596-A021-CB3C9541C45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D3825-C39B-D843-6AAC-9A30BDCD8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59D14-F179-8A8F-56AB-EEE20C913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126A-6232-4CAA-8D5A-A9DF2E62D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21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22036-EDBF-A0FF-2DB7-5CFDAE881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3EDF1-5BE7-9F45-823F-8EE158AE0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7ECFA-ED3E-809B-BA84-BF4355A86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F970CC-8119-B478-27F4-AAE4D0419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08F8E-CE62-EAA0-39A8-8A52CFCBD0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B77669-DCDF-8424-4C36-0FDEC185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F8320-9EE6-4596-A021-CB3C9541C45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238667-9481-AC72-EAD1-33E642F8C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30B0A-9C3E-3299-1EA1-FF35FB0E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126A-6232-4CAA-8D5A-A9DF2E62D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6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7E683-F26A-1C7A-8681-7784CF858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216101-853B-8EF0-7D4C-6D537F29A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F8320-9EE6-4596-A021-CB3C9541C45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BF849E-BF3D-3C67-AD3B-1ADE3EE1F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2EA08-08FC-8547-604F-7096542CE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126A-6232-4CAA-8D5A-A9DF2E62D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73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E4960E-D7ED-8A48-705E-CB0A91741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F8320-9EE6-4596-A021-CB3C9541C45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BDA39F-8F11-C08E-65B9-FB9A7A2CE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89FE4-C6EF-BCB0-0D7A-2E0615C3D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126A-6232-4CAA-8D5A-A9DF2E62D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78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6D6F9-A196-0EE0-B588-ED4AC29E7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CA4B0-D562-2F9D-921E-A9E5ADCA9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E5B36-F608-A3D2-E9AA-37956D2C5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075E5-7EA3-83DA-9F14-21A939759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F8320-9EE6-4596-A021-CB3C9541C45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A37A2-D0A1-3609-B9EB-37A43C23E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BD17F-0D79-2EAC-68E8-95E97CD1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126A-6232-4CAA-8D5A-A9DF2E62D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97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3DF06-CCB6-F757-DEEF-B1F77F6ED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BBA55C-F953-79E9-3076-6AE684550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71FD5-72ED-A347-DFFC-D852D30BC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1DE43-2163-3FC3-E6B1-8ACD71A36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F8320-9EE6-4596-A021-CB3C9541C45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48B9B-2350-5CFC-A67D-D32F49965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E6B08-9504-6270-CD4A-5C5F762A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126A-6232-4CAA-8D5A-A9DF2E62D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684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144CE-635F-9694-10AD-65F9DBB9B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3C89A-32DD-A7E3-C390-DF0BA8C4A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361EE-4155-7FF4-CC53-E3695B3F5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F8320-9EE6-4596-A021-CB3C9541C45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969AE-A5B0-8718-0691-E5490F2F0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D6E1C-4BEE-F4E1-7C57-0C94AB07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126A-6232-4CAA-8D5A-A9DF2E62D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964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DF097C-E400-3DAB-F8F0-9AB20D7E29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97A35E-0E45-3D44-6E77-4C86095CD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967E7-F815-F998-8EFE-89E754A7C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F8320-9EE6-4596-A021-CB3C9541C45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270D0-9116-D354-3436-62657765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CAB64-2F32-7DB4-4538-9F0CA0DDD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B126A-6232-4CAA-8D5A-A9DF2E62D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0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5A5BA0-A724-0F17-8256-7E5498C1A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2B76D-E022-8EB2-3A83-458FB7FCA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3793E-95ED-120E-A9C4-8E18D94515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F8320-9EE6-4596-A021-CB3C9541C45C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4400A-F241-5F83-8E6A-C2036F39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B56EC-8728-9DDB-C3B0-C120BBABD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2B126A-6232-4CAA-8D5A-A9DF2E62D6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60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AF741FD-BE30-1DC4-7B04-1B729B408AA4}"/>
              </a:ext>
            </a:extLst>
          </p:cNvPr>
          <p:cNvSpPr txBox="1">
            <a:spLocks/>
          </p:cNvSpPr>
          <p:nvPr/>
        </p:nvSpPr>
        <p:spPr>
          <a:xfrm>
            <a:off x="976393" y="518046"/>
            <a:ext cx="10594426" cy="5197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2600">
                <a:solidFill>
                  <a:srgbClr val="4D4D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MT700 Modules Firmware Porting</a:t>
            </a:r>
            <a:endParaRPr lang="en-IN" sz="2600" dirty="0">
              <a:solidFill>
                <a:srgbClr val="4D4D4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5CABC8-49FC-4AE2-D011-8600BFB76F72}"/>
              </a:ext>
            </a:extLst>
          </p:cNvPr>
          <p:cNvSpPr/>
          <p:nvPr/>
        </p:nvSpPr>
        <p:spPr>
          <a:xfrm>
            <a:off x="766924" y="1304447"/>
            <a:ext cx="745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B0AEA6-48F1-4AAD-F748-6E5C39A1A384}"/>
              </a:ext>
            </a:extLst>
          </p:cNvPr>
          <p:cNvSpPr/>
          <p:nvPr/>
        </p:nvSpPr>
        <p:spPr>
          <a:xfrm>
            <a:off x="766924" y="1749551"/>
            <a:ext cx="4328392" cy="1695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189" indent="-457189">
              <a:lnSpc>
                <a:spcPct val="107000"/>
              </a:lnSpc>
              <a:buFont typeface="Symbol" panose="05050102010706020507" pitchFamily="18" charset="2"/>
              <a:buChar char=""/>
              <a:defRPr/>
            </a:pPr>
            <a:r>
              <a:rPr lang="cs-CZ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port the existing </a:t>
            </a: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MT700 </a:t>
            </a:r>
            <a:r>
              <a:rPr lang="cs-CZ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firmware </a:t>
            </a: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ST controller </a:t>
            </a:r>
            <a:r>
              <a:rPr lang="cs-CZ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Geehy</a:t>
            </a: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controller using GEEHY </a:t>
            </a:r>
            <a:r>
              <a:rPr lang="cs-CZ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peripheral libraries</a:t>
            </a: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six expansion modules</a:t>
            </a:r>
            <a:r>
              <a:rPr lang="cs-CZ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lnSpc>
                <a:spcPct val="107000"/>
              </a:lnSpc>
              <a:buFont typeface="Symbol" panose="05050102010706020507" pitchFamily="18" charset="2"/>
              <a:buChar char=""/>
              <a:defRPr/>
            </a:pP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lnSpc>
                <a:spcPct val="107000"/>
              </a:lnSpc>
              <a:buFont typeface="Symbol" panose="05050102010706020507" pitchFamily="18" charset="2"/>
              <a:buChar char="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Due to supply issues with ST Microelectronics, the GEEHY microcontroller has been specified as an alternative part to alleviate the supply constraints.</a:t>
            </a:r>
            <a:endParaRPr lang="en-US" alt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1C1F25-D4D6-D23F-D7CE-9EB48C62475C}"/>
              </a:ext>
            </a:extLst>
          </p:cNvPr>
          <p:cNvSpPr/>
          <p:nvPr/>
        </p:nvSpPr>
        <p:spPr>
          <a:xfrm>
            <a:off x="5207708" y="3449418"/>
            <a:ext cx="27266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38BFCB-D21B-1075-1A14-22CE8F994452}"/>
              </a:ext>
            </a:extLst>
          </p:cNvPr>
          <p:cNvCxnSpPr>
            <a:cxnSpLocks/>
          </p:cNvCxnSpPr>
          <p:nvPr/>
        </p:nvCxnSpPr>
        <p:spPr>
          <a:xfrm flipV="1">
            <a:off x="766924" y="1705537"/>
            <a:ext cx="280416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864764-0938-D260-A9A6-26F74CAAAF48}"/>
              </a:ext>
            </a:extLst>
          </p:cNvPr>
          <p:cNvCxnSpPr>
            <a:cxnSpLocks/>
          </p:cNvCxnSpPr>
          <p:nvPr/>
        </p:nvCxnSpPr>
        <p:spPr>
          <a:xfrm>
            <a:off x="5207709" y="3814516"/>
            <a:ext cx="3236169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C95E1-449C-CE40-77AA-491BDC578577}"/>
              </a:ext>
            </a:extLst>
          </p:cNvPr>
          <p:cNvCxnSpPr>
            <a:cxnSpLocks/>
          </p:cNvCxnSpPr>
          <p:nvPr/>
        </p:nvCxnSpPr>
        <p:spPr>
          <a:xfrm flipV="1">
            <a:off x="766924" y="4744479"/>
            <a:ext cx="304800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BEAEAD4-1274-09A3-1743-9795527711B0}"/>
              </a:ext>
            </a:extLst>
          </p:cNvPr>
          <p:cNvSpPr/>
          <p:nvPr/>
        </p:nvSpPr>
        <p:spPr>
          <a:xfrm>
            <a:off x="766925" y="4780978"/>
            <a:ext cx="344128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81" indent="-380981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Eclipse IDE</a:t>
            </a:r>
          </a:p>
          <a:p>
            <a:pPr marL="380981" indent="-380981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32-bit ARM Cortex Microcontroller</a:t>
            </a:r>
          </a:p>
          <a:p>
            <a:pPr marL="380981" indent="-380981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J-Link Debugger</a:t>
            </a:r>
          </a:p>
          <a:p>
            <a:pPr marL="380981" indent="-380981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Modbus RTU</a:t>
            </a:r>
          </a:p>
          <a:p>
            <a:pPr marL="380981" indent="-380981"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Modbus Poll application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BE939E-4E76-0D1E-1B87-7DCD762BC1A1}"/>
              </a:ext>
            </a:extLst>
          </p:cNvPr>
          <p:cNvSpPr/>
          <p:nvPr/>
        </p:nvSpPr>
        <p:spPr>
          <a:xfrm>
            <a:off x="671973" y="4359087"/>
            <a:ext cx="1388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27863E-5E51-C0DC-428D-65E4E91ECAB0}"/>
              </a:ext>
            </a:extLst>
          </p:cNvPr>
          <p:cNvSpPr/>
          <p:nvPr/>
        </p:nvSpPr>
        <p:spPr>
          <a:xfrm>
            <a:off x="4982927" y="3797010"/>
            <a:ext cx="346095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5760" lvl="1" indent="-171446" defTabSz="914332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Common source for both ST and GEEHY. Code changes for GEEHY shouldn’t change the ST hex file size.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D7BF9B-D1CA-28CD-FEC6-2A8DF6831641}"/>
              </a:ext>
            </a:extLst>
          </p:cNvPr>
          <p:cNvSpPr/>
          <p:nvPr/>
        </p:nvSpPr>
        <p:spPr>
          <a:xfrm>
            <a:off x="5040302" y="5268655"/>
            <a:ext cx="344417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81" lvl="2" indent="-38098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MT700 product continuity without any hardware changes in PCB with new GEEHY microcontroller.</a:t>
            </a:r>
            <a:endParaRPr lang="en-US" alt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0C192E-169D-7195-7AB0-3790504388A7}"/>
              </a:ext>
            </a:extLst>
          </p:cNvPr>
          <p:cNvCxnSpPr>
            <a:cxnSpLocks/>
          </p:cNvCxnSpPr>
          <p:nvPr/>
        </p:nvCxnSpPr>
        <p:spPr>
          <a:xfrm>
            <a:off x="5095317" y="5256919"/>
            <a:ext cx="3236169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DD27B5F-0E4B-AE0C-B2A2-01AFC949A6C4}"/>
              </a:ext>
            </a:extLst>
          </p:cNvPr>
          <p:cNvSpPr/>
          <p:nvPr/>
        </p:nvSpPr>
        <p:spPr>
          <a:xfrm>
            <a:off x="5013868" y="4877270"/>
            <a:ext cx="3134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Benefits and Improvements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144F9-48F3-2C9C-A3FF-357C0E657312}"/>
              </a:ext>
            </a:extLst>
          </p:cNvPr>
          <p:cNvSpPr txBox="1"/>
          <p:nvPr/>
        </p:nvSpPr>
        <p:spPr>
          <a:xfrm>
            <a:off x="8731050" y="5484099"/>
            <a:ext cx="346095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80981" indent="-380981" defTabSz="914332">
              <a:spcBef>
                <a:spcPct val="0"/>
              </a:spcBef>
              <a:spcAft>
                <a:spcPct val="0"/>
              </a:spcAft>
              <a:buClr>
                <a:srgbClr val="160A47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Ported firmware with complete testing of the product.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B01F7E-C82B-7F80-A463-7DB2098A0AF1}"/>
              </a:ext>
            </a:extLst>
          </p:cNvPr>
          <p:cNvCxnSpPr>
            <a:cxnSpLocks/>
          </p:cNvCxnSpPr>
          <p:nvPr/>
        </p:nvCxnSpPr>
        <p:spPr>
          <a:xfrm>
            <a:off x="8851829" y="5401684"/>
            <a:ext cx="3236169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CF42AA6-5261-8DE4-F5E0-6BA006B79FB1}"/>
              </a:ext>
            </a:extLst>
          </p:cNvPr>
          <p:cNvSpPr/>
          <p:nvPr/>
        </p:nvSpPr>
        <p:spPr>
          <a:xfrm>
            <a:off x="8953764" y="5032352"/>
            <a:ext cx="3134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77A0BF9-B86A-4DB8-1CDC-DDCDA2E7E75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20713" y="1473724"/>
            <a:ext cx="1320060" cy="151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Graphic 3">
            <a:extLst>
              <a:ext uri="{FF2B5EF4-FFF2-40B4-BE49-F238E27FC236}">
                <a16:creationId xmlns:a16="http://schemas.microsoft.com/office/drawing/2014/main" id="{3F7C380B-5703-4716-1C8C-50980CF863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8039" y="3304395"/>
            <a:ext cx="1213125" cy="139623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618BF10-411A-C672-9A81-5B430471BD52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255458" y="3304395"/>
            <a:ext cx="1213125" cy="1409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0706882-AA92-1AE1-6855-A99E4E41FC31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177725" y="1487094"/>
            <a:ext cx="1235676" cy="151931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5F6E7B9-E567-B7F9-8ABB-9FB992CD1305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530263" y="1487094"/>
            <a:ext cx="1235676" cy="151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E586770-6F46-93F8-B0D6-92CB9CF93689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875488" y="1487094"/>
            <a:ext cx="1235676" cy="151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26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Symbol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2025-10-10T05:44:01Z</dcterms:created>
  <dcterms:modified xsi:type="dcterms:W3CDTF">2025-10-10T05:45:13Z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2025-10-10T05:45:13Z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9ae77a79-56fa-4031-a8e0-f87137deedfd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