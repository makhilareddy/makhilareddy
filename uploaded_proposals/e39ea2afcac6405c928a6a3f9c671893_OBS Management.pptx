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341" r:id="rId5"/>
    <p:sldId id="321" r:id="rId6"/>
    <p:sldId id="323" r:id="rId7"/>
    <p:sldId id="351" r:id="rId8"/>
    <p:sldId id="1212" r:id="rId9"/>
    <p:sldId id="358" r:id="rId10"/>
    <p:sldId id="327" r:id="rId11"/>
    <p:sldId id="360" r:id="rId12"/>
    <p:sldId id="355" r:id="rId13"/>
    <p:sldId id="356" r:id="rId14"/>
    <p:sldId id="345" r:id="rId15"/>
    <p:sldId id="329" r:id="rId16"/>
    <p:sldId id="357" r:id="rId17"/>
    <p:sldId id="361" r:id="rId18"/>
    <p:sldId id="1379" r:id="rId19"/>
    <p:sldId id="1380" r:id="rId20"/>
    <p:sldId id="1385" r:id="rId21"/>
    <p:sldId id="1381" r:id="rId22"/>
    <p:sldId id="339" r:id="rId23"/>
    <p:sldId id="318" r:id="rId2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6E71"/>
    <a:srgbClr val="E31837"/>
    <a:srgbClr val="F3901D"/>
    <a:srgbClr val="7C3520"/>
    <a:srgbClr val="FDBC5F"/>
    <a:srgbClr val="DC4128"/>
    <a:srgbClr val="00B05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567" autoAdjust="0"/>
  </p:normalViewPr>
  <p:slideViewPr>
    <p:cSldViewPr snapToGrid="0" showGuides="1">
      <p:cViewPr>
        <p:scale>
          <a:sx n="100" d="100"/>
          <a:sy n="100" d="100"/>
        </p:scale>
        <p:origin x="72" y="-1260"/>
      </p:cViewPr>
      <p:guideLst>
        <p:guide orient="horz" pos="2160"/>
        <p:guide pos="3840"/>
      </p:guideLst>
    </p:cSldViewPr>
  </p:slideViewPr>
  <p:notesTextViewPr>
    <p:cViewPr>
      <p:scale>
        <a:sx n="100" d="100"/>
        <a:sy n="100" d="100"/>
      </p:scale>
      <p:origin x="0" y="0"/>
    </p:cViewPr>
  </p:notesTextViewPr>
  <p:notesViewPr>
    <p:cSldViewPr snapToGrid="0" showGuides="1">
      <p:cViewPr varScale="1">
        <p:scale>
          <a:sx n="80" d="100"/>
          <a:sy n="80" d="100"/>
        </p:scale>
        <p:origin x="-1962"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a:t>Savings Distribution</a:t>
            </a:r>
          </a:p>
        </c:rich>
      </c:tx>
      <c:layout>
        <c:manualLayout>
          <c:xMode val="edge"/>
          <c:yMode val="edge"/>
          <c:x val="0.30644375885183206"/>
          <c:y val="5.9467117310300577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9695238825669976E-2"/>
          <c:y val="0.23115262780680709"/>
          <c:w val="0.92949341009152242"/>
          <c:h val="0.69368320386993132"/>
        </c:manualLayout>
      </c:layout>
      <c:pie3DChart>
        <c:varyColors val="1"/>
        <c:ser>
          <c:idx val="0"/>
          <c:order val="0"/>
          <c:tx>
            <c:strRef>
              <c:f>Sheet1!$A$1</c:f>
              <c:strCache>
                <c:ptCount val="1"/>
                <c:pt idx="0">
                  <c:v>Savings Distribution</c:v>
                </c:pt>
              </c:strCache>
            </c:strRef>
          </c:tx>
          <c:dPt>
            <c:idx val="0"/>
            <c:bubble3D val="0"/>
            <c:explosion val="23"/>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3D1-4E49-88CA-23C026AB74D3}"/>
              </c:ext>
            </c:extLst>
          </c:dPt>
          <c:dPt>
            <c:idx val="1"/>
            <c:bubble3D val="0"/>
            <c:explosion val="18"/>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3D1-4E49-88CA-23C026AB74D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3D1-4E49-88CA-23C026AB74D3}"/>
              </c:ext>
            </c:extLst>
          </c:dPt>
          <c:dLbls>
            <c:dLbl>
              <c:idx val="0"/>
              <c:layout>
                <c:manualLayout>
                  <c:x val="0.15213807561947024"/>
                  <c:y val="1.254672392019861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3D1-4E49-88CA-23C026AB74D3}"/>
                </c:ext>
              </c:extLst>
            </c:dLbl>
            <c:dLbl>
              <c:idx val="1"/>
              <c:layout>
                <c:manualLayout>
                  <c:x val="3.0852952952974397E-2"/>
                  <c:y val="-5.3910699264161803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3D1-4E49-88CA-23C026AB74D3}"/>
                </c:ext>
              </c:extLst>
            </c:dLbl>
            <c:dLbl>
              <c:idx val="2"/>
              <c:layout>
                <c:manualLayout>
                  <c:x val="-3.9579772901223588E-2"/>
                  <c:y val="-0.1158770122051895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3D1-4E49-88CA-23C026AB74D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Sheet1!$B$2:$B$4</c:f>
              <c:strCache>
                <c:ptCount val="3"/>
                <c:pt idx="0">
                  <c:v>Design Optimization</c:v>
                </c:pt>
                <c:pt idx="1">
                  <c:v>Alternate FFF parts</c:v>
                </c:pt>
                <c:pt idx="2">
                  <c:v>Low cost vendor quotes</c:v>
                </c:pt>
              </c:strCache>
            </c:strRef>
          </c:cat>
          <c:val>
            <c:numRef>
              <c:f>Sheet1!$A$2:$A$4</c:f>
              <c:numCache>
                <c:formatCode>0%</c:formatCode>
                <c:ptCount val="3"/>
                <c:pt idx="0">
                  <c:v>0.04</c:v>
                </c:pt>
                <c:pt idx="1">
                  <c:v>0.05</c:v>
                </c:pt>
                <c:pt idx="2">
                  <c:v>0.17</c:v>
                </c:pt>
              </c:numCache>
            </c:numRef>
          </c:val>
          <c:extLst>
            <c:ext xmlns:c16="http://schemas.microsoft.com/office/drawing/2014/chart" uri="{C3380CC4-5D6E-409C-BE32-E72D297353CC}">
              <c16:uniqueId val="{00000006-C3D1-4E49-88CA-23C026AB74D3}"/>
            </c:ext>
          </c:extLst>
        </c:ser>
        <c:dLbls>
          <c:dLblPos val="inEnd"/>
          <c:showLegendKey val="0"/>
          <c:showVal val="0"/>
          <c:showCatName val="1"/>
          <c:showSerName val="0"/>
          <c:showPercent val="0"/>
          <c:showBubbleSize val="0"/>
          <c:showLeaderLines val="1"/>
        </c:dLbls>
      </c:pie3DChart>
      <c:spPr>
        <a:noFill/>
        <a:ln>
          <a:noFill/>
        </a:ln>
        <a:effectLst/>
      </c:spPr>
    </c:plotArea>
    <c:legend>
      <c:legendPos val="b"/>
      <c:layout>
        <c:manualLayout>
          <c:xMode val="edge"/>
          <c:yMode val="edge"/>
          <c:x val="6.0883037667056085E-2"/>
          <c:y val="0.86643385317544885"/>
          <c:w val="0.89999997857671854"/>
          <c:h val="0.1262271626541236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chemeClr val="bg1">
          <a:lumMod val="75000"/>
        </a:schemeClr>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r>
              <a:rPr lang="en-US" sz="1200" dirty="0"/>
              <a:t>Product Cost Comparison</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2"/>
              </a:solidFill>
              <a:latin typeface="+mn-lt"/>
              <a:ea typeface="+mn-ea"/>
              <a:cs typeface="+mn-cs"/>
            </a:defRPr>
          </a:pPr>
          <a:endParaRPr lang="en-US"/>
        </a:p>
      </c:txPr>
    </c:title>
    <c:autoTitleDeleted val="0"/>
    <c:plotArea>
      <c:layout>
        <c:manualLayout>
          <c:layoutTarget val="inner"/>
          <c:xMode val="edge"/>
          <c:yMode val="edge"/>
          <c:x val="7.5576409453751325E-2"/>
          <c:y val="0.1234784139470205"/>
          <c:w val="0.90430227537217867"/>
          <c:h val="0.57492617125524648"/>
        </c:manualLayout>
      </c:layout>
      <c:barChart>
        <c:barDir val="col"/>
        <c:grouping val="clustered"/>
        <c:varyColors val="0"/>
        <c:ser>
          <c:idx val="0"/>
          <c:order val="0"/>
          <c:tx>
            <c:strRef>
              <c:f>Sheet1!$I$27</c:f>
              <c:strCache>
                <c:ptCount val="1"/>
                <c:pt idx="0">
                  <c:v>Existing  Cost</c:v>
                </c:pt>
              </c:strCache>
            </c:strRef>
          </c:tx>
          <c:spPr>
            <a:solidFill>
              <a:srgbClr val="E31837"/>
            </a:soli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Sheet1!$H$28:$H$31</c:f>
              <c:strCache>
                <c:ptCount val="4"/>
                <c:pt idx="0">
                  <c:v>Electronic Components</c:v>
                </c:pt>
                <c:pt idx="1">
                  <c:v>Wire Harness</c:v>
                </c:pt>
                <c:pt idx="2">
                  <c:v>Mechanical Components</c:v>
                </c:pt>
                <c:pt idx="3">
                  <c:v>Overall Product Cost</c:v>
                </c:pt>
              </c:strCache>
            </c:strRef>
          </c:cat>
          <c:val>
            <c:numRef>
              <c:f>Sheet1!$I$28:$I$31</c:f>
              <c:numCache>
                <c:formatCode>0.00</c:formatCode>
                <c:ptCount val="4"/>
                <c:pt idx="0">
                  <c:v>84.842700000000008</c:v>
                </c:pt>
                <c:pt idx="1">
                  <c:v>42.57</c:v>
                </c:pt>
                <c:pt idx="2">
                  <c:v>29.6173</c:v>
                </c:pt>
                <c:pt idx="3">
                  <c:v>157.03</c:v>
                </c:pt>
              </c:numCache>
            </c:numRef>
          </c:val>
          <c:extLst>
            <c:ext xmlns:c16="http://schemas.microsoft.com/office/drawing/2014/chart" uri="{C3380CC4-5D6E-409C-BE32-E72D297353CC}">
              <c16:uniqueId val="{00000000-3B2A-4EF3-B5A0-FB42B5CB0AA9}"/>
            </c:ext>
          </c:extLst>
        </c:ser>
        <c:ser>
          <c:idx val="1"/>
          <c:order val="1"/>
          <c:tx>
            <c:strRef>
              <c:f>Sheet1!$J$27</c:f>
              <c:strCache>
                <c:ptCount val="1"/>
                <c:pt idx="0">
                  <c:v>Proposed Cost</c:v>
                </c:pt>
              </c:strCache>
            </c:strRef>
          </c:tx>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Sheet1!$H$28:$H$31</c:f>
              <c:strCache>
                <c:ptCount val="4"/>
                <c:pt idx="0">
                  <c:v>Electronic Components</c:v>
                </c:pt>
                <c:pt idx="1">
                  <c:v>Wire Harness</c:v>
                </c:pt>
                <c:pt idx="2">
                  <c:v>Mechanical Components</c:v>
                </c:pt>
                <c:pt idx="3">
                  <c:v>Overall Product Cost</c:v>
                </c:pt>
              </c:strCache>
            </c:strRef>
          </c:cat>
          <c:val>
            <c:numRef>
              <c:f>Sheet1!$J$28:$J$31</c:f>
              <c:numCache>
                <c:formatCode>0.00</c:formatCode>
                <c:ptCount val="4"/>
                <c:pt idx="0">
                  <c:v>74.492700000000013</c:v>
                </c:pt>
                <c:pt idx="1">
                  <c:v>20.330000000000002</c:v>
                </c:pt>
                <c:pt idx="2">
                  <c:v>22.3873</c:v>
                </c:pt>
                <c:pt idx="3">
                  <c:v>117.21000000000001</c:v>
                </c:pt>
              </c:numCache>
            </c:numRef>
          </c:val>
          <c:extLst>
            <c:ext xmlns:c16="http://schemas.microsoft.com/office/drawing/2014/chart" uri="{C3380CC4-5D6E-409C-BE32-E72D297353CC}">
              <c16:uniqueId val="{00000001-3B2A-4EF3-B5A0-FB42B5CB0AA9}"/>
            </c:ext>
          </c:extLst>
        </c:ser>
        <c:dLbls>
          <c:showLegendKey val="0"/>
          <c:showVal val="0"/>
          <c:showCatName val="0"/>
          <c:showSerName val="0"/>
          <c:showPercent val="0"/>
          <c:showBubbleSize val="0"/>
        </c:dLbls>
        <c:gapWidth val="100"/>
        <c:overlap val="-24"/>
        <c:axId val="-1804861904"/>
        <c:axId val="-1804860816"/>
      </c:barChart>
      <c:catAx>
        <c:axId val="-180486190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804860816"/>
        <c:crosses val="autoZero"/>
        <c:auto val="1"/>
        <c:lblAlgn val="ctr"/>
        <c:lblOffset val="100"/>
        <c:noMultiLvlLbl val="0"/>
      </c:catAx>
      <c:valAx>
        <c:axId val="-1804860816"/>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1804861904"/>
        <c:crosses val="autoZero"/>
        <c:crossBetween val="between"/>
      </c:valAx>
      <c:spPr>
        <a:noFill/>
        <a:ln>
          <a:noFill/>
        </a:ln>
        <a:effectLst/>
      </c:spPr>
    </c:plotArea>
    <c:legend>
      <c:legendPos val="b"/>
      <c:layout>
        <c:manualLayout>
          <c:xMode val="edge"/>
          <c:yMode val="edge"/>
          <c:x val="0.2538746682337083"/>
          <c:y val="0.89680802171069807"/>
          <c:w val="0.6608315360985505"/>
          <c:h val="0.10319197828930191"/>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solidFill>
        <a:schemeClr val="bg1">
          <a:lumMod val="65000"/>
        </a:schemeClr>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9537C3C-A511-4695-A2D5-8D5EBB18CE89}" type="datetimeFigureOut">
              <a:rPr lang="en-US" smtClean="0"/>
              <a:t>7/5/2023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51BF179-C15B-4065-B427-452918E62421}" type="slidenum">
              <a:rPr lang="en-US" smtClean="0"/>
              <a:t>‹#›</a:t>
            </a:fld>
            <a:endParaRPr lang="en-US"/>
          </a:p>
        </p:txBody>
      </p:sp>
    </p:spTree>
    <p:extLst>
      <p:ext uri="{BB962C8B-B14F-4D97-AF65-F5344CB8AC3E}">
        <p14:creationId xmlns:p14="http://schemas.microsoft.com/office/powerpoint/2010/main" val="1559709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7354014B-7070-40DE-9179-9FC2FBEDFC8E}" type="datetimeFigureOut">
              <a:rPr lang="en-US"/>
              <a:pPr>
                <a:defRPr/>
              </a:pPr>
              <a:t>7/5/2023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8C002942-9E23-44FC-9F91-B8D3DD73426D}" type="slidenum">
              <a:rPr lang="en-US"/>
              <a:pPr>
                <a:defRPr/>
              </a:pPr>
              <a:t>‹#›</a:t>
            </a:fld>
            <a:endParaRPr lang="en-US" dirty="0"/>
          </a:p>
        </p:txBody>
      </p:sp>
    </p:spTree>
    <p:extLst>
      <p:ext uri="{BB962C8B-B14F-4D97-AF65-F5344CB8AC3E}">
        <p14:creationId xmlns:p14="http://schemas.microsoft.com/office/powerpoint/2010/main" val="86927296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07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07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6F7BA2D-1AFC-4483-A2D5-C29E6D0B6E03}" type="slidenum">
              <a:rPr lang="en-US">
                <a:solidFill>
                  <a:srgbClr val="000000"/>
                </a:solidFill>
              </a:rPr>
              <a:pPr fontAlgn="base">
                <a:spcBef>
                  <a:spcPct val="0"/>
                </a:spcBef>
                <a:spcAft>
                  <a:spcPct val="0"/>
                </a:spcAft>
              </a:pPr>
              <a:t>1</a:t>
            </a:fld>
            <a:endParaRPr lang="en-US">
              <a:solidFill>
                <a:srgbClr val="000000"/>
              </a:solidFill>
            </a:endParaRPr>
          </a:p>
        </p:txBody>
      </p:sp>
    </p:spTree>
    <p:extLst>
      <p:ext uri="{BB962C8B-B14F-4D97-AF65-F5344CB8AC3E}">
        <p14:creationId xmlns:p14="http://schemas.microsoft.com/office/powerpoint/2010/main" val="817908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1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B9F45DD-2178-495A-BEA4-0D99011654CD}" type="slidenum">
              <a:rPr lang="en-US"/>
              <a:pPr fontAlgn="base">
                <a:spcBef>
                  <a:spcPct val="0"/>
                </a:spcBef>
                <a:spcAft>
                  <a:spcPct val="0"/>
                </a:spcAft>
              </a:pPr>
              <a:t>2</a:t>
            </a:fld>
            <a:endParaRPr lang="en-US"/>
          </a:p>
        </p:txBody>
      </p:sp>
    </p:spTree>
    <p:extLst>
      <p:ext uri="{BB962C8B-B14F-4D97-AF65-F5344CB8AC3E}">
        <p14:creationId xmlns:p14="http://schemas.microsoft.com/office/powerpoint/2010/main" val="3029708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27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532ADB6-1E3E-428F-B596-E6F2D45D3219}" type="slidenum">
              <a:rPr lang="en-US"/>
              <a:pPr fontAlgn="base">
                <a:spcBef>
                  <a:spcPct val="0"/>
                </a:spcBef>
                <a:spcAft>
                  <a:spcPct val="0"/>
                </a:spcAft>
              </a:pPr>
              <a:t>3</a:t>
            </a:fld>
            <a:endParaRPr lang="en-US"/>
          </a:p>
        </p:txBody>
      </p:sp>
    </p:spTree>
    <p:extLst>
      <p:ext uri="{BB962C8B-B14F-4D97-AF65-F5344CB8AC3E}">
        <p14:creationId xmlns:p14="http://schemas.microsoft.com/office/powerpoint/2010/main" val="231483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indent="-228600">
              <a:buAutoNum type="arabicPeriod"/>
            </a:pPr>
            <a:r>
              <a:rPr lang="en-US" dirty="0"/>
              <a:t>AMAT – tool for automated tracking and reporting, 10000</a:t>
            </a:r>
            <a:r>
              <a:rPr lang="en-US" baseline="0" dirty="0"/>
              <a:t> components, long term engagement</a:t>
            </a:r>
          </a:p>
          <a:p>
            <a:pPr marL="228600" indent="-228600">
              <a:buAutoNum type="arabicPeriod"/>
            </a:pPr>
            <a:r>
              <a:rPr lang="en-US" baseline="0" dirty="0"/>
              <a:t>GETS – onsite and offshore model, signaling, onsite for specific testing</a:t>
            </a:r>
          </a:p>
          <a:p>
            <a:pPr marL="228600" indent="-228600">
              <a:buAutoNum type="arabicPeriod"/>
            </a:pPr>
            <a:r>
              <a:rPr lang="en-US" baseline="0" dirty="0"/>
              <a:t>UTC – </a:t>
            </a:r>
          </a:p>
          <a:p>
            <a:pPr marL="228600" indent="-228600">
              <a:buAutoNum type="arabicPeriod"/>
            </a:pPr>
            <a:r>
              <a:rPr lang="en-US" baseline="0" dirty="0"/>
              <a:t>HAL – high temperature testing at offshore</a:t>
            </a:r>
          </a:p>
          <a:p>
            <a:pPr marL="228600" indent="-228600">
              <a:buAutoNum type="arabicPeriod"/>
            </a:pPr>
            <a:r>
              <a:rPr lang="en-US" dirty="0"/>
              <a:t>Honeywell –</a:t>
            </a:r>
            <a:r>
              <a:rPr lang="en-US" baseline="0" dirty="0"/>
              <a:t> value engineering, standardization, supplier and cost negotiation</a:t>
            </a:r>
            <a:endParaRPr lang="en-US" dirty="0"/>
          </a:p>
        </p:txBody>
      </p:sp>
      <p:sp>
        <p:nvSpPr>
          <p:cNvPr id="4" name="Slide Number Placeholder 3"/>
          <p:cNvSpPr>
            <a:spLocks noGrp="1"/>
          </p:cNvSpPr>
          <p:nvPr>
            <p:ph type="sldNum" sz="quarter" idx="10"/>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E9DC7962-6DBE-4276-914D-C354616681B1}"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3160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1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B9F45DD-2178-495A-BEA4-0D99011654CD}" type="slidenum">
              <a:rPr lang="en-US"/>
              <a:pPr fontAlgn="base">
                <a:spcBef>
                  <a:spcPct val="0"/>
                </a:spcBef>
                <a:spcAft>
                  <a:spcPct val="0"/>
                </a:spcAft>
              </a:pPr>
              <a:t>6</a:t>
            </a:fld>
            <a:endParaRPr lang="en-US"/>
          </a:p>
        </p:txBody>
      </p:sp>
    </p:spTree>
    <p:extLst>
      <p:ext uri="{BB962C8B-B14F-4D97-AF65-F5344CB8AC3E}">
        <p14:creationId xmlns:p14="http://schemas.microsoft.com/office/powerpoint/2010/main" val="2960350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6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A1358EB-2B7D-4DEE-9AEF-3C3ABB4ADD8E}" type="slidenum">
              <a:rPr lang="en-US"/>
              <a:pPr fontAlgn="base">
                <a:spcBef>
                  <a:spcPct val="0"/>
                </a:spcBef>
                <a:spcAft>
                  <a:spcPct val="0"/>
                </a:spcAft>
              </a:pPr>
              <a:t>7</a:t>
            </a:fld>
            <a:endParaRPr lang="en-US"/>
          </a:p>
        </p:txBody>
      </p:sp>
    </p:spTree>
    <p:extLst>
      <p:ext uri="{BB962C8B-B14F-4D97-AF65-F5344CB8AC3E}">
        <p14:creationId xmlns:p14="http://schemas.microsoft.com/office/powerpoint/2010/main" val="921248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1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B9F45DD-2178-495A-BEA4-0D99011654CD}" type="slidenum">
              <a:rPr lang="en-US"/>
              <a:pPr fontAlgn="base">
                <a:spcBef>
                  <a:spcPct val="0"/>
                </a:spcBef>
                <a:spcAft>
                  <a:spcPct val="0"/>
                </a:spcAft>
              </a:pPr>
              <a:t>8</a:t>
            </a:fld>
            <a:endParaRPr lang="en-US"/>
          </a:p>
        </p:txBody>
      </p:sp>
    </p:spTree>
    <p:extLst>
      <p:ext uri="{BB962C8B-B14F-4D97-AF65-F5344CB8AC3E}">
        <p14:creationId xmlns:p14="http://schemas.microsoft.com/office/powerpoint/2010/main" val="4109771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6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A1358EB-2B7D-4DEE-9AEF-3C3ABB4ADD8E}" type="slidenum">
              <a:rPr lang="en-US"/>
              <a:pPr fontAlgn="base">
                <a:spcBef>
                  <a:spcPct val="0"/>
                </a:spcBef>
                <a:spcAft>
                  <a:spcPct val="0"/>
                </a:spcAft>
              </a:pPr>
              <a:t>9</a:t>
            </a:fld>
            <a:endParaRPr lang="en-US"/>
          </a:p>
        </p:txBody>
      </p:sp>
    </p:spTree>
    <p:extLst>
      <p:ext uri="{BB962C8B-B14F-4D97-AF65-F5344CB8AC3E}">
        <p14:creationId xmlns:p14="http://schemas.microsoft.com/office/powerpoint/2010/main" val="1258483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68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6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A1358EB-2B7D-4DEE-9AEF-3C3ABB4ADD8E}" type="slidenum">
              <a:rPr lang="en-US"/>
              <a:pPr fontAlgn="base">
                <a:spcBef>
                  <a:spcPct val="0"/>
                </a:spcBef>
                <a:spcAft>
                  <a:spcPct val="0"/>
                </a:spcAft>
              </a:pPr>
              <a:t>10</a:t>
            </a:fld>
            <a:endParaRPr lang="en-US"/>
          </a:p>
        </p:txBody>
      </p:sp>
    </p:spTree>
    <p:extLst>
      <p:ext uri="{BB962C8B-B14F-4D97-AF65-F5344CB8AC3E}">
        <p14:creationId xmlns:p14="http://schemas.microsoft.com/office/powerpoint/2010/main" val="3141653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27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532ADB6-1E3E-428F-B596-E6F2D45D3219}" type="slidenum">
              <a:rPr lang="en-US"/>
              <a:pPr fontAlgn="base">
                <a:spcBef>
                  <a:spcPct val="0"/>
                </a:spcBef>
                <a:spcAft>
                  <a:spcPct val="0"/>
                </a:spcAft>
              </a:pPr>
              <a:t>11</a:t>
            </a:fld>
            <a:endParaRPr lang="en-US"/>
          </a:p>
        </p:txBody>
      </p:sp>
    </p:spTree>
    <p:extLst>
      <p:ext uri="{BB962C8B-B14F-4D97-AF65-F5344CB8AC3E}">
        <p14:creationId xmlns:p14="http://schemas.microsoft.com/office/powerpoint/2010/main" val="3542542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EEDAD03-9B2C-4C93-AEFA-EF5D75ABFE7E}" type="slidenum">
              <a:rPr lang="en-US"/>
              <a:pPr fontAlgn="base">
                <a:spcBef>
                  <a:spcPct val="0"/>
                </a:spcBef>
                <a:spcAft>
                  <a:spcPct val="0"/>
                </a:spcAft>
              </a:pPr>
              <a:t>12</a:t>
            </a:fld>
            <a:endParaRPr lang="en-US"/>
          </a:p>
        </p:txBody>
      </p:sp>
    </p:spTree>
    <p:extLst>
      <p:ext uri="{BB962C8B-B14F-4D97-AF65-F5344CB8AC3E}">
        <p14:creationId xmlns:p14="http://schemas.microsoft.com/office/powerpoint/2010/main" val="2907832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EEDAD03-9B2C-4C93-AEFA-EF5D75ABFE7E}" type="slidenum">
              <a:rPr lang="en-US"/>
              <a:pPr fontAlgn="base">
                <a:spcBef>
                  <a:spcPct val="0"/>
                </a:spcBef>
                <a:spcAft>
                  <a:spcPct val="0"/>
                </a:spcAft>
              </a:pPr>
              <a:t>13</a:t>
            </a:fld>
            <a:endParaRPr lang="en-US"/>
          </a:p>
        </p:txBody>
      </p:sp>
    </p:spTree>
    <p:extLst>
      <p:ext uri="{BB962C8B-B14F-4D97-AF65-F5344CB8AC3E}">
        <p14:creationId xmlns:p14="http://schemas.microsoft.com/office/powerpoint/2010/main" val="3391503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1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B9F45DD-2178-495A-BEA4-0D99011654CD}" type="slidenum">
              <a:rPr lang="en-US"/>
              <a:pPr fontAlgn="base">
                <a:spcBef>
                  <a:spcPct val="0"/>
                </a:spcBef>
                <a:spcAft>
                  <a:spcPct val="0"/>
                </a:spcAft>
              </a:pPr>
              <a:t>14</a:t>
            </a:fld>
            <a:endParaRPr lang="en-US"/>
          </a:p>
        </p:txBody>
      </p:sp>
    </p:spTree>
    <p:extLst>
      <p:ext uri="{BB962C8B-B14F-4D97-AF65-F5344CB8AC3E}">
        <p14:creationId xmlns:p14="http://schemas.microsoft.com/office/powerpoint/2010/main" val="3248841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C002942-9E23-44FC-9F91-B8D3DD73426D}" type="slidenum">
              <a:rPr lang="en-US" smtClean="0"/>
              <a:pPr>
                <a:defRPr/>
              </a:pPr>
              <a:t>15</a:t>
            </a:fld>
            <a:endParaRPr lang="en-US" dirty="0"/>
          </a:p>
        </p:txBody>
      </p:sp>
    </p:spTree>
    <p:extLst>
      <p:ext uri="{BB962C8B-B14F-4D97-AF65-F5344CB8AC3E}">
        <p14:creationId xmlns:p14="http://schemas.microsoft.com/office/powerpoint/2010/main" val="1912677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91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49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02A89D3-1728-49EB-A55C-D77D2F48F4E9}" type="slidenum">
              <a:rPr lang="en-US"/>
              <a:pPr fontAlgn="base">
                <a:spcBef>
                  <a:spcPct val="0"/>
                </a:spcBef>
                <a:spcAft>
                  <a:spcPct val="0"/>
                </a:spcAft>
              </a:pPr>
              <a:t>19</a:t>
            </a:fld>
            <a:endParaRPr lang="en-US"/>
          </a:p>
        </p:txBody>
      </p:sp>
    </p:spTree>
    <p:extLst>
      <p:ext uri="{BB962C8B-B14F-4D97-AF65-F5344CB8AC3E}">
        <p14:creationId xmlns:p14="http://schemas.microsoft.com/office/powerpoint/2010/main" val="2882300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50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BB3BA8B-4FD1-491D-AA77-84F4609CAD44}" type="slidenum">
              <a:rPr lang="en-US"/>
              <a:pPr fontAlgn="base">
                <a:spcBef>
                  <a:spcPct val="0"/>
                </a:spcBef>
                <a:spcAft>
                  <a:spcPct val="0"/>
                </a:spcAft>
              </a:pPr>
              <a:t>20</a:t>
            </a:fld>
            <a:endParaRPr lang="en-US"/>
          </a:p>
        </p:txBody>
      </p:sp>
    </p:spTree>
    <p:extLst>
      <p:ext uri="{BB962C8B-B14F-4D97-AF65-F5344CB8AC3E}">
        <p14:creationId xmlns:p14="http://schemas.microsoft.com/office/powerpoint/2010/main" val="8095749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9" descr="ridge4.png"/>
          <p:cNvPicPr>
            <a:picLocks noChangeAspect="1"/>
          </p:cNvPicPr>
          <p:nvPr/>
        </p:nvPicPr>
        <p:blipFill>
          <a:blip r:embed="rId2"/>
          <a:stretch>
            <a:fillRect/>
          </a:stretch>
        </p:blipFill>
        <p:spPr bwMode="ltGray">
          <a:xfrm>
            <a:off x="2118" y="1"/>
            <a:ext cx="2792598" cy="1015490"/>
          </a:xfrm>
          <a:prstGeom prst="rect">
            <a:avLst/>
          </a:prstGeom>
        </p:spPr>
      </p:pic>
      <p:pic>
        <p:nvPicPr>
          <p:cNvPr id="4" name="Picture 11" descr="Mahindra Logo.png"/>
          <p:cNvPicPr>
            <a:picLocks noChangeAspect="1"/>
          </p:cNvPicPr>
          <p:nvPr/>
        </p:nvPicPr>
        <p:blipFill>
          <a:blip r:embed="rId3"/>
          <a:stretch>
            <a:fillRect/>
          </a:stretch>
        </p:blipFill>
        <p:spPr bwMode="gray">
          <a:xfrm>
            <a:off x="9974562" y="467287"/>
            <a:ext cx="1683805" cy="4649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p:nvPr>
        </p:nvSpPr>
        <p:spPr bwMode="gray">
          <a:xfrm>
            <a:off x="2436284" y="4053702"/>
            <a:ext cx="7349067" cy="276999"/>
          </a:xfrm>
        </p:spPr>
        <p:txBody>
          <a:bodyPr anchor="b">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itle 8"/>
          <p:cNvSpPr>
            <a:spLocks noGrp="1"/>
          </p:cNvSpPr>
          <p:nvPr>
            <p:ph type="title"/>
          </p:nvPr>
        </p:nvSpPr>
        <p:spPr bwMode="gray">
          <a:xfrm>
            <a:off x="2436284" y="2184400"/>
            <a:ext cx="7349067" cy="615553"/>
          </a:xfrm>
        </p:spPr>
        <p:txBody>
          <a:bodyPr/>
          <a:lstStyle>
            <a:lvl1pPr algn="l">
              <a:defRPr sz="4000" b="1">
                <a:solidFill>
                  <a:schemeClr val="bg2"/>
                </a:solidFill>
                <a:latin typeface="Arial" pitchFamily="34" charset="0"/>
                <a:cs typeface="Arial" pitchFamily="34" charset="0"/>
              </a:defRPr>
            </a:lvl1pPr>
          </a:lstStyle>
          <a:p>
            <a:r>
              <a:rPr lang="en-US"/>
              <a:t>Click to edit Master title style</a:t>
            </a:r>
            <a:endParaRPr lang="en-US" dirty="0"/>
          </a:p>
        </p:txBody>
      </p:sp>
      <p:pic>
        <p:nvPicPr>
          <p:cNvPr id="8" name="Picture 9" descr="ridge4.png"/>
          <p:cNvPicPr>
            <a:picLocks noChangeAspect="1"/>
          </p:cNvPicPr>
          <p:nvPr userDrawn="1"/>
        </p:nvPicPr>
        <p:blipFill>
          <a:blip r:embed="rId2"/>
          <a:stretch>
            <a:fillRect/>
          </a:stretch>
        </p:blipFill>
        <p:spPr bwMode="ltGray">
          <a:xfrm>
            <a:off x="2118" y="1"/>
            <a:ext cx="2792598" cy="1015490"/>
          </a:xfrm>
          <a:prstGeom prst="rect">
            <a:avLst/>
          </a:prstGeom>
        </p:spPr>
      </p:pic>
      <p:pic>
        <p:nvPicPr>
          <p:cNvPr id="10" name="Picture 11" descr="Mahindra Logo.png"/>
          <p:cNvPicPr>
            <a:picLocks noChangeAspect="1"/>
          </p:cNvPicPr>
          <p:nvPr userDrawn="1"/>
        </p:nvPicPr>
        <p:blipFill>
          <a:blip r:embed="rId3">
            <a:biLevel thresh="25000"/>
          </a:blip>
          <a:stretch>
            <a:fillRect/>
          </a:stretch>
        </p:blipFill>
        <p:spPr bwMode="gray">
          <a:xfrm>
            <a:off x="9974562" y="467287"/>
            <a:ext cx="1683805" cy="4649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0" y="719139"/>
            <a:ext cx="10966449"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3" name="Text Placeholder 4"/>
          <p:cNvSpPr>
            <a:spLocks noGrp="1"/>
          </p:cNvSpPr>
          <p:nvPr>
            <p:ph type="body" sz="quarter" idx="10"/>
          </p:nvPr>
        </p:nvSpPr>
        <p:spPr bwMode="gray">
          <a:xfrm>
            <a:off x="641349" y="1971676"/>
            <a:ext cx="10966451" cy="1384995"/>
          </a:xfrm>
        </p:spPr>
        <p:txBody>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
          <p:cNvSpPr>
            <a:spLocks noGrp="1"/>
          </p:cNvSpPr>
          <p:nvPr>
            <p:ph type="body" sz="quarter" idx="10"/>
          </p:nvPr>
        </p:nvSpPr>
        <p:spPr bwMode="gray">
          <a:xfrm>
            <a:off x="641349" y="1971676"/>
            <a:ext cx="10966451" cy="1846659"/>
          </a:xfrm>
        </p:spPr>
        <p:txBody>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641351" y="1971676"/>
            <a:ext cx="5437716" cy="4162425"/>
          </a:xfrm>
        </p:spPr>
        <p:txBody>
          <a:bodyPr>
            <a:noAutofit/>
          </a:bodyPr>
          <a:lstStyle>
            <a:lvl1pPr marL="0" indent="0">
              <a:buNone/>
              <a:defRPr>
                <a:latin typeface="Arial" pitchFamily="34" charset="0"/>
                <a:cs typeface="Arial" pitchFamily="34" charset="0"/>
              </a:defRPr>
            </a:lvl1pPr>
          </a:lstStyle>
          <a:p>
            <a:pPr lvl="0"/>
            <a:r>
              <a:rPr lang="en-US" noProof="0"/>
              <a:t>Click icon to add picture</a:t>
            </a:r>
            <a:endParaRPr lang="en-US" noProof="0" dirty="0"/>
          </a:p>
        </p:txBody>
      </p:sp>
      <p:sp>
        <p:nvSpPr>
          <p:cNvPr id="18" name="Text Placeholder 4"/>
          <p:cNvSpPr>
            <a:spLocks noGrp="1"/>
          </p:cNvSpPr>
          <p:nvPr>
            <p:ph type="body" sz="quarter" idx="19"/>
          </p:nvPr>
        </p:nvSpPr>
        <p:spPr bwMode="gray">
          <a:xfrm>
            <a:off x="6451600" y="1971676"/>
            <a:ext cx="5128683" cy="1384995"/>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p:nvPr>
        </p:nvSpPr>
        <p:spPr bwMode="gray">
          <a:xfrm>
            <a:off x="641351"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4"/>
          <p:cNvSpPr>
            <a:spLocks noGrp="1"/>
          </p:cNvSpPr>
          <p:nvPr>
            <p:ph type="body" sz="quarter" idx="11"/>
          </p:nvPr>
        </p:nvSpPr>
        <p:spPr bwMode="gray">
          <a:xfrm>
            <a:off x="6364818"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2"/>
          </p:nvPr>
        </p:nvSpPr>
        <p:spPr bwMode="gray">
          <a:xfrm>
            <a:off x="641351"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6" name="Text Placeholder 4"/>
          <p:cNvSpPr>
            <a:spLocks noGrp="1"/>
          </p:cNvSpPr>
          <p:nvPr>
            <p:ph type="body" sz="quarter" idx="13"/>
          </p:nvPr>
        </p:nvSpPr>
        <p:spPr bwMode="gray">
          <a:xfrm>
            <a:off x="6364818"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10"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5" name="Text Placeholder 41"/>
          <p:cNvSpPr>
            <a:spLocks noGrp="1"/>
          </p:cNvSpPr>
          <p:nvPr>
            <p:ph type="body" sz="quarter" idx="14"/>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17" name="Text Placeholder 4"/>
          <p:cNvSpPr>
            <a:spLocks noGrp="1"/>
          </p:cNvSpPr>
          <p:nvPr>
            <p:ph type="body" sz="quarter" idx="10"/>
          </p:nvPr>
        </p:nvSpPr>
        <p:spPr bwMode="gray">
          <a:xfrm>
            <a:off x="641351"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p:cNvSpPr>
            <a:spLocks noGrp="1"/>
          </p:cNvSpPr>
          <p:nvPr>
            <p:ph type="body" sz="quarter" idx="11"/>
          </p:nvPr>
        </p:nvSpPr>
        <p:spPr bwMode="gray">
          <a:xfrm>
            <a:off x="6364818" y="246697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p:cNvSpPr>
            <a:spLocks noGrp="1"/>
          </p:cNvSpPr>
          <p:nvPr>
            <p:ph type="body" sz="quarter" idx="12"/>
          </p:nvPr>
        </p:nvSpPr>
        <p:spPr bwMode="gray">
          <a:xfrm>
            <a:off x="641351" y="1971676"/>
            <a:ext cx="5245100" cy="286161"/>
          </a:xfrm>
          <a:noFill/>
          <a:ln>
            <a:noFill/>
          </a:ln>
        </p:spPr>
        <p:txBody>
          <a:bodyPr anchor="b"/>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2" name="Text Placeholder 4"/>
          <p:cNvSpPr>
            <a:spLocks noGrp="1"/>
          </p:cNvSpPr>
          <p:nvPr>
            <p:ph type="body" sz="quarter" idx="13"/>
          </p:nvPr>
        </p:nvSpPr>
        <p:spPr bwMode="gray">
          <a:xfrm>
            <a:off x="6364818" y="1971676"/>
            <a:ext cx="5245100" cy="286161"/>
          </a:xfrm>
          <a:noFill/>
          <a:ln>
            <a:noFill/>
          </a:ln>
        </p:spPr>
        <p:txBody>
          <a:bodyPr anchor="b"/>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5" name="Text Placeholder 4"/>
          <p:cNvSpPr>
            <a:spLocks noGrp="1"/>
          </p:cNvSpPr>
          <p:nvPr>
            <p:ph type="body" sz="quarter" idx="15"/>
          </p:nvPr>
        </p:nvSpPr>
        <p:spPr bwMode="gray">
          <a:xfrm>
            <a:off x="641351" y="470329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p:cNvSpPr>
            <a:spLocks noGrp="1"/>
          </p:cNvSpPr>
          <p:nvPr>
            <p:ph type="body" sz="quarter" idx="16"/>
          </p:nvPr>
        </p:nvSpPr>
        <p:spPr bwMode="gray">
          <a:xfrm>
            <a:off x="6364818" y="4703296"/>
            <a:ext cx="5245100" cy="1430804"/>
          </a:xfrm>
          <a:ln>
            <a:noFill/>
          </a:ln>
        </p:spPr>
        <p:txBody>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4"/>
          <p:cNvSpPr>
            <a:spLocks noGrp="1"/>
          </p:cNvSpPr>
          <p:nvPr>
            <p:ph type="body" sz="quarter" idx="17"/>
          </p:nvPr>
        </p:nvSpPr>
        <p:spPr bwMode="gray">
          <a:xfrm>
            <a:off x="641351" y="4207996"/>
            <a:ext cx="5245100" cy="286161"/>
          </a:xfr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38" name="Text Placeholder 4"/>
          <p:cNvSpPr>
            <a:spLocks noGrp="1"/>
          </p:cNvSpPr>
          <p:nvPr>
            <p:ph type="body" sz="quarter" idx="18"/>
          </p:nvPr>
        </p:nvSpPr>
        <p:spPr bwMode="gray">
          <a:xfrm>
            <a:off x="6364818" y="4207996"/>
            <a:ext cx="5245100" cy="286161"/>
          </a:xfrm>
          <a:noFill/>
          <a:ln>
            <a:noFill/>
          </a:ln>
        </p:spPr>
        <p:txBody>
          <a:bodyPr anchor="b"/>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p:txBody>
      </p:sp>
      <p:sp>
        <p:nvSpPr>
          <p:cNvPr id="49" name="Text Placeholder 41"/>
          <p:cNvSpPr>
            <a:spLocks noGrp="1"/>
          </p:cNvSpPr>
          <p:nvPr>
            <p:ph type="body" sz="quarter" idx="19"/>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p:nvPr>
        </p:nvSpPr>
        <p:spPr bwMode="gray">
          <a:xfrm>
            <a:off x="3251199" y="1971676"/>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22"/>
          <p:cNvSpPr>
            <a:spLocks noGrp="1"/>
          </p:cNvSpPr>
          <p:nvPr>
            <p:ph type="pic" sz="quarter" idx="13"/>
          </p:nvPr>
        </p:nvSpPr>
        <p:spPr bwMode="gray">
          <a:xfrm>
            <a:off x="641352" y="1971676"/>
            <a:ext cx="2305049"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20"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2" name="Text Placeholder 4"/>
          <p:cNvSpPr>
            <a:spLocks noGrp="1"/>
          </p:cNvSpPr>
          <p:nvPr>
            <p:ph type="body" sz="quarter" idx="19"/>
          </p:nvPr>
        </p:nvSpPr>
        <p:spPr bwMode="gray">
          <a:xfrm>
            <a:off x="8892117" y="1971676"/>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Picture Placeholder 22"/>
          <p:cNvSpPr>
            <a:spLocks noGrp="1"/>
          </p:cNvSpPr>
          <p:nvPr>
            <p:ph type="pic" sz="quarter" idx="20"/>
          </p:nvPr>
        </p:nvSpPr>
        <p:spPr bwMode="gray">
          <a:xfrm>
            <a:off x="6282269" y="1971676"/>
            <a:ext cx="2305049"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5" name="Text Placeholder 4"/>
          <p:cNvSpPr>
            <a:spLocks noGrp="1"/>
          </p:cNvSpPr>
          <p:nvPr>
            <p:ph type="body" sz="quarter" idx="21"/>
          </p:nvPr>
        </p:nvSpPr>
        <p:spPr bwMode="gray">
          <a:xfrm>
            <a:off x="3251199" y="4241802"/>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Picture Placeholder 22"/>
          <p:cNvSpPr>
            <a:spLocks noGrp="1"/>
          </p:cNvSpPr>
          <p:nvPr>
            <p:ph type="pic" sz="quarter" idx="22"/>
          </p:nvPr>
        </p:nvSpPr>
        <p:spPr bwMode="gray">
          <a:xfrm>
            <a:off x="641352" y="4241802"/>
            <a:ext cx="2305049"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48" name="Text Placeholder 4"/>
          <p:cNvSpPr>
            <a:spLocks noGrp="1"/>
          </p:cNvSpPr>
          <p:nvPr>
            <p:ph type="body" sz="quarter" idx="23"/>
          </p:nvPr>
        </p:nvSpPr>
        <p:spPr bwMode="gray">
          <a:xfrm>
            <a:off x="8892117" y="4241802"/>
            <a:ext cx="2724151" cy="1538883"/>
          </a:xfrm>
          <a:ln>
            <a:noFill/>
          </a:ln>
        </p:spPr>
        <p:txBody>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Picture Placeholder 22"/>
          <p:cNvSpPr>
            <a:spLocks noGrp="1"/>
          </p:cNvSpPr>
          <p:nvPr>
            <p:ph type="pic" sz="quarter" idx="24"/>
          </p:nvPr>
        </p:nvSpPr>
        <p:spPr bwMode="gray">
          <a:xfrm>
            <a:off x="6282269" y="4241802"/>
            <a:ext cx="2305049" cy="1892299"/>
          </a:xfrm>
        </p:spPr>
        <p:txBody>
          <a:bodyPr rtlCol="0">
            <a:normAutofit/>
          </a:bodyPr>
          <a:lstStyle>
            <a:lvl1pPr>
              <a:buNone/>
              <a:defRPr>
                <a:latin typeface="Arial" pitchFamily="34" charset="0"/>
                <a:cs typeface="Arial" pitchFamily="34" charset="0"/>
              </a:defRPr>
            </a:lvl1pPr>
          </a:lstStyle>
          <a:p>
            <a:pPr lvl="0"/>
            <a:r>
              <a:rPr lang="en-US" noProof="0"/>
              <a:t>Click icon to add picture</a:t>
            </a:r>
            <a:endParaRPr lang="en-US" noProof="0" dirty="0"/>
          </a:p>
        </p:txBody>
      </p:sp>
      <p:sp>
        <p:nvSpPr>
          <p:cNvPr id="51" name="Text Placeholder 41"/>
          <p:cNvSpPr>
            <a:spLocks noGrp="1"/>
          </p:cNvSpPr>
          <p:nvPr>
            <p:ph type="body" sz="quarter" idx="25"/>
          </p:nvPr>
        </p:nvSpPr>
        <p:spPr bwMode="gray">
          <a:xfrm>
            <a:off x="641349" y="1270453"/>
            <a:ext cx="10966451"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641351" y="1971675"/>
            <a:ext cx="10968567" cy="4162426"/>
          </a:xfrm>
        </p:spPr>
        <p:txBody>
          <a:bodyPr>
            <a:noAutofit/>
          </a:bodyPr>
          <a:lstStyle>
            <a:lvl1pPr marL="0" indent="0">
              <a:buNone/>
              <a:defRPr>
                <a:latin typeface="Arial" pitchFamily="34" charset="0"/>
                <a:cs typeface="Arial" pitchFamily="34" charset="0"/>
              </a:defRPr>
            </a:lvl1pPr>
          </a:lstStyle>
          <a:p>
            <a:pPr lvl="0"/>
            <a:r>
              <a:rPr lang="en-US" noProof="0"/>
              <a:t>Click icon to add table</a:t>
            </a:r>
            <a:endParaRPr lang="en-US" noProof="0" dirty="0"/>
          </a:p>
        </p:txBody>
      </p:sp>
      <p:sp>
        <p:nvSpPr>
          <p:cNvPr id="4"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8" name="Text Placeholder 41"/>
          <p:cNvSpPr>
            <a:spLocks noGrp="1"/>
          </p:cNvSpPr>
          <p:nvPr>
            <p:ph type="body" sz="quarter" idx="13"/>
          </p:nvPr>
        </p:nvSpPr>
        <p:spPr bwMode="gray">
          <a:xfrm>
            <a:off x="641349" y="1270453"/>
            <a:ext cx="10966451"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641351" y="1971676"/>
            <a:ext cx="10968567" cy="4162425"/>
          </a:xfrm>
        </p:spPr>
        <p:txBody>
          <a:bodyPr>
            <a:noAutofit/>
          </a:bodyPr>
          <a:lstStyle>
            <a:lvl1pPr marL="0" indent="0">
              <a:buNone/>
              <a:defRPr>
                <a:latin typeface="Arial" pitchFamily="34" charset="0"/>
                <a:cs typeface="Arial" pitchFamily="34" charset="0"/>
              </a:defRPr>
            </a:lvl1pPr>
          </a:lstStyle>
          <a:p>
            <a:pPr lvl="0"/>
            <a:r>
              <a:rPr lang="en-US" noProof="0"/>
              <a:t>Click icon to add chart</a:t>
            </a:r>
            <a:endParaRPr lang="en-US" noProof="0" dirty="0"/>
          </a:p>
        </p:txBody>
      </p:sp>
      <p:sp>
        <p:nvSpPr>
          <p:cNvPr id="4" name="Title 1"/>
          <p:cNvSpPr>
            <a:spLocks noGrp="1"/>
          </p:cNvSpPr>
          <p:nvPr>
            <p:ph type="title"/>
          </p:nvPr>
        </p:nvSpPr>
        <p:spPr bwMode="gray">
          <a:xfrm>
            <a:off x="641350" y="727075"/>
            <a:ext cx="10968567"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7" name="Text Placeholder 41"/>
          <p:cNvSpPr>
            <a:spLocks noGrp="1"/>
          </p:cNvSpPr>
          <p:nvPr>
            <p:ph type="body" sz="quarter" idx="13"/>
          </p:nvPr>
        </p:nvSpPr>
        <p:spPr bwMode="gray">
          <a:xfrm>
            <a:off x="641349" y="1270453"/>
            <a:ext cx="10966451" cy="283711"/>
          </a:xfrm>
        </p:spPr>
        <p:txBody>
          <a:bodyPr/>
          <a:lstStyle>
            <a:lvl1pPr marL="0" indent="0">
              <a:buNone/>
              <a:defRPr b="1">
                <a:solidFill>
                  <a:schemeClr val="bg2"/>
                </a:solidFill>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TextBox 4"/>
          <p:cNvSpPr txBox="1">
            <a:spLocks noChangeArrowheads="1"/>
          </p:cNvSpPr>
          <p:nvPr/>
        </p:nvSpPr>
        <p:spPr bwMode="gray">
          <a:xfrm>
            <a:off x="1822451" y="3370263"/>
            <a:ext cx="9006416" cy="1908215"/>
          </a:xfrm>
          <a:prstGeom prst="rect">
            <a:avLst/>
          </a:prstGeom>
          <a:noFill/>
          <a:ln w="9525">
            <a:noFill/>
            <a:miter lim="800000"/>
            <a:headEnd/>
            <a:tailEnd/>
          </a:ln>
        </p:spPr>
        <p:txBody>
          <a:bodyPr lIns="0" tIns="0" rIns="0" bIns="0">
            <a:spAutoFit/>
          </a:bodyPr>
          <a:lstStyle/>
          <a:p>
            <a:pPr algn="just" fontAlgn="auto">
              <a:spcBef>
                <a:spcPts val="600"/>
              </a:spcBef>
              <a:spcAft>
                <a:spcPts val="0"/>
              </a:spcAft>
              <a:defRPr/>
            </a:pPr>
            <a:r>
              <a:rPr lang="en-US" sz="1000" b="1" dirty="0">
                <a:solidFill>
                  <a:schemeClr val="tx2"/>
                </a:solidFill>
                <a:latin typeface="Arial" pitchFamily="34" charset="0"/>
                <a:cs typeface="Arial" pitchFamily="34" charset="0"/>
              </a:rPr>
              <a:t>Disclaimer </a:t>
            </a:r>
          </a:p>
          <a:p>
            <a:pPr algn="just" fontAlgn="auto">
              <a:spcBef>
                <a:spcPts val="600"/>
              </a:spcBef>
              <a:spcAft>
                <a:spcPts val="0"/>
              </a:spcAft>
              <a:defRPr/>
            </a:pPr>
            <a:endParaRPr lang="en-US" sz="1000" b="1" dirty="0">
              <a:solidFill>
                <a:schemeClr val="tx2"/>
              </a:solidFill>
              <a:latin typeface="Arial" pitchFamily="34" charset="0"/>
              <a:cs typeface="Arial" pitchFamily="34" charset="0"/>
            </a:endParaRPr>
          </a:p>
          <a:p>
            <a:r>
              <a:rPr lang="en-GB" sz="900" dirty="0">
                <a:solidFill>
                  <a:schemeClr val="tx1">
                    <a:lumMod val="65000"/>
                    <a:lumOff val="35000"/>
                  </a:schemeClr>
                </a:solidFill>
              </a:rPr>
              <a:t>The information is to be treated as Tech Mahindra Confidential Information. </a:t>
            </a:r>
            <a:r>
              <a:rPr lang="en-GB" sz="900" dirty="0" err="1">
                <a:solidFill>
                  <a:schemeClr val="tx1">
                    <a:lumMod val="65000"/>
                    <a:lumOff val="35000"/>
                  </a:schemeClr>
                </a:solidFill>
              </a:rPr>
              <a:t>TechM</a:t>
            </a:r>
            <a:r>
              <a:rPr lang="en-GB" sz="900" dirty="0">
                <a:solidFill>
                  <a:schemeClr val="tx1">
                    <a:lumMod val="65000"/>
                    <a:lumOff val="35000"/>
                  </a:schemeClr>
                </a:solidFill>
              </a:rPr>
              <a:t> provides a wide array of presentations and reports, with the contributions of various professionals. These presentations and reports may be for information purposes and private circulation only and do not constitute an offer to buy or sell any services mentioned therein. They do not purport to be a complete description of the market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GB" sz="900" dirty="0" err="1">
                <a:solidFill>
                  <a:schemeClr val="tx1">
                    <a:lumMod val="65000"/>
                    <a:lumOff val="35000"/>
                  </a:schemeClr>
                </a:solidFill>
              </a:rPr>
              <a:t>TechM</a:t>
            </a:r>
            <a:r>
              <a:rPr lang="en-GB" sz="900" dirty="0">
                <a:solidFill>
                  <a:schemeClr val="tx1">
                    <a:lumMod val="65000"/>
                    <a:lumOff val="35000"/>
                  </a:schemeClr>
                </a:solidFill>
              </a:rPr>
              <a:t> or its subsidiaries. Any unauthorized use, disclosure or public dissemination of information contained herein is prohibited.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GB" sz="900" dirty="0" err="1">
                <a:solidFill>
                  <a:schemeClr val="tx1">
                    <a:lumMod val="65000"/>
                    <a:lumOff val="35000"/>
                  </a:schemeClr>
                </a:solidFill>
              </a:rPr>
              <a:t>TechM</a:t>
            </a:r>
            <a:r>
              <a:rPr lang="en-GB" sz="900" dirty="0">
                <a:solidFill>
                  <a:schemeClr val="tx1">
                    <a:lumMod val="65000"/>
                    <a:lumOff val="35000"/>
                  </a:schemeClr>
                </a:solidFill>
              </a:rPr>
              <a:t>. Information contained in a presentation hosted or promoted by </a:t>
            </a:r>
            <a:r>
              <a:rPr lang="en-GB" sz="900" dirty="0" err="1">
                <a:solidFill>
                  <a:schemeClr val="tx1">
                    <a:lumMod val="65000"/>
                    <a:lumOff val="35000"/>
                  </a:schemeClr>
                </a:solidFill>
              </a:rPr>
              <a:t>TechM</a:t>
            </a:r>
            <a:r>
              <a:rPr lang="en-GB" sz="900" dirty="0">
                <a:solidFill>
                  <a:schemeClr val="tx1">
                    <a:lumMod val="65000"/>
                    <a:lumOff val="35000"/>
                  </a:schemeClr>
                </a:solidFill>
              </a:rPr>
              <a:t> is provided “as is” without warranty of any kind, either expressed or implied, including any warranty of merchantability or fitness for a particular purpose. </a:t>
            </a:r>
            <a:r>
              <a:rPr lang="en-GB" sz="900" dirty="0" err="1">
                <a:solidFill>
                  <a:schemeClr val="tx1">
                    <a:lumMod val="65000"/>
                    <a:lumOff val="35000"/>
                  </a:schemeClr>
                </a:solidFill>
              </a:rPr>
              <a:t>TechM</a:t>
            </a:r>
            <a:r>
              <a:rPr lang="en-GB" sz="900" dirty="0">
                <a:solidFill>
                  <a:schemeClr val="tx1">
                    <a:lumMod val="65000"/>
                    <a:lumOff val="35000"/>
                  </a:schemeClr>
                </a:solidFill>
              </a:rPr>
              <a:t> assumes no liability or responsibility for the contents of a presentation or the opinions expressed by the presenters. All expressions of opinion are subject to change without notice.</a:t>
            </a:r>
            <a:endParaRPr lang="en-US" sz="900" dirty="0">
              <a:solidFill>
                <a:schemeClr val="tx1">
                  <a:lumMod val="65000"/>
                  <a:lumOff val="35000"/>
                </a:schemeClr>
              </a:solidFill>
            </a:endParaRPr>
          </a:p>
        </p:txBody>
      </p:sp>
      <p:sp>
        <p:nvSpPr>
          <p:cNvPr id="2" name="Title 1"/>
          <p:cNvSpPr>
            <a:spLocks noGrp="1"/>
          </p:cNvSpPr>
          <p:nvPr>
            <p:ph type="title"/>
          </p:nvPr>
        </p:nvSpPr>
        <p:spPr bwMode="gray">
          <a:xfrm>
            <a:off x="1822451" y="1527296"/>
            <a:ext cx="8973312" cy="492443"/>
          </a:xfrm>
          <a:noFill/>
          <a:ln w="9525">
            <a:noFill/>
            <a:miter lim="800000"/>
            <a:headEnd/>
            <a:tailEnd/>
          </a:ln>
        </p:spPr>
        <p:txBody>
          <a:bodyPr/>
          <a:lstStyle>
            <a:lvl1pPr algn="l">
              <a:defRPr lang="en-US" sz="3200" b="1" kern="1200" dirty="0">
                <a:solidFill>
                  <a:schemeClr val="tx2"/>
                </a:solidFill>
                <a:latin typeface="Arial" pitchFamily="34" charset="0"/>
                <a:ea typeface="+mj-ea"/>
                <a:cs typeface="Arial" pitchFamily="34" charset="0"/>
              </a:defRPr>
            </a:lvl1pPr>
          </a:lstStyle>
          <a:p>
            <a:pPr lvl="0"/>
            <a:r>
              <a:rPr lang="en-US"/>
              <a:t>Click to edit Master title style</a:t>
            </a:r>
            <a:endParaRPr lang="en-US" dirty="0"/>
          </a:p>
        </p:txBody>
      </p:sp>
      <p:sp>
        <p:nvSpPr>
          <p:cNvPr id="4" name="Text Placeholder 41"/>
          <p:cNvSpPr>
            <a:spLocks noGrp="1"/>
          </p:cNvSpPr>
          <p:nvPr>
            <p:ph type="body" sz="quarter" idx="14"/>
          </p:nvPr>
        </p:nvSpPr>
        <p:spPr bwMode="gray">
          <a:xfrm>
            <a:off x="1822451" y="2140170"/>
            <a:ext cx="8979503" cy="276999"/>
          </a:xfrm>
          <a:noFill/>
          <a:ln w="9525">
            <a:noFill/>
            <a:miter lim="800000"/>
            <a:headEnd/>
            <a:tailEnd/>
          </a:ln>
        </p:spPr>
        <p:txBody>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p:nvSpPr>
        <p:spPr bwMode="gray">
          <a:xfrm>
            <a:off x="0" y="0"/>
            <a:ext cx="12192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pic>
        <p:nvPicPr>
          <p:cNvPr id="3" name="Picture 10" descr="Mahindra Logo.png"/>
          <p:cNvPicPr>
            <a:picLocks noChangeAspect="1"/>
          </p:cNvPicPr>
          <p:nvPr/>
        </p:nvPicPr>
        <p:blipFill>
          <a:blip r:embed="rId2"/>
          <a:stretch>
            <a:fillRect/>
          </a:stretch>
        </p:blipFill>
        <p:spPr bwMode="gray">
          <a:xfrm>
            <a:off x="2977890" y="2567938"/>
            <a:ext cx="6236221" cy="172212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Slide_Master">
    <p:spTree>
      <p:nvGrpSpPr>
        <p:cNvPr id="1" name=""/>
        <p:cNvGrpSpPr/>
        <p:nvPr/>
      </p:nvGrpSpPr>
      <p:grpSpPr>
        <a:xfrm>
          <a:off x="0" y="0"/>
          <a:ext cx="0" cy="0"/>
          <a:chOff x="0" y="0"/>
          <a:chExt cx="0" cy="0"/>
        </a:xfrm>
      </p:grpSpPr>
      <p:grpSp>
        <p:nvGrpSpPr>
          <p:cNvPr id="5" name="Group 4"/>
          <p:cNvGrpSpPr/>
          <p:nvPr userDrawn="1"/>
        </p:nvGrpSpPr>
        <p:grpSpPr>
          <a:xfrm>
            <a:off x="-5" y="135224"/>
            <a:ext cx="10515605" cy="965397"/>
            <a:chOff x="-5" y="719138"/>
            <a:chExt cx="11170924" cy="965397"/>
          </a:xfrm>
        </p:grpSpPr>
        <p:sp>
          <p:nvSpPr>
            <p:cNvPr id="11" name="Rectangle 10"/>
            <p:cNvSpPr/>
            <p:nvPr/>
          </p:nvSpPr>
          <p:spPr>
            <a:xfrm flipH="1">
              <a:off x="-5" y="719138"/>
              <a:ext cx="11170924" cy="722335"/>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mn-lt"/>
                <a:cs typeface="+mn-cs"/>
              </a:endParaRPr>
            </a:p>
          </p:txBody>
        </p:sp>
        <p:sp>
          <p:nvSpPr>
            <p:cNvPr id="8" name="Rectangle 7"/>
            <p:cNvSpPr/>
            <p:nvPr/>
          </p:nvSpPr>
          <p:spPr>
            <a:xfrm>
              <a:off x="535968" y="849474"/>
              <a:ext cx="10440738" cy="461665"/>
            </a:xfrm>
            <a:prstGeom prst="rect">
              <a:avLst/>
            </a:prstGeom>
          </p:spPr>
          <p:txBody>
            <a:bodyPr wrap="square">
              <a:spAutoFit/>
            </a:bodyPr>
            <a:lstStyle/>
            <a:p>
              <a:endParaRPr lang="en-US" sz="2400" dirty="0">
                <a:solidFill>
                  <a:srgbClr val="000000"/>
                </a:solidFill>
                <a:latin typeface="+mn-lt"/>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4257" y="1439571"/>
              <a:ext cx="11126662" cy="244964"/>
            </a:xfrm>
            <a:prstGeom prst="rect">
              <a:avLst/>
            </a:prstGeom>
          </p:spPr>
        </p:pic>
      </p:grpSp>
      <p:sp>
        <p:nvSpPr>
          <p:cNvPr id="4" name="Title 3"/>
          <p:cNvSpPr>
            <a:spLocks noGrp="1"/>
          </p:cNvSpPr>
          <p:nvPr>
            <p:ph type="title"/>
          </p:nvPr>
        </p:nvSpPr>
        <p:spPr>
          <a:xfrm>
            <a:off x="548503" y="169704"/>
            <a:ext cx="9428010" cy="640080"/>
          </a:xfrm>
        </p:spPr>
        <p:txBody>
          <a:bodyPr>
            <a:normAutofit/>
          </a:bodyPr>
          <a:lstStyle>
            <a:lvl1pPr>
              <a:defRPr sz="2400">
                <a:solidFill>
                  <a:schemeClr val="bg2">
                    <a:lumMod val="25000"/>
                  </a:schemeClr>
                </a:solidFill>
                <a:latin typeface="Arial Narrow" panose="020B0606020202030204"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34BCDCDA-A9B2-41ED-8B87-A99C57CEAD10}"/>
              </a:ext>
            </a:extLst>
          </p:cNvPr>
          <p:cNvPicPr>
            <a:picLocks noChangeAspect="1"/>
          </p:cNvPicPr>
          <p:nvPr userDrawn="1"/>
        </p:nvPicPr>
        <p:blipFill>
          <a:blip r:embed="rId3"/>
          <a:stretch>
            <a:fillRect/>
          </a:stretch>
        </p:blipFill>
        <p:spPr>
          <a:xfrm>
            <a:off x="10837311" y="307676"/>
            <a:ext cx="1103426" cy="377429"/>
          </a:xfrm>
          <a:prstGeom prst="rect">
            <a:avLst/>
          </a:prstGeom>
        </p:spPr>
      </p:pic>
    </p:spTree>
    <p:extLst>
      <p:ext uri="{BB962C8B-B14F-4D97-AF65-F5344CB8AC3E}">
        <p14:creationId xmlns:p14="http://schemas.microsoft.com/office/powerpoint/2010/main" val="2539007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7" name="Rectangle 6"/>
          <p:cNvSpPr/>
          <p:nvPr/>
        </p:nvSpPr>
        <p:spPr>
          <a:xfrm flipH="1">
            <a:off x="-5" y="247653"/>
            <a:ext cx="10582280" cy="722335"/>
          </a:xfrm>
          <a:prstGeom prst="rect">
            <a:avLst/>
          </a:prstGeom>
          <a:solidFill>
            <a:schemeClr val="bg1">
              <a:lumMod val="95000"/>
            </a:schemeClr>
          </a:solidFill>
          <a:ln w="12700" cap="flat" cmpd="sng" algn="ctr">
            <a:noFill/>
            <a:prstDash val="solid"/>
            <a:miter lim="800000"/>
          </a:ln>
          <a:effectLst/>
        </p:spPr>
        <p:txBody>
          <a:bodyPr rtlCol="0" anchor="ctr"/>
          <a:lstStyle/>
          <a:p>
            <a:pPr marL="0" marR="0" lvl="0" indent="0" algn="ctr" defTabSz="914354"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white"/>
              </a:solidFill>
              <a:effectLst/>
              <a:uLnTx/>
              <a:uFillTx/>
              <a:latin typeface="+mn-lt"/>
              <a:cs typeface="+mn-cs"/>
            </a:endParaRPr>
          </a:p>
        </p:txBody>
      </p:sp>
      <p:sp>
        <p:nvSpPr>
          <p:cNvPr id="4" name="Rectangle 3"/>
          <p:cNvSpPr/>
          <p:nvPr/>
        </p:nvSpPr>
        <p:spPr>
          <a:xfrm>
            <a:off x="535969" y="377986"/>
            <a:ext cx="10440739" cy="461665"/>
          </a:xfrm>
          <a:prstGeom prst="rect">
            <a:avLst/>
          </a:prstGeom>
        </p:spPr>
        <p:txBody>
          <a:bodyPr wrap="square">
            <a:spAutoFit/>
          </a:bodyPr>
          <a:lstStyle/>
          <a:p>
            <a:endParaRPr lang="en-US" sz="2400" dirty="0">
              <a:solidFill>
                <a:srgbClr val="000000"/>
              </a:solidFill>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4260" y="968081"/>
            <a:ext cx="10566593" cy="232635"/>
          </a:xfrm>
          <a:prstGeom prst="rect">
            <a:avLst/>
          </a:prstGeom>
        </p:spPr>
      </p:pic>
      <p:sp>
        <p:nvSpPr>
          <p:cNvPr id="20" name="Title 1"/>
          <p:cNvSpPr>
            <a:spLocks noGrp="1"/>
          </p:cNvSpPr>
          <p:nvPr>
            <p:ph type="title"/>
          </p:nvPr>
        </p:nvSpPr>
        <p:spPr bwMode="gray">
          <a:xfrm>
            <a:off x="530183" y="393375"/>
            <a:ext cx="9823495" cy="430887"/>
          </a:xfrm>
          <a:noFill/>
          <a:ln w="9525">
            <a:noFill/>
            <a:miter lim="800000"/>
            <a:headEnd/>
            <a:tailEnd/>
          </a:ln>
        </p:spPr>
        <p:txBody>
          <a:bodyPr>
            <a:noAutofit/>
          </a:bodyPr>
          <a:lstStyle>
            <a:lvl1pPr algn="l">
              <a:defRPr lang="en-US" sz="2400" kern="1200" dirty="0">
                <a:solidFill>
                  <a:schemeClr val="tx1"/>
                </a:solidFill>
                <a:latin typeface="+mn-lt"/>
                <a:ea typeface="+mn-ea"/>
                <a:cs typeface="Arial" charset="0"/>
              </a:defRPr>
            </a:lvl1pPr>
          </a:lstStyle>
          <a:p>
            <a:pPr lvl="0"/>
            <a:r>
              <a:rPr lang="en-US" dirty="0"/>
              <a:t>Click to edit Master title style</a:t>
            </a:r>
          </a:p>
        </p:txBody>
      </p:sp>
      <p:pic>
        <p:nvPicPr>
          <p:cNvPr id="10" name="Picture 9" descr="A close up of a sign&#10;&#10;Description automatically generated">
            <a:extLst>
              <a:ext uri="{FF2B5EF4-FFF2-40B4-BE49-F238E27FC236}">
                <a16:creationId xmlns:a16="http://schemas.microsoft.com/office/drawing/2014/main" id="{6C96D009-BD9B-4C2A-8352-92EEEC2860A9}"/>
              </a:ext>
            </a:extLst>
          </p:cNvPr>
          <p:cNvPicPr>
            <a:picLocks noChangeAspect="1" noChangeArrowheads="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10798811" y="484049"/>
            <a:ext cx="935991" cy="265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277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Ridge.pdf"/>
          <p:cNvPicPr>
            <a:picLocks noChangeAspect="1"/>
          </p:cNvPicPr>
          <p:nvPr/>
        </p:nvPicPr>
        <p:blipFill>
          <a:blip r:embed="rId17"/>
          <a:stretch>
            <a:fillRect/>
          </a:stretch>
        </p:blipFill>
        <p:spPr bwMode="ltGray">
          <a:xfrm>
            <a:off x="2" y="1"/>
            <a:ext cx="1841678" cy="669701"/>
          </a:xfrm>
          <a:prstGeom prst="rect">
            <a:avLst/>
          </a:prstGeom>
        </p:spPr>
      </p:pic>
      <p:sp>
        <p:nvSpPr>
          <p:cNvPr id="1027" name="Title Placeholder 1"/>
          <p:cNvSpPr>
            <a:spLocks noGrp="1"/>
          </p:cNvSpPr>
          <p:nvPr>
            <p:ph type="title"/>
          </p:nvPr>
        </p:nvSpPr>
        <p:spPr bwMode="auto">
          <a:xfrm>
            <a:off x="624418" y="711201"/>
            <a:ext cx="10949516" cy="49212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a:t>Click to edit Master title style</a:t>
            </a:r>
          </a:p>
        </p:txBody>
      </p:sp>
      <p:sp>
        <p:nvSpPr>
          <p:cNvPr id="3" name="Text Placeholder 2"/>
          <p:cNvSpPr>
            <a:spLocks noGrp="1"/>
          </p:cNvSpPr>
          <p:nvPr>
            <p:ph type="body" idx="1"/>
          </p:nvPr>
        </p:nvSpPr>
        <p:spPr>
          <a:xfrm>
            <a:off x="641351" y="1971676"/>
            <a:ext cx="10949516" cy="147796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text styles</a:t>
            </a:r>
          </a:p>
          <a:p>
            <a:pPr lvl="2"/>
            <a:r>
              <a:rPr lang="en-US" dirty="0"/>
              <a:t>First level</a:t>
            </a:r>
          </a:p>
          <a:p>
            <a:pPr lvl="3"/>
            <a:r>
              <a:rPr lang="en-US" dirty="0"/>
              <a:t>Second level</a:t>
            </a:r>
          </a:p>
          <a:p>
            <a:pPr lvl="4"/>
            <a:r>
              <a:rPr lang="en-US" dirty="0"/>
              <a:t>Third level</a:t>
            </a:r>
          </a:p>
          <a:p>
            <a:pPr lvl="5"/>
            <a:r>
              <a:rPr lang="en-US" dirty="0"/>
              <a:t>Fifth level</a:t>
            </a:r>
          </a:p>
        </p:txBody>
      </p:sp>
      <p:sp>
        <p:nvSpPr>
          <p:cNvPr id="7" name="TextBox 20"/>
          <p:cNvSpPr txBox="1">
            <a:spLocks noChangeArrowheads="1"/>
          </p:cNvSpPr>
          <p:nvPr/>
        </p:nvSpPr>
        <p:spPr bwMode="gray">
          <a:xfrm>
            <a:off x="345137" y="6565007"/>
            <a:ext cx="2431756" cy="123111"/>
          </a:xfrm>
          <a:prstGeom prst="rect">
            <a:avLst/>
          </a:prstGeom>
          <a:noFill/>
          <a:ln w="9525">
            <a:noFill/>
            <a:miter lim="800000"/>
            <a:headEnd/>
            <a:tailEnd/>
          </a:ln>
        </p:spPr>
        <p:txBody>
          <a:bodyPr wrap="none" lIns="0" tIns="0" rIns="0" bIns="0">
            <a:spAutoFit/>
          </a:bodyPr>
          <a:lstStyle/>
          <a:p>
            <a:pPr fontAlgn="auto">
              <a:spcBef>
                <a:spcPts val="0"/>
              </a:spcBef>
              <a:spcAft>
                <a:spcPts val="0"/>
              </a:spcAft>
              <a:defRPr/>
            </a:pPr>
            <a:r>
              <a:rPr lang="en-US" sz="800" dirty="0">
                <a:solidFill>
                  <a:schemeClr val="bg1">
                    <a:lumMod val="75000"/>
                  </a:schemeClr>
                </a:solidFill>
                <a:latin typeface="Arial" pitchFamily="34" charset="0"/>
                <a:cs typeface="Arial" pitchFamily="34" charset="0"/>
              </a:rPr>
              <a:t>Copyright © 2022 Tech Mahindra. All rights reserved.</a:t>
            </a: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78" r:id="rId3"/>
    <p:sldLayoutId id="2147483679" r:id="rId4"/>
    <p:sldLayoutId id="2147483680" r:id="rId5"/>
    <p:sldLayoutId id="2147483681" r:id="rId6"/>
    <p:sldLayoutId id="2147483689" r:id="rId7"/>
    <p:sldLayoutId id="2147483690" r:id="rId8"/>
    <p:sldLayoutId id="2147483682" r:id="rId9"/>
    <p:sldLayoutId id="2147483683" r:id="rId10"/>
    <p:sldLayoutId id="2147483684" r:id="rId11"/>
    <p:sldLayoutId id="2147483691" r:id="rId12"/>
    <p:sldLayoutId id="2147483692" r:id="rId13"/>
    <p:sldLayoutId id="2147483693" r:id="rId14"/>
    <p:sldLayoutId id="2147483694" r:id="rId15"/>
  </p:sldLayoutIdLst>
  <p:txStyles>
    <p:titleStyle>
      <a:lvl1pPr algn="l" rtl="0" eaLnBrk="1" fontAlgn="base" hangingPunct="1">
        <a:spcBef>
          <a:spcPct val="0"/>
        </a:spcBef>
        <a:spcAft>
          <a:spcPct val="0"/>
        </a:spcAft>
        <a:defRPr lang="en-US" sz="32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200" b="1">
          <a:solidFill>
            <a:schemeClr val="tx2"/>
          </a:solidFill>
          <a:latin typeface="Arial" charset="0"/>
          <a:cs typeface="Arial" charset="0"/>
        </a:defRPr>
      </a:lvl2pPr>
      <a:lvl3pPr algn="l" rtl="0" eaLnBrk="1" fontAlgn="base" hangingPunct="1">
        <a:spcBef>
          <a:spcPct val="0"/>
        </a:spcBef>
        <a:spcAft>
          <a:spcPct val="0"/>
        </a:spcAft>
        <a:defRPr sz="3200" b="1">
          <a:solidFill>
            <a:schemeClr val="tx2"/>
          </a:solidFill>
          <a:latin typeface="Arial" charset="0"/>
          <a:cs typeface="Arial" charset="0"/>
        </a:defRPr>
      </a:lvl3pPr>
      <a:lvl4pPr algn="l" rtl="0" eaLnBrk="1" fontAlgn="base" hangingPunct="1">
        <a:spcBef>
          <a:spcPct val="0"/>
        </a:spcBef>
        <a:spcAft>
          <a:spcPct val="0"/>
        </a:spcAft>
        <a:defRPr sz="3200" b="1">
          <a:solidFill>
            <a:schemeClr val="tx2"/>
          </a:solidFill>
          <a:latin typeface="Arial" charset="0"/>
          <a:cs typeface="Arial" charset="0"/>
        </a:defRPr>
      </a:lvl4pPr>
      <a:lvl5pPr algn="l" rtl="0" eaLnBrk="1" fontAlgn="base" hangingPunct="1">
        <a:spcBef>
          <a:spcPct val="0"/>
        </a:spcBef>
        <a:spcAft>
          <a:spcPct val="0"/>
        </a:spcAft>
        <a:defRPr sz="3200" b="1">
          <a:solidFill>
            <a:schemeClr val="tx2"/>
          </a:solidFill>
          <a:latin typeface="Arial" charset="0"/>
          <a:cs typeface="Arial" charset="0"/>
        </a:defRPr>
      </a:lvl5pPr>
      <a:lvl6pPr marL="457200" algn="l" rtl="0" eaLnBrk="1" fontAlgn="base" hangingPunct="1">
        <a:spcBef>
          <a:spcPct val="0"/>
        </a:spcBef>
        <a:spcAft>
          <a:spcPct val="0"/>
        </a:spcAft>
        <a:defRPr sz="3200" b="1">
          <a:solidFill>
            <a:schemeClr val="tx2"/>
          </a:solidFill>
          <a:latin typeface="Arial" charset="0"/>
          <a:cs typeface="Arial" charset="0"/>
        </a:defRPr>
      </a:lvl6pPr>
      <a:lvl7pPr marL="914400" algn="l" rtl="0" eaLnBrk="1" fontAlgn="base" hangingPunct="1">
        <a:spcBef>
          <a:spcPct val="0"/>
        </a:spcBef>
        <a:spcAft>
          <a:spcPct val="0"/>
        </a:spcAft>
        <a:defRPr sz="3200" b="1">
          <a:solidFill>
            <a:schemeClr val="tx2"/>
          </a:solidFill>
          <a:latin typeface="Arial" charset="0"/>
          <a:cs typeface="Arial" charset="0"/>
        </a:defRPr>
      </a:lvl7pPr>
      <a:lvl8pPr marL="1371600" algn="l" rtl="0" eaLnBrk="1" fontAlgn="base" hangingPunct="1">
        <a:spcBef>
          <a:spcPct val="0"/>
        </a:spcBef>
        <a:spcAft>
          <a:spcPct val="0"/>
        </a:spcAft>
        <a:defRPr sz="3200" b="1">
          <a:solidFill>
            <a:schemeClr val="tx2"/>
          </a:solidFill>
          <a:latin typeface="Arial" charset="0"/>
          <a:cs typeface="Arial" charset="0"/>
        </a:defRPr>
      </a:lvl8pPr>
      <a:lvl9pPr marL="1828800" algn="l" rtl="0" eaLnBrk="1" fontAlgn="base" hangingPunct="1">
        <a:spcBef>
          <a:spcPct val="0"/>
        </a:spcBef>
        <a:spcAft>
          <a:spcPct val="0"/>
        </a:spcAft>
        <a:defRPr sz="3200" b="1">
          <a:solidFill>
            <a:schemeClr val="tx2"/>
          </a:solidFill>
          <a:latin typeface="Arial" charset="0"/>
          <a:cs typeface="Arial" charset="0"/>
        </a:defRPr>
      </a:lvl9pPr>
    </p:titleStyle>
    <p:bodyStyle>
      <a:lvl1pPr marL="290513" indent="-290513" algn="l" rtl="0" eaLnBrk="1" fontAlgn="base" hangingPunct="1">
        <a:spcBef>
          <a:spcPct val="0"/>
        </a:spcBef>
        <a:spcAft>
          <a:spcPct val="0"/>
        </a:spcAft>
        <a:buClr>
          <a:schemeClr val="bg2"/>
        </a:buClr>
        <a:buSzPct val="120000"/>
        <a:buFont typeface="Wingdings" pitchFamily="2" charset="2"/>
        <a:buChar char="§"/>
        <a:defRPr lang="en-US" kern="1200" dirty="0">
          <a:solidFill>
            <a:schemeClr val="tx1"/>
          </a:solidFill>
          <a:latin typeface="Arial" pitchFamily="34" charset="0"/>
          <a:ea typeface="+mn-ea"/>
          <a:cs typeface="Arial" pitchFamily="34" charset="0"/>
        </a:defRPr>
      </a:lvl1pPr>
      <a:lvl2pPr marL="285750" indent="-28575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71500" indent="-27940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850900" indent="-27940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136650" indent="-285750" algn="l" defTabSz="933450"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6.jpeg"/><Relationship Id="rId18" Type="http://schemas.openxmlformats.org/officeDocument/2006/relationships/image" Target="../media/image21.jpeg"/><Relationship Id="rId3" Type="http://schemas.openxmlformats.org/officeDocument/2006/relationships/image" Target="../media/image8.jpeg"/><Relationship Id="rId7" Type="http://schemas.openxmlformats.org/officeDocument/2006/relationships/image" Target="../media/image11.png"/><Relationship Id="rId12" Type="http://schemas.openxmlformats.org/officeDocument/2006/relationships/image" Target="../media/image15.jpeg"/><Relationship Id="rId17" Type="http://schemas.openxmlformats.org/officeDocument/2006/relationships/image" Target="../media/image20.png"/><Relationship Id="rId2" Type="http://schemas.openxmlformats.org/officeDocument/2006/relationships/notesSlide" Target="../notesSlides/notesSlide4.xml"/><Relationship Id="rId16" Type="http://schemas.openxmlformats.org/officeDocument/2006/relationships/image" Target="../media/image19.png"/><Relationship Id="rId20" Type="http://schemas.openxmlformats.org/officeDocument/2006/relationships/image" Target="../media/image23.jpg"/><Relationship Id="rId1" Type="http://schemas.openxmlformats.org/officeDocument/2006/relationships/slideLayout" Target="../slideLayouts/slideLayout1.xml"/><Relationship Id="rId6" Type="http://schemas.openxmlformats.org/officeDocument/2006/relationships/image" Target="../media/image10.jpeg"/><Relationship Id="rId11" Type="http://schemas.openxmlformats.org/officeDocument/2006/relationships/image" Target="../media/image14.jpeg"/><Relationship Id="rId5" Type="http://schemas.openxmlformats.org/officeDocument/2006/relationships/hyperlink" Target="http://www.google.co.in/url?sa=i&amp;rct=j&amp;q=&amp;esrc=s&amp;frm=1&amp;source=images&amp;cd=&amp;cad=rja&amp;uact=8&amp;docid=3eWKhIpnFhfKEM&amp;tbnid=ocgOoqn0ct51QM:&amp;ved=0CAUQjRw&amp;url=http://www.vigilant-components.com/services/supply-chain-management/obsolescence-management/&amp;ei=ITRaU7m8L8izrgeb7YBA&amp;bvm=bv.65397613,d.bmk&amp;psig=AFQjCNEohtEbKY9BpEYemUXW3ouqc-y02A&amp;ust=1398506737466213" TargetMode="External"/><Relationship Id="rId15" Type="http://schemas.openxmlformats.org/officeDocument/2006/relationships/image" Target="../media/image18.png"/><Relationship Id="rId10" Type="http://schemas.openxmlformats.org/officeDocument/2006/relationships/image" Target="../media/image13.jpeg"/><Relationship Id="rId19" Type="http://schemas.openxmlformats.org/officeDocument/2006/relationships/image" Target="../media/image22.jpg"/><Relationship Id="rId4" Type="http://schemas.openxmlformats.org/officeDocument/2006/relationships/image" Target="../media/image9.jpeg"/><Relationship Id="rId9" Type="http://schemas.openxmlformats.org/officeDocument/2006/relationships/hyperlink" Target="http://www.google.co.in/url?sa=i&amp;rct=j&amp;q=&amp;esrc=s&amp;frm=1&amp;source=images&amp;cd=&amp;cad=rja&amp;uact=8&amp;docid=RAvwZ8GLSw0_6M&amp;tbnid=scQeqAlqTiTpIM:&amp;ved=0CAUQjRw&amp;url=http://en.wikipedia.org/wiki/Linear_induction_motor&amp;ei=qzRaU7rPNIyBrge5soGIDg&amp;bvm=bv.65397613,d.bmk&amp;psig=AFQjCNEohtEbKY9BpEYemUXW3ouqc-y02A&amp;ust=1398506737466213" TargetMode="External"/><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36.jpeg"/><Relationship Id="rId13" Type="http://schemas.openxmlformats.org/officeDocument/2006/relationships/image" Target="../media/image40.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39.png"/><Relationship Id="rId2"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34.png"/><Relationship Id="rId11" Type="http://schemas.openxmlformats.org/officeDocument/2006/relationships/image" Target="../media/image38.png"/><Relationship Id="rId5" Type="http://schemas.openxmlformats.org/officeDocument/2006/relationships/image" Target="../media/image33.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2.png"/><Relationship Id="rId9" Type="http://schemas.openxmlformats.org/officeDocument/2006/relationships/image" Target="../media/image29.png"/><Relationship Id="rId1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15.xml"/><Relationship Id="rId4" Type="http://schemas.openxmlformats.org/officeDocument/2006/relationships/image" Target="../media/image4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cxnSp>
        <p:nvCxnSpPr>
          <p:cNvPr id="6" name="Straight Connector 5"/>
          <p:cNvCxnSpPr/>
          <p:nvPr/>
        </p:nvCxnSpPr>
        <p:spPr>
          <a:xfrm>
            <a:off x="609601" y="6152202"/>
            <a:ext cx="322489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46531" b="47168"/>
          <a:stretch/>
        </p:blipFill>
        <p:spPr>
          <a:xfrm>
            <a:off x="243840" y="5749150"/>
            <a:ext cx="3934326" cy="350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1"/>
          <p:cNvSpPr>
            <a:spLocks noGrp="1"/>
          </p:cNvSpPr>
          <p:nvPr>
            <p:ph type="subTitle" idx="4294967295"/>
          </p:nvPr>
        </p:nvSpPr>
        <p:spPr>
          <a:xfrm>
            <a:off x="1122680" y="3446646"/>
            <a:ext cx="5511800" cy="369887"/>
          </a:xfrm>
        </p:spPr>
        <p:txBody>
          <a:bodyPr>
            <a:spAutoFit/>
          </a:bodyPr>
          <a:lstStyle/>
          <a:p>
            <a:pPr marL="0" indent="0">
              <a:buNone/>
            </a:pPr>
            <a:r>
              <a:rPr sz="2400" dirty="0">
                <a:latin typeface="Arial" charset="0"/>
                <a:cs typeface="Arial" charset="0"/>
              </a:rPr>
              <a:t>202</a:t>
            </a:r>
            <a:r>
              <a:rPr lang="en-US" sz="2400" dirty="0">
                <a:latin typeface="Arial" charset="0"/>
                <a:cs typeface="Arial" charset="0"/>
              </a:rPr>
              <a:t>3</a:t>
            </a:r>
            <a:endParaRPr sz="2400" dirty="0">
              <a:latin typeface="Arial" charset="0"/>
              <a:cs typeface="Arial" charset="0"/>
            </a:endParaRPr>
          </a:p>
        </p:txBody>
      </p:sp>
      <p:sp>
        <p:nvSpPr>
          <p:cNvPr id="11267" name="Title 2"/>
          <p:cNvSpPr>
            <a:spLocks noGrp="1"/>
          </p:cNvSpPr>
          <p:nvPr>
            <p:ph type="title" idx="4294967295"/>
          </p:nvPr>
        </p:nvSpPr>
        <p:spPr>
          <a:xfrm>
            <a:off x="1122680" y="2700610"/>
            <a:ext cx="6680200" cy="553998"/>
          </a:xfrm>
        </p:spPr>
        <p:txBody>
          <a:bodyPr/>
          <a:lstStyle/>
          <a:p>
            <a:r>
              <a:rPr sz="3600" dirty="0">
                <a:solidFill>
                  <a:srgbClr val="E31837"/>
                </a:solidFill>
                <a:latin typeface="Arial" charset="0"/>
                <a:cs typeface="Arial" charset="0"/>
              </a:rPr>
              <a:t>OBS Management</a:t>
            </a:r>
            <a:endParaRPr sz="3600" dirty="0">
              <a:latin typeface="Arial" charset="0"/>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Placeholder 4"/>
          <p:cNvSpPr>
            <a:spLocks noGrp="1"/>
          </p:cNvSpPr>
          <p:nvPr>
            <p:ph type="body" sz="quarter" idx="19"/>
          </p:nvPr>
        </p:nvSpPr>
        <p:spPr>
          <a:xfrm>
            <a:off x="1109663" y="1909763"/>
            <a:ext cx="7219950" cy="1938992"/>
          </a:xfrm>
        </p:spPr>
        <p:txBody>
          <a:bodyPr/>
          <a:lstStyle/>
          <a:p>
            <a:pPr>
              <a:spcBef>
                <a:spcPct val="0"/>
              </a:spcBef>
              <a:spcAft>
                <a:spcPct val="0"/>
              </a:spcAft>
            </a:pPr>
            <a:r>
              <a:rPr lang="en-US" dirty="0">
                <a:latin typeface="Arial" charset="0"/>
                <a:cs typeface="Arial" charset="0"/>
              </a:rPr>
              <a:t>Obsolescence Management</a:t>
            </a:r>
          </a:p>
          <a:p>
            <a:pPr marL="0" indent="0">
              <a:spcBef>
                <a:spcPct val="0"/>
              </a:spcBef>
              <a:spcAft>
                <a:spcPct val="0"/>
              </a:spcAft>
              <a:buNone/>
            </a:pPr>
            <a:endParaRPr dirty="0">
              <a:latin typeface="Arial" charset="0"/>
              <a:cs typeface="Arial" charset="0"/>
            </a:endParaRPr>
          </a:p>
          <a:p>
            <a:pPr>
              <a:spcBef>
                <a:spcPct val="0"/>
              </a:spcBef>
              <a:spcAft>
                <a:spcPct val="0"/>
              </a:spcAft>
            </a:pPr>
            <a:r>
              <a:rPr dirty="0">
                <a:latin typeface="Arial" charset="0"/>
                <a:cs typeface="Arial" charset="0"/>
              </a:rPr>
              <a:t>Component Engineering</a:t>
            </a:r>
          </a:p>
          <a:p>
            <a:pPr marL="0" indent="0">
              <a:spcBef>
                <a:spcPct val="0"/>
              </a:spcBef>
              <a:spcAft>
                <a:spcPct val="0"/>
              </a:spcAft>
              <a:buNone/>
            </a:pPr>
            <a:endParaRPr lang="en-US" dirty="0">
              <a:latin typeface="Arial" charset="0"/>
              <a:cs typeface="Arial" charset="0"/>
            </a:endParaRPr>
          </a:p>
          <a:p>
            <a:pPr>
              <a:spcBef>
                <a:spcPct val="0"/>
              </a:spcBef>
              <a:spcAft>
                <a:spcPct val="0"/>
              </a:spcAft>
            </a:pPr>
            <a:r>
              <a:rPr lang="en-US" dirty="0">
                <a:latin typeface="Arial" charset="0"/>
                <a:cs typeface="Arial" charset="0"/>
              </a:rPr>
              <a:t>Alternate Finding</a:t>
            </a:r>
            <a:endParaRPr dirty="0">
              <a:latin typeface="Arial" charset="0"/>
              <a:cs typeface="Arial" charset="0"/>
            </a:endParaRPr>
          </a:p>
          <a:p>
            <a:pPr>
              <a:spcBef>
                <a:spcPct val="0"/>
              </a:spcBef>
              <a:spcAft>
                <a:spcPct val="0"/>
              </a:spcAft>
            </a:pPr>
            <a:endParaRPr dirty="0">
              <a:latin typeface="Arial" charset="0"/>
              <a:cs typeface="Arial" charset="0"/>
            </a:endParaRPr>
          </a:p>
          <a:p>
            <a:pPr>
              <a:spcBef>
                <a:spcPct val="0"/>
              </a:spcBef>
              <a:spcAft>
                <a:spcPct val="0"/>
              </a:spcAft>
            </a:pPr>
            <a:r>
              <a:rPr dirty="0">
                <a:latin typeface="Arial" charset="0"/>
                <a:cs typeface="Arial" charset="0"/>
              </a:rPr>
              <a:t>Case Studies</a:t>
            </a:r>
          </a:p>
        </p:txBody>
      </p:sp>
      <p:sp>
        <p:nvSpPr>
          <p:cNvPr id="12291" name="Title 3"/>
          <p:cNvSpPr>
            <a:spLocks noGrp="1"/>
          </p:cNvSpPr>
          <p:nvPr>
            <p:ph type="title"/>
          </p:nvPr>
        </p:nvSpPr>
        <p:spPr>
          <a:xfrm>
            <a:off x="1109663" y="727076"/>
            <a:ext cx="8226425" cy="492125"/>
          </a:xfrm>
        </p:spPr>
        <p:txBody>
          <a:bodyPr/>
          <a:lstStyle/>
          <a:p>
            <a:r>
              <a:rPr dirty="0">
                <a:latin typeface="Arial" charset="0"/>
                <a:cs typeface="Arial" charset="0"/>
              </a:rPr>
              <a:t>OBS Management Process</a:t>
            </a:r>
          </a:p>
        </p:txBody>
      </p:sp>
      <p:sp>
        <p:nvSpPr>
          <p:cNvPr id="12292" name="Text Placeholder 2"/>
          <p:cNvSpPr>
            <a:spLocks noGrp="1"/>
          </p:cNvSpPr>
          <p:nvPr>
            <p:ph type="body" sz="quarter" idx="13"/>
          </p:nvPr>
        </p:nvSpPr>
        <p:spPr>
          <a:xfrm>
            <a:off x="1109663" y="1270001"/>
            <a:ext cx="8224837" cy="284163"/>
          </a:xfrm>
        </p:spPr>
        <p:txBody>
          <a:bodyPr/>
          <a:lstStyle/>
          <a:p>
            <a:r>
              <a:rPr dirty="0">
                <a:latin typeface="Arial" charset="0"/>
                <a:cs typeface="Arial" charset="0"/>
              </a:rPr>
              <a:t>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41360" y="448257"/>
            <a:ext cx="8444195" cy="984885"/>
          </a:xfrm>
        </p:spPr>
        <p:txBody>
          <a:bodyPr/>
          <a:lstStyle/>
          <a:p>
            <a:r>
              <a:rPr lang="en-IN" dirty="0">
                <a:latin typeface="Arial" charset="0"/>
                <a:cs typeface="Arial" charset="0"/>
              </a:rPr>
              <a:t>Obsolescence Management</a:t>
            </a:r>
            <a:r>
              <a:rPr lang="en-IN" sz="2500" dirty="0">
                <a:solidFill>
                  <a:schemeClr val="tx1"/>
                </a:solidFill>
                <a:latin typeface="+mj-lt"/>
              </a:rPr>
              <a:t> </a:t>
            </a:r>
            <a:r>
              <a:rPr lang="en-IN" dirty="0">
                <a:latin typeface="Arial" charset="0"/>
                <a:cs typeface="Arial" charset="0"/>
              </a:rPr>
              <a:t>Competency</a:t>
            </a:r>
            <a:endParaRPr lang="en-US" dirty="0">
              <a:latin typeface="Arial" charset="0"/>
              <a:cs typeface="Arial" charset="0"/>
            </a:endParaRPr>
          </a:p>
        </p:txBody>
      </p:sp>
      <p:sp>
        <p:nvSpPr>
          <p:cNvPr id="6" name="Chevron 5"/>
          <p:cNvSpPr/>
          <p:nvPr/>
        </p:nvSpPr>
        <p:spPr>
          <a:xfrm>
            <a:off x="1314875" y="1283721"/>
            <a:ext cx="1688194" cy="822949"/>
          </a:xfrm>
          <a:prstGeom prst="chevron">
            <a:avLst>
              <a:gd name="adj" fmla="val 12967"/>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lIns="87965" tIns="43983" rIns="87965" bIns="43983" rtlCol="0" anchor="ctr"/>
          <a:lstStyle/>
          <a:p>
            <a:pPr algn="ctr" defTabSz="1088461" fontAlgn="auto">
              <a:spcBef>
                <a:spcPts val="0"/>
              </a:spcBef>
              <a:spcAft>
                <a:spcPts val="0"/>
              </a:spcAft>
            </a:pPr>
            <a:r>
              <a:rPr lang="en-US" sz="1300" b="1" dirty="0">
                <a:solidFill>
                  <a:prstClr val="white"/>
                </a:solidFill>
              </a:rPr>
              <a:t>Obsolescence Management</a:t>
            </a:r>
          </a:p>
        </p:txBody>
      </p:sp>
      <p:grpSp>
        <p:nvGrpSpPr>
          <p:cNvPr id="7" name="Group 2"/>
          <p:cNvGrpSpPr/>
          <p:nvPr/>
        </p:nvGrpSpPr>
        <p:grpSpPr>
          <a:xfrm>
            <a:off x="3372975" y="1556542"/>
            <a:ext cx="6927612" cy="1075012"/>
            <a:chOff x="251520" y="4077072"/>
            <a:chExt cx="8595021" cy="1665125"/>
          </a:xfrm>
        </p:grpSpPr>
        <p:sp>
          <p:nvSpPr>
            <p:cNvPr id="8" name="Rounded Rectangle 7"/>
            <p:cNvSpPr/>
            <p:nvPr/>
          </p:nvSpPr>
          <p:spPr>
            <a:xfrm>
              <a:off x="1183432" y="4437112"/>
              <a:ext cx="7663109" cy="922558"/>
            </a:xfrm>
            <a:prstGeom prst="roundRect">
              <a:avLst/>
            </a:prstGeom>
            <a:noFill/>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endParaRPr lang="en-US" sz="1100" b="1">
                <a:solidFill>
                  <a:prstClr val="white"/>
                </a:solidFill>
              </a:endParaRPr>
            </a:p>
          </p:txBody>
        </p:sp>
        <p:sp>
          <p:nvSpPr>
            <p:cNvPr id="9" name="Rounded Rectangle 8"/>
            <p:cNvSpPr/>
            <p:nvPr/>
          </p:nvSpPr>
          <p:spPr>
            <a:xfrm>
              <a:off x="683568" y="5009881"/>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Component Engineering</a:t>
              </a:r>
            </a:p>
          </p:txBody>
        </p:sp>
        <p:sp>
          <p:nvSpPr>
            <p:cNvPr id="10" name="Rounded Rectangle 9"/>
            <p:cNvSpPr/>
            <p:nvPr/>
          </p:nvSpPr>
          <p:spPr>
            <a:xfrm>
              <a:off x="2267744" y="5018875"/>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Electronics Design Engineering</a:t>
              </a:r>
            </a:p>
          </p:txBody>
        </p:sp>
        <p:sp>
          <p:nvSpPr>
            <p:cNvPr id="11" name="Rounded Rectangle 10"/>
            <p:cNvSpPr/>
            <p:nvPr/>
          </p:nvSpPr>
          <p:spPr>
            <a:xfrm>
              <a:off x="3875441" y="5022117"/>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ECAD- PCB Layouts </a:t>
              </a:r>
            </a:p>
          </p:txBody>
        </p:sp>
        <p:sp>
          <p:nvSpPr>
            <p:cNvPr id="12" name="Rounded Rectangle 11"/>
            <p:cNvSpPr/>
            <p:nvPr/>
          </p:nvSpPr>
          <p:spPr>
            <a:xfrm>
              <a:off x="5473960" y="5009881"/>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Sourcing</a:t>
              </a:r>
            </a:p>
          </p:txBody>
        </p:sp>
        <p:sp>
          <p:nvSpPr>
            <p:cNvPr id="13" name="Rounded Rectangle 12"/>
            <p:cNvSpPr/>
            <p:nvPr/>
          </p:nvSpPr>
          <p:spPr>
            <a:xfrm>
              <a:off x="251520" y="4077072"/>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Embedded  Firmware</a:t>
              </a:r>
            </a:p>
          </p:txBody>
        </p:sp>
        <p:sp>
          <p:nvSpPr>
            <p:cNvPr id="14" name="Rounded Rectangle 13"/>
            <p:cNvSpPr/>
            <p:nvPr/>
          </p:nvSpPr>
          <p:spPr>
            <a:xfrm>
              <a:off x="1907704" y="4077072"/>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Application SW</a:t>
              </a:r>
            </a:p>
          </p:txBody>
        </p:sp>
        <p:sp>
          <p:nvSpPr>
            <p:cNvPr id="15" name="Rounded Rectangle 14"/>
            <p:cNvSpPr/>
            <p:nvPr/>
          </p:nvSpPr>
          <p:spPr>
            <a:xfrm>
              <a:off x="3582370" y="4077072"/>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Mechanical Design  </a:t>
              </a:r>
            </a:p>
          </p:txBody>
        </p:sp>
        <p:sp>
          <p:nvSpPr>
            <p:cNvPr id="16" name="Rounded Rectangle 15"/>
            <p:cNvSpPr/>
            <p:nvPr/>
          </p:nvSpPr>
          <p:spPr>
            <a:xfrm>
              <a:off x="5220072" y="4077072"/>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Prototyping </a:t>
              </a:r>
            </a:p>
          </p:txBody>
        </p:sp>
        <p:sp>
          <p:nvSpPr>
            <p:cNvPr id="17" name="Rounded Rectangle 16"/>
            <p:cNvSpPr/>
            <p:nvPr/>
          </p:nvSpPr>
          <p:spPr>
            <a:xfrm>
              <a:off x="7092280" y="4999630"/>
              <a:ext cx="1512168"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Engineering </a:t>
              </a:r>
            </a:p>
            <a:p>
              <a:pPr algn="ctr" defTabSz="1088461" fontAlgn="auto">
                <a:spcBef>
                  <a:spcPts val="0"/>
                </a:spcBef>
                <a:spcAft>
                  <a:spcPts val="0"/>
                </a:spcAft>
              </a:pPr>
              <a:r>
                <a:rPr lang="en-US" sz="1000" b="1" dirty="0">
                  <a:solidFill>
                    <a:prstClr val="black"/>
                  </a:solidFill>
                </a:rPr>
                <a:t>Documentation</a:t>
              </a:r>
            </a:p>
          </p:txBody>
        </p:sp>
        <p:sp>
          <p:nvSpPr>
            <p:cNvPr id="18" name="Rounded Rectangle 17"/>
            <p:cNvSpPr/>
            <p:nvPr/>
          </p:nvSpPr>
          <p:spPr>
            <a:xfrm>
              <a:off x="6842112" y="4077072"/>
              <a:ext cx="1368152" cy="720080"/>
            </a:xfrm>
            <a:prstGeom prst="roundRect">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1088461" fontAlgn="auto">
                <a:spcBef>
                  <a:spcPts val="0"/>
                </a:spcBef>
                <a:spcAft>
                  <a:spcPts val="0"/>
                </a:spcAft>
              </a:pPr>
              <a:r>
                <a:rPr lang="en-US" sz="1000" b="1" dirty="0">
                  <a:solidFill>
                    <a:prstClr val="black"/>
                  </a:solidFill>
                </a:rPr>
                <a:t>Product Qualification</a:t>
              </a:r>
            </a:p>
          </p:txBody>
        </p:sp>
      </p:grpSp>
      <p:sp>
        <p:nvSpPr>
          <p:cNvPr id="19" name="Chevron 18"/>
          <p:cNvSpPr/>
          <p:nvPr/>
        </p:nvSpPr>
        <p:spPr>
          <a:xfrm>
            <a:off x="2931198" y="1283721"/>
            <a:ext cx="141728" cy="822949"/>
          </a:xfrm>
          <a:prstGeom prst="chevron">
            <a:avLst>
              <a:gd name="adj" fmla="val 88325"/>
            </a:avLst>
          </a:prstGeom>
          <a:solidFill>
            <a:schemeClr val="bg2"/>
          </a:solidFill>
          <a:ln w="76200">
            <a:solidFill>
              <a:schemeClr val="accent1"/>
            </a:solidFill>
          </a:ln>
        </p:spPr>
        <p:style>
          <a:lnRef idx="1">
            <a:schemeClr val="accent1"/>
          </a:lnRef>
          <a:fillRef idx="0">
            <a:schemeClr val="accent1"/>
          </a:fillRef>
          <a:effectRef idx="0">
            <a:schemeClr val="accent1"/>
          </a:effectRef>
          <a:fontRef idx="minor">
            <a:schemeClr val="tx1"/>
          </a:fontRef>
        </p:style>
        <p:txBody>
          <a:bodyPr lIns="87965" tIns="43983" rIns="87965" bIns="43983" rtlCol="0" anchor="ctr"/>
          <a:lstStyle/>
          <a:p>
            <a:pPr algn="ctr" defTabSz="1088461" fontAlgn="auto">
              <a:spcBef>
                <a:spcPts val="0"/>
              </a:spcBef>
              <a:spcAft>
                <a:spcPts val="0"/>
              </a:spcAft>
            </a:pPr>
            <a:endParaRPr lang="en-US" sz="1300" b="1" dirty="0">
              <a:solidFill>
                <a:prstClr val="white"/>
              </a:solidFill>
            </a:endParaRPr>
          </a:p>
        </p:txBody>
      </p:sp>
      <p:sp>
        <p:nvSpPr>
          <p:cNvPr id="26" name="Freeform 25"/>
          <p:cNvSpPr/>
          <p:nvPr/>
        </p:nvSpPr>
        <p:spPr>
          <a:xfrm>
            <a:off x="5025065" y="3599017"/>
            <a:ext cx="1930605" cy="2886076"/>
          </a:xfrm>
          <a:custGeom>
            <a:avLst/>
            <a:gdLst>
              <a:gd name="connsiteX0" fmla="*/ 0 w 1253820"/>
              <a:gd name="connsiteY0" fmla="*/ 0 h 4741318"/>
              <a:gd name="connsiteX1" fmla="*/ 1253820 w 1253820"/>
              <a:gd name="connsiteY1" fmla="*/ 0 h 4741318"/>
              <a:gd name="connsiteX2" fmla="*/ 1253820 w 1253820"/>
              <a:gd name="connsiteY2" fmla="*/ 4741318 h 4741318"/>
              <a:gd name="connsiteX3" fmla="*/ 0 w 1253820"/>
              <a:gd name="connsiteY3" fmla="*/ 4741318 h 4741318"/>
              <a:gd name="connsiteX4" fmla="*/ 0 w 1253820"/>
              <a:gd name="connsiteY4" fmla="*/ 0 h 4741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820" h="4741318">
                <a:moveTo>
                  <a:pt x="0" y="0"/>
                </a:moveTo>
                <a:lnTo>
                  <a:pt x="1253820" y="0"/>
                </a:lnTo>
                <a:lnTo>
                  <a:pt x="1253820" y="4741318"/>
                </a:lnTo>
                <a:lnTo>
                  <a:pt x="0" y="47413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22" anchor="t" anchorCtr="0">
            <a:noAutofit/>
          </a:bodyPr>
          <a:lstStyle/>
          <a:p>
            <a:pPr marL="118662" lvl="1" indent="-118662" defTabSz="718379">
              <a:lnSpc>
                <a:spcPct val="90000"/>
              </a:lnSpc>
              <a:spcAft>
                <a:spcPct val="15000"/>
              </a:spcAft>
              <a:buFontTx/>
              <a:buChar char="••"/>
            </a:pPr>
            <a:endParaRPr lang="en-IN" sz="1100" dirty="0">
              <a:solidFill>
                <a:prstClr val="black">
                  <a:lumMod val="65000"/>
                  <a:lumOff val="35000"/>
                </a:prstClr>
              </a:solidFill>
              <a:cs typeface="Calibri" pitchFamily="34" charset="0"/>
            </a:endParaRPr>
          </a:p>
        </p:txBody>
      </p:sp>
      <p:grpSp>
        <p:nvGrpSpPr>
          <p:cNvPr id="28" name="Group 27"/>
          <p:cNvGrpSpPr/>
          <p:nvPr/>
        </p:nvGrpSpPr>
        <p:grpSpPr>
          <a:xfrm>
            <a:off x="2625364" y="2979898"/>
            <a:ext cx="2090057" cy="3478785"/>
            <a:chOff x="304800" y="2057400"/>
            <a:chExt cx="2057400" cy="3478785"/>
          </a:xfrm>
        </p:grpSpPr>
        <p:sp>
          <p:nvSpPr>
            <p:cNvPr id="29" name="Pentagon 28"/>
            <p:cNvSpPr/>
            <p:nvPr/>
          </p:nvSpPr>
          <p:spPr>
            <a:xfrm>
              <a:off x="304800" y="2057400"/>
              <a:ext cx="2057399" cy="609600"/>
            </a:xfrm>
            <a:prstGeom prst="homePlate">
              <a:avLst>
                <a:gd name="adj" fmla="val 0"/>
              </a:avLst>
            </a:prstGeom>
            <a:solidFill>
              <a:schemeClr val="bg2"/>
            </a:solid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23634" fontAlgn="auto">
                <a:spcBef>
                  <a:spcPts val="0"/>
                </a:spcBef>
                <a:spcAft>
                  <a:spcPts val="0"/>
                </a:spcAft>
              </a:pPr>
              <a:r>
                <a:rPr lang="en-US" sz="1400" b="1" dirty="0">
                  <a:solidFill>
                    <a:prstClr val="white"/>
                  </a:solidFill>
                </a:rPr>
                <a:t>Hardware development</a:t>
              </a:r>
            </a:p>
          </p:txBody>
        </p:sp>
        <p:sp>
          <p:nvSpPr>
            <p:cNvPr id="30" name="Rectangle 29"/>
            <p:cNvSpPr/>
            <p:nvPr/>
          </p:nvSpPr>
          <p:spPr>
            <a:xfrm>
              <a:off x="304800" y="2667000"/>
              <a:ext cx="2057400" cy="2869185"/>
            </a:xfrm>
            <a:prstGeom prst="rect">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118662" lvl="1" indent="-118662" defTabSz="718379">
                <a:lnSpc>
                  <a:spcPct val="90000"/>
                </a:lnSpc>
                <a:spcBef>
                  <a:spcPts val="606"/>
                </a:spcBef>
                <a:spcAft>
                  <a:spcPct val="15000"/>
                </a:spcAft>
                <a:buFontTx/>
                <a:buChar char="••"/>
              </a:pPr>
              <a:endParaRPr lang="en-IN" sz="1000" dirty="0">
                <a:latin typeface="+mj-lt"/>
                <a:cs typeface="Calibri" pitchFamily="34" charset="0"/>
              </a:endParaRPr>
            </a:p>
          </p:txBody>
        </p:sp>
      </p:grpSp>
      <p:sp>
        <p:nvSpPr>
          <p:cNvPr id="31" name="Freeform 30"/>
          <p:cNvSpPr/>
          <p:nvPr/>
        </p:nvSpPr>
        <p:spPr>
          <a:xfrm>
            <a:off x="3280123" y="2980763"/>
            <a:ext cx="1406273" cy="2297916"/>
          </a:xfrm>
          <a:custGeom>
            <a:avLst/>
            <a:gdLst>
              <a:gd name="connsiteX0" fmla="*/ 0 w 1253820"/>
              <a:gd name="connsiteY0" fmla="*/ 0 h 4741318"/>
              <a:gd name="connsiteX1" fmla="*/ 1253820 w 1253820"/>
              <a:gd name="connsiteY1" fmla="*/ 0 h 4741318"/>
              <a:gd name="connsiteX2" fmla="*/ 1253820 w 1253820"/>
              <a:gd name="connsiteY2" fmla="*/ 4741318 h 4741318"/>
              <a:gd name="connsiteX3" fmla="*/ 0 w 1253820"/>
              <a:gd name="connsiteY3" fmla="*/ 4741318 h 4741318"/>
              <a:gd name="connsiteX4" fmla="*/ 0 w 1253820"/>
              <a:gd name="connsiteY4" fmla="*/ 0 h 4741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820" h="4741318">
                <a:moveTo>
                  <a:pt x="0" y="0"/>
                </a:moveTo>
                <a:lnTo>
                  <a:pt x="1253820" y="0"/>
                </a:lnTo>
                <a:lnTo>
                  <a:pt x="1253820" y="4741318"/>
                </a:lnTo>
                <a:lnTo>
                  <a:pt x="0" y="47413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22" anchor="t" anchorCtr="0">
            <a:noAutofit/>
          </a:bodyPr>
          <a:lstStyle/>
          <a:p>
            <a:pPr marL="118662" lvl="1" indent="-118662" defTabSz="718379">
              <a:lnSpc>
                <a:spcPct val="90000"/>
              </a:lnSpc>
              <a:spcAft>
                <a:spcPct val="15000"/>
              </a:spcAft>
              <a:buFontTx/>
              <a:buChar char="••"/>
            </a:pPr>
            <a:endParaRPr lang="en-IN" sz="1100" dirty="0">
              <a:solidFill>
                <a:prstClr val="black">
                  <a:lumMod val="65000"/>
                  <a:lumOff val="35000"/>
                </a:prstClr>
              </a:solidFill>
              <a:cs typeface="Calibri" pitchFamily="34" charset="0"/>
            </a:endParaRPr>
          </a:p>
        </p:txBody>
      </p:sp>
      <p:grpSp>
        <p:nvGrpSpPr>
          <p:cNvPr id="32" name="Group 31"/>
          <p:cNvGrpSpPr/>
          <p:nvPr/>
        </p:nvGrpSpPr>
        <p:grpSpPr>
          <a:xfrm>
            <a:off x="4870245" y="2979898"/>
            <a:ext cx="2102959" cy="3478785"/>
            <a:chOff x="2514600" y="2057400"/>
            <a:chExt cx="2070100" cy="3478785"/>
          </a:xfrm>
        </p:grpSpPr>
        <p:sp>
          <p:nvSpPr>
            <p:cNvPr id="33" name="Pentagon 32"/>
            <p:cNvSpPr/>
            <p:nvPr/>
          </p:nvSpPr>
          <p:spPr>
            <a:xfrm>
              <a:off x="2514600" y="2057400"/>
              <a:ext cx="2070100" cy="609600"/>
            </a:xfrm>
            <a:prstGeom prst="homePlate">
              <a:avLst>
                <a:gd name="adj" fmla="val 0"/>
              </a:avLst>
            </a:prstGeom>
            <a:solidFill>
              <a:schemeClr val="bg2"/>
            </a:solid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23634" fontAlgn="auto">
                <a:spcBef>
                  <a:spcPts val="0"/>
                </a:spcBef>
                <a:spcAft>
                  <a:spcPts val="0"/>
                </a:spcAft>
              </a:pPr>
              <a:r>
                <a:rPr lang="en-US" sz="1400" b="1" dirty="0">
                  <a:solidFill>
                    <a:prstClr val="white"/>
                  </a:solidFill>
                </a:rPr>
                <a:t>Firmware development</a:t>
              </a:r>
            </a:p>
          </p:txBody>
        </p:sp>
        <p:sp>
          <p:nvSpPr>
            <p:cNvPr id="34" name="Rectangle 33"/>
            <p:cNvSpPr/>
            <p:nvPr/>
          </p:nvSpPr>
          <p:spPr>
            <a:xfrm>
              <a:off x="2514600" y="2667000"/>
              <a:ext cx="2057400" cy="2869185"/>
            </a:xfrm>
            <a:prstGeom prst="rect">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lvl="1" defTabSz="718379">
                <a:lnSpc>
                  <a:spcPct val="90000"/>
                </a:lnSpc>
                <a:spcBef>
                  <a:spcPts val="606"/>
                </a:spcBef>
                <a:spcAft>
                  <a:spcPct val="15000"/>
                </a:spcAft>
              </a:pPr>
              <a:endParaRPr lang="en-IN" sz="1100" dirty="0">
                <a:cs typeface="Calibri" pitchFamily="34" charset="0"/>
              </a:endParaRPr>
            </a:p>
            <a:p>
              <a:pPr marL="0" lvl="1" defTabSz="718379">
                <a:lnSpc>
                  <a:spcPct val="90000"/>
                </a:lnSpc>
                <a:spcAft>
                  <a:spcPct val="15000"/>
                </a:spcAft>
              </a:pPr>
              <a:endParaRPr lang="en-IN" sz="1100" dirty="0">
                <a:solidFill>
                  <a:prstClr val="black">
                    <a:lumMod val="65000"/>
                    <a:lumOff val="35000"/>
                  </a:prstClr>
                </a:solidFill>
                <a:cs typeface="Calibri" pitchFamily="34" charset="0"/>
              </a:endParaRPr>
            </a:p>
            <a:p>
              <a:pPr marL="0" lvl="1" defTabSz="718379">
                <a:lnSpc>
                  <a:spcPct val="90000"/>
                </a:lnSpc>
                <a:spcAft>
                  <a:spcPct val="15000"/>
                </a:spcAft>
              </a:pPr>
              <a:endParaRPr lang="en-IN" sz="1100" dirty="0">
                <a:solidFill>
                  <a:prstClr val="black">
                    <a:lumMod val="65000"/>
                    <a:lumOff val="35000"/>
                  </a:prstClr>
                </a:solidFill>
                <a:cs typeface="Calibri" pitchFamily="34" charset="0"/>
              </a:endParaRPr>
            </a:p>
            <a:p>
              <a:pPr marL="118662" lvl="1" indent="-118662" defTabSz="718379">
                <a:lnSpc>
                  <a:spcPct val="90000"/>
                </a:lnSpc>
                <a:spcAft>
                  <a:spcPct val="15000"/>
                </a:spcAft>
                <a:buFontTx/>
                <a:buChar char="••"/>
              </a:pPr>
              <a:endParaRPr lang="en-IN" sz="1100" dirty="0">
                <a:solidFill>
                  <a:prstClr val="black">
                    <a:lumMod val="65000"/>
                    <a:lumOff val="35000"/>
                  </a:prstClr>
                </a:solidFill>
                <a:cs typeface="Calibri" pitchFamily="34" charset="0"/>
              </a:endParaRPr>
            </a:p>
          </p:txBody>
        </p:sp>
      </p:grpSp>
      <p:grpSp>
        <p:nvGrpSpPr>
          <p:cNvPr id="35" name="Group 34"/>
          <p:cNvGrpSpPr/>
          <p:nvPr/>
        </p:nvGrpSpPr>
        <p:grpSpPr>
          <a:xfrm>
            <a:off x="7115115" y="2979898"/>
            <a:ext cx="2090063" cy="3505201"/>
            <a:chOff x="4679754" y="2057400"/>
            <a:chExt cx="2057406" cy="3505201"/>
          </a:xfrm>
        </p:grpSpPr>
        <p:sp>
          <p:nvSpPr>
            <p:cNvPr id="36" name="Pentagon 35"/>
            <p:cNvSpPr/>
            <p:nvPr/>
          </p:nvSpPr>
          <p:spPr>
            <a:xfrm>
              <a:off x="4679760" y="2057400"/>
              <a:ext cx="2057400" cy="609600"/>
            </a:xfrm>
            <a:prstGeom prst="homePlate">
              <a:avLst>
                <a:gd name="adj" fmla="val 0"/>
              </a:avLst>
            </a:prstGeom>
            <a:solidFill>
              <a:schemeClr val="bg2"/>
            </a:solid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23634" fontAlgn="auto">
                <a:spcBef>
                  <a:spcPts val="0"/>
                </a:spcBef>
                <a:spcAft>
                  <a:spcPts val="0"/>
                </a:spcAft>
              </a:pPr>
              <a:r>
                <a:rPr lang="en-US" sz="1400" b="1" dirty="0">
                  <a:solidFill>
                    <a:prstClr val="white"/>
                  </a:solidFill>
                </a:rPr>
                <a:t>HMI application development</a:t>
              </a:r>
            </a:p>
          </p:txBody>
        </p:sp>
        <p:sp>
          <p:nvSpPr>
            <p:cNvPr id="37" name="Rectangle 36"/>
            <p:cNvSpPr/>
            <p:nvPr/>
          </p:nvSpPr>
          <p:spPr>
            <a:xfrm>
              <a:off x="4679754" y="2667001"/>
              <a:ext cx="2057406" cy="2895600"/>
            </a:xfrm>
            <a:prstGeom prst="rect">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lvl="1" defTabSz="718379">
                <a:lnSpc>
                  <a:spcPct val="90000"/>
                </a:lnSpc>
                <a:spcBef>
                  <a:spcPts val="606"/>
                </a:spcBef>
                <a:spcAft>
                  <a:spcPct val="15000"/>
                </a:spcAft>
              </a:pPr>
              <a:endParaRPr lang="en-IN" sz="1100" dirty="0">
                <a:cs typeface="Calibri" pitchFamily="34" charset="0"/>
              </a:endParaRPr>
            </a:p>
          </p:txBody>
        </p:sp>
      </p:grpSp>
      <p:grpSp>
        <p:nvGrpSpPr>
          <p:cNvPr id="38" name="Group 37"/>
          <p:cNvGrpSpPr/>
          <p:nvPr/>
        </p:nvGrpSpPr>
        <p:grpSpPr>
          <a:xfrm>
            <a:off x="9359997" y="2996784"/>
            <a:ext cx="2090057" cy="3488309"/>
            <a:chOff x="7010400" y="2083815"/>
            <a:chExt cx="2057400" cy="3488309"/>
          </a:xfrm>
        </p:grpSpPr>
        <p:sp>
          <p:nvSpPr>
            <p:cNvPr id="39" name="Pentagon 38"/>
            <p:cNvSpPr/>
            <p:nvPr/>
          </p:nvSpPr>
          <p:spPr>
            <a:xfrm>
              <a:off x="7010400" y="2083815"/>
              <a:ext cx="2057400" cy="583185"/>
            </a:xfrm>
            <a:prstGeom prst="homePlate">
              <a:avLst>
                <a:gd name="adj" fmla="val 0"/>
              </a:avLst>
            </a:prstGeom>
            <a:solidFill>
              <a:schemeClr val="bg2"/>
            </a:solid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23634" fontAlgn="auto">
                <a:spcBef>
                  <a:spcPts val="0"/>
                </a:spcBef>
                <a:spcAft>
                  <a:spcPts val="0"/>
                </a:spcAft>
              </a:pPr>
              <a:r>
                <a:rPr lang="en-US" sz="1400" b="1" dirty="0">
                  <a:solidFill>
                    <a:prstClr val="white"/>
                  </a:solidFill>
                </a:rPr>
                <a:t>Testing</a:t>
              </a:r>
            </a:p>
          </p:txBody>
        </p:sp>
        <p:sp>
          <p:nvSpPr>
            <p:cNvPr id="40" name="Rectangle 39"/>
            <p:cNvSpPr/>
            <p:nvPr/>
          </p:nvSpPr>
          <p:spPr>
            <a:xfrm>
              <a:off x="7010400" y="2667000"/>
              <a:ext cx="2057400" cy="2905124"/>
            </a:xfrm>
            <a:prstGeom prst="rect">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118662" lvl="1" indent="-118662" defTabSz="718379">
                <a:lnSpc>
                  <a:spcPct val="90000"/>
                </a:lnSpc>
                <a:spcBef>
                  <a:spcPts val="606"/>
                </a:spcBef>
                <a:spcAft>
                  <a:spcPct val="15000"/>
                </a:spcAft>
                <a:buFontTx/>
                <a:buChar char="••"/>
              </a:pPr>
              <a:endParaRPr lang="en-IN" sz="1000" dirty="0">
                <a:cs typeface="Calibri" pitchFamily="34" charset="0"/>
              </a:endParaRPr>
            </a:p>
            <a:p>
              <a:pPr marL="118662" lvl="1" indent="-118662" defTabSz="718379">
                <a:lnSpc>
                  <a:spcPct val="90000"/>
                </a:lnSpc>
                <a:spcAft>
                  <a:spcPct val="15000"/>
                </a:spcAft>
                <a:buFontTx/>
                <a:buChar char="••"/>
              </a:pPr>
              <a:endParaRPr lang="en-IN" sz="1000" dirty="0">
                <a:solidFill>
                  <a:prstClr val="black">
                    <a:lumMod val="65000"/>
                    <a:lumOff val="35000"/>
                  </a:prstClr>
                </a:solidFill>
                <a:cs typeface="Calibri" pitchFamily="34" charset="0"/>
              </a:endParaRPr>
            </a:p>
          </p:txBody>
        </p:sp>
      </p:grpSp>
      <p:grpSp>
        <p:nvGrpSpPr>
          <p:cNvPr id="41" name="Group 40"/>
          <p:cNvGrpSpPr/>
          <p:nvPr/>
        </p:nvGrpSpPr>
        <p:grpSpPr>
          <a:xfrm>
            <a:off x="381697" y="2988365"/>
            <a:ext cx="2090057" cy="3478785"/>
            <a:chOff x="304800" y="2057400"/>
            <a:chExt cx="2057400" cy="3478785"/>
          </a:xfrm>
        </p:grpSpPr>
        <p:sp>
          <p:nvSpPr>
            <p:cNvPr id="42" name="Pentagon 41"/>
            <p:cNvSpPr/>
            <p:nvPr/>
          </p:nvSpPr>
          <p:spPr>
            <a:xfrm>
              <a:off x="304800" y="2057400"/>
              <a:ext cx="2057399" cy="609600"/>
            </a:xfrm>
            <a:prstGeom prst="homePlate">
              <a:avLst>
                <a:gd name="adj" fmla="val 0"/>
              </a:avLst>
            </a:prstGeom>
            <a:solidFill>
              <a:schemeClr val="bg2"/>
            </a:solidFill>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923634" fontAlgn="auto">
                <a:spcBef>
                  <a:spcPts val="0"/>
                </a:spcBef>
                <a:spcAft>
                  <a:spcPts val="0"/>
                </a:spcAft>
              </a:pPr>
              <a:r>
                <a:rPr lang="en-US" sz="1400" b="1" dirty="0">
                  <a:solidFill>
                    <a:prstClr val="white"/>
                  </a:solidFill>
                </a:rPr>
                <a:t>Component Engineering</a:t>
              </a:r>
            </a:p>
          </p:txBody>
        </p:sp>
        <p:sp>
          <p:nvSpPr>
            <p:cNvPr id="43" name="Rectangle 42"/>
            <p:cNvSpPr/>
            <p:nvPr/>
          </p:nvSpPr>
          <p:spPr>
            <a:xfrm>
              <a:off x="304800" y="2667000"/>
              <a:ext cx="2057400" cy="2869185"/>
            </a:xfrm>
            <a:prstGeom prst="rect">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118662" lvl="1" indent="-118662" defTabSz="718379">
                <a:lnSpc>
                  <a:spcPct val="90000"/>
                </a:lnSpc>
                <a:spcBef>
                  <a:spcPts val="606"/>
                </a:spcBef>
                <a:spcAft>
                  <a:spcPct val="15000"/>
                </a:spcAft>
                <a:buFontTx/>
                <a:buChar char="••"/>
              </a:pPr>
              <a:endParaRPr lang="en-US" sz="1100" dirty="0">
                <a:cs typeface="Calibri" pitchFamily="34" charset="0"/>
              </a:endParaRPr>
            </a:p>
            <a:p>
              <a:pPr marL="118662" lvl="1" indent="-118662" defTabSz="718379">
                <a:lnSpc>
                  <a:spcPct val="90000"/>
                </a:lnSpc>
                <a:spcBef>
                  <a:spcPts val="606"/>
                </a:spcBef>
                <a:spcAft>
                  <a:spcPct val="15000"/>
                </a:spcAft>
                <a:buFontTx/>
                <a:buChar char="••"/>
              </a:pPr>
              <a:endParaRPr lang="en-US" sz="1100" dirty="0">
                <a:solidFill>
                  <a:prstClr val="black">
                    <a:lumMod val="65000"/>
                    <a:lumOff val="35000"/>
                  </a:prstClr>
                </a:solidFill>
                <a:cs typeface="Calibri" pitchFamily="34" charset="0"/>
              </a:endParaRPr>
            </a:p>
          </p:txBody>
        </p:sp>
      </p:grpSp>
      <p:sp>
        <p:nvSpPr>
          <p:cNvPr id="44" name="TextBox 43"/>
          <p:cNvSpPr txBox="1"/>
          <p:nvPr/>
        </p:nvSpPr>
        <p:spPr>
          <a:xfrm>
            <a:off x="9439571" y="3656108"/>
            <a:ext cx="1936401" cy="273921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18662" lvl="1" indent="-118662" defTabSz="718379">
              <a:lnSpc>
                <a:spcPct val="90000"/>
              </a:lnSpc>
              <a:spcBef>
                <a:spcPts val="606"/>
              </a:spcBef>
              <a:spcAft>
                <a:spcPct val="15000"/>
              </a:spcAft>
              <a:buFontTx/>
              <a:buChar char="••"/>
            </a:pPr>
            <a:r>
              <a:rPr lang="en-IN" sz="1000" dirty="0">
                <a:cs typeface="Calibri" pitchFamily="34" charset="0"/>
              </a:rPr>
              <a:t>Running the tests through HMI</a:t>
            </a:r>
          </a:p>
          <a:p>
            <a:pPr marL="118662" lvl="1" indent="-118662" defTabSz="718379">
              <a:lnSpc>
                <a:spcPct val="90000"/>
              </a:lnSpc>
              <a:spcBef>
                <a:spcPts val="606"/>
              </a:spcBef>
              <a:spcAft>
                <a:spcPct val="15000"/>
              </a:spcAft>
              <a:buFontTx/>
              <a:buChar char="••"/>
            </a:pPr>
            <a:r>
              <a:rPr lang="en-IN" sz="1000" dirty="0">
                <a:cs typeface="Calibri" pitchFamily="34" charset="0"/>
              </a:rPr>
              <a:t>Monitor and capturing the test results.</a:t>
            </a:r>
          </a:p>
          <a:p>
            <a:pPr marL="118662" lvl="1" indent="-118662" defTabSz="718379">
              <a:lnSpc>
                <a:spcPct val="90000"/>
              </a:lnSpc>
              <a:spcBef>
                <a:spcPts val="606"/>
              </a:spcBef>
              <a:spcAft>
                <a:spcPct val="15000"/>
              </a:spcAft>
              <a:buFontTx/>
              <a:buChar char="••"/>
            </a:pPr>
            <a:r>
              <a:rPr lang="en-US" sz="1000" dirty="0">
                <a:cs typeface="Calibri" pitchFamily="34" charset="0"/>
              </a:rPr>
              <a:t>ESD safe environment to handle dedicated parts</a:t>
            </a:r>
          </a:p>
          <a:p>
            <a:pPr marL="118662" lvl="1" indent="-118662" defTabSz="718379">
              <a:lnSpc>
                <a:spcPct val="90000"/>
              </a:lnSpc>
              <a:spcBef>
                <a:spcPts val="606"/>
              </a:spcBef>
              <a:spcAft>
                <a:spcPct val="15000"/>
              </a:spcAft>
              <a:buFontTx/>
              <a:buChar char="••"/>
            </a:pPr>
            <a:r>
              <a:rPr lang="en-US" sz="1000" dirty="0">
                <a:cs typeface="Calibri" pitchFamily="34" charset="0"/>
              </a:rPr>
              <a:t>High temperature testing oven</a:t>
            </a:r>
          </a:p>
          <a:p>
            <a:pPr marL="118662" lvl="1" indent="-118662" defTabSz="718379">
              <a:lnSpc>
                <a:spcPct val="90000"/>
              </a:lnSpc>
              <a:spcBef>
                <a:spcPts val="606"/>
              </a:spcBef>
              <a:spcAft>
                <a:spcPct val="15000"/>
              </a:spcAft>
              <a:buFontTx/>
              <a:buChar char="••"/>
            </a:pPr>
            <a:r>
              <a:rPr lang="en-US" sz="1000" dirty="0">
                <a:cs typeface="Calibri" pitchFamily="34" charset="0"/>
              </a:rPr>
              <a:t>Environmental chamber (-30ºC to +250ºC)</a:t>
            </a:r>
          </a:p>
          <a:p>
            <a:pPr marL="118662" lvl="1" indent="-118662" defTabSz="718379">
              <a:lnSpc>
                <a:spcPct val="90000"/>
              </a:lnSpc>
              <a:spcBef>
                <a:spcPts val="606"/>
              </a:spcBef>
              <a:spcAft>
                <a:spcPct val="15000"/>
              </a:spcAft>
              <a:buFontTx/>
              <a:buChar char="••"/>
            </a:pPr>
            <a:r>
              <a:rPr lang="en-US" sz="1000" dirty="0">
                <a:cs typeface="Calibri" pitchFamily="34" charset="0"/>
              </a:rPr>
              <a:t>High temperature soldering and de-soldering setup</a:t>
            </a:r>
          </a:p>
          <a:p>
            <a:pPr marL="118662" lvl="1" indent="-118662" defTabSz="718379">
              <a:lnSpc>
                <a:spcPct val="90000"/>
              </a:lnSpc>
              <a:spcBef>
                <a:spcPts val="606"/>
              </a:spcBef>
              <a:spcAft>
                <a:spcPct val="15000"/>
              </a:spcAft>
              <a:buFontTx/>
              <a:buChar char="••"/>
            </a:pPr>
            <a:r>
              <a:rPr lang="en-IN" sz="1000" dirty="0">
                <a:cs typeface="Calibri" pitchFamily="34" charset="0"/>
              </a:rPr>
              <a:t>Developing test suite.</a:t>
            </a:r>
          </a:p>
          <a:p>
            <a:pPr marL="118662" lvl="1" indent="-118662" defTabSz="718379">
              <a:lnSpc>
                <a:spcPct val="90000"/>
              </a:lnSpc>
              <a:spcBef>
                <a:spcPts val="606"/>
              </a:spcBef>
              <a:spcAft>
                <a:spcPct val="15000"/>
              </a:spcAft>
              <a:buFontTx/>
              <a:buChar char="••"/>
            </a:pPr>
            <a:r>
              <a:rPr lang="en-IN" sz="1000" dirty="0">
                <a:cs typeface="Calibri" pitchFamily="34" charset="0"/>
              </a:rPr>
              <a:t>Hardware testing.</a:t>
            </a:r>
            <a:endParaRPr lang="en-US" sz="1000" dirty="0">
              <a:cs typeface="Calibri" pitchFamily="34" charset="0"/>
            </a:endParaRPr>
          </a:p>
          <a:p>
            <a:pPr marL="118662" lvl="1" indent="-118662" defTabSz="718379">
              <a:lnSpc>
                <a:spcPct val="90000"/>
              </a:lnSpc>
              <a:spcBef>
                <a:spcPts val="606"/>
              </a:spcBef>
              <a:spcAft>
                <a:spcPct val="15000"/>
              </a:spcAft>
              <a:buFontTx/>
              <a:buChar char="••"/>
            </a:pPr>
            <a:r>
              <a:rPr lang="en-IN" sz="1000" dirty="0">
                <a:cs typeface="Calibri" pitchFamily="34" charset="0"/>
              </a:rPr>
              <a:t>Analysing test results and preparing the test report.</a:t>
            </a:r>
            <a:endParaRPr lang="en-US" sz="1200" dirty="0">
              <a:latin typeface="+mj-lt"/>
            </a:endParaRPr>
          </a:p>
        </p:txBody>
      </p:sp>
      <p:sp>
        <p:nvSpPr>
          <p:cNvPr id="45" name="TextBox 44"/>
          <p:cNvSpPr txBox="1"/>
          <p:nvPr/>
        </p:nvSpPr>
        <p:spPr>
          <a:xfrm>
            <a:off x="436124" y="3656108"/>
            <a:ext cx="2029796" cy="2777683"/>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18662" lvl="1" indent="-118662" defTabSz="718379">
              <a:lnSpc>
                <a:spcPct val="90000"/>
              </a:lnSpc>
              <a:spcBef>
                <a:spcPts val="606"/>
              </a:spcBef>
              <a:spcAft>
                <a:spcPct val="15000"/>
              </a:spcAft>
              <a:buFontTx/>
              <a:buChar char="••"/>
            </a:pPr>
            <a:r>
              <a:rPr lang="en-IN" sz="1000" dirty="0">
                <a:cs typeface="Calibri" pitchFamily="34" charset="0"/>
              </a:rPr>
              <a:t>Real time monitoring of the components obsolesce status</a:t>
            </a:r>
          </a:p>
          <a:p>
            <a:pPr marL="118662" lvl="1" indent="-118662" defTabSz="718379">
              <a:lnSpc>
                <a:spcPct val="90000"/>
              </a:lnSpc>
              <a:spcBef>
                <a:spcPts val="606"/>
              </a:spcBef>
              <a:spcAft>
                <a:spcPct val="15000"/>
              </a:spcAft>
              <a:buFontTx/>
              <a:buChar char="••"/>
            </a:pPr>
            <a:r>
              <a:rPr lang="en-IN" sz="1000" dirty="0">
                <a:cs typeface="Calibri" pitchFamily="34" charset="0"/>
              </a:rPr>
              <a:t>Automated obsolesce management system </a:t>
            </a:r>
          </a:p>
          <a:p>
            <a:pPr marL="118662" lvl="1" indent="-118662" defTabSz="718379">
              <a:lnSpc>
                <a:spcPct val="90000"/>
              </a:lnSpc>
              <a:spcBef>
                <a:spcPts val="606"/>
              </a:spcBef>
              <a:spcAft>
                <a:spcPct val="15000"/>
              </a:spcAft>
              <a:buFontTx/>
              <a:buChar char="••"/>
            </a:pPr>
            <a:r>
              <a:rPr lang="en-IN" sz="1000" dirty="0">
                <a:cs typeface="Calibri" pitchFamily="34" charset="0"/>
              </a:rPr>
              <a:t>Live component and PCB levels dash boards and reports </a:t>
            </a:r>
          </a:p>
          <a:p>
            <a:pPr marL="118662" lvl="1" indent="-118662" defTabSz="718379">
              <a:lnSpc>
                <a:spcPct val="90000"/>
              </a:lnSpc>
              <a:spcBef>
                <a:spcPts val="606"/>
              </a:spcBef>
              <a:spcAft>
                <a:spcPct val="15000"/>
              </a:spcAft>
              <a:buFontTx/>
              <a:buChar char="••"/>
            </a:pPr>
            <a:r>
              <a:rPr lang="en-US" sz="1000" dirty="0">
                <a:cs typeface="Calibri" pitchFamily="34" charset="0"/>
              </a:rPr>
              <a:t>Alerts on component status</a:t>
            </a:r>
          </a:p>
          <a:p>
            <a:pPr marL="118662" lvl="1" indent="-118662" defTabSz="718379">
              <a:lnSpc>
                <a:spcPct val="90000"/>
              </a:lnSpc>
              <a:spcBef>
                <a:spcPts val="606"/>
              </a:spcBef>
              <a:spcAft>
                <a:spcPct val="15000"/>
              </a:spcAft>
              <a:buFontTx/>
              <a:buChar char="••"/>
            </a:pPr>
            <a:r>
              <a:rPr lang="en-US" sz="1000" dirty="0">
                <a:cs typeface="Calibri" pitchFamily="34" charset="0"/>
              </a:rPr>
              <a:t>Dedicated team monitoring the component status</a:t>
            </a:r>
          </a:p>
          <a:p>
            <a:pPr marL="118662" lvl="1" indent="-118662" defTabSz="718379">
              <a:lnSpc>
                <a:spcPct val="90000"/>
              </a:lnSpc>
              <a:spcBef>
                <a:spcPts val="606"/>
              </a:spcBef>
              <a:spcAft>
                <a:spcPct val="15000"/>
              </a:spcAft>
              <a:buFontTx/>
              <a:buChar char="••"/>
            </a:pPr>
            <a:r>
              <a:rPr lang="en-US" sz="1000" dirty="0">
                <a:cs typeface="Calibri" pitchFamily="34" charset="0"/>
              </a:rPr>
              <a:t>Develop a strategy for obsolescence management</a:t>
            </a:r>
          </a:p>
          <a:p>
            <a:pPr marL="118662" lvl="1" indent="-118662" defTabSz="718379">
              <a:lnSpc>
                <a:spcPct val="90000"/>
              </a:lnSpc>
              <a:spcBef>
                <a:spcPts val="606"/>
              </a:spcBef>
              <a:spcAft>
                <a:spcPct val="15000"/>
              </a:spcAft>
              <a:buFontTx/>
              <a:buChar char="••"/>
            </a:pPr>
            <a:r>
              <a:rPr lang="en-US" sz="1000" dirty="0">
                <a:cs typeface="Calibri" pitchFamily="34" charset="0"/>
              </a:rPr>
              <a:t>Address current issue of EOL, LTB</a:t>
            </a:r>
          </a:p>
          <a:p>
            <a:pPr marL="118662" lvl="1" indent="-118662" defTabSz="718379">
              <a:lnSpc>
                <a:spcPct val="90000"/>
              </a:lnSpc>
              <a:spcBef>
                <a:spcPts val="606"/>
              </a:spcBef>
              <a:spcAft>
                <a:spcPct val="15000"/>
              </a:spcAft>
              <a:buFontTx/>
              <a:buChar char="••"/>
            </a:pPr>
            <a:r>
              <a:rPr lang="en-US" sz="1000" dirty="0">
                <a:cs typeface="Calibri" pitchFamily="34" charset="0"/>
              </a:rPr>
              <a:t>Forecast and plan obsolescence in advance</a:t>
            </a:r>
            <a:endParaRPr lang="en-US" sz="1200" dirty="0">
              <a:latin typeface="+mj-lt"/>
            </a:endParaRPr>
          </a:p>
        </p:txBody>
      </p:sp>
      <p:sp>
        <p:nvSpPr>
          <p:cNvPr id="46" name="TextBox 45"/>
          <p:cNvSpPr txBox="1"/>
          <p:nvPr/>
        </p:nvSpPr>
        <p:spPr>
          <a:xfrm>
            <a:off x="2676720" y="3670201"/>
            <a:ext cx="1987343" cy="267765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18662" lvl="1" indent="-118662" defTabSz="718379">
              <a:lnSpc>
                <a:spcPct val="90000"/>
              </a:lnSpc>
              <a:spcBef>
                <a:spcPts val="606"/>
              </a:spcBef>
              <a:spcAft>
                <a:spcPct val="15000"/>
              </a:spcAft>
              <a:buFontTx/>
              <a:buChar char="••"/>
            </a:pPr>
            <a:r>
              <a:rPr lang="en-IN" sz="1000" dirty="0">
                <a:cs typeface="Calibri" pitchFamily="34" charset="0"/>
              </a:rPr>
              <a:t>Identifying components available with the required features.</a:t>
            </a:r>
          </a:p>
          <a:p>
            <a:pPr marL="118662" lvl="1" indent="-118662" defTabSz="718379">
              <a:lnSpc>
                <a:spcPct val="90000"/>
              </a:lnSpc>
              <a:spcBef>
                <a:spcPts val="606"/>
              </a:spcBef>
              <a:spcAft>
                <a:spcPct val="15000"/>
              </a:spcAft>
              <a:buFontTx/>
              <a:buChar char="••"/>
            </a:pPr>
            <a:r>
              <a:rPr lang="en-IN" sz="1000" dirty="0">
                <a:cs typeface="Calibri" pitchFamily="34" charset="0"/>
              </a:rPr>
              <a:t>Analysis of the components and identifying best match with respect to features and modifications needed for H/W and F/W.</a:t>
            </a:r>
          </a:p>
          <a:p>
            <a:pPr marL="118662" lvl="1" indent="-118662" defTabSz="718379">
              <a:lnSpc>
                <a:spcPct val="90000"/>
              </a:lnSpc>
              <a:spcBef>
                <a:spcPts val="606"/>
              </a:spcBef>
              <a:spcAft>
                <a:spcPct val="15000"/>
              </a:spcAft>
              <a:buFontTx/>
              <a:buChar char="••"/>
            </a:pPr>
            <a:r>
              <a:rPr lang="en-IN" sz="1000" dirty="0">
                <a:cs typeface="Calibri" pitchFamily="34" charset="0"/>
              </a:rPr>
              <a:t>Designing the hardware to test the components.</a:t>
            </a:r>
          </a:p>
          <a:p>
            <a:pPr marL="118662" lvl="1" indent="-118662" defTabSz="718379">
              <a:lnSpc>
                <a:spcPct val="90000"/>
              </a:lnSpc>
              <a:spcBef>
                <a:spcPts val="606"/>
              </a:spcBef>
              <a:spcAft>
                <a:spcPct val="15000"/>
              </a:spcAft>
              <a:buFontTx/>
              <a:buChar char="••"/>
            </a:pPr>
            <a:r>
              <a:rPr lang="en-IN" sz="1000" dirty="0">
                <a:cs typeface="Calibri" pitchFamily="34" charset="0"/>
              </a:rPr>
              <a:t>PCB designing.</a:t>
            </a:r>
          </a:p>
          <a:p>
            <a:pPr marL="118662" lvl="1" indent="-118662" defTabSz="718379">
              <a:lnSpc>
                <a:spcPct val="90000"/>
              </a:lnSpc>
              <a:spcBef>
                <a:spcPts val="606"/>
              </a:spcBef>
              <a:spcAft>
                <a:spcPct val="15000"/>
              </a:spcAft>
              <a:buFontTx/>
              <a:buChar char="••"/>
            </a:pPr>
            <a:r>
              <a:rPr lang="en-IN" sz="1000" dirty="0">
                <a:cs typeface="Calibri" pitchFamily="34" charset="0"/>
              </a:rPr>
              <a:t>PCB manufacturing and assembling.</a:t>
            </a:r>
          </a:p>
          <a:p>
            <a:pPr marL="118662" lvl="1" indent="-118662" defTabSz="718379">
              <a:lnSpc>
                <a:spcPct val="90000"/>
              </a:lnSpc>
              <a:spcBef>
                <a:spcPts val="606"/>
              </a:spcBef>
              <a:spcAft>
                <a:spcPct val="15000"/>
              </a:spcAft>
              <a:buFontTx/>
              <a:buChar char="••"/>
            </a:pPr>
            <a:r>
              <a:rPr lang="en-US" sz="1000" dirty="0">
                <a:solidFill>
                  <a:prstClr val="black"/>
                </a:solidFill>
                <a:latin typeface="Arial"/>
              </a:rPr>
              <a:t>Alliance partner for PCB manufacturing, EMI EMC testing</a:t>
            </a:r>
          </a:p>
          <a:p>
            <a:pPr marL="118662" lvl="1" indent="-118662" defTabSz="718379">
              <a:lnSpc>
                <a:spcPct val="90000"/>
              </a:lnSpc>
              <a:spcBef>
                <a:spcPts val="606"/>
              </a:spcBef>
              <a:spcAft>
                <a:spcPct val="15000"/>
              </a:spcAft>
              <a:buFontTx/>
              <a:buChar char="••"/>
            </a:pPr>
            <a:endParaRPr lang="en-IN" sz="1000" dirty="0">
              <a:cs typeface="Calibri" pitchFamily="34" charset="0"/>
            </a:endParaRPr>
          </a:p>
        </p:txBody>
      </p:sp>
      <p:sp>
        <p:nvSpPr>
          <p:cNvPr id="47" name="TextBox 46"/>
          <p:cNvSpPr txBox="1"/>
          <p:nvPr/>
        </p:nvSpPr>
        <p:spPr>
          <a:xfrm>
            <a:off x="4930969" y="3753707"/>
            <a:ext cx="2024701" cy="1508105"/>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18662" lvl="1" indent="-118662" defTabSz="718379">
              <a:lnSpc>
                <a:spcPct val="90000"/>
              </a:lnSpc>
              <a:spcBef>
                <a:spcPts val="606"/>
              </a:spcBef>
              <a:spcAft>
                <a:spcPct val="15000"/>
              </a:spcAft>
              <a:buFontTx/>
              <a:buChar char="••"/>
            </a:pPr>
            <a:r>
              <a:rPr lang="en-IN" sz="1000" dirty="0">
                <a:cs typeface="Calibri" pitchFamily="34" charset="0"/>
              </a:rPr>
              <a:t>Analysing the existing firmware.</a:t>
            </a:r>
          </a:p>
          <a:p>
            <a:pPr marL="118662" lvl="1" indent="-118662" defTabSz="718379">
              <a:lnSpc>
                <a:spcPct val="90000"/>
              </a:lnSpc>
              <a:spcBef>
                <a:spcPts val="606"/>
              </a:spcBef>
              <a:spcAft>
                <a:spcPct val="15000"/>
              </a:spcAft>
              <a:buFontTx/>
              <a:buChar char="••"/>
            </a:pPr>
            <a:r>
              <a:rPr lang="en-IN" sz="1000" dirty="0">
                <a:cs typeface="Calibri" pitchFamily="34" charset="0"/>
              </a:rPr>
              <a:t>Identifying the changes needed.</a:t>
            </a:r>
          </a:p>
          <a:p>
            <a:pPr marL="118662" lvl="1" indent="-118662" defTabSz="718379">
              <a:lnSpc>
                <a:spcPct val="90000"/>
              </a:lnSpc>
              <a:spcBef>
                <a:spcPts val="606"/>
              </a:spcBef>
              <a:spcAft>
                <a:spcPct val="15000"/>
              </a:spcAft>
              <a:buFontTx/>
              <a:buChar char="••"/>
            </a:pPr>
            <a:r>
              <a:rPr lang="en-IN" sz="1000" dirty="0">
                <a:cs typeface="Calibri" pitchFamily="34" charset="0"/>
              </a:rPr>
              <a:t>Updating the firmware so that the new and earlier components can work with the same</a:t>
            </a:r>
          </a:p>
          <a:p>
            <a:pPr marL="118662" lvl="1" indent="-118662" defTabSz="718379">
              <a:lnSpc>
                <a:spcPct val="90000"/>
              </a:lnSpc>
              <a:spcBef>
                <a:spcPts val="606"/>
              </a:spcBef>
              <a:spcAft>
                <a:spcPct val="15000"/>
              </a:spcAft>
              <a:buFontTx/>
              <a:buChar char="••"/>
            </a:pPr>
            <a:r>
              <a:rPr lang="en-IN" sz="1000" dirty="0">
                <a:cs typeface="Calibri" pitchFamily="34" charset="0"/>
              </a:rPr>
              <a:t>Developing new interface modules required.</a:t>
            </a:r>
          </a:p>
          <a:p>
            <a:pPr marL="118662" lvl="1" indent="-118662" defTabSz="718379">
              <a:lnSpc>
                <a:spcPct val="90000"/>
              </a:lnSpc>
              <a:spcBef>
                <a:spcPts val="606"/>
              </a:spcBef>
              <a:spcAft>
                <a:spcPct val="15000"/>
              </a:spcAft>
              <a:buFontTx/>
              <a:buChar char="••"/>
            </a:pPr>
            <a:r>
              <a:rPr lang="en-IN" sz="1000" dirty="0">
                <a:cs typeface="Calibri" pitchFamily="34" charset="0"/>
              </a:rPr>
              <a:t>Developing the test cases</a:t>
            </a:r>
            <a:endParaRPr lang="en-US" sz="1000" dirty="0">
              <a:latin typeface="+mj-lt"/>
            </a:endParaRPr>
          </a:p>
        </p:txBody>
      </p:sp>
      <p:sp>
        <p:nvSpPr>
          <p:cNvPr id="48" name="TextBox 47"/>
          <p:cNvSpPr txBox="1"/>
          <p:nvPr/>
        </p:nvSpPr>
        <p:spPr>
          <a:xfrm>
            <a:off x="7247647" y="3759164"/>
            <a:ext cx="1837908" cy="2685351"/>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18662" lvl="1" indent="-118662" defTabSz="718379">
              <a:lnSpc>
                <a:spcPct val="90000"/>
              </a:lnSpc>
              <a:spcBef>
                <a:spcPts val="606"/>
              </a:spcBef>
              <a:spcAft>
                <a:spcPct val="15000"/>
              </a:spcAft>
              <a:buFontTx/>
              <a:buChar char="••"/>
            </a:pPr>
            <a:r>
              <a:rPr lang="en-IN" sz="1000" dirty="0">
                <a:cs typeface="Calibri" pitchFamily="34" charset="0"/>
              </a:rPr>
              <a:t>Designing the HMI screens to setup the tests, execute them and display results online.</a:t>
            </a:r>
          </a:p>
          <a:p>
            <a:pPr marL="118662" lvl="1" indent="-118662" defTabSz="718379">
              <a:lnSpc>
                <a:spcPct val="90000"/>
              </a:lnSpc>
              <a:spcBef>
                <a:spcPts val="606"/>
              </a:spcBef>
              <a:spcAft>
                <a:spcPct val="15000"/>
              </a:spcAft>
              <a:buFontTx/>
              <a:buChar char="••"/>
            </a:pPr>
            <a:r>
              <a:rPr lang="en-IN" sz="1000" dirty="0">
                <a:cs typeface="Calibri" pitchFamily="34" charset="0"/>
              </a:rPr>
              <a:t>Developing the modules to capturing the test results online and saving them.</a:t>
            </a:r>
          </a:p>
          <a:p>
            <a:pPr marL="118662" lvl="1" indent="-118662" defTabSz="718379">
              <a:lnSpc>
                <a:spcPct val="90000"/>
              </a:lnSpc>
              <a:spcBef>
                <a:spcPts val="606"/>
              </a:spcBef>
              <a:spcAft>
                <a:spcPct val="15000"/>
              </a:spcAft>
              <a:buFontTx/>
              <a:buChar char="••"/>
            </a:pPr>
            <a:r>
              <a:rPr lang="en-IN" sz="1000" dirty="0">
                <a:cs typeface="Calibri" pitchFamily="34" charset="0"/>
              </a:rPr>
              <a:t>Developing the interface modules to interact with different test instruments.</a:t>
            </a:r>
          </a:p>
          <a:p>
            <a:pPr marL="118662" lvl="1" indent="-118662" defTabSz="718379">
              <a:lnSpc>
                <a:spcPct val="90000"/>
              </a:lnSpc>
              <a:spcBef>
                <a:spcPts val="606"/>
              </a:spcBef>
              <a:spcAft>
                <a:spcPct val="15000"/>
              </a:spcAft>
              <a:buFontTx/>
              <a:buChar char="••"/>
            </a:pPr>
            <a:r>
              <a:rPr lang="en-IN" sz="1000" dirty="0">
                <a:cs typeface="Calibri" pitchFamily="34" charset="0"/>
              </a:rPr>
              <a:t>Implementing protocols needed to interact with different test instruments like Modbus and ASCCI.</a:t>
            </a:r>
          </a:p>
          <a:p>
            <a:pPr marL="118662" lvl="1" indent="-118662" defTabSz="718379">
              <a:lnSpc>
                <a:spcPct val="90000"/>
              </a:lnSpc>
              <a:spcBef>
                <a:spcPts val="606"/>
              </a:spcBef>
              <a:spcAft>
                <a:spcPct val="15000"/>
              </a:spcAft>
              <a:buFontTx/>
              <a:buChar char="••"/>
            </a:pPr>
            <a:r>
              <a:rPr lang="en-IN" sz="1000" dirty="0">
                <a:cs typeface="Calibri" pitchFamily="34" charset="0"/>
              </a:rPr>
              <a:t>Interfacing with third party drivers.</a:t>
            </a:r>
          </a:p>
          <a:p>
            <a:pPr fontAlgn="base">
              <a:buClr>
                <a:schemeClr val="tx2"/>
              </a:buClr>
            </a:pPr>
            <a:endParaRPr lang="en-US" sz="1200" dirty="0">
              <a:latin typeface="+mj-lt"/>
            </a:endParaRPr>
          </a:p>
        </p:txBody>
      </p:sp>
    </p:spTree>
    <p:extLst>
      <p:ext uri="{BB962C8B-B14F-4D97-AF65-F5344CB8AC3E}">
        <p14:creationId xmlns:p14="http://schemas.microsoft.com/office/powerpoint/2010/main" val="1311710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653073" y="1185287"/>
            <a:ext cx="1931189" cy="420335"/>
          </a:xfrm>
          <a:prstGeom prst="rect">
            <a:avLst/>
          </a:prstGeom>
        </p:spPr>
        <p:txBody>
          <a:bodyPr wrap="square" lIns="87086" tIns="43543" rIns="87086" bIns="43543">
            <a:spAutoFit/>
          </a:bodyPr>
          <a:lstStyle/>
          <a:p>
            <a:pPr marL="0" marR="0" lvl="0" indent="0" algn="ctr" defTabSz="666736" rtl="0" eaLnBrk="1" fontAlgn="auto" latinLnBrk="0" hangingPunct="1">
              <a:lnSpc>
                <a:spcPct val="90000"/>
              </a:lnSpc>
              <a:spcBef>
                <a:spcPct val="0"/>
              </a:spcBef>
              <a:spcAft>
                <a:spcPct val="35000"/>
              </a:spcAft>
              <a:buClrTx/>
              <a:buSzTx/>
              <a:buFontTx/>
              <a:buNone/>
              <a:tabLst/>
              <a:defRPr/>
            </a:pPr>
            <a:r>
              <a:rPr kumimoji="0" lang="en-US" sz="1200" b="1" i="1" u="none" strike="noStrike" kern="1200" cap="none" spc="0" normalizeH="0" baseline="0" noProof="0" dirty="0">
                <a:ln>
                  <a:noFill/>
                </a:ln>
                <a:solidFill>
                  <a:prstClr val="white"/>
                </a:solidFill>
                <a:effectLst/>
                <a:uLnTx/>
                <a:uFillTx/>
                <a:latin typeface="Arial Narrow"/>
                <a:ea typeface="+mn-ea"/>
                <a:cs typeface="Arial" charset="0"/>
              </a:rPr>
              <a:t>Semicon equipment manufacturer</a:t>
            </a:r>
          </a:p>
        </p:txBody>
      </p:sp>
      <p:sp>
        <p:nvSpPr>
          <p:cNvPr id="71" name="Rectangle 70"/>
          <p:cNvSpPr/>
          <p:nvPr/>
        </p:nvSpPr>
        <p:spPr>
          <a:xfrm>
            <a:off x="553213" y="1809886"/>
            <a:ext cx="2130910" cy="36288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65000"/>
                  <a:lumOff val="35000"/>
                </a:prstClr>
              </a:solidFill>
              <a:effectLst/>
              <a:uLnTx/>
              <a:uFillTx/>
              <a:latin typeface="Arial Narrow"/>
              <a:ea typeface="+mn-ea"/>
              <a:cs typeface="+mn-cs"/>
            </a:endParaRPr>
          </a:p>
        </p:txBody>
      </p:sp>
      <p:sp>
        <p:nvSpPr>
          <p:cNvPr id="48" name="Rectangle 47"/>
          <p:cNvSpPr/>
          <p:nvPr/>
        </p:nvSpPr>
        <p:spPr>
          <a:xfrm>
            <a:off x="548503" y="1085460"/>
            <a:ext cx="2156871" cy="594360"/>
          </a:xfrm>
          <a:prstGeom prst="rect">
            <a:avLst/>
          </a:prstGeom>
          <a:solidFill>
            <a:schemeClr val="accent1">
              <a:alpha val="90000"/>
            </a:schemeClr>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1" i="1" u="none" strike="noStrike" kern="1200" cap="none" spc="0" normalizeH="0" baseline="0" noProof="0" dirty="0">
              <a:ln>
                <a:noFill/>
              </a:ln>
              <a:solidFill>
                <a:prstClr val="white"/>
              </a:solidFill>
              <a:effectLst/>
              <a:uLnTx/>
              <a:uFillTx/>
              <a:latin typeface="Arial Narrow"/>
              <a:ea typeface="+mn-ea"/>
              <a:cs typeface="Arial" charset="0"/>
            </a:endParaRPr>
          </a:p>
          <a:p>
            <a:pPr marL="0" marR="0" lvl="0" indent="0" algn="ctr" defTabSz="912765"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white"/>
                </a:solidFill>
                <a:effectLst/>
                <a:uLnTx/>
                <a:uFillTx/>
                <a:latin typeface="Arial Narrow"/>
                <a:ea typeface="+mn-ea"/>
                <a:cs typeface="Arial" charset="0"/>
              </a:rPr>
              <a:t>Semicon equipment manufacturer</a:t>
            </a:r>
          </a:p>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a:ea typeface="+mn-ea"/>
              <a:cs typeface="+mn-cs"/>
            </a:endParaRPr>
          </a:p>
        </p:txBody>
      </p:sp>
      <p:sp>
        <p:nvSpPr>
          <p:cNvPr id="72" name="Rectangle 71"/>
          <p:cNvSpPr/>
          <p:nvPr/>
        </p:nvSpPr>
        <p:spPr>
          <a:xfrm>
            <a:off x="491265" y="1715458"/>
            <a:ext cx="2181066" cy="1980762"/>
          </a:xfrm>
          <a:prstGeom prst="rect">
            <a:avLst/>
          </a:prstGeom>
          <a:noFill/>
        </p:spPr>
        <p:txBody>
          <a:bodyPr wrap="square" lIns="87086" tIns="43543" rIns="87086" bIns="43543">
            <a:spAutoFit/>
          </a:bodyPr>
          <a:lstStyle/>
          <a:p>
            <a:pPr marL="51406" marR="0" lvl="0" indent="-51406"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Developed and Maintaining </a:t>
            </a: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Automated Database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to handle component obsolescence</a:t>
            </a:r>
          </a:p>
          <a:p>
            <a:pPr marL="51406" marR="0" lvl="0" indent="-51406"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Monitoring the status of each obsolete part &amp; tracking until implementation. </a:t>
            </a:r>
          </a:p>
          <a:p>
            <a:pPr marL="51406" marR="0" lvl="0" indent="-51406"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10000 components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scrubbing and monitoring</a:t>
            </a:r>
          </a:p>
          <a:p>
            <a:pPr marL="51406" marR="0" lvl="0" indent="-51406"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ECR processed to implement </a:t>
            </a: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1100 replacements</a:t>
            </a:r>
          </a:p>
        </p:txBody>
      </p:sp>
      <p:sp>
        <p:nvSpPr>
          <p:cNvPr id="37" name="Rectangle 36"/>
          <p:cNvSpPr/>
          <p:nvPr/>
        </p:nvSpPr>
        <p:spPr>
          <a:xfrm>
            <a:off x="522747" y="5937655"/>
            <a:ext cx="2157984" cy="494098"/>
          </a:xfrm>
          <a:prstGeom prst="rect">
            <a:avLst/>
          </a:prstGeom>
          <a:solidFill>
            <a:schemeClr val="accent1"/>
          </a:solidFill>
          <a:ln>
            <a:noFill/>
          </a:ln>
        </p:spPr>
        <p:style>
          <a:lnRef idx="1">
            <a:schemeClr val="accent3"/>
          </a:lnRef>
          <a:fillRef idx="3">
            <a:schemeClr val="accent3"/>
          </a:fillRef>
          <a:effectRef idx="2">
            <a:schemeClr val="accent3"/>
          </a:effectRef>
          <a:fontRef idx="minor">
            <a:schemeClr val="lt1"/>
          </a:fontRef>
        </p:style>
        <p:txBody>
          <a:bodyPr lIns="87086" tIns="43543" rIns="87086" bIns="43543" rtlCol="0" anchor="ctr"/>
          <a:lstStyle/>
          <a:p>
            <a:pPr marL="0" marR="0" lvl="0" indent="0" algn="ctr" defTabSz="76060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Narrow"/>
                <a:ea typeface="+mn-ea"/>
                <a:cs typeface="+mn-cs"/>
              </a:rPr>
              <a:t>Peak Team Size – 35+</a:t>
            </a:r>
          </a:p>
        </p:txBody>
      </p:sp>
      <p:pic>
        <p:nvPicPr>
          <p:cNvPr id="42" name="Picture 5"/>
          <p:cNvPicPr>
            <a:picLocks noChangeAspect="1" noChangeArrowheads="1"/>
          </p:cNvPicPr>
          <p:nvPr/>
        </p:nvPicPr>
        <p:blipFill>
          <a:blip r:embed="rId3" cstate="print"/>
          <a:srcRect/>
          <a:stretch>
            <a:fillRect/>
          </a:stretch>
        </p:blipFill>
        <p:spPr bwMode="auto">
          <a:xfrm>
            <a:off x="548503" y="4752879"/>
            <a:ext cx="1225203" cy="422077"/>
          </a:xfrm>
          <a:prstGeom prst="rect">
            <a:avLst/>
          </a:prstGeom>
          <a:noFill/>
          <a:ln w="9525">
            <a:noFill/>
            <a:miter lim="800000"/>
            <a:headEnd/>
            <a:tailEnd/>
          </a:ln>
        </p:spPr>
      </p:pic>
      <p:pic>
        <p:nvPicPr>
          <p:cNvPr id="43" name="Picture 6"/>
          <p:cNvPicPr>
            <a:picLocks noChangeAspect="1" noChangeArrowheads="1"/>
          </p:cNvPicPr>
          <p:nvPr/>
        </p:nvPicPr>
        <p:blipFill>
          <a:blip r:embed="rId4" cstate="print"/>
          <a:srcRect/>
          <a:stretch>
            <a:fillRect/>
          </a:stretch>
        </p:blipFill>
        <p:spPr bwMode="auto">
          <a:xfrm>
            <a:off x="1006930" y="5635479"/>
            <a:ext cx="1420499" cy="268486"/>
          </a:xfrm>
          <a:prstGeom prst="rect">
            <a:avLst/>
          </a:prstGeom>
          <a:noFill/>
          <a:ln w="9525">
            <a:noFill/>
            <a:miter lim="800000"/>
            <a:headEnd/>
            <a:tailEnd/>
          </a:ln>
        </p:spPr>
      </p:pic>
      <p:pic>
        <p:nvPicPr>
          <p:cNvPr id="44" name="Picture 2" descr="http://www.vigilant-components.com/files/5813/2023/6653/banner-2.jpg">
            <a:hlinkClick r:id="rId5"/>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521767" y="5110785"/>
            <a:ext cx="1293153" cy="52038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p:cNvPicPr>
            <a:picLocks noChangeAspect="1" noChangeArrowheads="1"/>
          </p:cNvPicPr>
          <p:nvPr/>
        </p:nvPicPr>
        <p:blipFill>
          <a:blip r:embed="rId7" cstate="print"/>
          <a:srcRect/>
          <a:stretch>
            <a:fillRect/>
          </a:stretch>
        </p:blipFill>
        <p:spPr bwMode="auto">
          <a:xfrm>
            <a:off x="1422313" y="4289246"/>
            <a:ext cx="1308132" cy="1125505"/>
          </a:xfrm>
          <a:prstGeom prst="rect">
            <a:avLst/>
          </a:prstGeom>
          <a:noFill/>
          <a:ln w="9525">
            <a:noFill/>
            <a:miter lim="800000"/>
            <a:headEnd/>
            <a:tailEnd/>
          </a:ln>
        </p:spPr>
      </p:pic>
      <p:sp>
        <p:nvSpPr>
          <p:cNvPr id="73" name="Rectangle 72"/>
          <p:cNvSpPr/>
          <p:nvPr/>
        </p:nvSpPr>
        <p:spPr>
          <a:xfrm>
            <a:off x="2758574" y="1085460"/>
            <a:ext cx="2122459" cy="594360"/>
          </a:xfrm>
          <a:prstGeom prst="rect">
            <a:avLst/>
          </a:prstGeom>
          <a:solidFill>
            <a:schemeClr val="accent1">
              <a:alpha val="90000"/>
            </a:schemeClr>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a:ea typeface="+mn-ea"/>
              <a:cs typeface="+mn-cs"/>
            </a:endParaRPr>
          </a:p>
        </p:txBody>
      </p:sp>
      <p:sp>
        <p:nvSpPr>
          <p:cNvPr id="74" name="Rectangle 73"/>
          <p:cNvSpPr/>
          <p:nvPr/>
        </p:nvSpPr>
        <p:spPr>
          <a:xfrm>
            <a:off x="2846974" y="1200991"/>
            <a:ext cx="1880861" cy="420335"/>
          </a:xfrm>
          <a:prstGeom prst="rect">
            <a:avLst/>
          </a:prstGeom>
        </p:spPr>
        <p:txBody>
          <a:bodyPr wrap="square" lIns="87086" tIns="43543" rIns="87086" bIns="43543">
            <a:spAutoFit/>
          </a:bodyPr>
          <a:lstStyle/>
          <a:p>
            <a:pPr marL="0" marR="0" lvl="0" indent="0" algn="ctr" defTabSz="666736" rtl="0" eaLnBrk="1" fontAlgn="auto" latinLnBrk="0" hangingPunct="1">
              <a:lnSpc>
                <a:spcPct val="90000"/>
              </a:lnSpc>
              <a:spcBef>
                <a:spcPct val="0"/>
              </a:spcBef>
              <a:spcAft>
                <a:spcPct val="35000"/>
              </a:spcAft>
              <a:buClrTx/>
              <a:buSzTx/>
              <a:buFontTx/>
              <a:buNone/>
              <a:tabLst/>
              <a:defRPr/>
            </a:pPr>
            <a:r>
              <a:rPr kumimoji="0" lang="en-US" sz="1200" b="1" i="1" u="none" strike="noStrike" kern="1200" cap="none" spc="0" normalizeH="0" baseline="0" noProof="0" dirty="0">
                <a:ln>
                  <a:noFill/>
                </a:ln>
                <a:solidFill>
                  <a:prstClr val="white"/>
                </a:solidFill>
                <a:effectLst/>
                <a:uLnTx/>
                <a:uFillTx/>
                <a:latin typeface="Arial Narrow"/>
                <a:ea typeface="+mn-ea"/>
                <a:cs typeface="Arial" charset="0"/>
              </a:rPr>
              <a:t>NA based Railway Transport Major</a:t>
            </a:r>
          </a:p>
        </p:txBody>
      </p:sp>
      <p:sp>
        <p:nvSpPr>
          <p:cNvPr id="76" name="Rectangle 75"/>
          <p:cNvSpPr/>
          <p:nvPr/>
        </p:nvSpPr>
        <p:spPr>
          <a:xfrm>
            <a:off x="2760664" y="1809886"/>
            <a:ext cx="2118288" cy="36288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65000"/>
                  <a:lumOff val="35000"/>
                </a:prstClr>
              </a:solidFill>
              <a:effectLst/>
              <a:uLnTx/>
              <a:uFillTx/>
              <a:latin typeface="Arial Narrow"/>
              <a:ea typeface="+mn-ea"/>
              <a:cs typeface="+mn-cs"/>
            </a:endParaRPr>
          </a:p>
        </p:txBody>
      </p:sp>
      <p:sp>
        <p:nvSpPr>
          <p:cNvPr id="38" name="Rectangle 37"/>
          <p:cNvSpPr/>
          <p:nvPr/>
        </p:nvSpPr>
        <p:spPr>
          <a:xfrm>
            <a:off x="2764439" y="5946151"/>
            <a:ext cx="2119311" cy="494098"/>
          </a:xfrm>
          <a:prstGeom prst="rect">
            <a:avLst/>
          </a:prstGeom>
          <a:solidFill>
            <a:schemeClr val="accent1"/>
          </a:solidFill>
          <a:ln>
            <a:noFill/>
          </a:ln>
        </p:spPr>
        <p:style>
          <a:lnRef idx="1">
            <a:schemeClr val="accent3"/>
          </a:lnRef>
          <a:fillRef idx="3">
            <a:schemeClr val="accent3"/>
          </a:fillRef>
          <a:effectRef idx="2">
            <a:schemeClr val="accent3"/>
          </a:effectRef>
          <a:fontRef idx="minor">
            <a:schemeClr val="lt1"/>
          </a:fontRef>
        </p:style>
        <p:txBody>
          <a:bodyPr lIns="87086" tIns="43543" rIns="87086" bIns="43543" rtlCol="0" anchor="ctr"/>
          <a:lstStyle/>
          <a:p>
            <a:pPr marL="0" marR="0" lvl="0" indent="0" algn="ctr" defTabSz="76060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Narrow"/>
                <a:ea typeface="+mn-ea"/>
                <a:cs typeface="+mn-cs"/>
              </a:rPr>
              <a:t>Peak Team Size – 10+</a:t>
            </a:r>
          </a:p>
        </p:txBody>
      </p:sp>
      <p:sp>
        <p:nvSpPr>
          <p:cNvPr id="47" name="Rectangle 46"/>
          <p:cNvSpPr/>
          <p:nvPr/>
        </p:nvSpPr>
        <p:spPr>
          <a:xfrm>
            <a:off x="2724432" y="1749516"/>
            <a:ext cx="2181066" cy="1494475"/>
          </a:xfrm>
          <a:prstGeom prst="rect">
            <a:avLst/>
          </a:prstGeom>
          <a:noFill/>
        </p:spPr>
        <p:txBody>
          <a:bodyPr wrap="square" lIns="87086" tIns="43543" rIns="87086" bIns="43543">
            <a:spAutoFit/>
          </a:bodyPr>
          <a:lstStyle/>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Provided </a:t>
            </a: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uniform solution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for affected assemblies with </a:t>
            </a: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quick turnaround for production issues</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Agile Database </a:t>
            </a: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monitors &amp; track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the status of each obsolete part until the implementation of the solution</a:t>
            </a:r>
          </a:p>
        </p:txBody>
      </p:sp>
      <p:pic>
        <p:nvPicPr>
          <p:cNvPr id="50" name="Picture 2" descr="http://fplreflib.findlay.co.uk/articles/53106/every1.jpg"/>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3348193" y="4639108"/>
            <a:ext cx="1443813" cy="1051707"/>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https://encrypted-tbn2.gstatic.com/images?q=tbn:ANd9GcQ7whp__owCreh5EwqfhKUhPR1r6s-q6PwawgChGMq9Y83v4yNWZA">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67604" y="4103160"/>
            <a:ext cx="1641201" cy="101775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6"/>
          <p:cNvPicPr>
            <a:picLocks noChangeAspect="1" noChangeArrowheads="1"/>
          </p:cNvPicPr>
          <p:nvPr/>
        </p:nvPicPr>
        <p:blipFill>
          <a:blip r:embed="rId4" cstate="print"/>
          <a:srcRect/>
          <a:stretch>
            <a:fillRect/>
          </a:stretch>
        </p:blipFill>
        <p:spPr bwMode="auto">
          <a:xfrm>
            <a:off x="2875324" y="5660411"/>
            <a:ext cx="1420499" cy="268486"/>
          </a:xfrm>
          <a:prstGeom prst="rect">
            <a:avLst/>
          </a:prstGeom>
          <a:noFill/>
          <a:ln w="9525">
            <a:noFill/>
            <a:miter lim="800000"/>
            <a:headEnd/>
            <a:tailEnd/>
          </a:ln>
        </p:spPr>
      </p:pic>
      <p:sp>
        <p:nvSpPr>
          <p:cNvPr id="80" name="Rectangle 79"/>
          <p:cNvSpPr/>
          <p:nvPr/>
        </p:nvSpPr>
        <p:spPr>
          <a:xfrm>
            <a:off x="7153449" y="1085460"/>
            <a:ext cx="2106787" cy="594360"/>
          </a:xfrm>
          <a:prstGeom prst="rect">
            <a:avLst/>
          </a:prstGeom>
          <a:solidFill>
            <a:schemeClr val="accent1">
              <a:alpha val="90000"/>
            </a:schemeClr>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a:ea typeface="+mn-ea"/>
              <a:cs typeface="+mn-cs"/>
            </a:endParaRPr>
          </a:p>
        </p:txBody>
      </p:sp>
      <p:sp>
        <p:nvSpPr>
          <p:cNvPr id="81" name="Rectangle 80"/>
          <p:cNvSpPr/>
          <p:nvPr/>
        </p:nvSpPr>
        <p:spPr>
          <a:xfrm>
            <a:off x="7185187" y="1212386"/>
            <a:ext cx="2015884" cy="420335"/>
          </a:xfrm>
          <a:prstGeom prst="rect">
            <a:avLst/>
          </a:prstGeom>
        </p:spPr>
        <p:txBody>
          <a:bodyPr wrap="square" lIns="87086" tIns="43543" rIns="87086" bIns="43543">
            <a:spAutoFit/>
          </a:bodyPr>
          <a:lstStyle/>
          <a:p>
            <a:pPr marL="0" marR="0" lvl="0" indent="0" algn="ctr" defTabSz="666736" rtl="0" eaLnBrk="1" fontAlgn="auto" latinLnBrk="0" hangingPunct="1">
              <a:lnSpc>
                <a:spcPct val="90000"/>
              </a:lnSpc>
              <a:spcBef>
                <a:spcPct val="0"/>
              </a:spcBef>
              <a:spcAft>
                <a:spcPct val="35000"/>
              </a:spcAft>
              <a:buClrTx/>
              <a:buSzTx/>
              <a:buFontTx/>
              <a:buNone/>
              <a:tabLst/>
              <a:defRPr/>
            </a:pPr>
            <a:r>
              <a:rPr kumimoji="0" lang="en-US" sz="1200" b="1" i="1" u="none" strike="noStrike" kern="1200" cap="none" spc="0" normalizeH="0" baseline="0" noProof="0" dirty="0">
                <a:ln>
                  <a:noFill/>
                </a:ln>
                <a:solidFill>
                  <a:prstClr val="white"/>
                </a:solidFill>
                <a:effectLst/>
                <a:uLnTx/>
                <a:uFillTx/>
                <a:latin typeface="Arial Narrow"/>
                <a:ea typeface="+mn-ea"/>
                <a:cs typeface="Arial" charset="0"/>
              </a:rPr>
              <a:t>Global Oil Field Equipment Manufacturer</a:t>
            </a:r>
          </a:p>
        </p:txBody>
      </p:sp>
      <p:sp>
        <p:nvSpPr>
          <p:cNvPr id="83" name="Rectangle 82"/>
          <p:cNvSpPr/>
          <p:nvPr/>
        </p:nvSpPr>
        <p:spPr>
          <a:xfrm>
            <a:off x="7153449" y="1809886"/>
            <a:ext cx="2106787" cy="36288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65000"/>
                  <a:lumOff val="35000"/>
                </a:prstClr>
              </a:solidFill>
              <a:effectLst/>
              <a:uLnTx/>
              <a:uFillTx/>
              <a:latin typeface="Arial Narrow"/>
              <a:ea typeface="+mn-ea"/>
              <a:cs typeface="+mn-cs"/>
            </a:endParaRPr>
          </a:p>
        </p:txBody>
      </p:sp>
      <p:sp>
        <p:nvSpPr>
          <p:cNvPr id="40" name="Rectangle 39"/>
          <p:cNvSpPr/>
          <p:nvPr/>
        </p:nvSpPr>
        <p:spPr>
          <a:xfrm>
            <a:off x="7155148" y="5946151"/>
            <a:ext cx="2105088" cy="494098"/>
          </a:xfrm>
          <a:prstGeom prst="rect">
            <a:avLst/>
          </a:prstGeom>
          <a:solidFill>
            <a:schemeClr val="accent1"/>
          </a:solidFill>
          <a:ln>
            <a:noFill/>
          </a:ln>
        </p:spPr>
        <p:style>
          <a:lnRef idx="1">
            <a:schemeClr val="accent3"/>
          </a:lnRef>
          <a:fillRef idx="3">
            <a:schemeClr val="accent3"/>
          </a:fillRef>
          <a:effectRef idx="2">
            <a:schemeClr val="accent3"/>
          </a:effectRef>
          <a:fontRef idx="minor">
            <a:schemeClr val="lt1"/>
          </a:fontRef>
        </p:style>
        <p:txBody>
          <a:bodyPr lIns="87086" tIns="43543" rIns="87086" bIns="43543" rtlCol="0" anchor="ctr"/>
          <a:lstStyle/>
          <a:p>
            <a:pPr marL="0" marR="0" lvl="0" indent="0" algn="ctr" defTabSz="76060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Narrow"/>
                <a:ea typeface="+mn-ea"/>
                <a:cs typeface="+mn-cs"/>
              </a:rPr>
              <a:t>Peak Team Size – 12+</a:t>
            </a:r>
          </a:p>
        </p:txBody>
      </p:sp>
      <p:sp>
        <p:nvSpPr>
          <p:cNvPr id="54" name="Rectangle 53"/>
          <p:cNvSpPr/>
          <p:nvPr/>
        </p:nvSpPr>
        <p:spPr>
          <a:xfrm>
            <a:off x="7115878" y="1774797"/>
            <a:ext cx="2181066" cy="1814563"/>
          </a:xfrm>
          <a:prstGeom prst="rect">
            <a:avLst/>
          </a:prstGeom>
          <a:noFill/>
        </p:spPr>
        <p:txBody>
          <a:bodyPr wrap="square" lIns="87086" tIns="43543" rIns="87086" bIns="43543">
            <a:spAutoFit/>
          </a:bodyPr>
          <a:lstStyle/>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9+ years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of engagement</a:t>
            </a:r>
          </a:p>
          <a:p>
            <a:pPr marL="114907" indent="-114907" defTabSz="666736">
              <a:lnSpc>
                <a:spcPct val="90000"/>
              </a:lnSpc>
              <a:spcBef>
                <a:spcPts val="250"/>
              </a:spcBef>
              <a:spcAft>
                <a:spcPts val="250"/>
              </a:spcAft>
              <a:buFont typeface="Arial" panose="020B0604020202020204" pitchFamily="34" charset="0"/>
              <a:buChar char="•"/>
              <a:defRPr/>
            </a:pP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10000+ components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scrubbing and monitoring</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Complete life cycle ownership – board redesign, FW upgrade, SW rewrite, prototyping, testing &amp; validation as per compliance requirements</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Arial Narrow"/>
              <a:ea typeface="+mn-ea"/>
              <a:cs typeface="Arial" charset="0"/>
            </a:endParaRPr>
          </a:p>
        </p:txBody>
      </p:sp>
      <p:pic>
        <p:nvPicPr>
          <p:cNvPr id="55" name="Picture 4"/>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7423737" y="3815183"/>
            <a:ext cx="1532368" cy="1234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7"/>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a:stretch/>
        </p:blipFill>
        <p:spPr bwMode="auto">
          <a:xfrm>
            <a:off x="8157467" y="5148301"/>
            <a:ext cx="798638" cy="68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10"/>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a:stretch/>
        </p:blipFill>
        <p:spPr bwMode="auto">
          <a:xfrm>
            <a:off x="7298544" y="5200697"/>
            <a:ext cx="798638" cy="593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Rectangle 77"/>
          <p:cNvSpPr/>
          <p:nvPr/>
        </p:nvSpPr>
        <p:spPr>
          <a:xfrm>
            <a:off x="4945172" y="1085460"/>
            <a:ext cx="2103120" cy="594360"/>
          </a:xfrm>
          <a:prstGeom prst="rect">
            <a:avLst/>
          </a:prstGeom>
          <a:solidFill>
            <a:schemeClr val="accent1">
              <a:alpha val="90000"/>
            </a:schemeClr>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a:ea typeface="+mn-ea"/>
              <a:cs typeface="+mn-cs"/>
            </a:endParaRPr>
          </a:p>
        </p:txBody>
      </p:sp>
      <p:sp>
        <p:nvSpPr>
          <p:cNvPr id="79" name="Rectangle 78"/>
          <p:cNvSpPr/>
          <p:nvPr/>
        </p:nvSpPr>
        <p:spPr>
          <a:xfrm>
            <a:off x="4982438" y="1198370"/>
            <a:ext cx="2051637" cy="420335"/>
          </a:xfrm>
          <a:prstGeom prst="rect">
            <a:avLst/>
          </a:prstGeom>
        </p:spPr>
        <p:txBody>
          <a:bodyPr wrap="square" lIns="87086" tIns="43543" rIns="87086" bIns="43543">
            <a:spAutoFit/>
          </a:bodyPr>
          <a:lstStyle/>
          <a:p>
            <a:pPr marL="0" marR="0" lvl="0" indent="0" algn="ctr" defTabSz="666736" rtl="0" eaLnBrk="1" fontAlgn="auto" latinLnBrk="0" hangingPunct="1">
              <a:lnSpc>
                <a:spcPct val="90000"/>
              </a:lnSpc>
              <a:spcBef>
                <a:spcPct val="0"/>
              </a:spcBef>
              <a:spcAft>
                <a:spcPct val="35000"/>
              </a:spcAft>
              <a:buClrTx/>
              <a:buSzTx/>
              <a:buFontTx/>
              <a:buNone/>
              <a:tabLst/>
              <a:defRPr/>
            </a:pPr>
            <a:r>
              <a:rPr kumimoji="0" lang="en-US" sz="1200" b="1" i="1" u="none" strike="noStrike" kern="1200" cap="none" spc="0" normalizeH="0" baseline="0" noProof="0" dirty="0">
                <a:ln>
                  <a:noFill/>
                </a:ln>
                <a:solidFill>
                  <a:prstClr val="white"/>
                </a:solidFill>
                <a:effectLst/>
                <a:uLnTx/>
                <a:uFillTx/>
                <a:latin typeface="Arial Narrow"/>
                <a:ea typeface="+mn-ea"/>
                <a:cs typeface="Arial" charset="0"/>
              </a:rPr>
              <a:t>Leading Fire and safety solution provider</a:t>
            </a:r>
          </a:p>
        </p:txBody>
      </p:sp>
      <p:sp>
        <p:nvSpPr>
          <p:cNvPr id="96" name="Rectangle 95"/>
          <p:cNvSpPr/>
          <p:nvPr/>
        </p:nvSpPr>
        <p:spPr>
          <a:xfrm>
            <a:off x="4935722" y="1809886"/>
            <a:ext cx="2157289" cy="36288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65000"/>
                  <a:lumOff val="35000"/>
                </a:prstClr>
              </a:solidFill>
              <a:effectLst/>
              <a:uLnTx/>
              <a:uFillTx/>
              <a:latin typeface="Arial Narrow"/>
              <a:ea typeface="+mn-ea"/>
              <a:cs typeface="+mn-cs"/>
            </a:endParaRPr>
          </a:p>
        </p:txBody>
      </p:sp>
      <p:sp>
        <p:nvSpPr>
          <p:cNvPr id="39" name="Rectangle 38"/>
          <p:cNvSpPr/>
          <p:nvPr/>
        </p:nvSpPr>
        <p:spPr>
          <a:xfrm>
            <a:off x="4948206" y="5952168"/>
            <a:ext cx="2103120" cy="494098"/>
          </a:xfrm>
          <a:prstGeom prst="rect">
            <a:avLst/>
          </a:prstGeom>
          <a:solidFill>
            <a:schemeClr val="accent1"/>
          </a:solidFill>
          <a:ln>
            <a:noFill/>
          </a:ln>
        </p:spPr>
        <p:style>
          <a:lnRef idx="1">
            <a:schemeClr val="accent3"/>
          </a:lnRef>
          <a:fillRef idx="3">
            <a:schemeClr val="accent3"/>
          </a:fillRef>
          <a:effectRef idx="2">
            <a:schemeClr val="accent3"/>
          </a:effectRef>
          <a:fontRef idx="minor">
            <a:schemeClr val="lt1"/>
          </a:fontRef>
        </p:style>
        <p:txBody>
          <a:bodyPr lIns="87086" tIns="43543" rIns="87086" bIns="43543" rtlCol="0" anchor="ctr"/>
          <a:lstStyle/>
          <a:p>
            <a:pPr marL="0" marR="0" lvl="0" indent="0" algn="ctr" defTabSz="76060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Narrow"/>
                <a:ea typeface="+mn-ea"/>
                <a:cs typeface="+mn-cs"/>
              </a:rPr>
              <a:t>Peak Team Size – 20+</a:t>
            </a:r>
          </a:p>
        </p:txBody>
      </p:sp>
      <p:sp>
        <p:nvSpPr>
          <p:cNvPr id="53" name="Rectangle 52"/>
          <p:cNvSpPr/>
          <p:nvPr/>
        </p:nvSpPr>
        <p:spPr>
          <a:xfrm>
            <a:off x="4924458" y="1739692"/>
            <a:ext cx="2181066" cy="1571419"/>
          </a:xfrm>
          <a:prstGeom prst="rect">
            <a:avLst/>
          </a:prstGeom>
          <a:noFill/>
        </p:spPr>
        <p:txBody>
          <a:bodyPr wrap="square" lIns="87086" tIns="43543" rIns="87086" bIns="43543">
            <a:spAutoFit/>
          </a:bodyPr>
          <a:lstStyle/>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Highly experienced Engineers integrated with product engineering team for design validation</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i="0" u="none" strike="noStrike" kern="1200" cap="none" spc="0" normalizeH="0" baseline="0" noProof="0" dirty="0">
                <a:ln>
                  <a:noFill/>
                </a:ln>
                <a:solidFill>
                  <a:prstClr val="black"/>
                </a:solidFill>
                <a:effectLst/>
                <a:uLnTx/>
                <a:uFillTx/>
                <a:latin typeface="Arial Narrow"/>
                <a:ea typeface="+mn-ea"/>
                <a:cs typeface="Arial" charset="0"/>
              </a:rPr>
              <a:t>Obsolescence watch, quality checks, Duplicate Extraction </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Mature CE process to achieve high quality outputs in faster line</a:t>
            </a:r>
          </a:p>
        </p:txBody>
      </p:sp>
      <p:pic>
        <p:nvPicPr>
          <p:cNvPr id="6" name="Picture 5"/>
          <p:cNvPicPr>
            <a:picLocks noChangeAspect="1"/>
          </p:cNvPicPr>
          <p:nvPr/>
        </p:nvPicPr>
        <p:blipFill>
          <a:blip r:embed="rId14"/>
          <a:stretch>
            <a:fillRect/>
          </a:stretch>
        </p:blipFill>
        <p:spPr>
          <a:xfrm>
            <a:off x="4914044" y="4557156"/>
            <a:ext cx="2103313" cy="1346661"/>
          </a:xfrm>
          <a:prstGeom prst="rect">
            <a:avLst/>
          </a:prstGeom>
        </p:spPr>
      </p:pic>
      <p:sp>
        <p:nvSpPr>
          <p:cNvPr id="59" name="Rectangle 58"/>
          <p:cNvSpPr/>
          <p:nvPr/>
        </p:nvSpPr>
        <p:spPr>
          <a:xfrm>
            <a:off x="5025856" y="4327362"/>
            <a:ext cx="731850" cy="532174"/>
          </a:xfrm>
          <a:prstGeom prst="rect">
            <a:avLst/>
          </a:prstGeom>
          <a:blipFill>
            <a:blip r:embed="rId15" cstate="email"/>
            <a:stretch>
              <a:fillRect/>
            </a:stretch>
          </a:blipFill>
          <a:ln w="63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87086" tIns="43543" rIns="87086" bIns="43543"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Narrow"/>
              <a:ea typeface="+mn-ea"/>
              <a:cs typeface="+mn-cs"/>
            </a:endParaRPr>
          </a:p>
        </p:txBody>
      </p:sp>
      <p:sp>
        <p:nvSpPr>
          <p:cNvPr id="60" name="Rectangle 59"/>
          <p:cNvSpPr/>
          <p:nvPr/>
        </p:nvSpPr>
        <p:spPr>
          <a:xfrm>
            <a:off x="6361290" y="4809457"/>
            <a:ext cx="624025" cy="594838"/>
          </a:xfrm>
          <a:prstGeom prst="rect">
            <a:avLst/>
          </a:prstGeom>
          <a:blipFill>
            <a:blip r:embed="rId16" cstate="email">
              <a:extLst>
                <a:ext uri="{28A0092B-C50C-407E-A947-70E740481C1C}">
                  <a14:useLocalDpi xmlns:a14="http://schemas.microsoft.com/office/drawing/2010/main"/>
                </a:ext>
              </a:extLst>
            </a:blip>
            <a:stretch>
              <a:fillRect/>
            </a:stretch>
          </a:blipFill>
          <a:ln w="3175"/>
        </p:spPr>
        <p:style>
          <a:lnRef idx="2">
            <a:schemeClr val="accent1">
              <a:shade val="50000"/>
            </a:schemeClr>
          </a:lnRef>
          <a:fillRef idx="1">
            <a:schemeClr val="accent1"/>
          </a:fillRef>
          <a:effectRef idx="0">
            <a:schemeClr val="accent1"/>
          </a:effectRef>
          <a:fontRef idx="minor">
            <a:schemeClr val="lt1"/>
          </a:fontRef>
        </p:style>
        <p:txBody>
          <a:bodyPr lIns="87086" tIns="43543" rIns="87086" bIns="43543"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Narrow"/>
              <a:ea typeface="+mn-ea"/>
              <a:cs typeface="+mn-cs"/>
            </a:endParaRPr>
          </a:p>
        </p:txBody>
      </p:sp>
      <p:sp>
        <p:nvSpPr>
          <p:cNvPr id="61" name="Rectangle 60"/>
          <p:cNvSpPr/>
          <p:nvPr/>
        </p:nvSpPr>
        <p:spPr>
          <a:xfrm>
            <a:off x="5881641" y="4130472"/>
            <a:ext cx="1023187" cy="580571"/>
          </a:xfrm>
          <a:prstGeom prst="rect">
            <a:avLst/>
          </a:prstGeom>
          <a:blipFill>
            <a:blip r:embed="rId17" cstate="email">
              <a:extLst>
                <a:ext uri="{28A0092B-C50C-407E-A947-70E740481C1C}">
                  <a14:useLocalDpi xmlns:a14="http://schemas.microsoft.com/office/drawing/2010/main"/>
                </a:ext>
              </a:extLst>
            </a:blip>
            <a:srcRect/>
            <a:stretch>
              <a:fillRect t="-12537" b="-29273"/>
            </a:stretch>
          </a:blipFill>
          <a:ln w="3175"/>
        </p:spPr>
        <p:style>
          <a:lnRef idx="2">
            <a:schemeClr val="accent1">
              <a:shade val="50000"/>
            </a:schemeClr>
          </a:lnRef>
          <a:fillRef idx="1">
            <a:schemeClr val="accent1"/>
          </a:fillRef>
          <a:effectRef idx="0">
            <a:schemeClr val="accent1"/>
          </a:effectRef>
          <a:fontRef idx="minor">
            <a:schemeClr val="lt1"/>
          </a:fontRef>
        </p:style>
        <p:txBody>
          <a:bodyPr lIns="87086" tIns="43543" rIns="87086" bIns="43543"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Narrow"/>
              <a:ea typeface="+mn-ea"/>
              <a:cs typeface="+mn-cs"/>
            </a:endParaRPr>
          </a:p>
        </p:txBody>
      </p:sp>
      <p:sp>
        <p:nvSpPr>
          <p:cNvPr id="90" name="Rectangle 89"/>
          <p:cNvSpPr/>
          <p:nvPr/>
        </p:nvSpPr>
        <p:spPr>
          <a:xfrm>
            <a:off x="9333723" y="1085460"/>
            <a:ext cx="2286000" cy="594360"/>
          </a:xfrm>
          <a:prstGeom prst="rect">
            <a:avLst/>
          </a:prstGeom>
          <a:solidFill>
            <a:schemeClr val="accent1">
              <a:alpha val="90000"/>
            </a:schemeClr>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arrow"/>
              <a:ea typeface="+mn-ea"/>
              <a:cs typeface="+mn-cs"/>
            </a:endParaRPr>
          </a:p>
        </p:txBody>
      </p:sp>
      <p:sp>
        <p:nvSpPr>
          <p:cNvPr id="92" name="Rectangle 91"/>
          <p:cNvSpPr/>
          <p:nvPr/>
        </p:nvSpPr>
        <p:spPr>
          <a:xfrm>
            <a:off x="9333647" y="1809886"/>
            <a:ext cx="2322441" cy="36288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lIns="87086" tIns="43543" rIns="87086" bIns="43543" rtlCol="0" anchor="ctr"/>
          <a:lstStyle/>
          <a:p>
            <a:pPr marL="0" marR="0" lvl="0" indent="0" algn="ctr" defTabSz="91276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65000"/>
                  <a:lumOff val="35000"/>
                </a:prstClr>
              </a:solidFill>
              <a:effectLst/>
              <a:uLnTx/>
              <a:uFillTx/>
              <a:latin typeface="Arial Narrow"/>
              <a:ea typeface="+mn-ea"/>
              <a:cs typeface="+mn-cs"/>
            </a:endParaRPr>
          </a:p>
        </p:txBody>
      </p:sp>
      <p:sp>
        <p:nvSpPr>
          <p:cNvPr id="95" name="Rectangle 94"/>
          <p:cNvSpPr/>
          <p:nvPr/>
        </p:nvSpPr>
        <p:spPr>
          <a:xfrm>
            <a:off x="9305866" y="1111475"/>
            <a:ext cx="2290546" cy="420335"/>
          </a:xfrm>
          <a:prstGeom prst="rect">
            <a:avLst/>
          </a:prstGeom>
        </p:spPr>
        <p:txBody>
          <a:bodyPr wrap="square" lIns="87086" tIns="43543" rIns="87086" bIns="43543">
            <a:spAutoFit/>
          </a:bodyPr>
          <a:lstStyle/>
          <a:p>
            <a:pPr marL="0" marR="0" lvl="0" indent="0" algn="ctr" defTabSz="666736" rtl="0" eaLnBrk="1" fontAlgn="auto" latinLnBrk="0" hangingPunct="1">
              <a:lnSpc>
                <a:spcPct val="90000"/>
              </a:lnSpc>
              <a:spcBef>
                <a:spcPct val="0"/>
              </a:spcBef>
              <a:spcAft>
                <a:spcPct val="35000"/>
              </a:spcAft>
              <a:buClrTx/>
              <a:buSzTx/>
              <a:buFontTx/>
              <a:buNone/>
              <a:tabLst/>
              <a:defRPr/>
            </a:pPr>
            <a:r>
              <a:rPr kumimoji="0" lang="en-US" sz="1200" b="1" i="1" u="none" strike="noStrike" kern="1200" cap="none" spc="0" normalizeH="0" baseline="0" noProof="0" dirty="0">
                <a:ln>
                  <a:noFill/>
                </a:ln>
                <a:solidFill>
                  <a:prstClr val="white"/>
                </a:solidFill>
                <a:effectLst/>
                <a:uLnTx/>
                <a:uFillTx/>
                <a:latin typeface="Arial Narrow"/>
                <a:ea typeface="+mn-ea"/>
                <a:cs typeface="Arial" charset="0"/>
              </a:rPr>
              <a:t>US based conglomerate – commercial and consumer product</a:t>
            </a:r>
          </a:p>
        </p:txBody>
      </p:sp>
      <p:sp>
        <p:nvSpPr>
          <p:cNvPr id="41" name="Rectangle 40"/>
          <p:cNvSpPr/>
          <p:nvPr/>
        </p:nvSpPr>
        <p:spPr>
          <a:xfrm>
            <a:off x="9357384" y="5946151"/>
            <a:ext cx="2286000" cy="494098"/>
          </a:xfrm>
          <a:prstGeom prst="rect">
            <a:avLst/>
          </a:prstGeom>
          <a:solidFill>
            <a:schemeClr val="accent1"/>
          </a:solidFill>
          <a:ln>
            <a:noFill/>
          </a:ln>
        </p:spPr>
        <p:style>
          <a:lnRef idx="1">
            <a:schemeClr val="accent3"/>
          </a:lnRef>
          <a:fillRef idx="3">
            <a:schemeClr val="accent3"/>
          </a:fillRef>
          <a:effectRef idx="2">
            <a:schemeClr val="accent3"/>
          </a:effectRef>
          <a:fontRef idx="minor">
            <a:schemeClr val="lt1"/>
          </a:fontRef>
        </p:style>
        <p:txBody>
          <a:bodyPr lIns="87086" tIns="43543" rIns="87086" bIns="43543" rtlCol="0" anchor="ctr"/>
          <a:lstStyle/>
          <a:p>
            <a:pPr marL="0" marR="0" lvl="0" indent="0" algn="ctr" defTabSz="76060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Narrow"/>
                <a:ea typeface="+mn-ea"/>
                <a:cs typeface="+mn-cs"/>
              </a:rPr>
              <a:t>Peak Team Size – 30+</a:t>
            </a:r>
          </a:p>
        </p:txBody>
      </p:sp>
      <p:sp>
        <p:nvSpPr>
          <p:cNvPr id="63" name="Rectangle 62"/>
          <p:cNvSpPr/>
          <p:nvPr/>
        </p:nvSpPr>
        <p:spPr>
          <a:xfrm>
            <a:off x="9357382" y="1743771"/>
            <a:ext cx="2181066" cy="1980762"/>
          </a:xfrm>
          <a:prstGeom prst="rect">
            <a:avLst/>
          </a:prstGeom>
          <a:noFill/>
        </p:spPr>
        <p:txBody>
          <a:bodyPr wrap="square" lIns="87086" tIns="43543" rIns="87086" bIns="43543">
            <a:spAutoFit/>
          </a:bodyPr>
          <a:lstStyle/>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7+ years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of engagement</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Complete life cycle ownership – board redesign, FW upgrade, SW rewrite, prototyping, testing &amp; validation as per compliance requirements</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Value engineering and Standardization</a:t>
            </a:r>
          </a:p>
          <a:p>
            <a:pPr marL="114907" marR="0" lvl="0" indent="-114907" algn="l" defTabSz="666736" rtl="0" eaLnBrk="1" fontAlgn="auto" latinLnBrk="0" hangingPunct="1">
              <a:lnSpc>
                <a:spcPct val="90000"/>
              </a:lnSpc>
              <a:spcBef>
                <a:spcPts val="250"/>
              </a:spcBef>
              <a:spcAft>
                <a:spcPts val="25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Supplier sourcing support with </a:t>
            </a:r>
            <a:r>
              <a:rPr kumimoji="0" lang="en-US" sz="1200" b="1" i="0" u="none" strike="noStrike" kern="1200" cap="none" spc="0" normalizeH="0" baseline="0" noProof="0" dirty="0">
                <a:ln>
                  <a:noFill/>
                </a:ln>
                <a:solidFill>
                  <a:prstClr val="black"/>
                </a:solidFill>
                <a:effectLst/>
                <a:uLnTx/>
                <a:uFillTx/>
                <a:latin typeface="Arial Narrow"/>
                <a:ea typeface="+mn-ea"/>
                <a:cs typeface="Arial" charset="0"/>
              </a:rPr>
              <a:t>cost negotiation </a:t>
            </a:r>
            <a:r>
              <a:rPr kumimoji="0" lang="en-US" sz="1200" b="0" i="0" u="none" strike="noStrike" kern="1200" cap="none" spc="0" normalizeH="0" baseline="0" noProof="0" dirty="0">
                <a:ln>
                  <a:noFill/>
                </a:ln>
                <a:solidFill>
                  <a:prstClr val="black"/>
                </a:solidFill>
                <a:effectLst/>
                <a:uLnTx/>
                <a:uFillTx/>
                <a:latin typeface="Arial Narrow"/>
                <a:ea typeface="+mn-ea"/>
                <a:cs typeface="Arial" charset="0"/>
              </a:rPr>
              <a:t>for best cost</a:t>
            </a:r>
          </a:p>
        </p:txBody>
      </p:sp>
      <p:pic>
        <p:nvPicPr>
          <p:cNvPr id="7" name="Picture 6"/>
          <p:cNvPicPr>
            <a:picLocks noChangeAspect="1"/>
          </p:cNvPicPr>
          <p:nvPr/>
        </p:nvPicPr>
        <p:blipFill rotWithShape="1">
          <a:blip r:embed="rId18" cstate="print">
            <a:extLst>
              <a:ext uri="{28A0092B-C50C-407E-A947-70E740481C1C}">
                <a14:useLocalDpi xmlns:a14="http://schemas.microsoft.com/office/drawing/2010/main" val="0"/>
              </a:ext>
            </a:extLst>
          </a:blip>
          <a:srcRect/>
          <a:stretch/>
        </p:blipFill>
        <p:spPr>
          <a:xfrm>
            <a:off x="9333647" y="5209773"/>
            <a:ext cx="2226462" cy="690616"/>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521440" y="4469760"/>
            <a:ext cx="993269" cy="771244"/>
          </a:xfrm>
          <a:prstGeom prst="rect">
            <a:avLst/>
          </a:prstGeom>
        </p:spPr>
      </p:pic>
      <p:pic>
        <p:nvPicPr>
          <p:cNvPr id="9" name="Picture 8"/>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359194" y="4456414"/>
            <a:ext cx="1042364" cy="780767"/>
          </a:xfrm>
          <a:prstGeom prst="rect">
            <a:avLst/>
          </a:prstGeom>
        </p:spPr>
      </p:pic>
      <p:sp>
        <p:nvSpPr>
          <p:cNvPr id="69" name="Slide Number Placeholder 5"/>
          <p:cNvSpPr txBox="1">
            <a:spLocks/>
          </p:cNvSpPr>
          <p:nvPr/>
        </p:nvSpPr>
        <p:spPr bwMode="auto">
          <a:xfrm>
            <a:off x="11772296" y="6061396"/>
            <a:ext cx="174171" cy="184666"/>
          </a:xfrm>
          <a:prstGeom prst="rect">
            <a:avLst/>
          </a:prstGeom>
          <a:noFill/>
          <a:ln w="9525">
            <a:noFill/>
            <a:miter lim="800000"/>
            <a:headEnd/>
            <a:tailEnd/>
          </a:ln>
        </p:spPr>
        <p:txBody>
          <a:bodyPr wrap="square" lIns="0" tIns="0" rIns="0" bIns="0" anchor="ctr">
            <a:spAutoFit/>
          </a:bodyPr>
          <a:lstStyle/>
          <a:p>
            <a:pPr marL="0" marR="0" lvl="0" indent="0" algn="r" defTabSz="1199951"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Narrow"/>
                <a:ea typeface="+mn-ea"/>
                <a:cs typeface="Arial" pitchFamily="34" charset="0"/>
              </a:rPr>
              <a:t>12</a:t>
            </a:r>
          </a:p>
        </p:txBody>
      </p:sp>
      <p:sp>
        <p:nvSpPr>
          <p:cNvPr id="56" name="Title 1">
            <a:extLst>
              <a:ext uri="{FF2B5EF4-FFF2-40B4-BE49-F238E27FC236}">
                <a16:creationId xmlns:a16="http://schemas.microsoft.com/office/drawing/2014/main" id="{715BE08C-1D84-4304-A098-5467E04B8E13}"/>
              </a:ext>
            </a:extLst>
          </p:cNvPr>
          <p:cNvSpPr txBox="1">
            <a:spLocks/>
          </p:cNvSpPr>
          <p:nvPr/>
        </p:nvSpPr>
        <p:spPr>
          <a:xfrm>
            <a:off x="824927" y="633013"/>
            <a:ext cx="8444195" cy="984885"/>
          </a:xfrm>
          <a:prstGeom prst="rect">
            <a:avLst/>
          </a:prstGeom>
        </p:spPr>
        <p:txBody>
          <a:bodyPr/>
          <a:lstStyle>
            <a:lvl1pPr algn="l" rtl="0" eaLnBrk="1" fontAlgn="base" hangingPunct="1">
              <a:spcBef>
                <a:spcPct val="0"/>
              </a:spcBef>
              <a:spcAft>
                <a:spcPct val="0"/>
              </a:spcAft>
              <a:defRPr lang="en-US" sz="32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200" b="1">
                <a:solidFill>
                  <a:schemeClr val="tx2"/>
                </a:solidFill>
                <a:latin typeface="Arial" charset="0"/>
                <a:cs typeface="Arial" charset="0"/>
              </a:defRPr>
            </a:lvl2pPr>
            <a:lvl3pPr algn="l" rtl="0" eaLnBrk="1" fontAlgn="base" hangingPunct="1">
              <a:spcBef>
                <a:spcPct val="0"/>
              </a:spcBef>
              <a:spcAft>
                <a:spcPct val="0"/>
              </a:spcAft>
              <a:defRPr sz="3200" b="1">
                <a:solidFill>
                  <a:schemeClr val="tx2"/>
                </a:solidFill>
                <a:latin typeface="Arial" charset="0"/>
                <a:cs typeface="Arial" charset="0"/>
              </a:defRPr>
            </a:lvl3pPr>
            <a:lvl4pPr algn="l" rtl="0" eaLnBrk="1" fontAlgn="base" hangingPunct="1">
              <a:spcBef>
                <a:spcPct val="0"/>
              </a:spcBef>
              <a:spcAft>
                <a:spcPct val="0"/>
              </a:spcAft>
              <a:defRPr sz="3200" b="1">
                <a:solidFill>
                  <a:schemeClr val="tx2"/>
                </a:solidFill>
                <a:latin typeface="Arial" charset="0"/>
                <a:cs typeface="Arial" charset="0"/>
              </a:defRPr>
            </a:lvl4pPr>
            <a:lvl5pPr algn="l" rtl="0" eaLnBrk="1" fontAlgn="base" hangingPunct="1">
              <a:spcBef>
                <a:spcPct val="0"/>
              </a:spcBef>
              <a:spcAft>
                <a:spcPct val="0"/>
              </a:spcAft>
              <a:defRPr sz="3200" b="1">
                <a:solidFill>
                  <a:schemeClr val="tx2"/>
                </a:solidFill>
                <a:latin typeface="Arial" charset="0"/>
                <a:cs typeface="Arial" charset="0"/>
              </a:defRPr>
            </a:lvl5pPr>
            <a:lvl6pPr marL="457200" algn="l" rtl="0" eaLnBrk="1" fontAlgn="base" hangingPunct="1">
              <a:spcBef>
                <a:spcPct val="0"/>
              </a:spcBef>
              <a:spcAft>
                <a:spcPct val="0"/>
              </a:spcAft>
              <a:defRPr sz="3200" b="1">
                <a:solidFill>
                  <a:schemeClr val="tx2"/>
                </a:solidFill>
                <a:latin typeface="Arial" charset="0"/>
                <a:cs typeface="Arial" charset="0"/>
              </a:defRPr>
            </a:lvl6pPr>
            <a:lvl7pPr marL="914400" algn="l" rtl="0" eaLnBrk="1" fontAlgn="base" hangingPunct="1">
              <a:spcBef>
                <a:spcPct val="0"/>
              </a:spcBef>
              <a:spcAft>
                <a:spcPct val="0"/>
              </a:spcAft>
              <a:defRPr sz="3200" b="1">
                <a:solidFill>
                  <a:schemeClr val="tx2"/>
                </a:solidFill>
                <a:latin typeface="Arial" charset="0"/>
                <a:cs typeface="Arial" charset="0"/>
              </a:defRPr>
            </a:lvl7pPr>
            <a:lvl8pPr marL="1371600" algn="l" rtl="0" eaLnBrk="1" fontAlgn="base" hangingPunct="1">
              <a:spcBef>
                <a:spcPct val="0"/>
              </a:spcBef>
              <a:spcAft>
                <a:spcPct val="0"/>
              </a:spcAft>
              <a:defRPr sz="3200" b="1">
                <a:solidFill>
                  <a:schemeClr val="tx2"/>
                </a:solidFill>
                <a:latin typeface="Arial" charset="0"/>
                <a:cs typeface="Arial" charset="0"/>
              </a:defRPr>
            </a:lvl8pPr>
            <a:lvl9pPr marL="1828800" algn="l" rtl="0" eaLnBrk="1" fontAlgn="base" hangingPunct="1">
              <a:spcBef>
                <a:spcPct val="0"/>
              </a:spcBef>
              <a:spcAft>
                <a:spcPct val="0"/>
              </a:spcAft>
              <a:defRPr sz="3200" b="1">
                <a:solidFill>
                  <a:schemeClr val="tx2"/>
                </a:solidFill>
                <a:latin typeface="Arial" charset="0"/>
                <a:cs typeface="Arial" charset="0"/>
              </a:defRPr>
            </a:lvl9pPr>
          </a:lstStyle>
          <a:p>
            <a:r>
              <a:rPr lang="en-US" sz="2000" dirty="0">
                <a:latin typeface="Arial" charset="0"/>
                <a:cs typeface="Arial" charset="0"/>
              </a:rPr>
              <a:t>Breadth of our expertise across industries</a:t>
            </a:r>
            <a:endParaRPr lang="en-IN" sz="2000" dirty="0">
              <a:latin typeface="Arial" charset="0"/>
              <a:cs typeface="Arial" charset="0"/>
            </a:endParaRPr>
          </a:p>
        </p:txBody>
      </p:sp>
    </p:spTree>
    <p:extLst>
      <p:ext uri="{BB962C8B-B14F-4D97-AF65-F5344CB8AC3E}">
        <p14:creationId xmlns:p14="http://schemas.microsoft.com/office/powerpoint/2010/main" val="2235831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2"/>
          <p:cNvSpPr>
            <a:spLocks noGrp="1"/>
          </p:cNvSpPr>
          <p:nvPr>
            <p:ph type="title" idx="4294967295"/>
          </p:nvPr>
        </p:nvSpPr>
        <p:spPr>
          <a:xfrm>
            <a:off x="1122680" y="2700610"/>
            <a:ext cx="6680200" cy="553998"/>
          </a:xfrm>
        </p:spPr>
        <p:txBody>
          <a:bodyPr/>
          <a:lstStyle/>
          <a:p>
            <a:r>
              <a:rPr sz="3600" dirty="0">
                <a:solidFill>
                  <a:srgbClr val="E31837"/>
                </a:solidFill>
                <a:latin typeface="Arial" charset="0"/>
                <a:cs typeface="Arial" charset="0"/>
              </a:rPr>
              <a:t>Component engineering</a:t>
            </a:r>
            <a:endParaRPr sz="3600" dirty="0">
              <a:latin typeface="Arial" charset="0"/>
              <a:cs typeface="Arial" charset="0"/>
            </a:endParaRPr>
          </a:p>
        </p:txBody>
      </p:sp>
    </p:spTree>
    <p:extLst>
      <p:ext uri="{BB962C8B-B14F-4D97-AF65-F5344CB8AC3E}">
        <p14:creationId xmlns:p14="http://schemas.microsoft.com/office/powerpoint/2010/main" val="3702875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1122700" y="719139"/>
            <a:ext cx="8224837" cy="492125"/>
          </a:xfrm>
        </p:spPr>
        <p:txBody>
          <a:bodyPr/>
          <a:lstStyle/>
          <a:p>
            <a:r>
              <a:rPr dirty="0">
                <a:latin typeface="Arial" charset="0"/>
                <a:cs typeface="Arial" charset="0"/>
              </a:rPr>
              <a:t>Component Engineering</a:t>
            </a:r>
          </a:p>
        </p:txBody>
      </p:sp>
      <p:sp>
        <p:nvSpPr>
          <p:cNvPr id="16388" name="Text Placeholder 2"/>
          <p:cNvSpPr>
            <a:spLocks noGrp="1"/>
          </p:cNvSpPr>
          <p:nvPr>
            <p:ph type="body" sz="quarter" idx="10"/>
          </p:nvPr>
        </p:nvSpPr>
        <p:spPr>
          <a:xfrm>
            <a:off x="1122700" y="1971676"/>
            <a:ext cx="4768649" cy="3046988"/>
          </a:xfrm>
        </p:spPr>
        <p:txBody>
          <a:bodyPr/>
          <a:lstStyle/>
          <a:p>
            <a:pPr marL="296863" indent="-296863">
              <a:spcBef>
                <a:spcPct val="0"/>
              </a:spcBef>
              <a:spcAft>
                <a:spcPct val="0"/>
              </a:spcAft>
            </a:pPr>
            <a:r>
              <a:rPr lang="en-US" dirty="0">
                <a:latin typeface="Arial" charset="0"/>
                <a:cs typeface="Arial" charset="0"/>
              </a:rPr>
              <a:t>Segregation of the given list of components into multiple categories like Electrical , Mechanical, Electromechanical &amp; Custom parts</a:t>
            </a:r>
          </a:p>
          <a:p>
            <a:pPr marL="296863" indent="-296863">
              <a:spcBef>
                <a:spcPct val="0"/>
              </a:spcBef>
              <a:spcAft>
                <a:spcPct val="0"/>
              </a:spcAft>
            </a:pPr>
            <a:endParaRPr dirty="0">
              <a:latin typeface="Arial" charset="0"/>
              <a:cs typeface="Arial" charset="0"/>
            </a:endParaRPr>
          </a:p>
          <a:p>
            <a:pPr marL="296863" indent="-296863">
              <a:spcBef>
                <a:spcPct val="0"/>
              </a:spcBef>
              <a:spcAft>
                <a:spcPct val="0"/>
              </a:spcAft>
            </a:pPr>
            <a:r>
              <a:rPr lang="en-US" dirty="0">
                <a:latin typeface="Arial" charset="0"/>
                <a:cs typeface="Arial" charset="0"/>
              </a:rPr>
              <a:t>Working with BOM manager tools and other distributors for alternates and Parts at risk</a:t>
            </a:r>
          </a:p>
          <a:p>
            <a:pPr marL="296863" indent="-296863">
              <a:spcBef>
                <a:spcPct val="0"/>
              </a:spcBef>
              <a:spcAft>
                <a:spcPct val="0"/>
              </a:spcAft>
            </a:pPr>
            <a:endParaRPr lang="en-US" dirty="0">
              <a:latin typeface="Arial" charset="0"/>
              <a:cs typeface="Arial" charset="0"/>
            </a:endParaRPr>
          </a:p>
          <a:p>
            <a:pPr marL="296863" indent="-296863">
              <a:spcBef>
                <a:spcPct val="0"/>
              </a:spcBef>
              <a:spcAft>
                <a:spcPct val="0"/>
              </a:spcAft>
            </a:pPr>
            <a:r>
              <a:rPr lang="en-US" dirty="0">
                <a:latin typeface="Arial" charset="0"/>
                <a:cs typeface="Arial" charset="0"/>
              </a:rPr>
              <a:t>Preparing comparison sheets for the proposed alternates</a:t>
            </a:r>
          </a:p>
          <a:p>
            <a:pPr marL="296863" indent="-296863">
              <a:spcBef>
                <a:spcPct val="0"/>
              </a:spcBef>
              <a:spcAft>
                <a:spcPct val="0"/>
              </a:spcAft>
            </a:pPr>
            <a:endParaRPr lang="en-US" dirty="0">
              <a:latin typeface="Arial" charset="0"/>
              <a:cs typeface="Arial" charset="0"/>
            </a:endParaRPr>
          </a:p>
        </p:txBody>
      </p:sp>
      <p:sp>
        <p:nvSpPr>
          <p:cNvPr id="16389" name="Text Placeholder 2"/>
          <p:cNvSpPr txBox="1">
            <a:spLocks/>
          </p:cNvSpPr>
          <p:nvPr/>
        </p:nvSpPr>
        <p:spPr bwMode="auto">
          <a:xfrm>
            <a:off x="6219529" y="1971675"/>
            <a:ext cx="5484794" cy="2769989"/>
          </a:xfrm>
          <a:prstGeom prst="rect">
            <a:avLst/>
          </a:prstGeom>
          <a:noFill/>
          <a:ln w="9525">
            <a:noFill/>
            <a:miter lim="800000"/>
            <a:headEnd/>
            <a:tailEnd/>
          </a:ln>
        </p:spPr>
        <p:txBody>
          <a:bodyPr wrap="square" lIns="0" tIns="0" rIns="0" bIns="0">
            <a:spAutoFit/>
          </a:bodyPr>
          <a:lstStyle/>
          <a:p>
            <a:pPr marL="296863" indent="-296863">
              <a:buClr>
                <a:schemeClr val="bg2"/>
              </a:buClr>
              <a:buSzPct val="120000"/>
              <a:buFont typeface="Wingdings" pitchFamily="2" charset="2"/>
              <a:buChar char="§"/>
            </a:pPr>
            <a:r>
              <a:rPr lang="en-US" dirty="0"/>
              <a:t>Suggestions on the best possible alternates</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dirty="0"/>
              <a:t>Vendor Communication for data and certification related issues</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dirty="0"/>
              <a:t>Alternate finding for Custom Parts</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dirty="0"/>
              <a:t>Collecting PCN,PDN, RoHS and Reach Statements</a:t>
            </a:r>
          </a:p>
          <a:p>
            <a:pPr marL="296863" indent="-296863">
              <a:buClr>
                <a:schemeClr val="bg2"/>
              </a:buClr>
              <a:buSzPct val="120000"/>
              <a:buFont typeface="Wingdings" pitchFamily="2" charset="2"/>
              <a:buChar char="§"/>
            </a:pPr>
            <a:endParaRPr lang="en-US" dirty="0"/>
          </a:p>
        </p:txBody>
      </p:sp>
      <p:grpSp>
        <p:nvGrpSpPr>
          <p:cNvPr id="6" name="Group 5">
            <a:extLst>
              <a:ext uri="{FF2B5EF4-FFF2-40B4-BE49-F238E27FC236}">
                <a16:creationId xmlns:a16="http://schemas.microsoft.com/office/drawing/2014/main" id="{7AB1BCED-2D2B-460E-8345-F26765C0B00D}"/>
              </a:ext>
            </a:extLst>
          </p:cNvPr>
          <p:cNvGrpSpPr/>
          <p:nvPr/>
        </p:nvGrpSpPr>
        <p:grpSpPr>
          <a:xfrm>
            <a:off x="1122700" y="5316611"/>
            <a:ext cx="10166373" cy="822250"/>
            <a:chOff x="876551" y="1943398"/>
            <a:chExt cx="10166373" cy="822250"/>
          </a:xfrm>
        </p:grpSpPr>
        <p:sp>
          <p:nvSpPr>
            <p:cNvPr id="7" name="Rectangle 6">
              <a:extLst>
                <a:ext uri="{FF2B5EF4-FFF2-40B4-BE49-F238E27FC236}">
                  <a16:creationId xmlns:a16="http://schemas.microsoft.com/office/drawing/2014/main" id="{173B88EF-A2E8-4A63-8D6A-F7213E86FF4F}"/>
                </a:ext>
              </a:extLst>
            </p:cNvPr>
            <p:cNvSpPr/>
            <p:nvPr/>
          </p:nvSpPr>
          <p:spPr>
            <a:xfrm>
              <a:off x="1848329" y="1943398"/>
              <a:ext cx="9194595" cy="809258"/>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QTEC Solutions, Inc. - Electronic Component Obsolescence Management">
              <a:extLst>
                <a:ext uri="{FF2B5EF4-FFF2-40B4-BE49-F238E27FC236}">
                  <a16:creationId xmlns:a16="http://schemas.microsoft.com/office/drawing/2014/main" id="{86C005BC-8A7A-4B51-A0DB-40A57C51052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32426"/>
            <a:stretch/>
          </p:blipFill>
          <p:spPr bwMode="auto">
            <a:xfrm>
              <a:off x="5675588" y="2096130"/>
              <a:ext cx="1685925" cy="45698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IHS Markit Announces Intent to Acquire Ipreo, a Leading Software Solutions  and Data Provider in Global Capital Markets | Business Wire">
              <a:extLst>
                <a:ext uri="{FF2B5EF4-FFF2-40B4-BE49-F238E27FC236}">
                  <a16:creationId xmlns:a16="http://schemas.microsoft.com/office/drawing/2014/main" id="{0E67FE3B-D335-465D-BC38-E1A1DCE219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594" y="2027703"/>
              <a:ext cx="2144731" cy="64064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Product Lifecycle Risk Management Platform &amp; Support Services">
              <a:extLst>
                <a:ext uri="{FF2B5EF4-FFF2-40B4-BE49-F238E27FC236}">
                  <a16:creationId xmlns:a16="http://schemas.microsoft.com/office/drawing/2014/main" id="{E42758E6-9B9F-46DD-96EA-DBC70A6D9F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7776" y="2096130"/>
              <a:ext cx="2559050" cy="383858"/>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Pentagon 10">
              <a:extLst>
                <a:ext uri="{FF2B5EF4-FFF2-40B4-BE49-F238E27FC236}">
                  <a16:creationId xmlns:a16="http://schemas.microsoft.com/office/drawing/2014/main" id="{310014C2-0812-4CED-B117-E1208B3E4FDC}"/>
                </a:ext>
              </a:extLst>
            </p:cNvPr>
            <p:cNvSpPr/>
            <p:nvPr/>
          </p:nvSpPr>
          <p:spPr>
            <a:xfrm>
              <a:off x="876551" y="1943398"/>
              <a:ext cx="1408924" cy="82225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Tools Used</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2"/>
          <p:cNvSpPr>
            <a:spLocks noGrp="1"/>
          </p:cNvSpPr>
          <p:nvPr>
            <p:ph type="title" idx="4294967295"/>
          </p:nvPr>
        </p:nvSpPr>
        <p:spPr>
          <a:xfrm>
            <a:off x="1122680" y="2700610"/>
            <a:ext cx="6680200" cy="553998"/>
          </a:xfrm>
        </p:spPr>
        <p:txBody>
          <a:bodyPr/>
          <a:lstStyle/>
          <a:p>
            <a:r>
              <a:rPr sz="3600" dirty="0">
                <a:solidFill>
                  <a:srgbClr val="E31837"/>
                </a:solidFill>
                <a:latin typeface="Arial" charset="0"/>
                <a:cs typeface="Arial" charset="0"/>
              </a:rPr>
              <a:t>Alternate Finding</a:t>
            </a:r>
            <a:endParaRPr sz="3600" dirty="0">
              <a:latin typeface="Arial" charset="0"/>
              <a:cs typeface="Arial" charset="0"/>
            </a:endParaRPr>
          </a:p>
        </p:txBody>
      </p:sp>
    </p:spTree>
    <p:extLst>
      <p:ext uri="{BB962C8B-B14F-4D97-AF65-F5344CB8AC3E}">
        <p14:creationId xmlns:p14="http://schemas.microsoft.com/office/powerpoint/2010/main" val="3040353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1122700" y="719139"/>
            <a:ext cx="8224837" cy="492125"/>
          </a:xfrm>
        </p:spPr>
        <p:txBody>
          <a:bodyPr/>
          <a:lstStyle/>
          <a:p>
            <a:r>
              <a:rPr dirty="0">
                <a:latin typeface="Arial" charset="0"/>
                <a:cs typeface="Arial" charset="0"/>
              </a:rPr>
              <a:t>Alternate Finding</a:t>
            </a:r>
          </a:p>
        </p:txBody>
      </p:sp>
      <p:sp>
        <p:nvSpPr>
          <p:cNvPr id="16388" name="Text Placeholder 2"/>
          <p:cNvSpPr>
            <a:spLocks noGrp="1"/>
          </p:cNvSpPr>
          <p:nvPr>
            <p:ph type="body" sz="quarter" idx="10"/>
          </p:nvPr>
        </p:nvSpPr>
        <p:spPr>
          <a:xfrm>
            <a:off x="1122700" y="1971676"/>
            <a:ext cx="4768649" cy="2769989"/>
          </a:xfrm>
        </p:spPr>
        <p:txBody>
          <a:bodyPr/>
          <a:lstStyle/>
          <a:p>
            <a:pPr marL="296863" indent="-296863">
              <a:spcBef>
                <a:spcPct val="0"/>
              </a:spcBef>
              <a:spcAft>
                <a:spcPct val="0"/>
              </a:spcAft>
            </a:pPr>
            <a:r>
              <a:rPr lang="en-US" b="1" dirty="0">
                <a:latin typeface="Arial" charset="0"/>
                <a:cs typeface="Arial" charset="0"/>
              </a:rPr>
              <a:t>Application Circuit Complexity :</a:t>
            </a:r>
            <a:r>
              <a:rPr lang="en-US" dirty="0">
                <a:latin typeface="Arial" charset="0"/>
                <a:cs typeface="Arial" charset="0"/>
              </a:rPr>
              <a:t> Having Detailed understanding the Circuit application will result in better component selection.</a:t>
            </a:r>
          </a:p>
          <a:p>
            <a:pPr marL="0" indent="0">
              <a:spcBef>
                <a:spcPct val="0"/>
              </a:spcBef>
              <a:spcAft>
                <a:spcPct val="0"/>
              </a:spcAft>
              <a:buNone/>
            </a:pPr>
            <a:endParaRPr lang="en-US" dirty="0">
              <a:latin typeface="Arial" charset="0"/>
              <a:cs typeface="Arial" charset="0"/>
            </a:endParaRPr>
          </a:p>
          <a:p>
            <a:pPr marL="296863" indent="-296863">
              <a:spcBef>
                <a:spcPct val="0"/>
              </a:spcBef>
              <a:spcAft>
                <a:spcPct val="0"/>
              </a:spcAft>
            </a:pPr>
            <a:r>
              <a:rPr lang="en-US" b="1" dirty="0">
                <a:latin typeface="Arial" charset="0"/>
                <a:cs typeface="Arial" charset="0"/>
              </a:rPr>
              <a:t>Electrical parameters : </a:t>
            </a:r>
            <a:r>
              <a:rPr lang="en-US" dirty="0">
                <a:latin typeface="Arial" charset="0"/>
                <a:cs typeface="Arial" charset="0"/>
              </a:rPr>
              <a:t>This is the Core of requirement. Ex : Voltage , current, Power, Accuracy , Response Time, Speed, Resolution.. etc. Make sure to Make a list so that critical parameters won’t be missed.</a:t>
            </a:r>
          </a:p>
        </p:txBody>
      </p:sp>
      <p:sp>
        <p:nvSpPr>
          <p:cNvPr id="16389" name="Text Placeholder 2"/>
          <p:cNvSpPr txBox="1">
            <a:spLocks/>
          </p:cNvSpPr>
          <p:nvPr/>
        </p:nvSpPr>
        <p:spPr bwMode="auto">
          <a:xfrm>
            <a:off x="6219529" y="1971675"/>
            <a:ext cx="5484794" cy="3877985"/>
          </a:xfrm>
          <a:prstGeom prst="rect">
            <a:avLst/>
          </a:prstGeom>
          <a:noFill/>
          <a:ln w="9525">
            <a:noFill/>
            <a:miter lim="800000"/>
            <a:headEnd/>
            <a:tailEnd/>
          </a:ln>
        </p:spPr>
        <p:txBody>
          <a:bodyPr wrap="square" lIns="0" tIns="0" rIns="0" bIns="0">
            <a:spAutoFit/>
          </a:bodyPr>
          <a:lstStyle/>
          <a:p>
            <a:pPr marL="296863" indent="-296863">
              <a:buClr>
                <a:schemeClr val="bg2"/>
              </a:buClr>
              <a:buSzPct val="120000"/>
              <a:buFont typeface="Wingdings" pitchFamily="2" charset="2"/>
              <a:buChar char="§"/>
            </a:pPr>
            <a:r>
              <a:rPr lang="en-US" b="1" dirty="0"/>
              <a:t>Manufacturers :</a:t>
            </a:r>
            <a:r>
              <a:rPr lang="en-US" dirty="0"/>
              <a:t> Consider a manufacturer Who has good product documentation like informative datasheets, Application notes, Reference design , Evaluation Board support &amp; Technical/Design review Support.</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b="1" dirty="0"/>
              <a:t>Mechanical Parameters (Dimensions, Package, Weight. Etc): </a:t>
            </a:r>
            <a:r>
              <a:rPr lang="en-US" dirty="0"/>
              <a:t>PCB size will be increased with large size components. Complex component Packages will result in increased assembly cost. Component weight also be the product weight deciding factor.</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endParaRPr lang="en-US" dirty="0"/>
          </a:p>
        </p:txBody>
      </p:sp>
      <p:sp>
        <p:nvSpPr>
          <p:cNvPr id="12" name="Text Placeholder 6">
            <a:extLst>
              <a:ext uri="{FF2B5EF4-FFF2-40B4-BE49-F238E27FC236}">
                <a16:creationId xmlns:a16="http://schemas.microsoft.com/office/drawing/2014/main" id="{06A3356A-F11F-4910-B794-63834725D983}"/>
              </a:ext>
            </a:extLst>
          </p:cNvPr>
          <p:cNvSpPr txBox="1">
            <a:spLocks/>
          </p:cNvSpPr>
          <p:nvPr/>
        </p:nvSpPr>
        <p:spPr bwMode="gray">
          <a:xfrm>
            <a:off x="1122699" y="1219201"/>
            <a:ext cx="8224837" cy="28416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rtl="0" eaLnBrk="1" fontAlgn="base" hangingPunct="1">
              <a:spcBef>
                <a:spcPct val="0"/>
              </a:spcBef>
              <a:spcAft>
                <a:spcPct val="0"/>
              </a:spcAft>
              <a:buClr>
                <a:schemeClr val="bg2"/>
              </a:buClr>
              <a:buSzPct val="120000"/>
              <a:buFont typeface="Wingdings" pitchFamily="2" charset="2"/>
              <a:buNone/>
              <a:defRPr lang="en-US" b="1" kern="1200">
                <a:solidFill>
                  <a:schemeClr val="bg2"/>
                </a:solidFill>
                <a:latin typeface="Arial" pitchFamily="34" charset="0"/>
                <a:ea typeface="+mn-ea"/>
                <a:cs typeface="Arial" pitchFamily="34" charset="0"/>
              </a:defRPr>
            </a:lvl1pPr>
            <a:lvl2pPr marL="285750" indent="-28575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71500" indent="-27940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850900" indent="-27940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136650" indent="-285750" algn="l" defTabSz="933450"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rial" charset="0"/>
                <a:cs typeface="Arial" charset="0"/>
              </a:rPr>
              <a:t>Considerations while selection of Alternate</a:t>
            </a:r>
          </a:p>
        </p:txBody>
      </p:sp>
    </p:spTree>
    <p:extLst>
      <p:ext uri="{BB962C8B-B14F-4D97-AF65-F5344CB8AC3E}">
        <p14:creationId xmlns:p14="http://schemas.microsoft.com/office/powerpoint/2010/main" val="4037462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1122700" y="719139"/>
            <a:ext cx="8224837" cy="492125"/>
          </a:xfrm>
        </p:spPr>
        <p:txBody>
          <a:bodyPr/>
          <a:lstStyle/>
          <a:p>
            <a:r>
              <a:rPr dirty="0">
                <a:latin typeface="Arial" charset="0"/>
                <a:cs typeface="Arial" charset="0"/>
              </a:rPr>
              <a:t>Alternate Finding</a:t>
            </a:r>
          </a:p>
        </p:txBody>
      </p:sp>
      <p:sp>
        <p:nvSpPr>
          <p:cNvPr id="16388" name="Text Placeholder 2"/>
          <p:cNvSpPr>
            <a:spLocks noGrp="1"/>
          </p:cNvSpPr>
          <p:nvPr>
            <p:ph type="body" sz="quarter" idx="10"/>
          </p:nvPr>
        </p:nvSpPr>
        <p:spPr>
          <a:xfrm>
            <a:off x="1122700" y="1971676"/>
            <a:ext cx="4768649" cy="4154984"/>
          </a:xfrm>
        </p:spPr>
        <p:txBody>
          <a:bodyPr/>
          <a:lstStyle/>
          <a:p>
            <a:pPr marL="296863" indent="-296863">
              <a:spcBef>
                <a:spcPct val="0"/>
              </a:spcBef>
              <a:spcAft>
                <a:spcPct val="0"/>
              </a:spcAft>
            </a:pPr>
            <a:r>
              <a:rPr lang="en-US" b="1" dirty="0">
                <a:latin typeface="Arial" charset="0"/>
                <a:cs typeface="Arial" charset="0"/>
              </a:rPr>
              <a:t>Environmental parameters : </a:t>
            </a:r>
            <a:r>
              <a:rPr lang="en-US" dirty="0">
                <a:latin typeface="Arial" charset="0"/>
                <a:cs typeface="Arial" charset="0"/>
              </a:rPr>
              <a:t>Check properly the operating/storage temperature, humidity, pressure &amp; vibration range. Which will cause the field surprises like field failures or bad performance.</a:t>
            </a:r>
          </a:p>
          <a:p>
            <a:pPr marL="296863" indent="-296863">
              <a:spcBef>
                <a:spcPct val="0"/>
              </a:spcBef>
              <a:spcAft>
                <a:spcPct val="0"/>
              </a:spcAft>
            </a:pPr>
            <a:endParaRPr lang="en-US" dirty="0">
              <a:latin typeface="Arial" charset="0"/>
              <a:cs typeface="Arial" charset="0"/>
            </a:endParaRPr>
          </a:p>
          <a:p>
            <a:pPr marL="296863" indent="-296863">
              <a:spcBef>
                <a:spcPct val="0"/>
              </a:spcBef>
              <a:spcAft>
                <a:spcPct val="0"/>
              </a:spcAft>
            </a:pPr>
            <a:r>
              <a:rPr lang="en-US" sz="1800" b="1" dirty="0"/>
              <a:t>Compliances : </a:t>
            </a:r>
            <a:r>
              <a:rPr lang="en-US" sz="1800" dirty="0"/>
              <a:t>Component should have minimum compliances like ROHS &amp; REACH.</a:t>
            </a:r>
          </a:p>
          <a:p>
            <a:pPr marL="296863" indent="-296863">
              <a:spcBef>
                <a:spcPct val="0"/>
              </a:spcBef>
              <a:spcAft>
                <a:spcPct val="0"/>
              </a:spcAft>
            </a:pPr>
            <a:endParaRPr lang="en-US" dirty="0"/>
          </a:p>
          <a:p>
            <a:pPr marL="296863" indent="-296863">
              <a:spcBef>
                <a:spcPct val="0"/>
              </a:spcBef>
              <a:spcAft>
                <a:spcPct val="0"/>
              </a:spcAft>
            </a:pPr>
            <a:r>
              <a:rPr lang="en-US" b="1" dirty="0"/>
              <a:t>Long term Availability/End Of Life: </a:t>
            </a:r>
            <a:r>
              <a:rPr lang="en-US" dirty="0"/>
              <a:t>Make sure the component availability based on the product life cycle.</a:t>
            </a:r>
          </a:p>
          <a:p>
            <a:pPr marL="296863" indent="-296863">
              <a:spcBef>
                <a:spcPct val="0"/>
              </a:spcBef>
              <a:spcAft>
                <a:spcPct val="0"/>
              </a:spcAft>
            </a:pPr>
            <a:endParaRPr lang="en-US" sz="1800" dirty="0"/>
          </a:p>
          <a:p>
            <a:pPr marL="296863" indent="-296863">
              <a:spcBef>
                <a:spcPct val="0"/>
              </a:spcBef>
              <a:spcAft>
                <a:spcPct val="0"/>
              </a:spcAft>
            </a:pPr>
            <a:endParaRPr lang="en-US" dirty="0">
              <a:latin typeface="Arial" charset="0"/>
              <a:cs typeface="Arial" charset="0"/>
            </a:endParaRPr>
          </a:p>
        </p:txBody>
      </p:sp>
      <p:sp>
        <p:nvSpPr>
          <p:cNvPr id="16389" name="Text Placeholder 2"/>
          <p:cNvSpPr txBox="1">
            <a:spLocks/>
          </p:cNvSpPr>
          <p:nvPr/>
        </p:nvSpPr>
        <p:spPr bwMode="auto">
          <a:xfrm>
            <a:off x="6219529" y="1971675"/>
            <a:ext cx="5484794" cy="4431983"/>
          </a:xfrm>
          <a:prstGeom prst="rect">
            <a:avLst/>
          </a:prstGeom>
          <a:noFill/>
          <a:ln w="9525">
            <a:noFill/>
            <a:miter lim="800000"/>
            <a:headEnd/>
            <a:tailEnd/>
          </a:ln>
        </p:spPr>
        <p:txBody>
          <a:bodyPr wrap="square" lIns="0" tIns="0" rIns="0" bIns="0">
            <a:spAutoFit/>
          </a:bodyPr>
          <a:lstStyle/>
          <a:p>
            <a:pPr marL="296863" indent="-296863">
              <a:buClr>
                <a:schemeClr val="bg2"/>
              </a:buClr>
              <a:buSzPct val="120000"/>
              <a:buFont typeface="Wingdings" pitchFamily="2" charset="2"/>
              <a:buChar char="§"/>
            </a:pPr>
            <a:r>
              <a:rPr lang="en-US" b="1" dirty="0"/>
              <a:t>Lead Time : </a:t>
            </a:r>
            <a:r>
              <a:rPr lang="en-US" dirty="0"/>
              <a:t>Component with long lead time will impact the product delivery schedule and stocking the component will affect the product overall cost.</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sz="1800" b="1" dirty="0"/>
              <a:t>Cost : </a:t>
            </a:r>
            <a:r>
              <a:rPr lang="en-US" sz="1800" dirty="0"/>
              <a:t>Component cost should be as less as possible for better marketing strategy. But sometimes Component cost has less priority that product quality and size. So, the decision has been taken before considering the component cost.</a:t>
            </a:r>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r>
              <a:rPr lang="en-US" sz="1800" b="1" dirty="0"/>
              <a:t>Where to Buy : </a:t>
            </a:r>
            <a:r>
              <a:rPr lang="en-US" sz="1800" dirty="0"/>
              <a:t>The selected component should be available from trusted distributors along with the manufacturer.</a:t>
            </a:r>
          </a:p>
          <a:p>
            <a:pPr marL="296863" indent="-296863">
              <a:buClr>
                <a:schemeClr val="bg2"/>
              </a:buClr>
              <a:buSzPct val="120000"/>
              <a:buFont typeface="Wingdings" pitchFamily="2" charset="2"/>
              <a:buChar char="§"/>
            </a:pPr>
            <a:endParaRPr lang="en-US" sz="1800" dirty="0"/>
          </a:p>
          <a:p>
            <a:pPr marL="296863" indent="-296863">
              <a:buClr>
                <a:schemeClr val="bg2"/>
              </a:buClr>
              <a:buSzPct val="120000"/>
              <a:buFont typeface="Wingdings" pitchFamily="2" charset="2"/>
              <a:buChar char="§"/>
            </a:pPr>
            <a:endParaRPr lang="en-US" dirty="0"/>
          </a:p>
          <a:p>
            <a:pPr marL="296863" indent="-296863">
              <a:buClr>
                <a:schemeClr val="bg2"/>
              </a:buClr>
              <a:buSzPct val="120000"/>
              <a:buFont typeface="Wingdings" pitchFamily="2" charset="2"/>
              <a:buChar char="§"/>
            </a:pPr>
            <a:endParaRPr lang="en-US" dirty="0"/>
          </a:p>
        </p:txBody>
      </p:sp>
      <p:sp>
        <p:nvSpPr>
          <p:cNvPr id="12" name="Text Placeholder 6">
            <a:extLst>
              <a:ext uri="{FF2B5EF4-FFF2-40B4-BE49-F238E27FC236}">
                <a16:creationId xmlns:a16="http://schemas.microsoft.com/office/drawing/2014/main" id="{06A3356A-F11F-4910-B794-63834725D983}"/>
              </a:ext>
            </a:extLst>
          </p:cNvPr>
          <p:cNvSpPr txBox="1">
            <a:spLocks/>
          </p:cNvSpPr>
          <p:nvPr/>
        </p:nvSpPr>
        <p:spPr bwMode="gray">
          <a:xfrm>
            <a:off x="1122699" y="1219201"/>
            <a:ext cx="8224837" cy="28416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gn="l" rtl="0" eaLnBrk="1" fontAlgn="base" hangingPunct="1">
              <a:spcBef>
                <a:spcPct val="0"/>
              </a:spcBef>
              <a:spcAft>
                <a:spcPct val="0"/>
              </a:spcAft>
              <a:buClr>
                <a:schemeClr val="bg2"/>
              </a:buClr>
              <a:buSzPct val="120000"/>
              <a:buFont typeface="Wingdings" pitchFamily="2" charset="2"/>
              <a:buNone/>
              <a:defRPr lang="en-US" b="1" kern="1200">
                <a:solidFill>
                  <a:schemeClr val="bg2"/>
                </a:solidFill>
                <a:latin typeface="Arial" pitchFamily="34" charset="0"/>
                <a:ea typeface="+mn-ea"/>
                <a:cs typeface="Arial" pitchFamily="34" charset="0"/>
              </a:defRPr>
            </a:lvl1pPr>
            <a:lvl2pPr marL="285750" indent="-285750" algn="l" rtl="0" eaLnBrk="1" fontAlgn="base" hangingPunct="1">
              <a:spcBef>
                <a:spcPct val="0"/>
              </a:spcBef>
              <a:spcAft>
                <a:spcPct val="0"/>
              </a:spcAft>
              <a:buClr>
                <a:schemeClr val="bg2"/>
              </a:buClr>
              <a:buSzPct val="100000"/>
              <a:buFont typeface="Wingdings" pitchFamily="2" charset="2"/>
              <a:buChar char="§"/>
              <a:defRPr lang="en-US" kern="1200" dirty="0">
                <a:solidFill>
                  <a:schemeClr val="tx1"/>
                </a:solidFill>
                <a:latin typeface="+mn-lt"/>
                <a:ea typeface="+mn-ea"/>
                <a:cs typeface="Arial" charset="0"/>
              </a:defRPr>
            </a:lvl2pPr>
            <a:lvl3pPr marL="571500" indent="-279400" algn="l" rtl="0" eaLnBrk="1" fontAlgn="base" hangingPunct="1">
              <a:spcBef>
                <a:spcPct val="0"/>
              </a:spcBef>
              <a:spcAft>
                <a:spcPct val="0"/>
              </a:spcAft>
              <a:buClr>
                <a:schemeClr val="bg2"/>
              </a:buClr>
              <a:buSzPct val="90000"/>
              <a:buFont typeface="Arial" charset="0"/>
              <a:buChar char="–"/>
              <a:defRPr lang="en-US" kern="1200" dirty="0">
                <a:solidFill>
                  <a:schemeClr val="tx1"/>
                </a:solidFill>
                <a:latin typeface="Arial" pitchFamily="34" charset="0"/>
                <a:ea typeface="+mn-ea"/>
                <a:cs typeface="Arial" pitchFamily="34" charset="0"/>
              </a:defRPr>
            </a:lvl3pPr>
            <a:lvl4pPr marL="850900" indent="-279400" algn="l" rtl="0" eaLnBrk="1" fontAlgn="base" hangingPunct="1">
              <a:spcBef>
                <a:spcPct val="0"/>
              </a:spcBef>
              <a:spcAft>
                <a:spcPct val="0"/>
              </a:spcAft>
              <a:buClr>
                <a:schemeClr val="bg2"/>
              </a:buClr>
              <a:buSzPct val="80000"/>
              <a:buFont typeface="Wingdings" pitchFamily="2" charset="2"/>
              <a:buChar char="§"/>
              <a:defRPr lang="en-US" kern="1200" dirty="0">
                <a:solidFill>
                  <a:schemeClr val="tx1"/>
                </a:solidFill>
                <a:latin typeface="Arial" pitchFamily="34" charset="0"/>
                <a:ea typeface="+mn-ea"/>
                <a:cs typeface="Arial" charset="0"/>
              </a:defRPr>
            </a:lvl4pPr>
            <a:lvl5pPr marL="1136650" indent="-285750" algn="l" defTabSz="933450" rtl="0" eaLnBrk="1" fontAlgn="base" hangingPunct="1">
              <a:spcBef>
                <a:spcPct val="0"/>
              </a:spcBef>
              <a:spcAft>
                <a:spcPct val="0"/>
              </a:spcAft>
              <a:buClr>
                <a:schemeClr val="bg2"/>
              </a:buClr>
              <a:buSzPct val="70000"/>
              <a:buFont typeface="Arial" charset="0"/>
              <a:buChar char="–"/>
              <a:defRPr lang="en-US" kern="1200" dirty="0">
                <a:solidFill>
                  <a:schemeClr val="tx1"/>
                </a:solidFill>
                <a:latin typeface="Arial" pitchFamily="34" charset="0"/>
                <a:ea typeface="+mn-ea"/>
                <a:cs typeface="Arial" charset="0"/>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latin typeface="Arial" charset="0"/>
                <a:cs typeface="Arial" charset="0"/>
              </a:rPr>
              <a:t>Considerations while selection of Alternate cntd. </a:t>
            </a:r>
          </a:p>
        </p:txBody>
      </p:sp>
    </p:spTree>
    <p:extLst>
      <p:ext uri="{BB962C8B-B14F-4D97-AF65-F5344CB8AC3E}">
        <p14:creationId xmlns:p14="http://schemas.microsoft.com/office/powerpoint/2010/main" val="147399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 Placeholder 2"/>
          <p:cNvSpPr>
            <a:spLocks noGrp="1"/>
          </p:cNvSpPr>
          <p:nvPr>
            <p:ph type="body" sz="quarter" idx="13"/>
          </p:nvPr>
        </p:nvSpPr>
        <p:spPr>
          <a:xfrm>
            <a:off x="1119128" y="1270189"/>
            <a:ext cx="8224837" cy="284163"/>
          </a:xfrm>
        </p:spPr>
        <p:txBody>
          <a:bodyPr/>
          <a:lstStyle/>
          <a:p>
            <a:r>
              <a:rPr dirty="0">
                <a:latin typeface="Arial" charset="0"/>
                <a:cs typeface="Arial" charset="0"/>
              </a:rPr>
              <a:t>Execution Approach</a:t>
            </a:r>
          </a:p>
        </p:txBody>
      </p:sp>
      <p:sp>
        <p:nvSpPr>
          <p:cNvPr id="47" name="Rectangle 46">
            <a:extLst>
              <a:ext uri="{FF2B5EF4-FFF2-40B4-BE49-F238E27FC236}">
                <a16:creationId xmlns:a16="http://schemas.microsoft.com/office/drawing/2014/main" id="{03979F88-E239-4895-B4C0-B4B0A3A8BE2B}"/>
              </a:ext>
            </a:extLst>
          </p:cNvPr>
          <p:cNvSpPr/>
          <p:nvPr/>
        </p:nvSpPr>
        <p:spPr>
          <a:xfrm>
            <a:off x="1677526" y="1723093"/>
            <a:ext cx="1428057"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Segregation of the list</a:t>
            </a:r>
          </a:p>
        </p:txBody>
      </p:sp>
      <p:sp>
        <p:nvSpPr>
          <p:cNvPr id="48" name="Rectangle 47">
            <a:extLst>
              <a:ext uri="{FF2B5EF4-FFF2-40B4-BE49-F238E27FC236}">
                <a16:creationId xmlns:a16="http://schemas.microsoft.com/office/drawing/2014/main" id="{273B2D57-185D-43EB-B0E3-64413ADBAD9C}"/>
              </a:ext>
            </a:extLst>
          </p:cNvPr>
          <p:cNvSpPr/>
          <p:nvPr/>
        </p:nvSpPr>
        <p:spPr>
          <a:xfrm>
            <a:off x="1365309" y="2846781"/>
            <a:ext cx="2088533"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Verification with BOM Manager tool &amp; Distributors</a:t>
            </a:r>
          </a:p>
        </p:txBody>
      </p:sp>
      <p:sp>
        <p:nvSpPr>
          <p:cNvPr id="49" name="Rectangle 48">
            <a:extLst>
              <a:ext uri="{FF2B5EF4-FFF2-40B4-BE49-F238E27FC236}">
                <a16:creationId xmlns:a16="http://schemas.microsoft.com/office/drawing/2014/main" id="{DC966A3A-178C-4B23-8D35-3A18C544AF3E}"/>
              </a:ext>
            </a:extLst>
          </p:cNvPr>
          <p:cNvSpPr/>
          <p:nvPr/>
        </p:nvSpPr>
        <p:spPr>
          <a:xfrm>
            <a:off x="1356299" y="5433737"/>
            <a:ext cx="2088533"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Finding the alternates</a:t>
            </a:r>
          </a:p>
        </p:txBody>
      </p:sp>
      <p:sp>
        <p:nvSpPr>
          <p:cNvPr id="50" name="Rectangle 49">
            <a:extLst>
              <a:ext uri="{FF2B5EF4-FFF2-40B4-BE49-F238E27FC236}">
                <a16:creationId xmlns:a16="http://schemas.microsoft.com/office/drawing/2014/main" id="{8AD717FC-D56A-4F65-BBA4-18A3DBC5130A}"/>
              </a:ext>
            </a:extLst>
          </p:cNvPr>
          <p:cNvSpPr/>
          <p:nvPr/>
        </p:nvSpPr>
        <p:spPr>
          <a:xfrm>
            <a:off x="6957837" y="1881150"/>
            <a:ext cx="2088533"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Preparing the comparison</a:t>
            </a:r>
          </a:p>
        </p:txBody>
      </p:sp>
      <p:sp>
        <p:nvSpPr>
          <p:cNvPr id="51" name="Rectangle 50">
            <a:extLst>
              <a:ext uri="{FF2B5EF4-FFF2-40B4-BE49-F238E27FC236}">
                <a16:creationId xmlns:a16="http://schemas.microsoft.com/office/drawing/2014/main" id="{71B0A870-663A-4F8F-9F19-B7A212F310E3}"/>
              </a:ext>
            </a:extLst>
          </p:cNvPr>
          <p:cNvSpPr/>
          <p:nvPr/>
        </p:nvSpPr>
        <p:spPr>
          <a:xfrm>
            <a:off x="6966845" y="4293073"/>
            <a:ext cx="2088533"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Finalizing the comparison</a:t>
            </a:r>
          </a:p>
        </p:txBody>
      </p:sp>
      <p:sp>
        <p:nvSpPr>
          <p:cNvPr id="52" name="Flowchart: Decision 51">
            <a:extLst>
              <a:ext uri="{FF2B5EF4-FFF2-40B4-BE49-F238E27FC236}">
                <a16:creationId xmlns:a16="http://schemas.microsoft.com/office/drawing/2014/main" id="{30796CD4-8329-49AE-9805-76C7E96B1394}"/>
              </a:ext>
            </a:extLst>
          </p:cNvPr>
          <p:cNvSpPr/>
          <p:nvPr/>
        </p:nvSpPr>
        <p:spPr>
          <a:xfrm>
            <a:off x="1076722" y="3970469"/>
            <a:ext cx="2665705" cy="1044716"/>
          </a:xfrm>
          <a:prstGeom prst="flowChartDecision">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Require Additional data on existing part</a:t>
            </a:r>
          </a:p>
        </p:txBody>
      </p:sp>
      <p:sp>
        <p:nvSpPr>
          <p:cNvPr id="53" name="Rectangle 52">
            <a:extLst>
              <a:ext uri="{FF2B5EF4-FFF2-40B4-BE49-F238E27FC236}">
                <a16:creationId xmlns:a16="http://schemas.microsoft.com/office/drawing/2014/main" id="{06616310-BD82-4B8F-A763-90782B8957C3}"/>
              </a:ext>
            </a:extLst>
          </p:cNvPr>
          <p:cNvSpPr/>
          <p:nvPr/>
        </p:nvSpPr>
        <p:spPr>
          <a:xfrm>
            <a:off x="6972112" y="5649314"/>
            <a:ext cx="2088533"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Submit for final review with Customer</a:t>
            </a:r>
          </a:p>
        </p:txBody>
      </p:sp>
      <p:cxnSp>
        <p:nvCxnSpPr>
          <p:cNvPr id="54" name="Straight Arrow Connector 53">
            <a:extLst>
              <a:ext uri="{FF2B5EF4-FFF2-40B4-BE49-F238E27FC236}">
                <a16:creationId xmlns:a16="http://schemas.microsoft.com/office/drawing/2014/main" id="{D5E9EC6F-74C4-43EC-BF2C-00F8B214C894}"/>
              </a:ext>
            </a:extLst>
          </p:cNvPr>
          <p:cNvCxnSpPr>
            <a:cxnSpLocks/>
            <a:stCxn id="47" idx="2"/>
            <a:endCxn id="48" idx="0"/>
          </p:cNvCxnSpPr>
          <p:nvPr/>
        </p:nvCxnSpPr>
        <p:spPr>
          <a:xfrm>
            <a:off x="2391555" y="2381813"/>
            <a:ext cx="18021" cy="464968"/>
          </a:xfrm>
          <a:prstGeom prst="straightConnector1">
            <a:avLst/>
          </a:prstGeom>
          <a:noFill/>
          <a:ln w="6350" cap="flat" cmpd="sng" algn="ctr">
            <a:solidFill>
              <a:srgbClr val="160A47"/>
            </a:solidFill>
            <a:prstDash val="solid"/>
            <a:miter lim="800000"/>
            <a:tailEnd type="triangle"/>
          </a:ln>
          <a:effectLst/>
        </p:spPr>
      </p:cxnSp>
      <p:cxnSp>
        <p:nvCxnSpPr>
          <p:cNvPr id="55" name="Straight Arrow Connector 54">
            <a:extLst>
              <a:ext uri="{FF2B5EF4-FFF2-40B4-BE49-F238E27FC236}">
                <a16:creationId xmlns:a16="http://schemas.microsoft.com/office/drawing/2014/main" id="{7805DE52-051C-4688-9C51-9F804892D800}"/>
              </a:ext>
            </a:extLst>
          </p:cNvPr>
          <p:cNvCxnSpPr>
            <a:cxnSpLocks/>
            <a:stCxn id="48" idx="2"/>
            <a:endCxn id="52" idx="0"/>
          </p:cNvCxnSpPr>
          <p:nvPr/>
        </p:nvCxnSpPr>
        <p:spPr>
          <a:xfrm flipH="1">
            <a:off x="2409575" y="3505501"/>
            <a:ext cx="1" cy="464968"/>
          </a:xfrm>
          <a:prstGeom prst="straightConnector1">
            <a:avLst/>
          </a:prstGeom>
          <a:noFill/>
          <a:ln w="6350" cap="flat" cmpd="sng" algn="ctr">
            <a:solidFill>
              <a:srgbClr val="160A47"/>
            </a:solidFill>
            <a:prstDash val="solid"/>
            <a:miter lim="800000"/>
            <a:tailEnd type="triangle"/>
          </a:ln>
          <a:effectLst/>
        </p:spPr>
      </p:cxnSp>
      <p:sp>
        <p:nvSpPr>
          <p:cNvPr id="56" name="Rectangle 55">
            <a:extLst>
              <a:ext uri="{FF2B5EF4-FFF2-40B4-BE49-F238E27FC236}">
                <a16:creationId xmlns:a16="http://schemas.microsoft.com/office/drawing/2014/main" id="{667480C0-431D-4DF3-954C-F9BE441D226D}"/>
              </a:ext>
            </a:extLst>
          </p:cNvPr>
          <p:cNvSpPr/>
          <p:nvPr/>
        </p:nvSpPr>
        <p:spPr>
          <a:xfrm>
            <a:off x="4212244" y="4163467"/>
            <a:ext cx="1593403"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Contact Customer</a:t>
            </a:r>
          </a:p>
        </p:txBody>
      </p:sp>
      <p:cxnSp>
        <p:nvCxnSpPr>
          <p:cNvPr id="57" name="Straight Arrow Connector 56">
            <a:extLst>
              <a:ext uri="{FF2B5EF4-FFF2-40B4-BE49-F238E27FC236}">
                <a16:creationId xmlns:a16="http://schemas.microsoft.com/office/drawing/2014/main" id="{62D63021-FD6C-4F80-8411-D5448F28D8F2}"/>
              </a:ext>
            </a:extLst>
          </p:cNvPr>
          <p:cNvCxnSpPr>
            <a:cxnSpLocks/>
            <a:stCxn id="52" idx="3"/>
            <a:endCxn id="56" idx="1"/>
          </p:cNvCxnSpPr>
          <p:nvPr/>
        </p:nvCxnSpPr>
        <p:spPr>
          <a:xfrm flipV="1">
            <a:off x="3742427" y="4492827"/>
            <a:ext cx="469816" cy="1"/>
          </a:xfrm>
          <a:prstGeom prst="straightConnector1">
            <a:avLst/>
          </a:prstGeom>
          <a:noFill/>
          <a:ln w="6350" cap="flat" cmpd="sng" algn="ctr">
            <a:solidFill>
              <a:srgbClr val="160A47"/>
            </a:solidFill>
            <a:prstDash val="solid"/>
            <a:miter lim="800000"/>
            <a:tailEnd type="triangle"/>
          </a:ln>
          <a:effectLst/>
        </p:spPr>
      </p:cxnSp>
      <p:sp>
        <p:nvSpPr>
          <p:cNvPr id="58" name="Flowchart: Decision 57">
            <a:extLst>
              <a:ext uri="{FF2B5EF4-FFF2-40B4-BE49-F238E27FC236}">
                <a16:creationId xmlns:a16="http://schemas.microsoft.com/office/drawing/2014/main" id="{E77D535A-82E9-4A14-BFF3-D9F6B595A7C4}"/>
              </a:ext>
            </a:extLst>
          </p:cNvPr>
          <p:cNvSpPr/>
          <p:nvPr/>
        </p:nvSpPr>
        <p:spPr>
          <a:xfrm>
            <a:off x="3896336" y="5234131"/>
            <a:ext cx="2225218" cy="1044716"/>
          </a:xfrm>
          <a:prstGeom prst="flowChartDecision">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Data received</a:t>
            </a:r>
          </a:p>
        </p:txBody>
      </p:sp>
      <p:cxnSp>
        <p:nvCxnSpPr>
          <p:cNvPr id="59" name="Straight Arrow Connector 58">
            <a:extLst>
              <a:ext uri="{FF2B5EF4-FFF2-40B4-BE49-F238E27FC236}">
                <a16:creationId xmlns:a16="http://schemas.microsoft.com/office/drawing/2014/main" id="{0F088914-6739-4FB1-A00F-9CE77D0511B9}"/>
              </a:ext>
            </a:extLst>
          </p:cNvPr>
          <p:cNvCxnSpPr>
            <a:cxnSpLocks/>
            <a:stCxn id="56" idx="2"/>
            <a:endCxn id="58" idx="0"/>
          </p:cNvCxnSpPr>
          <p:nvPr/>
        </p:nvCxnSpPr>
        <p:spPr>
          <a:xfrm>
            <a:off x="5008945" y="4822187"/>
            <a:ext cx="0" cy="411944"/>
          </a:xfrm>
          <a:prstGeom prst="straightConnector1">
            <a:avLst/>
          </a:prstGeom>
          <a:noFill/>
          <a:ln w="6350" cap="flat" cmpd="sng" algn="ctr">
            <a:solidFill>
              <a:srgbClr val="160A47"/>
            </a:solidFill>
            <a:prstDash val="solid"/>
            <a:miter lim="800000"/>
            <a:tailEnd type="triangle"/>
          </a:ln>
          <a:effectLst/>
        </p:spPr>
      </p:cxnSp>
      <p:cxnSp>
        <p:nvCxnSpPr>
          <p:cNvPr id="60" name="Straight Arrow Connector 59">
            <a:extLst>
              <a:ext uri="{FF2B5EF4-FFF2-40B4-BE49-F238E27FC236}">
                <a16:creationId xmlns:a16="http://schemas.microsoft.com/office/drawing/2014/main" id="{3F50CB39-2C87-49CA-82ED-01DF0EBCD174}"/>
              </a:ext>
            </a:extLst>
          </p:cNvPr>
          <p:cNvCxnSpPr>
            <a:cxnSpLocks/>
            <a:stCxn id="58" idx="1"/>
            <a:endCxn id="49" idx="3"/>
          </p:cNvCxnSpPr>
          <p:nvPr/>
        </p:nvCxnSpPr>
        <p:spPr>
          <a:xfrm flipH="1">
            <a:off x="3444832" y="5756489"/>
            <a:ext cx="451504" cy="6607"/>
          </a:xfrm>
          <a:prstGeom prst="straightConnector1">
            <a:avLst/>
          </a:prstGeom>
          <a:noFill/>
          <a:ln w="6350" cap="flat" cmpd="sng" algn="ctr">
            <a:solidFill>
              <a:srgbClr val="160A47"/>
            </a:solidFill>
            <a:prstDash val="solid"/>
            <a:miter lim="800000"/>
            <a:tailEnd type="triangle"/>
          </a:ln>
          <a:effectLst/>
        </p:spPr>
      </p:cxnSp>
      <p:cxnSp>
        <p:nvCxnSpPr>
          <p:cNvPr id="61" name="Straight Arrow Connector 60">
            <a:extLst>
              <a:ext uri="{FF2B5EF4-FFF2-40B4-BE49-F238E27FC236}">
                <a16:creationId xmlns:a16="http://schemas.microsoft.com/office/drawing/2014/main" id="{0EB1D599-EEC6-4082-BDB3-D62FCA19C26F}"/>
              </a:ext>
            </a:extLst>
          </p:cNvPr>
          <p:cNvCxnSpPr>
            <a:cxnSpLocks/>
            <a:stCxn id="52" idx="2"/>
            <a:endCxn id="49" idx="0"/>
          </p:cNvCxnSpPr>
          <p:nvPr/>
        </p:nvCxnSpPr>
        <p:spPr>
          <a:xfrm flipH="1">
            <a:off x="2400566" y="5015185"/>
            <a:ext cx="9010" cy="418552"/>
          </a:xfrm>
          <a:prstGeom prst="straightConnector1">
            <a:avLst/>
          </a:prstGeom>
          <a:noFill/>
          <a:ln w="6350" cap="flat" cmpd="sng" algn="ctr">
            <a:solidFill>
              <a:srgbClr val="160A47"/>
            </a:solidFill>
            <a:prstDash val="solid"/>
            <a:miter lim="800000"/>
            <a:tailEnd type="triangle"/>
          </a:ln>
          <a:effectLst/>
        </p:spPr>
      </p:cxnSp>
      <p:sp>
        <p:nvSpPr>
          <p:cNvPr id="62" name="TextBox 19">
            <a:extLst>
              <a:ext uri="{FF2B5EF4-FFF2-40B4-BE49-F238E27FC236}">
                <a16:creationId xmlns:a16="http://schemas.microsoft.com/office/drawing/2014/main" id="{5A2991AE-C8CA-4C66-8EF5-A3BA4A1CA7FA}"/>
              </a:ext>
            </a:extLst>
          </p:cNvPr>
          <p:cNvSpPr txBox="1"/>
          <p:nvPr/>
        </p:nvSpPr>
        <p:spPr>
          <a:xfrm>
            <a:off x="3842882" y="4163467"/>
            <a:ext cx="443884" cy="32207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Yes</a:t>
            </a:r>
          </a:p>
        </p:txBody>
      </p:sp>
      <p:sp>
        <p:nvSpPr>
          <p:cNvPr id="63" name="TextBox 20">
            <a:extLst>
              <a:ext uri="{FF2B5EF4-FFF2-40B4-BE49-F238E27FC236}">
                <a16:creationId xmlns:a16="http://schemas.microsoft.com/office/drawing/2014/main" id="{B099E5DE-9CAB-442D-9B7C-8B3E0EFA3A16}"/>
              </a:ext>
            </a:extLst>
          </p:cNvPr>
          <p:cNvSpPr txBox="1"/>
          <p:nvPr/>
        </p:nvSpPr>
        <p:spPr>
          <a:xfrm>
            <a:off x="2483319" y="5015185"/>
            <a:ext cx="390733" cy="322243"/>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No</a:t>
            </a:r>
          </a:p>
        </p:txBody>
      </p:sp>
      <p:sp>
        <p:nvSpPr>
          <p:cNvPr id="64" name="TextBox 21">
            <a:extLst>
              <a:ext uri="{FF2B5EF4-FFF2-40B4-BE49-F238E27FC236}">
                <a16:creationId xmlns:a16="http://schemas.microsoft.com/office/drawing/2014/main" id="{27460541-DF33-44AE-AEB3-0C6FA9F952CF}"/>
              </a:ext>
            </a:extLst>
          </p:cNvPr>
          <p:cNvSpPr txBox="1"/>
          <p:nvPr/>
        </p:nvSpPr>
        <p:spPr>
          <a:xfrm>
            <a:off x="3644965" y="5443689"/>
            <a:ext cx="443884" cy="32207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Yes</a:t>
            </a:r>
          </a:p>
        </p:txBody>
      </p:sp>
      <p:cxnSp>
        <p:nvCxnSpPr>
          <p:cNvPr id="65" name="Straight Arrow Connector 43">
            <a:extLst>
              <a:ext uri="{FF2B5EF4-FFF2-40B4-BE49-F238E27FC236}">
                <a16:creationId xmlns:a16="http://schemas.microsoft.com/office/drawing/2014/main" id="{7886771C-EEEB-4696-8761-D57CF764D4FA}"/>
              </a:ext>
            </a:extLst>
          </p:cNvPr>
          <p:cNvCxnSpPr>
            <a:cxnSpLocks/>
            <a:stCxn id="58" idx="3"/>
            <a:endCxn id="56" idx="3"/>
          </p:cNvCxnSpPr>
          <p:nvPr/>
        </p:nvCxnSpPr>
        <p:spPr>
          <a:xfrm flipH="1" flipV="1">
            <a:off x="5805647" y="4492827"/>
            <a:ext cx="315907" cy="1263663"/>
          </a:xfrm>
          <a:prstGeom prst="bentConnector3">
            <a:avLst>
              <a:gd name="adj1" fmla="val -64982"/>
            </a:avLst>
          </a:prstGeom>
          <a:noFill/>
          <a:ln w="6350" cap="flat" cmpd="sng" algn="ctr">
            <a:solidFill>
              <a:srgbClr val="160A47"/>
            </a:solidFill>
            <a:prstDash val="solid"/>
            <a:miter lim="800000"/>
            <a:tailEnd type="triangle"/>
          </a:ln>
          <a:effectLst/>
        </p:spPr>
      </p:cxnSp>
      <p:sp>
        <p:nvSpPr>
          <p:cNvPr id="66" name="TextBox 23">
            <a:extLst>
              <a:ext uri="{FF2B5EF4-FFF2-40B4-BE49-F238E27FC236}">
                <a16:creationId xmlns:a16="http://schemas.microsoft.com/office/drawing/2014/main" id="{80E874EE-BCE5-427E-ADE1-15FA7173272B}"/>
              </a:ext>
            </a:extLst>
          </p:cNvPr>
          <p:cNvSpPr txBox="1"/>
          <p:nvPr/>
        </p:nvSpPr>
        <p:spPr>
          <a:xfrm>
            <a:off x="5884858" y="5015185"/>
            <a:ext cx="383195" cy="54781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No</a:t>
            </a:r>
          </a:p>
        </p:txBody>
      </p:sp>
      <p:cxnSp>
        <p:nvCxnSpPr>
          <p:cNvPr id="67" name="Straight Arrow Connector 53">
            <a:extLst>
              <a:ext uri="{FF2B5EF4-FFF2-40B4-BE49-F238E27FC236}">
                <a16:creationId xmlns:a16="http://schemas.microsoft.com/office/drawing/2014/main" id="{041A47CA-64FA-465D-BEFC-82C0897A5479}"/>
              </a:ext>
            </a:extLst>
          </p:cNvPr>
          <p:cNvCxnSpPr>
            <a:cxnSpLocks/>
            <a:stCxn id="49" idx="2"/>
            <a:endCxn id="50" idx="0"/>
          </p:cNvCxnSpPr>
          <p:nvPr/>
        </p:nvCxnSpPr>
        <p:spPr>
          <a:xfrm rot="5400000" flipH="1" flipV="1">
            <a:off x="3095682" y="1186034"/>
            <a:ext cx="4211306" cy="5601539"/>
          </a:xfrm>
          <a:prstGeom prst="bentConnector5">
            <a:avLst>
              <a:gd name="adj1" fmla="val -7364"/>
              <a:gd name="adj2" fmla="val 73821"/>
              <a:gd name="adj3" fmla="val 104734"/>
            </a:avLst>
          </a:prstGeom>
          <a:noFill/>
          <a:ln w="6350" cap="flat" cmpd="sng" algn="ctr">
            <a:solidFill>
              <a:srgbClr val="160A47"/>
            </a:solidFill>
            <a:prstDash val="solid"/>
            <a:miter lim="800000"/>
            <a:tailEnd type="triangle"/>
          </a:ln>
          <a:effectLst/>
        </p:spPr>
      </p:cxnSp>
      <p:sp>
        <p:nvSpPr>
          <p:cNvPr id="68" name="Flowchart: Decision 67">
            <a:extLst>
              <a:ext uri="{FF2B5EF4-FFF2-40B4-BE49-F238E27FC236}">
                <a16:creationId xmlns:a16="http://schemas.microsoft.com/office/drawing/2014/main" id="{82760CC6-0FBC-4C84-9932-519E19094D72}"/>
              </a:ext>
            </a:extLst>
          </p:cNvPr>
          <p:cNvSpPr/>
          <p:nvPr/>
        </p:nvSpPr>
        <p:spPr>
          <a:xfrm>
            <a:off x="6678260" y="2817202"/>
            <a:ext cx="2665705" cy="1044716"/>
          </a:xfrm>
          <a:prstGeom prst="flowChartDecision">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Require Additional data on alternate</a:t>
            </a:r>
          </a:p>
        </p:txBody>
      </p:sp>
      <p:cxnSp>
        <p:nvCxnSpPr>
          <p:cNvPr id="69" name="Straight Arrow Connector 68">
            <a:extLst>
              <a:ext uri="{FF2B5EF4-FFF2-40B4-BE49-F238E27FC236}">
                <a16:creationId xmlns:a16="http://schemas.microsoft.com/office/drawing/2014/main" id="{64EF91E3-B4FD-4A89-BC44-5A1B3D13AE06}"/>
              </a:ext>
            </a:extLst>
          </p:cNvPr>
          <p:cNvCxnSpPr>
            <a:cxnSpLocks/>
            <a:stCxn id="50" idx="2"/>
          </p:cNvCxnSpPr>
          <p:nvPr/>
        </p:nvCxnSpPr>
        <p:spPr>
          <a:xfrm flipH="1">
            <a:off x="8002103" y="2539870"/>
            <a:ext cx="1" cy="329260"/>
          </a:xfrm>
          <a:prstGeom prst="straightConnector1">
            <a:avLst/>
          </a:prstGeom>
          <a:noFill/>
          <a:ln w="6350" cap="flat" cmpd="sng" algn="ctr">
            <a:solidFill>
              <a:srgbClr val="160A47"/>
            </a:solidFill>
            <a:prstDash val="solid"/>
            <a:miter lim="800000"/>
            <a:tailEnd type="triangle"/>
          </a:ln>
          <a:effectLst/>
        </p:spPr>
      </p:cxnSp>
      <p:sp>
        <p:nvSpPr>
          <p:cNvPr id="70" name="Rectangle 69">
            <a:extLst>
              <a:ext uri="{FF2B5EF4-FFF2-40B4-BE49-F238E27FC236}">
                <a16:creationId xmlns:a16="http://schemas.microsoft.com/office/drawing/2014/main" id="{B865AFD2-A66D-46BE-B398-8B42E5D34EB3}"/>
              </a:ext>
            </a:extLst>
          </p:cNvPr>
          <p:cNvSpPr/>
          <p:nvPr/>
        </p:nvSpPr>
        <p:spPr>
          <a:xfrm>
            <a:off x="9649498" y="3010200"/>
            <a:ext cx="1894907" cy="658720"/>
          </a:xfrm>
          <a:prstGeom prst="rect">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Contact Vendors/ Manufacturers</a:t>
            </a:r>
          </a:p>
        </p:txBody>
      </p:sp>
      <p:cxnSp>
        <p:nvCxnSpPr>
          <p:cNvPr id="71" name="Straight Arrow Connector 70">
            <a:extLst>
              <a:ext uri="{FF2B5EF4-FFF2-40B4-BE49-F238E27FC236}">
                <a16:creationId xmlns:a16="http://schemas.microsoft.com/office/drawing/2014/main" id="{30F2F48D-DA0F-498F-80E1-355E69C61266}"/>
              </a:ext>
            </a:extLst>
          </p:cNvPr>
          <p:cNvCxnSpPr>
            <a:cxnSpLocks/>
            <a:stCxn id="68" idx="3"/>
            <a:endCxn id="70" idx="1"/>
          </p:cNvCxnSpPr>
          <p:nvPr/>
        </p:nvCxnSpPr>
        <p:spPr>
          <a:xfrm flipV="1">
            <a:off x="9343965" y="3339560"/>
            <a:ext cx="305532" cy="1"/>
          </a:xfrm>
          <a:prstGeom prst="straightConnector1">
            <a:avLst/>
          </a:prstGeom>
          <a:noFill/>
          <a:ln w="6350" cap="flat" cmpd="sng" algn="ctr">
            <a:solidFill>
              <a:srgbClr val="160A47"/>
            </a:solidFill>
            <a:prstDash val="solid"/>
            <a:miter lim="800000"/>
            <a:tailEnd type="triangle"/>
          </a:ln>
          <a:effectLst/>
        </p:spPr>
      </p:cxnSp>
      <p:sp>
        <p:nvSpPr>
          <p:cNvPr id="72" name="TextBox 29">
            <a:extLst>
              <a:ext uri="{FF2B5EF4-FFF2-40B4-BE49-F238E27FC236}">
                <a16:creationId xmlns:a16="http://schemas.microsoft.com/office/drawing/2014/main" id="{93B45B35-C0EA-4258-9595-4E358864A5CA}"/>
              </a:ext>
            </a:extLst>
          </p:cNvPr>
          <p:cNvSpPr txBox="1"/>
          <p:nvPr/>
        </p:nvSpPr>
        <p:spPr>
          <a:xfrm>
            <a:off x="9122023" y="2941076"/>
            <a:ext cx="443884" cy="32207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Yes</a:t>
            </a:r>
          </a:p>
        </p:txBody>
      </p:sp>
      <p:cxnSp>
        <p:nvCxnSpPr>
          <p:cNvPr id="73" name="Straight Arrow Connector 72">
            <a:extLst>
              <a:ext uri="{FF2B5EF4-FFF2-40B4-BE49-F238E27FC236}">
                <a16:creationId xmlns:a16="http://schemas.microsoft.com/office/drawing/2014/main" id="{C13D8174-7E97-4315-B37B-9DD2BEA29C0D}"/>
              </a:ext>
            </a:extLst>
          </p:cNvPr>
          <p:cNvCxnSpPr>
            <a:cxnSpLocks/>
            <a:stCxn id="68" idx="2"/>
            <a:endCxn id="51" idx="0"/>
          </p:cNvCxnSpPr>
          <p:nvPr/>
        </p:nvCxnSpPr>
        <p:spPr>
          <a:xfrm flipH="1">
            <a:off x="8011112" y="3861918"/>
            <a:ext cx="1" cy="431155"/>
          </a:xfrm>
          <a:prstGeom prst="straightConnector1">
            <a:avLst/>
          </a:prstGeom>
          <a:noFill/>
          <a:ln w="6350" cap="flat" cmpd="sng" algn="ctr">
            <a:solidFill>
              <a:srgbClr val="160A47"/>
            </a:solidFill>
            <a:prstDash val="solid"/>
            <a:miter lim="800000"/>
            <a:tailEnd type="triangle"/>
          </a:ln>
          <a:effectLst/>
        </p:spPr>
      </p:cxnSp>
      <p:cxnSp>
        <p:nvCxnSpPr>
          <p:cNvPr id="74" name="Straight Arrow Connector 73">
            <a:extLst>
              <a:ext uri="{FF2B5EF4-FFF2-40B4-BE49-F238E27FC236}">
                <a16:creationId xmlns:a16="http://schemas.microsoft.com/office/drawing/2014/main" id="{F18F2FC8-9270-4E35-80B3-3E7E8C9F1F3C}"/>
              </a:ext>
            </a:extLst>
          </p:cNvPr>
          <p:cNvCxnSpPr>
            <a:cxnSpLocks/>
            <a:stCxn id="51" idx="2"/>
            <a:endCxn id="53" idx="0"/>
          </p:cNvCxnSpPr>
          <p:nvPr/>
        </p:nvCxnSpPr>
        <p:spPr>
          <a:xfrm>
            <a:off x="8011112" y="4951792"/>
            <a:ext cx="5267" cy="697522"/>
          </a:xfrm>
          <a:prstGeom prst="straightConnector1">
            <a:avLst/>
          </a:prstGeom>
          <a:noFill/>
          <a:ln w="6350" cap="flat" cmpd="sng" algn="ctr">
            <a:solidFill>
              <a:srgbClr val="160A47"/>
            </a:solidFill>
            <a:prstDash val="solid"/>
            <a:miter lim="800000"/>
            <a:tailEnd type="triangle"/>
          </a:ln>
          <a:effectLst/>
        </p:spPr>
      </p:cxnSp>
      <p:sp>
        <p:nvSpPr>
          <p:cNvPr id="75" name="TextBox 32">
            <a:extLst>
              <a:ext uri="{FF2B5EF4-FFF2-40B4-BE49-F238E27FC236}">
                <a16:creationId xmlns:a16="http://schemas.microsoft.com/office/drawing/2014/main" id="{DAE37FFC-ACA0-42AF-A77F-61C32BFCAFB0}"/>
              </a:ext>
            </a:extLst>
          </p:cNvPr>
          <p:cNvSpPr txBox="1"/>
          <p:nvPr/>
        </p:nvSpPr>
        <p:spPr>
          <a:xfrm>
            <a:off x="8107407" y="3844106"/>
            <a:ext cx="390733" cy="322243"/>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No</a:t>
            </a:r>
          </a:p>
        </p:txBody>
      </p:sp>
      <p:sp>
        <p:nvSpPr>
          <p:cNvPr id="76" name="Flowchart: Decision 75">
            <a:extLst>
              <a:ext uri="{FF2B5EF4-FFF2-40B4-BE49-F238E27FC236}">
                <a16:creationId xmlns:a16="http://schemas.microsoft.com/office/drawing/2014/main" id="{6A3DD4B8-27CC-4231-8487-C1BCC8E95CFC}"/>
              </a:ext>
            </a:extLst>
          </p:cNvPr>
          <p:cNvSpPr/>
          <p:nvPr/>
        </p:nvSpPr>
        <p:spPr>
          <a:xfrm>
            <a:off x="9654763" y="4100074"/>
            <a:ext cx="1889641" cy="1044716"/>
          </a:xfrm>
          <a:prstGeom prst="flowChartDecision">
            <a:avLst/>
          </a:prstGeom>
          <a:solidFill>
            <a:schemeClr val="tx1">
              <a:lumMod val="50000"/>
              <a:lumOff val="50000"/>
            </a:schemeClr>
          </a:solidFill>
          <a:ln/>
        </p:spPr>
        <p:style>
          <a:lnRef idx="3">
            <a:schemeClr val="lt1"/>
          </a:lnRef>
          <a:fillRef idx="1">
            <a:schemeClr val="accent1"/>
          </a:fillRef>
          <a:effectRef idx="1">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00136"/>
            <a:r>
              <a:rPr lang="en-US" sz="1200" b="1" dirty="0">
                <a:solidFill>
                  <a:prstClr val="white"/>
                </a:solidFill>
                <a:latin typeface="Arial Narrow"/>
              </a:rPr>
              <a:t>Response received</a:t>
            </a:r>
          </a:p>
        </p:txBody>
      </p:sp>
      <p:cxnSp>
        <p:nvCxnSpPr>
          <p:cNvPr id="77" name="Straight Arrow Connector 76">
            <a:extLst>
              <a:ext uri="{FF2B5EF4-FFF2-40B4-BE49-F238E27FC236}">
                <a16:creationId xmlns:a16="http://schemas.microsoft.com/office/drawing/2014/main" id="{1D61C985-46C6-4034-9E7A-A76F1E27D150}"/>
              </a:ext>
            </a:extLst>
          </p:cNvPr>
          <p:cNvCxnSpPr>
            <a:cxnSpLocks/>
            <a:stCxn id="70" idx="2"/>
            <a:endCxn id="76" idx="0"/>
          </p:cNvCxnSpPr>
          <p:nvPr/>
        </p:nvCxnSpPr>
        <p:spPr>
          <a:xfrm>
            <a:off x="10596951" y="3668920"/>
            <a:ext cx="2633" cy="431155"/>
          </a:xfrm>
          <a:prstGeom prst="straightConnector1">
            <a:avLst/>
          </a:prstGeom>
          <a:noFill/>
          <a:ln w="6350" cap="flat" cmpd="sng" algn="ctr">
            <a:solidFill>
              <a:srgbClr val="160A47"/>
            </a:solidFill>
            <a:prstDash val="solid"/>
            <a:miter lim="800000"/>
            <a:tailEnd type="triangle"/>
          </a:ln>
          <a:effectLst/>
        </p:spPr>
      </p:cxnSp>
      <p:cxnSp>
        <p:nvCxnSpPr>
          <p:cNvPr id="78" name="Straight Arrow Connector 77">
            <a:extLst>
              <a:ext uri="{FF2B5EF4-FFF2-40B4-BE49-F238E27FC236}">
                <a16:creationId xmlns:a16="http://schemas.microsoft.com/office/drawing/2014/main" id="{5C3A10D8-17D5-4215-9063-34F677D97FFA}"/>
              </a:ext>
            </a:extLst>
          </p:cNvPr>
          <p:cNvCxnSpPr>
            <a:cxnSpLocks/>
            <a:stCxn id="76" idx="1"/>
            <a:endCxn id="51" idx="3"/>
          </p:cNvCxnSpPr>
          <p:nvPr/>
        </p:nvCxnSpPr>
        <p:spPr>
          <a:xfrm flipH="1">
            <a:off x="9055378" y="4622433"/>
            <a:ext cx="599385" cy="0"/>
          </a:xfrm>
          <a:prstGeom prst="straightConnector1">
            <a:avLst/>
          </a:prstGeom>
          <a:noFill/>
          <a:ln w="6350" cap="flat" cmpd="sng" algn="ctr">
            <a:solidFill>
              <a:srgbClr val="160A47"/>
            </a:solidFill>
            <a:prstDash val="solid"/>
            <a:miter lim="800000"/>
            <a:tailEnd type="triangle"/>
          </a:ln>
          <a:effectLst/>
        </p:spPr>
      </p:cxnSp>
      <p:sp>
        <p:nvSpPr>
          <p:cNvPr id="79" name="TextBox 36">
            <a:extLst>
              <a:ext uri="{FF2B5EF4-FFF2-40B4-BE49-F238E27FC236}">
                <a16:creationId xmlns:a16="http://schemas.microsoft.com/office/drawing/2014/main" id="{14E97ED3-B0F4-46B9-9D1B-A4104DF2F56E}"/>
              </a:ext>
            </a:extLst>
          </p:cNvPr>
          <p:cNvSpPr txBox="1"/>
          <p:nvPr/>
        </p:nvSpPr>
        <p:spPr>
          <a:xfrm>
            <a:off x="9064386" y="4237365"/>
            <a:ext cx="443884" cy="32207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Yes</a:t>
            </a:r>
          </a:p>
        </p:txBody>
      </p:sp>
      <p:cxnSp>
        <p:nvCxnSpPr>
          <p:cNvPr id="80" name="Straight Arrow Connector 105">
            <a:extLst>
              <a:ext uri="{FF2B5EF4-FFF2-40B4-BE49-F238E27FC236}">
                <a16:creationId xmlns:a16="http://schemas.microsoft.com/office/drawing/2014/main" id="{BA51EA35-CEE1-4DFD-B302-4D424BC08D50}"/>
              </a:ext>
            </a:extLst>
          </p:cNvPr>
          <p:cNvCxnSpPr>
            <a:cxnSpLocks/>
            <a:stCxn id="76" idx="3"/>
            <a:endCxn id="70" idx="3"/>
          </p:cNvCxnSpPr>
          <p:nvPr/>
        </p:nvCxnSpPr>
        <p:spPr>
          <a:xfrm flipV="1">
            <a:off x="11544404" y="3339560"/>
            <a:ext cx="11405" cy="1282873"/>
          </a:xfrm>
          <a:prstGeom prst="bentConnector3">
            <a:avLst>
              <a:gd name="adj1" fmla="val 1800000"/>
            </a:avLst>
          </a:prstGeom>
          <a:noFill/>
          <a:ln w="6350" cap="flat" cmpd="sng" algn="ctr">
            <a:solidFill>
              <a:srgbClr val="160A47"/>
            </a:solidFill>
            <a:prstDash val="solid"/>
            <a:miter lim="800000"/>
            <a:tailEnd type="triangle"/>
          </a:ln>
          <a:effectLst/>
        </p:spPr>
      </p:cxnSp>
      <p:sp>
        <p:nvSpPr>
          <p:cNvPr id="81" name="TextBox 38">
            <a:extLst>
              <a:ext uri="{FF2B5EF4-FFF2-40B4-BE49-F238E27FC236}">
                <a16:creationId xmlns:a16="http://schemas.microsoft.com/office/drawing/2014/main" id="{15D47C5F-5112-4B55-882B-44E8E40335D7}"/>
              </a:ext>
            </a:extLst>
          </p:cNvPr>
          <p:cNvSpPr txBox="1"/>
          <p:nvPr/>
        </p:nvSpPr>
        <p:spPr>
          <a:xfrm>
            <a:off x="11231424" y="4076328"/>
            <a:ext cx="390733" cy="322243"/>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ysClr val="windowText" lastClr="000000"/>
                </a:solidFill>
                <a:effectLst/>
                <a:uLnTx/>
                <a:uFillTx/>
                <a:latin typeface="Arial Narrow"/>
                <a:ea typeface="+mn-ea"/>
                <a:cs typeface="+mn-cs"/>
              </a:rPr>
              <a:t>No</a:t>
            </a:r>
          </a:p>
        </p:txBody>
      </p:sp>
      <p:sp>
        <p:nvSpPr>
          <p:cNvPr id="41" name="Title 1">
            <a:extLst>
              <a:ext uri="{FF2B5EF4-FFF2-40B4-BE49-F238E27FC236}">
                <a16:creationId xmlns:a16="http://schemas.microsoft.com/office/drawing/2014/main" id="{16F8D123-4F3C-4D57-93A5-E3C3D2BBA38A}"/>
              </a:ext>
            </a:extLst>
          </p:cNvPr>
          <p:cNvSpPr txBox="1">
            <a:spLocks/>
          </p:cNvSpPr>
          <p:nvPr/>
        </p:nvSpPr>
        <p:spPr bwMode="gray">
          <a:xfrm>
            <a:off x="1122700" y="719139"/>
            <a:ext cx="8224837" cy="49212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1" fontAlgn="base" hangingPunct="1">
              <a:spcBef>
                <a:spcPct val="0"/>
              </a:spcBef>
              <a:spcAft>
                <a:spcPct val="0"/>
              </a:spcAft>
              <a:defRPr lang="en-US" sz="3200" b="1" kern="1200" dirty="0">
                <a:solidFill>
                  <a:schemeClr val="tx2"/>
                </a:solidFill>
                <a:latin typeface="Arial" pitchFamily="34" charset="0"/>
                <a:ea typeface="+mj-ea"/>
                <a:cs typeface="Arial" pitchFamily="34" charset="0"/>
              </a:defRPr>
            </a:lvl1pPr>
            <a:lvl2pPr algn="l" rtl="0" eaLnBrk="1" fontAlgn="base" hangingPunct="1">
              <a:spcBef>
                <a:spcPct val="0"/>
              </a:spcBef>
              <a:spcAft>
                <a:spcPct val="0"/>
              </a:spcAft>
              <a:defRPr sz="3200" b="1">
                <a:solidFill>
                  <a:schemeClr val="tx2"/>
                </a:solidFill>
                <a:latin typeface="Arial" charset="0"/>
                <a:cs typeface="Arial" charset="0"/>
              </a:defRPr>
            </a:lvl2pPr>
            <a:lvl3pPr algn="l" rtl="0" eaLnBrk="1" fontAlgn="base" hangingPunct="1">
              <a:spcBef>
                <a:spcPct val="0"/>
              </a:spcBef>
              <a:spcAft>
                <a:spcPct val="0"/>
              </a:spcAft>
              <a:defRPr sz="3200" b="1">
                <a:solidFill>
                  <a:schemeClr val="tx2"/>
                </a:solidFill>
                <a:latin typeface="Arial" charset="0"/>
                <a:cs typeface="Arial" charset="0"/>
              </a:defRPr>
            </a:lvl3pPr>
            <a:lvl4pPr algn="l" rtl="0" eaLnBrk="1" fontAlgn="base" hangingPunct="1">
              <a:spcBef>
                <a:spcPct val="0"/>
              </a:spcBef>
              <a:spcAft>
                <a:spcPct val="0"/>
              </a:spcAft>
              <a:defRPr sz="3200" b="1">
                <a:solidFill>
                  <a:schemeClr val="tx2"/>
                </a:solidFill>
                <a:latin typeface="Arial" charset="0"/>
                <a:cs typeface="Arial" charset="0"/>
              </a:defRPr>
            </a:lvl4pPr>
            <a:lvl5pPr algn="l" rtl="0" eaLnBrk="1" fontAlgn="base" hangingPunct="1">
              <a:spcBef>
                <a:spcPct val="0"/>
              </a:spcBef>
              <a:spcAft>
                <a:spcPct val="0"/>
              </a:spcAft>
              <a:defRPr sz="3200" b="1">
                <a:solidFill>
                  <a:schemeClr val="tx2"/>
                </a:solidFill>
                <a:latin typeface="Arial" charset="0"/>
                <a:cs typeface="Arial" charset="0"/>
              </a:defRPr>
            </a:lvl5pPr>
            <a:lvl6pPr marL="457200" algn="l" rtl="0" eaLnBrk="1" fontAlgn="base" hangingPunct="1">
              <a:spcBef>
                <a:spcPct val="0"/>
              </a:spcBef>
              <a:spcAft>
                <a:spcPct val="0"/>
              </a:spcAft>
              <a:defRPr sz="3200" b="1">
                <a:solidFill>
                  <a:schemeClr val="tx2"/>
                </a:solidFill>
                <a:latin typeface="Arial" charset="0"/>
                <a:cs typeface="Arial" charset="0"/>
              </a:defRPr>
            </a:lvl6pPr>
            <a:lvl7pPr marL="914400" algn="l" rtl="0" eaLnBrk="1" fontAlgn="base" hangingPunct="1">
              <a:spcBef>
                <a:spcPct val="0"/>
              </a:spcBef>
              <a:spcAft>
                <a:spcPct val="0"/>
              </a:spcAft>
              <a:defRPr sz="3200" b="1">
                <a:solidFill>
                  <a:schemeClr val="tx2"/>
                </a:solidFill>
                <a:latin typeface="Arial" charset="0"/>
                <a:cs typeface="Arial" charset="0"/>
              </a:defRPr>
            </a:lvl7pPr>
            <a:lvl8pPr marL="1371600" algn="l" rtl="0" eaLnBrk="1" fontAlgn="base" hangingPunct="1">
              <a:spcBef>
                <a:spcPct val="0"/>
              </a:spcBef>
              <a:spcAft>
                <a:spcPct val="0"/>
              </a:spcAft>
              <a:defRPr sz="3200" b="1">
                <a:solidFill>
                  <a:schemeClr val="tx2"/>
                </a:solidFill>
                <a:latin typeface="Arial" charset="0"/>
                <a:cs typeface="Arial" charset="0"/>
              </a:defRPr>
            </a:lvl8pPr>
            <a:lvl9pPr marL="1828800" algn="l" rtl="0" eaLnBrk="1" fontAlgn="base" hangingPunct="1">
              <a:spcBef>
                <a:spcPct val="0"/>
              </a:spcBef>
              <a:spcAft>
                <a:spcPct val="0"/>
              </a:spcAft>
              <a:defRPr sz="3200" b="1">
                <a:solidFill>
                  <a:schemeClr val="tx2"/>
                </a:solidFill>
                <a:latin typeface="Arial" charset="0"/>
                <a:cs typeface="Arial" charset="0"/>
              </a:defRPr>
            </a:lvl9pPr>
          </a:lstStyle>
          <a:p>
            <a:r>
              <a:rPr lang="en-US" dirty="0">
                <a:latin typeface="Arial" charset="0"/>
                <a:cs typeface="Arial" charset="0"/>
              </a:rPr>
              <a:t>Alternate Finding</a:t>
            </a:r>
          </a:p>
        </p:txBody>
      </p:sp>
    </p:spTree>
    <p:extLst>
      <p:ext uri="{BB962C8B-B14F-4D97-AF65-F5344CB8AC3E}">
        <p14:creationId xmlns:p14="http://schemas.microsoft.com/office/powerpoint/2010/main" val="41537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106662" y="727076"/>
            <a:ext cx="8226425" cy="492125"/>
          </a:xfrm>
        </p:spPr>
        <p:txBody>
          <a:bodyPr/>
          <a:lstStyle/>
          <a:p>
            <a:r>
              <a:rPr dirty="0">
                <a:latin typeface="Arial" charset="0"/>
                <a:cs typeface="Arial" charset="0"/>
              </a:rPr>
              <a:t>Alternate Finding</a:t>
            </a:r>
          </a:p>
        </p:txBody>
      </p:sp>
      <p:sp>
        <p:nvSpPr>
          <p:cNvPr id="3" name="Text Placeholder 2"/>
          <p:cNvSpPr>
            <a:spLocks noGrp="1"/>
          </p:cNvSpPr>
          <p:nvPr>
            <p:ph type="body" sz="quarter" idx="10"/>
          </p:nvPr>
        </p:nvSpPr>
        <p:spPr>
          <a:xfrm>
            <a:off x="1106662" y="2466976"/>
            <a:ext cx="4928378" cy="3046988"/>
          </a:xfrm>
        </p:spPr>
        <p:txBody>
          <a:bodyPr/>
          <a:lstStyle/>
          <a:p>
            <a:pPr marL="296863" indent="-296863">
              <a:spcAft>
                <a:spcPct val="0"/>
              </a:spcAft>
              <a:defRPr/>
            </a:pPr>
            <a:r>
              <a:rPr dirty="0">
                <a:latin typeface="+mn-lt"/>
              </a:rPr>
              <a:t>An alternate which doesn't require any changes in terms of Hardware, Software and Functionality.</a:t>
            </a:r>
          </a:p>
          <a:p>
            <a:pPr marL="296863" indent="-296863">
              <a:spcAft>
                <a:spcPct val="0"/>
              </a:spcAft>
              <a:defRPr/>
            </a:pPr>
            <a:endParaRPr lang="en-US" dirty="0">
              <a:latin typeface="+mn-lt"/>
            </a:endParaRPr>
          </a:p>
          <a:p>
            <a:pPr marL="296863" indent="-296863">
              <a:spcAft>
                <a:spcPct val="0"/>
              </a:spcAft>
              <a:defRPr/>
            </a:pPr>
            <a:r>
              <a:rPr lang="en-US" dirty="0">
                <a:latin typeface="+mn-lt"/>
              </a:rPr>
              <a:t>If the alternate is from same Manufacturer as the existing this kind can be suggested as direct replacement.</a:t>
            </a:r>
          </a:p>
          <a:p>
            <a:pPr marL="296863" indent="-296863">
              <a:spcAft>
                <a:spcPct val="0"/>
              </a:spcAft>
              <a:defRPr/>
            </a:pPr>
            <a:endParaRPr lang="en-US" dirty="0">
              <a:latin typeface="+mn-lt"/>
            </a:endParaRPr>
          </a:p>
          <a:p>
            <a:pPr marL="296863" indent="-296863">
              <a:spcAft>
                <a:spcPct val="0"/>
              </a:spcAft>
              <a:defRPr/>
            </a:pPr>
            <a:r>
              <a:rPr lang="en-US" dirty="0">
                <a:latin typeface="+mn-lt"/>
              </a:rPr>
              <a:t>If the drop-in replacement is from a different manufacturer leave the decision to the customer for Qualification</a:t>
            </a:r>
            <a:endParaRPr dirty="0">
              <a:latin typeface="+mn-lt"/>
            </a:endParaRPr>
          </a:p>
        </p:txBody>
      </p:sp>
      <p:sp>
        <p:nvSpPr>
          <p:cNvPr id="4" name="Text Placeholder 3"/>
          <p:cNvSpPr>
            <a:spLocks noGrp="1"/>
          </p:cNvSpPr>
          <p:nvPr>
            <p:ph type="body" sz="quarter" idx="11"/>
          </p:nvPr>
        </p:nvSpPr>
        <p:spPr>
          <a:xfrm>
            <a:off x="6627171" y="2466976"/>
            <a:ext cx="4489321" cy="1661993"/>
          </a:xfrm>
        </p:spPr>
        <p:txBody>
          <a:bodyPr/>
          <a:lstStyle/>
          <a:p>
            <a:pPr marL="296863" indent="-296863">
              <a:spcAft>
                <a:spcPct val="0"/>
              </a:spcAft>
              <a:defRPr/>
            </a:pPr>
            <a:r>
              <a:rPr dirty="0">
                <a:latin typeface="+mn-lt"/>
              </a:rPr>
              <a:t>An alternate which has a few changes in the functional parameters , but if they are in acceptable range.</a:t>
            </a:r>
          </a:p>
          <a:p>
            <a:pPr marL="296863" indent="-296863">
              <a:spcAft>
                <a:spcPct val="0"/>
              </a:spcAft>
              <a:defRPr/>
            </a:pPr>
            <a:endParaRPr lang="en-US" dirty="0">
              <a:latin typeface="+mn-lt"/>
            </a:endParaRPr>
          </a:p>
          <a:p>
            <a:pPr marL="296863" indent="-296863">
              <a:spcAft>
                <a:spcPct val="0"/>
              </a:spcAft>
              <a:defRPr/>
            </a:pPr>
            <a:r>
              <a:rPr lang="en-US" dirty="0">
                <a:latin typeface="+mn-lt"/>
              </a:rPr>
              <a:t>These must be recommended as alternates which requires qualification</a:t>
            </a:r>
            <a:endParaRPr dirty="0">
              <a:latin typeface="+mn-lt"/>
            </a:endParaRPr>
          </a:p>
        </p:txBody>
      </p:sp>
      <p:sp>
        <p:nvSpPr>
          <p:cNvPr id="18437" name="Text Placeholder 4"/>
          <p:cNvSpPr>
            <a:spLocks noGrp="1"/>
          </p:cNvSpPr>
          <p:nvPr>
            <p:ph type="body" sz="quarter" idx="12"/>
          </p:nvPr>
        </p:nvSpPr>
        <p:spPr>
          <a:xfrm>
            <a:off x="1106662" y="1971675"/>
            <a:ext cx="3933825" cy="285750"/>
          </a:xfrm>
        </p:spPr>
        <p:txBody>
          <a:bodyPr/>
          <a:lstStyle/>
          <a:p>
            <a:pPr>
              <a:spcBef>
                <a:spcPct val="0"/>
              </a:spcBef>
              <a:spcAft>
                <a:spcPct val="0"/>
              </a:spcAft>
            </a:pPr>
            <a:r>
              <a:rPr dirty="0">
                <a:latin typeface="Arial" charset="0"/>
                <a:cs typeface="Arial" charset="0"/>
              </a:rPr>
              <a:t>Drop-In Replacement</a:t>
            </a:r>
          </a:p>
        </p:txBody>
      </p:sp>
      <p:sp>
        <p:nvSpPr>
          <p:cNvPr id="18438" name="Text Placeholder 5"/>
          <p:cNvSpPr>
            <a:spLocks noGrp="1"/>
          </p:cNvSpPr>
          <p:nvPr>
            <p:ph type="body" sz="quarter" idx="13"/>
          </p:nvPr>
        </p:nvSpPr>
        <p:spPr>
          <a:xfrm>
            <a:off x="6627171" y="1971675"/>
            <a:ext cx="3933825" cy="285750"/>
          </a:xfrm>
        </p:spPr>
        <p:txBody>
          <a:bodyPr/>
          <a:lstStyle/>
          <a:p>
            <a:pPr>
              <a:spcBef>
                <a:spcPct val="0"/>
              </a:spcBef>
              <a:spcAft>
                <a:spcPct val="0"/>
              </a:spcAft>
            </a:pPr>
            <a:r>
              <a:rPr dirty="0">
                <a:latin typeface="Arial" charset="0"/>
                <a:cs typeface="Arial" charset="0"/>
              </a:rPr>
              <a:t>Requires Qualification </a:t>
            </a:r>
          </a:p>
        </p:txBody>
      </p:sp>
      <p:sp>
        <p:nvSpPr>
          <p:cNvPr id="8" name="Text Placeholder 7"/>
          <p:cNvSpPr>
            <a:spLocks noGrp="1"/>
          </p:cNvSpPr>
          <p:nvPr>
            <p:ph type="body" sz="quarter" idx="16"/>
          </p:nvPr>
        </p:nvSpPr>
        <p:spPr>
          <a:xfrm>
            <a:off x="6627171" y="4703764"/>
            <a:ext cx="4946521" cy="1938992"/>
          </a:xfrm>
        </p:spPr>
        <p:txBody>
          <a:bodyPr/>
          <a:lstStyle/>
          <a:p>
            <a:pPr marL="296863" indent="-296863">
              <a:spcAft>
                <a:spcPct val="0"/>
              </a:spcAft>
              <a:defRPr/>
            </a:pPr>
            <a:r>
              <a:rPr dirty="0">
                <a:latin typeface="+mn-lt"/>
              </a:rPr>
              <a:t>An alternate which has different Pinout or PCB Footprint or Different package than existing part</a:t>
            </a:r>
          </a:p>
          <a:p>
            <a:pPr marL="296863" indent="-296863">
              <a:spcAft>
                <a:spcPct val="0"/>
              </a:spcAft>
              <a:defRPr/>
            </a:pPr>
            <a:endParaRPr lang="en-US" dirty="0">
              <a:latin typeface="+mn-lt"/>
            </a:endParaRPr>
          </a:p>
          <a:p>
            <a:pPr marL="296863" indent="-296863">
              <a:spcAft>
                <a:spcPct val="0"/>
              </a:spcAft>
              <a:defRPr/>
            </a:pPr>
            <a:r>
              <a:rPr lang="en-US" dirty="0">
                <a:latin typeface="+mn-lt"/>
              </a:rPr>
              <a:t>These will need a lot of efforts and qualification either on existing or prototype boards</a:t>
            </a:r>
            <a:endParaRPr dirty="0">
              <a:latin typeface="+mn-lt"/>
            </a:endParaRPr>
          </a:p>
        </p:txBody>
      </p:sp>
      <p:sp>
        <p:nvSpPr>
          <p:cNvPr id="18442" name="Text Placeholder 9"/>
          <p:cNvSpPr>
            <a:spLocks noGrp="1"/>
          </p:cNvSpPr>
          <p:nvPr>
            <p:ph type="body" sz="quarter" idx="18"/>
          </p:nvPr>
        </p:nvSpPr>
        <p:spPr>
          <a:xfrm>
            <a:off x="6627171" y="4208463"/>
            <a:ext cx="3933825" cy="285750"/>
          </a:xfrm>
        </p:spPr>
        <p:txBody>
          <a:bodyPr/>
          <a:lstStyle/>
          <a:p>
            <a:pPr>
              <a:spcBef>
                <a:spcPct val="0"/>
              </a:spcBef>
              <a:spcAft>
                <a:spcPct val="0"/>
              </a:spcAft>
            </a:pPr>
            <a:r>
              <a:rPr dirty="0">
                <a:latin typeface="Arial" charset="0"/>
                <a:cs typeface="Arial" charset="0"/>
              </a:rPr>
              <a:t>Hardware / PCB Changes </a:t>
            </a:r>
          </a:p>
        </p:txBody>
      </p:sp>
      <p:sp>
        <p:nvSpPr>
          <p:cNvPr id="18443" name="Text Placeholder 10"/>
          <p:cNvSpPr>
            <a:spLocks noGrp="1"/>
          </p:cNvSpPr>
          <p:nvPr>
            <p:ph type="body" sz="quarter" idx="19"/>
          </p:nvPr>
        </p:nvSpPr>
        <p:spPr>
          <a:xfrm>
            <a:off x="1106662" y="1270001"/>
            <a:ext cx="8224837" cy="284163"/>
          </a:xfrm>
        </p:spPr>
        <p:txBody>
          <a:bodyPr/>
          <a:lstStyle/>
          <a:p>
            <a:r>
              <a:rPr lang="en-US" dirty="0">
                <a:latin typeface="Arial" charset="0"/>
                <a:cs typeface="Arial" charset="0"/>
              </a:rPr>
              <a:t>Conclusion and Recommendations</a:t>
            </a:r>
            <a:endParaRPr dirty="0">
              <a:latin typeface="Arial" charset="0"/>
              <a:cs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106662" y="727076"/>
            <a:ext cx="8226425" cy="492125"/>
          </a:xfrm>
        </p:spPr>
        <p:txBody>
          <a:bodyPr/>
          <a:lstStyle/>
          <a:p>
            <a:r>
              <a:rPr dirty="0">
                <a:latin typeface="Arial" charset="0"/>
                <a:cs typeface="Arial" charset="0"/>
              </a:rPr>
              <a:t>Alternate Finding</a:t>
            </a:r>
          </a:p>
        </p:txBody>
      </p:sp>
      <p:sp>
        <p:nvSpPr>
          <p:cNvPr id="3" name="Text Placeholder 2"/>
          <p:cNvSpPr>
            <a:spLocks noGrp="1"/>
          </p:cNvSpPr>
          <p:nvPr>
            <p:ph type="body" sz="quarter" idx="10"/>
          </p:nvPr>
        </p:nvSpPr>
        <p:spPr>
          <a:xfrm>
            <a:off x="1106662" y="2466976"/>
            <a:ext cx="4928378" cy="2492990"/>
          </a:xfrm>
        </p:spPr>
        <p:txBody>
          <a:bodyPr/>
          <a:lstStyle/>
          <a:p>
            <a:pPr marL="296863" indent="-296863">
              <a:spcAft>
                <a:spcPct val="0"/>
              </a:spcAft>
              <a:defRPr/>
            </a:pPr>
            <a:r>
              <a:rPr dirty="0">
                <a:latin typeface="+mn-lt"/>
              </a:rPr>
              <a:t>A part which needs changes in programming when replaced</a:t>
            </a:r>
          </a:p>
          <a:p>
            <a:pPr marL="0" indent="0">
              <a:spcAft>
                <a:spcPct val="0"/>
              </a:spcAft>
              <a:buNone/>
              <a:defRPr/>
            </a:pPr>
            <a:endParaRPr dirty="0">
              <a:latin typeface="+mn-lt"/>
            </a:endParaRPr>
          </a:p>
          <a:p>
            <a:pPr marL="296863" indent="-296863">
              <a:spcAft>
                <a:spcPct val="0"/>
              </a:spcAft>
              <a:defRPr/>
            </a:pPr>
            <a:r>
              <a:rPr lang="en-US" dirty="0">
                <a:latin typeface="+mn-lt"/>
              </a:rPr>
              <a:t>Many of the Controllers or memories will need a change in the programming to achieve the functionality as the existing part.</a:t>
            </a:r>
          </a:p>
          <a:p>
            <a:pPr marL="296863" indent="-296863">
              <a:spcAft>
                <a:spcPct val="0"/>
              </a:spcAft>
              <a:defRPr/>
            </a:pPr>
            <a:endParaRPr lang="en-US" dirty="0">
              <a:latin typeface="+mn-lt"/>
            </a:endParaRPr>
          </a:p>
          <a:p>
            <a:pPr marL="296863" indent="-296863">
              <a:spcAft>
                <a:spcPct val="0"/>
              </a:spcAft>
              <a:defRPr/>
            </a:pPr>
            <a:r>
              <a:rPr lang="en-US" dirty="0">
                <a:latin typeface="+mn-lt"/>
              </a:rPr>
              <a:t>These need to be recommended as the alternates which need Firmware changes</a:t>
            </a:r>
            <a:endParaRPr dirty="0">
              <a:latin typeface="+mn-lt"/>
            </a:endParaRPr>
          </a:p>
        </p:txBody>
      </p:sp>
      <p:sp>
        <p:nvSpPr>
          <p:cNvPr id="18437" name="Text Placeholder 4"/>
          <p:cNvSpPr>
            <a:spLocks noGrp="1"/>
          </p:cNvSpPr>
          <p:nvPr>
            <p:ph type="body" sz="quarter" idx="12"/>
          </p:nvPr>
        </p:nvSpPr>
        <p:spPr>
          <a:xfrm>
            <a:off x="1106662" y="1971675"/>
            <a:ext cx="3933825" cy="285750"/>
          </a:xfrm>
        </p:spPr>
        <p:txBody>
          <a:bodyPr/>
          <a:lstStyle/>
          <a:p>
            <a:pPr>
              <a:spcBef>
                <a:spcPct val="0"/>
              </a:spcBef>
              <a:spcAft>
                <a:spcPct val="0"/>
              </a:spcAft>
            </a:pPr>
            <a:r>
              <a:rPr dirty="0">
                <a:latin typeface="Arial" charset="0"/>
                <a:cs typeface="Arial" charset="0"/>
              </a:rPr>
              <a:t>Firmware Changes</a:t>
            </a:r>
          </a:p>
        </p:txBody>
      </p:sp>
      <p:sp>
        <p:nvSpPr>
          <p:cNvPr id="18443" name="Text Placeholder 10"/>
          <p:cNvSpPr>
            <a:spLocks noGrp="1"/>
          </p:cNvSpPr>
          <p:nvPr>
            <p:ph type="body" sz="quarter" idx="19"/>
          </p:nvPr>
        </p:nvSpPr>
        <p:spPr>
          <a:xfrm>
            <a:off x="1106662" y="1270001"/>
            <a:ext cx="8224837" cy="284163"/>
          </a:xfrm>
        </p:spPr>
        <p:txBody>
          <a:bodyPr/>
          <a:lstStyle/>
          <a:p>
            <a:r>
              <a:rPr lang="en-US" dirty="0">
                <a:latin typeface="Arial" charset="0"/>
                <a:cs typeface="Arial" charset="0"/>
              </a:rPr>
              <a:t>Conclusion and Recommendations</a:t>
            </a:r>
            <a:endParaRPr dirty="0">
              <a:latin typeface="Arial" charset="0"/>
              <a:cs typeface="Arial" charset="0"/>
            </a:endParaRPr>
          </a:p>
        </p:txBody>
      </p:sp>
    </p:spTree>
    <p:extLst>
      <p:ext uri="{BB962C8B-B14F-4D97-AF65-F5344CB8AC3E}">
        <p14:creationId xmlns:p14="http://schemas.microsoft.com/office/powerpoint/2010/main" val="1303324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2"/>
          <p:cNvSpPr>
            <a:spLocks noGrp="1"/>
          </p:cNvSpPr>
          <p:nvPr>
            <p:ph type="title" idx="4294967295"/>
          </p:nvPr>
        </p:nvSpPr>
        <p:spPr>
          <a:xfrm>
            <a:off x="1122680" y="2700610"/>
            <a:ext cx="6680200" cy="553998"/>
          </a:xfrm>
        </p:spPr>
        <p:txBody>
          <a:bodyPr/>
          <a:lstStyle/>
          <a:p>
            <a:r>
              <a:rPr sz="3600" dirty="0">
                <a:solidFill>
                  <a:srgbClr val="E31837"/>
                </a:solidFill>
                <a:latin typeface="Arial" charset="0"/>
                <a:cs typeface="Arial" charset="0"/>
              </a:rPr>
              <a:t>Case Studies</a:t>
            </a:r>
            <a:endParaRPr sz="3600" dirty="0">
              <a:latin typeface="Arial" charset="0"/>
              <a:cs typeface="Arial" charset="0"/>
            </a:endParaRPr>
          </a:p>
        </p:txBody>
      </p:sp>
    </p:spTree>
    <p:extLst>
      <p:ext uri="{BB962C8B-B14F-4D97-AF65-F5344CB8AC3E}">
        <p14:creationId xmlns:p14="http://schemas.microsoft.com/office/powerpoint/2010/main" val="4271894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11671" y="2035823"/>
            <a:ext cx="1650629" cy="1008067"/>
          </a:xfrm>
          <a:prstGeom prst="rect">
            <a:avLst/>
          </a:prstGeom>
          <a:solidFill>
            <a:schemeClr val="bg1"/>
          </a:solid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1" name="Title 1"/>
          <p:cNvSpPr>
            <a:spLocks noGrp="1"/>
          </p:cNvSpPr>
          <p:nvPr>
            <p:ph type="title"/>
          </p:nvPr>
        </p:nvSpPr>
        <p:spPr>
          <a:xfrm>
            <a:off x="228600" y="444700"/>
            <a:ext cx="9823495" cy="387798"/>
          </a:xfrm>
          <a:noFill/>
          <a:ln w="9525">
            <a:noFill/>
            <a:miter lim="800000"/>
            <a:headEnd/>
            <a:tailEnd/>
          </a:ln>
        </p:spPr>
        <p:txBody>
          <a:bodyPr vert="horz" lIns="91440" tIns="45720" rIns="91440" bIns="45720" rtlCol="0" anchor="ctr">
            <a:noAutofit/>
          </a:bodyPr>
          <a:lstStyle/>
          <a:p>
            <a:r>
              <a:rPr lang="en-US" dirty="0"/>
              <a:t>Cost Optimization of Active Rectifier: 1/2     				</a:t>
            </a:r>
          </a:p>
        </p:txBody>
      </p:sp>
      <p:sp>
        <p:nvSpPr>
          <p:cNvPr id="4" name="Text Placeholder 2"/>
          <p:cNvSpPr>
            <a:spLocks noGrp="1"/>
          </p:cNvSpPr>
          <p:nvPr>
            <p:ph type="body" sz="quarter" idx="4294967295"/>
          </p:nvPr>
        </p:nvSpPr>
        <p:spPr>
          <a:xfrm>
            <a:off x="228600" y="1299845"/>
            <a:ext cx="7726680" cy="808038"/>
          </a:xfrm>
          <a:prstGeom prst="rect">
            <a:avLst/>
          </a:prstGeom>
          <a:noFill/>
          <a:ln>
            <a:noFill/>
          </a:ln>
        </p:spPr>
        <p:txBody>
          <a:bodyPr>
            <a:noAutofit/>
          </a:bodyPr>
          <a:lstStyle/>
          <a:p>
            <a:pPr marL="377099" lvl="1" algn="just">
              <a:buClr>
                <a:schemeClr val="tx2"/>
              </a:buClr>
              <a:defRPr/>
            </a:pPr>
            <a:r>
              <a:rPr lang="en-US" sz="1200" dirty="0">
                <a:latin typeface="+mj-lt"/>
              </a:rPr>
              <a:t>To identify cost out ideas for active rectifier in below areas</a:t>
            </a:r>
          </a:p>
          <a:p>
            <a:pPr marL="662842" lvl="2" algn="just">
              <a:buClr>
                <a:schemeClr val="tx2"/>
              </a:buClr>
              <a:defRPr/>
            </a:pPr>
            <a:r>
              <a:rPr lang="en-US" sz="1200" dirty="0">
                <a:latin typeface="+mj-lt"/>
              </a:rPr>
              <a:t>Electronic Design review</a:t>
            </a:r>
          </a:p>
          <a:p>
            <a:pPr marL="662842" lvl="2" algn="just">
              <a:buClr>
                <a:schemeClr val="tx2"/>
              </a:buClr>
              <a:defRPr/>
            </a:pPr>
            <a:r>
              <a:rPr lang="en-US" sz="1200" dirty="0">
                <a:latin typeface="+mj-lt"/>
              </a:rPr>
              <a:t>Proposing low cost FFF alternate parts for the electronic components</a:t>
            </a:r>
          </a:p>
          <a:p>
            <a:pPr marL="377099" lvl="1" algn="just">
              <a:buClr>
                <a:schemeClr val="tx2"/>
              </a:buClr>
              <a:defRPr/>
            </a:pPr>
            <a:r>
              <a:rPr lang="en-US" sz="1200" dirty="0">
                <a:latin typeface="+mj-lt"/>
              </a:rPr>
              <a:t>To identify alternate supplier quotes for electronic manufacturing services and mechanical components from China and India</a:t>
            </a:r>
          </a:p>
        </p:txBody>
      </p:sp>
      <p:sp>
        <p:nvSpPr>
          <p:cNvPr id="5" name="Text Placeholder 2"/>
          <p:cNvSpPr>
            <a:spLocks noGrp="1"/>
          </p:cNvSpPr>
          <p:nvPr>
            <p:ph type="body" sz="quarter" idx="4294967295"/>
          </p:nvPr>
        </p:nvSpPr>
        <p:spPr>
          <a:xfrm>
            <a:off x="228600" y="2540000"/>
            <a:ext cx="7101840" cy="808038"/>
          </a:xfrm>
          <a:prstGeom prst="rect">
            <a:avLst/>
          </a:prstGeom>
          <a:noFill/>
          <a:ln>
            <a:noFill/>
          </a:ln>
        </p:spPr>
        <p:txBody>
          <a:bodyPr>
            <a:noAutofit/>
          </a:bodyPr>
          <a:lstStyle/>
          <a:p>
            <a:pPr marL="377099" lvl="1" algn="just">
              <a:buClr>
                <a:schemeClr val="tx2"/>
              </a:buClr>
            </a:pPr>
            <a:r>
              <a:rPr lang="en-US" sz="1200" dirty="0">
                <a:latin typeface="+mj-lt"/>
              </a:rPr>
              <a:t>Physical unit</a:t>
            </a:r>
          </a:p>
          <a:p>
            <a:pPr marL="377099" lvl="1" algn="just">
              <a:buClr>
                <a:schemeClr val="tx2"/>
              </a:buClr>
            </a:pPr>
            <a:r>
              <a:rPr lang="en-US" sz="1200" dirty="0">
                <a:latin typeface="+mj-lt"/>
              </a:rPr>
              <a:t>Product Cost BOM, 2D drawings, 3D Models, assembly drawing and assembly instructions</a:t>
            </a:r>
          </a:p>
          <a:p>
            <a:pPr marL="377099" lvl="1" algn="just">
              <a:buClr>
                <a:schemeClr val="tx2"/>
              </a:buClr>
            </a:pPr>
            <a:r>
              <a:rPr lang="en-US" sz="1200" dirty="0">
                <a:latin typeface="+mj-lt"/>
              </a:rPr>
              <a:t>Functional Block Diagram, schematics</a:t>
            </a:r>
          </a:p>
          <a:p>
            <a:pPr marL="377099" lvl="1" algn="just">
              <a:buClr>
                <a:schemeClr val="tx2"/>
              </a:buClr>
            </a:pPr>
            <a:r>
              <a:rPr lang="en-US" sz="1200" dirty="0">
                <a:latin typeface="+mj-lt"/>
              </a:rPr>
              <a:t>Estimated annual usage</a:t>
            </a:r>
          </a:p>
          <a:p>
            <a:pPr marL="377099" lvl="1" algn="just">
              <a:buClr>
                <a:schemeClr val="tx2"/>
              </a:buClr>
            </a:pPr>
            <a:r>
              <a:rPr lang="en-US" sz="1200" dirty="0">
                <a:latin typeface="+mj-lt"/>
              </a:rPr>
              <a:t>Manufacturing Location – China</a:t>
            </a:r>
          </a:p>
        </p:txBody>
      </p:sp>
      <p:sp>
        <p:nvSpPr>
          <p:cNvPr id="14" name="Text Placeholder 2"/>
          <p:cNvSpPr>
            <a:spLocks noGrp="1"/>
          </p:cNvSpPr>
          <p:nvPr>
            <p:ph type="body" sz="quarter" idx="4294967295"/>
          </p:nvPr>
        </p:nvSpPr>
        <p:spPr>
          <a:xfrm>
            <a:off x="0" y="5594684"/>
            <a:ext cx="6732588" cy="1263316"/>
          </a:xfrm>
          <a:prstGeom prst="rect">
            <a:avLst/>
          </a:prstGeom>
          <a:solidFill>
            <a:schemeClr val="bg1">
              <a:lumMod val="85000"/>
            </a:schemeClr>
          </a:solidFill>
          <a:ln>
            <a:solidFill>
              <a:schemeClr val="bg1">
                <a:lumMod val="85000"/>
              </a:schemeClr>
            </a:solidFill>
          </a:ln>
        </p:spPr>
        <p:txBody>
          <a:bodyPr tIns="91440" bIns="91440" anchor="ctr" anchorCtr="0">
            <a:noAutofit/>
          </a:bodyPr>
          <a:lstStyle/>
          <a:p>
            <a:pPr marL="377099" lvl="1" algn="just">
              <a:lnSpc>
                <a:spcPct val="100000"/>
              </a:lnSpc>
              <a:buClr>
                <a:schemeClr val="tx2"/>
              </a:buClr>
              <a:defRPr/>
            </a:pPr>
            <a:r>
              <a:rPr lang="en-US" sz="1050" dirty="0">
                <a:latin typeface="+mj-lt"/>
              </a:rPr>
              <a:t>Showcased </a:t>
            </a:r>
            <a:r>
              <a:rPr lang="en-US" sz="1050" b="1" dirty="0">
                <a:latin typeface="+mj-lt"/>
              </a:rPr>
              <a:t>25% savings </a:t>
            </a:r>
            <a:r>
              <a:rPr lang="en-US" sz="1050" dirty="0">
                <a:latin typeface="+mj-lt"/>
              </a:rPr>
              <a:t>on overall product cost</a:t>
            </a:r>
          </a:p>
          <a:p>
            <a:pPr marL="377099" lvl="1" algn="just">
              <a:lnSpc>
                <a:spcPct val="100000"/>
              </a:lnSpc>
              <a:buClr>
                <a:schemeClr val="tx2"/>
              </a:buClr>
              <a:defRPr/>
            </a:pPr>
            <a:r>
              <a:rPr lang="en-US" sz="1050" dirty="0">
                <a:latin typeface="+mj-lt"/>
              </a:rPr>
              <a:t>Optimized </a:t>
            </a:r>
            <a:r>
              <a:rPr lang="en-US" sz="1050" b="1" dirty="0">
                <a:latin typeface="+mj-lt"/>
              </a:rPr>
              <a:t>design in 4 </a:t>
            </a:r>
            <a:r>
              <a:rPr lang="en-US" sz="1050" dirty="0">
                <a:latin typeface="+mj-lt"/>
              </a:rPr>
              <a:t>areas (Microcontroller, MOSFET, Angle sensor and cable) </a:t>
            </a:r>
          </a:p>
          <a:p>
            <a:pPr marL="377099" lvl="1" algn="just">
              <a:lnSpc>
                <a:spcPct val="100000"/>
              </a:lnSpc>
              <a:buClr>
                <a:schemeClr val="tx2"/>
              </a:buClr>
              <a:defRPr/>
            </a:pPr>
            <a:r>
              <a:rPr lang="en-US" sz="1050" dirty="0">
                <a:latin typeface="+mj-lt"/>
              </a:rPr>
              <a:t>Identified low cost </a:t>
            </a:r>
            <a:r>
              <a:rPr lang="en-US" sz="1050" b="1" dirty="0">
                <a:latin typeface="+mj-lt"/>
              </a:rPr>
              <a:t>FFF alternates for 8 </a:t>
            </a:r>
            <a:r>
              <a:rPr lang="en-US" sz="1050" dirty="0">
                <a:latin typeface="+mj-lt"/>
              </a:rPr>
              <a:t>electronic components</a:t>
            </a:r>
          </a:p>
          <a:p>
            <a:pPr marL="377099" lvl="1" algn="just">
              <a:lnSpc>
                <a:spcPct val="100000"/>
              </a:lnSpc>
              <a:buClr>
                <a:schemeClr val="tx2"/>
              </a:buClr>
              <a:defRPr/>
            </a:pPr>
            <a:r>
              <a:rPr lang="en-US" sz="1050" dirty="0">
                <a:latin typeface="+mj-lt"/>
              </a:rPr>
              <a:t>Provided </a:t>
            </a:r>
            <a:r>
              <a:rPr lang="en-US" sz="1050" b="1" dirty="0">
                <a:latin typeface="+mj-lt"/>
              </a:rPr>
              <a:t>low cost vendor quotes for 6 </a:t>
            </a:r>
            <a:r>
              <a:rPr lang="en-US" sz="1050" dirty="0">
                <a:latin typeface="+mj-lt"/>
              </a:rPr>
              <a:t>parts</a:t>
            </a:r>
          </a:p>
          <a:p>
            <a:pPr marL="377099" lvl="1" algn="just">
              <a:lnSpc>
                <a:spcPct val="100000"/>
              </a:lnSpc>
              <a:buClr>
                <a:schemeClr val="tx2"/>
              </a:buClr>
              <a:defRPr/>
            </a:pPr>
            <a:r>
              <a:rPr lang="en-US" sz="1050" dirty="0">
                <a:latin typeface="+mj-lt"/>
              </a:rPr>
              <a:t>Provided </a:t>
            </a:r>
            <a:r>
              <a:rPr lang="en-US" sz="1050" b="1" dirty="0">
                <a:latin typeface="+mj-lt"/>
              </a:rPr>
              <a:t>9 new Vendor connects </a:t>
            </a:r>
            <a:r>
              <a:rPr lang="en-US" sz="1050" dirty="0">
                <a:latin typeface="+mj-lt"/>
              </a:rPr>
              <a:t>to customer from India and China </a:t>
            </a:r>
          </a:p>
        </p:txBody>
      </p:sp>
      <p:sp>
        <p:nvSpPr>
          <p:cNvPr id="20" name="Text Placeholder 2"/>
          <p:cNvSpPr>
            <a:spLocks noGrp="1"/>
          </p:cNvSpPr>
          <p:nvPr>
            <p:ph type="body" sz="quarter" idx="4294967295"/>
          </p:nvPr>
        </p:nvSpPr>
        <p:spPr>
          <a:xfrm>
            <a:off x="228600" y="3995738"/>
            <a:ext cx="6673850" cy="1131887"/>
          </a:xfrm>
          <a:prstGeom prst="rect">
            <a:avLst/>
          </a:prstGeom>
          <a:noFill/>
          <a:ln>
            <a:noFill/>
          </a:ln>
        </p:spPr>
        <p:txBody>
          <a:bodyPr>
            <a:noAutofit/>
          </a:bodyPr>
          <a:lstStyle/>
          <a:p>
            <a:pPr marL="377099" lvl="1" algn="just">
              <a:buClr>
                <a:schemeClr val="tx2"/>
              </a:buClr>
              <a:defRPr/>
            </a:pPr>
            <a:r>
              <a:rPr lang="en-US" sz="1200" dirty="0">
                <a:latin typeface="+mj-lt"/>
              </a:rPr>
              <a:t>Alternate electronic components with optimized specifications</a:t>
            </a:r>
          </a:p>
          <a:p>
            <a:pPr marL="377099" lvl="1" algn="just">
              <a:buClr>
                <a:schemeClr val="tx2"/>
              </a:buClr>
              <a:defRPr/>
            </a:pPr>
            <a:r>
              <a:rPr lang="en-US" sz="1200" dirty="0">
                <a:latin typeface="+mj-lt"/>
              </a:rPr>
              <a:t>Low cost alternate FFF (Form, Fit &amp; Function) parts with specification and cost comparison sheets</a:t>
            </a:r>
          </a:p>
          <a:p>
            <a:pPr marL="377099" lvl="1" algn="just">
              <a:buClr>
                <a:schemeClr val="tx2"/>
              </a:buClr>
              <a:defRPr/>
            </a:pPr>
            <a:r>
              <a:rPr lang="en-US" sz="1200" dirty="0">
                <a:latin typeface="+mj-lt"/>
              </a:rPr>
              <a:t>Low cost vendor quotes from India and China for below items</a:t>
            </a:r>
          </a:p>
          <a:p>
            <a:pPr marL="662842" lvl="2" algn="just">
              <a:buClr>
                <a:schemeClr val="tx2"/>
              </a:buClr>
              <a:defRPr/>
            </a:pPr>
            <a:r>
              <a:rPr lang="en-US" sz="1200" dirty="0">
                <a:latin typeface="+mj-lt"/>
              </a:rPr>
              <a:t>Custom made parts like PCB &amp; Cable harness</a:t>
            </a:r>
          </a:p>
          <a:p>
            <a:pPr marL="662842" lvl="2" algn="just">
              <a:buClr>
                <a:schemeClr val="tx2"/>
              </a:buClr>
              <a:defRPr/>
            </a:pPr>
            <a:r>
              <a:rPr lang="en-US" sz="1200" dirty="0">
                <a:latin typeface="+mj-lt"/>
              </a:rPr>
              <a:t>Mechanical components</a:t>
            </a:r>
          </a:p>
          <a:p>
            <a:pPr marL="662842" lvl="2" algn="just">
              <a:buClr>
                <a:schemeClr val="tx2"/>
              </a:buClr>
              <a:defRPr/>
            </a:pPr>
            <a:r>
              <a:rPr lang="en-US" sz="1200" dirty="0">
                <a:latin typeface="+mj-lt"/>
              </a:rPr>
              <a:t>Electronic Manufacturing Services</a:t>
            </a:r>
          </a:p>
        </p:txBody>
      </p:sp>
      <p:pic>
        <p:nvPicPr>
          <p:cNvPr id="161" name="Picture 160"/>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8211670" y="942476"/>
            <a:ext cx="1650629" cy="1047333"/>
          </a:xfrm>
          <a:prstGeom prst="rect">
            <a:avLst/>
          </a:prstGeom>
        </p:spPr>
      </p:pic>
      <p:grpSp>
        <p:nvGrpSpPr>
          <p:cNvPr id="6" name="Group 5"/>
          <p:cNvGrpSpPr/>
          <p:nvPr/>
        </p:nvGrpSpPr>
        <p:grpSpPr>
          <a:xfrm>
            <a:off x="9906001" y="924902"/>
            <a:ext cx="1801915" cy="2114133"/>
            <a:chOff x="9191874" y="924903"/>
            <a:chExt cx="2933952" cy="3141070"/>
          </a:xfrm>
        </p:grpSpPr>
        <p:pic>
          <p:nvPicPr>
            <p:cNvPr id="18" name="图片 4"/>
            <p:cNvPicPr>
              <a:picLocks noChangeAspect="1"/>
            </p:cNvPicPr>
            <p:nvPr/>
          </p:nvPicPr>
          <p:blipFill rotWithShape="1">
            <a:blip r:embed="rId4" cstate="print">
              <a:extLst>
                <a:ext uri="{28A0092B-C50C-407E-A947-70E740481C1C}">
                  <a14:useLocalDpi xmlns:a14="http://schemas.microsoft.com/office/drawing/2010/main"/>
                </a:ext>
              </a:extLst>
            </a:blip>
            <a:srcRect l="4286" t="4724" b="8014"/>
            <a:stretch/>
          </p:blipFill>
          <p:spPr>
            <a:xfrm>
              <a:off x="9191874" y="1006630"/>
              <a:ext cx="2933952" cy="2866489"/>
            </a:xfrm>
            <a:prstGeom prst="rect">
              <a:avLst/>
            </a:prstGeom>
          </p:spPr>
        </p:pic>
        <p:sp>
          <p:nvSpPr>
            <p:cNvPr id="3" name="Rectangle 2"/>
            <p:cNvSpPr/>
            <p:nvPr/>
          </p:nvSpPr>
          <p:spPr>
            <a:xfrm>
              <a:off x="9206144" y="924903"/>
              <a:ext cx="2861294" cy="3141070"/>
            </a:xfrm>
            <a:prstGeom prst="rect">
              <a:avLst/>
            </a:prstGeom>
            <a:noFill/>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grpSp>
      <p:graphicFrame>
        <p:nvGraphicFramePr>
          <p:cNvPr id="19" name="Chart 18"/>
          <p:cNvGraphicFramePr/>
          <p:nvPr/>
        </p:nvGraphicFramePr>
        <p:xfrm>
          <a:off x="7399620" y="4917367"/>
          <a:ext cx="4667819" cy="160471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p:cNvGraphicFramePr>
            <a:graphicFrameLocks/>
          </p:cNvGraphicFramePr>
          <p:nvPr/>
        </p:nvGraphicFramePr>
        <p:xfrm>
          <a:off x="7399619" y="3094041"/>
          <a:ext cx="4667819" cy="1795464"/>
        </p:xfrm>
        <a:graphic>
          <a:graphicData uri="http://schemas.openxmlformats.org/drawingml/2006/chart">
            <c:chart xmlns:c="http://schemas.openxmlformats.org/drawingml/2006/chart" xmlns:r="http://schemas.openxmlformats.org/officeDocument/2006/relationships" r:id="rId6"/>
          </a:graphicData>
        </a:graphic>
      </p:graphicFrame>
      <p:pic>
        <p:nvPicPr>
          <p:cNvPr id="23" name="Picture 22"/>
          <p:cNvPicPr>
            <a:picLocks noChangeAspect="1"/>
          </p:cNvPicPr>
          <p:nvPr/>
        </p:nvPicPr>
        <p:blipFill rotWithShape="1">
          <a:blip r:embed="rId7" cstate="print">
            <a:extLst>
              <a:ext uri="{28A0092B-C50C-407E-A947-70E740481C1C}">
                <a14:useLocalDpi xmlns:a14="http://schemas.microsoft.com/office/drawing/2010/main"/>
              </a:ext>
            </a:extLst>
          </a:blip>
          <a:srcRect b="-1356"/>
          <a:stretch/>
        </p:blipFill>
        <p:spPr>
          <a:xfrm rot="10800000">
            <a:off x="8437297" y="2035823"/>
            <a:ext cx="1296233" cy="1008067"/>
          </a:xfrm>
          <a:prstGeom prst="rect">
            <a:avLst/>
          </a:prstGeom>
        </p:spPr>
      </p:pic>
      <p:sp>
        <p:nvSpPr>
          <p:cNvPr id="10" name="Rectangle 9"/>
          <p:cNvSpPr/>
          <p:nvPr/>
        </p:nvSpPr>
        <p:spPr>
          <a:xfrm>
            <a:off x="343307" y="3628584"/>
            <a:ext cx="1665841" cy="338554"/>
          </a:xfrm>
          <a:prstGeom prst="rect">
            <a:avLst/>
          </a:prstGeom>
        </p:spPr>
        <p:txBody>
          <a:bodyPr wrap="none">
            <a:spAutoFit/>
          </a:bodyPr>
          <a:lstStyle/>
          <a:p>
            <a:r>
              <a:rPr lang="en-US" sz="1600" b="1" dirty="0">
                <a:solidFill>
                  <a:schemeClr val="tx2"/>
                </a:solidFill>
                <a:latin typeface="+mj-lt"/>
              </a:rPr>
              <a:t>Major Deliverables</a:t>
            </a:r>
          </a:p>
        </p:txBody>
      </p:sp>
      <p:sp>
        <p:nvSpPr>
          <p:cNvPr id="11" name="Rectangle 10"/>
          <p:cNvSpPr/>
          <p:nvPr/>
        </p:nvSpPr>
        <p:spPr>
          <a:xfrm>
            <a:off x="343307" y="2170060"/>
            <a:ext cx="688009" cy="338554"/>
          </a:xfrm>
          <a:prstGeom prst="rect">
            <a:avLst/>
          </a:prstGeom>
        </p:spPr>
        <p:txBody>
          <a:bodyPr wrap="none">
            <a:spAutoFit/>
          </a:bodyPr>
          <a:lstStyle/>
          <a:p>
            <a:r>
              <a:rPr lang="en-US" sz="1600" b="1" dirty="0">
                <a:solidFill>
                  <a:schemeClr val="tx2"/>
                </a:solidFill>
                <a:latin typeface="+mj-lt"/>
              </a:rPr>
              <a:t>Inputs</a:t>
            </a:r>
          </a:p>
        </p:txBody>
      </p:sp>
      <p:sp>
        <p:nvSpPr>
          <p:cNvPr id="13" name="Rectangle 12"/>
          <p:cNvSpPr/>
          <p:nvPr/>
        </p:nvSpPr>
        <p:spPr>
          <a:xfrm>
            <a:off x="343307" y="978449"/>
            <a:ext cx="688009" cy="338554"/>
          </a:xfrm>
          <a:prstGeom prst="rect">
            <a:avLst/>
          </a:prstGeom>
        </p:spPr>
        <p:txBody>
          <a:bodyPr wrap="none">
            <a:spAutoFit/>
          </a:bodyPr>
          <a:lstStyle/>
          <a:p>
            <a:r>
              <a:rPr lang="en-US" sz="1600" b="1" dirty="0">
                <a:solidFill>
                  <a:schemeClr val="tx2"/>
                </a:solidFill>
                <a:latin typeface="+mj-lt"/>
              </a:rPr>
              <a:t>Scope</a:t>
            </a:r>
          </a:p>
        </p:txBody>
      </p:sp>
      <p:sp>
        <p:nvSpPr>
          <p:cNvPr id="25" name="Rectangle 24"/>
          <p:cNvSpPr/>
          <p:nvPr/>
        </p:nvSpPr>
        <p:spPr>
          <a:xfrm>
            <a:off x="312827" y="5310226"/>
            <a:ext cx="1638590" cy="338554"/>
          </a:xfrm>
          <a:prstGeom prst="rect">
            <a:avLst/>
          </a:prstGeom>
        </p:spPr>
        <p:txBody>
          <a:bodyPr wrap="none">
            <a:spAutoFit/>
          </a:bodyPr>
          <a:lstStyle/>
          <a:p>
            <a:r>
              <a:rPr lang="en-US" sz="1600" b="1" dirty="0">
                <a:solidFill>
                  <a:schemeClr val="tx2"/>
                </a:solidFill>
                <a:latin typeface="+mj-lt"/>
              </a:rPr>
              <a:t>Business Benefits</a:t>
            </a:r>
          </a:p>
        </p:txBody>
      </p:sp>
    </p:spTree>
    <p:extLst>
      <p:ext uri="{BB962C8B-B14F-4D97-AF65-F5344CB8AC3E}">
        <p14:creationId xmlns:p14="http://schemas.microsoft.com/office/powerpoint/2010/main" val="33766001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21260" y="4311215"/>
            <a:ext cx="2685917" cy="2250391"/>
          </a:xfrm>
          <a:prstGeom prst="rect">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grpSp>
        <p:nvGrpSpPr>
          <p:cNvPr id="47" name="Group 46"/>
          <p:cNvGrpSpPr/>
          <p:nvPr/>
        </p:nvGrpSpPr>
        <p:grpSpPr>
          <a:xfrm>
            <a:off x="3078821" y="3920181"/>
            <a:ext cx="8840991" cy="395127"/>
            <a:chOff x="3472056" y="3816578"/>
            <a:chExt cx="7758834" cy="395127"/>
          </a:xfrm>
        </p:grpSpPr>
        <p:sp>
          <p:nvSpPr>
            <p:cNvPr id="48" name="Rectangle 47"/>
            <p:cNvSpPr/>
            <p:nvPr/>
          </p:nvSpPr>
          <p:spPr>
            <a:xfrm>
              <a:off x="3472056" y="3820667"/>
              <a:ext cx="2126300" cy="391038"/>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algn="ctr"/>
              <a:r>
                <a:rPr lang="en-US" sz="1100" b="1" dirty="0">
                  <a:latin typeface="+mj-lt"/>
                </a:rPr>
                <a:t>Schematic Analysis</a:t>
              </a:r>
            </a:p>
          </p:txBody>
        </p:sp>
        <p:sp>
          <p:nvSpPr>
            <p:cNvPr id="49" name="Rectangle 48"/>
            <p:cNvSpPr/>
            <p:nvPr/>
          </p:nvSpPr>
          <p:spPr>
            <a:xfrm>
              <a:off x="9284087" y="3816578"/>
              <a:ext cx="1946803" cy="391036"/>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lvl="0" algn="ctr"/>
              <a:r>
                <a:rPr lang="en-US" sz="1051" b="1" dirty="0">
                  <a:latin typeface="+mj-lt"/>
                  <a:cs typeface="Arial" panose="020B0604020202020204" pitchFamily="34" charset="0"/>
                </a:rPr>
                <a:t>Vendor  Quote Comparison</a:t>
              </a:r>
            </a:p>
          </p:txBody>
        </p:sp>
      </p:grpSp>
      <p:pic>
        <p:nvPicPr>
          <p:cNvPr id="51" name="Picture 5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069941" y="4382940"/>
            <a:ext cx="2572991" cy="2259160"/>
          </a:xfrm>
          <a:prstGeom prst="rect">
            <a:avLst/>
          </a:prstGeom>
        </p:spPr>
      </p:pic>
      <p:pic>
        <p:nvPicPr>
          <p:cNvPr id="52" name="Picture 5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986390" y="4688858"/>
            <a:ext cx="563631" cy="1223711"/>
          </a:xfrm>
          <a:prstGeom prst="rect">
            <a:avLst/>
          </a:prstGeom>
        </p:spPr>
      </p:pic>
      <p:pic>
        <p:nvPicPr>
          <p:cNvPr id="53" name="Picture 52"/>
          <p:cNvPicPr>
            <a:picLocks noChangeAspect="1"/>
          </p:cNvPicPr>
          <p:nvPr/>
        </p:nvPicPr>
        <p:blipFill>
          <a:blip r:embed="rId4"/>
          <a:stretch>
            <a:fillRect/>
          </a:stretch>
        </p:blipFill>
        <p:spPr>
          <a:xfrm>
            <a:off x="9707721" y="4391818"/>
            <a:ext cx="2234371" cy="2125071"/>
          </a:xfrm>
          <a:prstGeom prst="rect">
            <a:avLst/>
          </a:prstGeom>
        </p:spPr>
      </p:pic>
      <p:sp>
        <p:nvSpPr>
          <p:cNvPr id="57" name="Rectangle 56"/>
          <p:cNvSpPr/>
          <p:nvPr/>
        </p:nvSpPr>
        <p:spPr>
          <a:xfrm>
            <a:off x="5603997" y="3920178"/>
            <a:ext cx="4028275" cy="391039"/>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algn="ctr"/>
            <a:r>
              <a:rPr lang="en-US" sz="1100" b="1" dirty="0">
                <a:latin typeface="+mj-lt"/>
              </a:rPr>
              <a:t>Low cost FFF alternates Specifications Comparison</a:t>
            </a:r>
          </a:p>
        </p:txBody>
      </p:sp>
      <p:pic>
        <p:nvPicPr>
          <p:cNvPr id="66" name="Picture 65"/>
          <p:cNvPicPr>
            <a:picLocks noChangeAspect="1"/>
          </p:cNvPicPr>
          <p:nvPr/>
        </p:nvPicPr>
        <p:blipFill>
          <a:blip r:embed="rId5"/>
          <a:stretch>
            <a:fillRect/>
          </a:stretch>
        </p:blipFill>
        <p:spPr>
          <a:xfrm>
            <a:off x="5610547" y="5619810"/>
            <a:ext cx="4027807" cy="897079"/>
          </a:xfrm>
          <a:prstGeom prst="rect">
            <a:avLst/>
          </a:prstGeom>
        </p:spPr>
      </p:pic>
      <p:pic>
        <p:nvPicPr>
          <p:cNvPr id="16" name="Picture 15"/>
          <p:cNvPicPr>
            <a:picLocks noChangeAspect="1"/>
          </p:cNvPicPr>
          <p:nvPr/>
        </p:nvPicPr>
        <p:blipFill>
          <a:blip r:embed="rId6"/>
          <a:stretch>
            <a:fillRect/>
          </a:stretch>
        </p:blipFill>
        <p:spPr>
          <a:xfrm>
            <a:off x="5598840" y="4389745"/>
            <a:ext cx="4033433" cy="1221187"/>
          </a:xfrm>
          <a:prstGeom prst="rect">
            <a:avLst/>
          </a:prstGeom>
        </p:spPr>
      </p:pic>
      <p:sp>
        <p:nvSpPr>
          <p:cNvPr id="46" name="Rectangle 45"/>
          <p:cNvSpPr/>
          <p:nvPr/>
        </p:nvSpPr>
        <p:spPr>
          <a:xfrm>
            <a:off x="347893" y="3920178"/>
            <a:ext cx="2635155" cy="391039"/>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dk1"/>
          </a:lnRef>
          <a:fillRef idx="2">
            <a:schemeClr val="dk1"/>
          </a:fillRef>
          <a:effectRef idx="1">
            <a:schemeClr val="dk1"/>
          </a:effectRef>
          <a:fontRef idx="minor">
            <a:schemeClr val="dk1"/>
          </a:fontRef>
        </p:style>
        <p:txBody>
          <a:bodyPr anchor="ctr"/>
          <a:lstStyle/>
          <a:p>
            <a:pPr algn="ctr"/>
            <a:r>
              <a:rPr lang="en-US" sz="1100" b="1" dirty="0">
                <a:latin typeface="+mj-lt"/>
              </a:rPr>
              <a:t>Teardown</a:t>
            </a:r>
          </a:p>
        </p:txBody>
      </p:sp>
      <p:pic>
        <p:nvPicPr>
          <p:cNvPr id="54" name="Picture 53"/>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372021" y="4391819"/>
            <a:ext cx="2635155" cy="1140583"/>
          </a:xfrm>
          <a:prstGeom prst="rect">
            <a:avLst/>
          </a:prstGeom>
          <a:ln>
            <a:solidFill>
              <a:schemeClr val="bg1">
                <a:lumMod val="50000"/>
              </a:schemeClr>
            </a:solidFill>
          </a:ln>
        </p:spPr>
      </p:pic>
      <p:pic>
        <p:nvPicPr>
          <p:cNvPr id="55" name="Picture 54"/>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2127621" y="5620605"/>
            <a:ext cx="871593" cy="652736"/>
          </a:xfrm>
          <a:prstGeom prst="rect">
            <a:avLst/>
          </a:prstGeom>
        </p:spPr>
      </p:pic>
      <p:pic>
        <p:nvPicPr>
          <p:cNvPr id="56" name="Picture 55"/>
          <p:cNvPicPr>
            <a:picLocks noChangeAspect="1"/>
          </p:cNvPicPr>
          <p:nvPr/>
        </p:nvPicPr>
        <p:blipFill rotWithShape="1">
          <a:blip r:embed="rId9" cstate="print">
            <a:extLst>
              <a:ext uri="{28A0092B-C50C-407E-A947-70E740481C1C}">
                <a14:useLocalDpi xmlns:a14="http://schemas.microsoft.com/office/drawing/2010/main"/>
              </a:ext>
            </a:extLst>
          </a:blip>
          <a:srcRect b="-1356"/>
          <a:stretch/>
        </p:blipFill>
        <p:spPr>
          <a:xfrm>
            <a:off x="262061" y="5553539"/>
            <a:ext cx="946891" cy="1008067"/>
          </a:xfrm>
          <a:prstGeom prst="rect">
            <a:avLst/>
          </a:prstGeom>
        </p:spPr>
      </p:pic>
      <p:pic>
        <p:nvPicPr>
          <p:cNvPr id="58" name="Picture 57"/>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rot="16200000">
            <a:off x="1317207" y="5504103"/>
            <a:ext cx="648901" cy="881907"/>
          </a:xfrm>
          <a:prstGeom prst="rect">
            <a:avLst/>
          </a:prstGeom>
        </p:spPr>
      </p:pic>
      <p:grpSp>
        <p:nvGrpSpPr>
          <p:cNvPr id="12" name="Group 11"/>
          <p:cNvGrpSpPr/>
          <p:nvPr/>
        </p:nvGrpSpPr>
        <p:grpSpPr>
          <a:xfrm>
            <a:off x="0" y="970284"/>
            <a:ext cx="12192000" cy="2937813"/>
            <a:chOff x="0" y="744289"/>
            <a:chExt cx="12192000" cy="2937811"/>
          </a:xfrm>
        </p:grpSpPr>
        <p:sp>
          <p:nvSpPr>
            <p:cNvPr id="5" name="Rectangle 4"/>
            <p:cNvSpPr/>
            <p:nvPr/>
          </p:nvSpPr>
          <p:spPr>
            <a:xfrm>
              <a:off x="0" y="1683651"/>
              <a:ext cx="12192000" cy="75168"/>
            </a:xfrm>
            <a:prstGeom prst="rect">
              <a:avLst/>
            </a:prstGeom>
            <a:solidFill>
              <a:srgbClr val="0070C0"/>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67" name="Oval 66"/>
            <p:cNvSpPr/>
            <p:nvPr/>
          </p:nvSpPr>
          <p:spPr>
            <a:xfrm>
              <a:off x="10024891" y="1172076"/>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62" name="Oval 61"/>
            <p:cNvSpPr/>
            <p:nvPr/>
          </p:nvSpPr>
          <p:spPr>
            <a:xfrm>
              <a:off x="7926350" y="1172076"/>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61" name="Oval 60"/>
            <p:cNvSpPr/>
            <p:nvPr/>
          </p:nvSpPr>
          <p:spPr>
            <a:xfrm>
              <a:off x="5578273" y="1173786"/>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59" name="Oval 58"/>
            <p:cNvSpPr/>
            <p:nvPr/>
          </p:nvSpPr>
          <p:spPr>
            <a:xfrm>
              <a:off x="911535" y="1180948"/>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7" name="Oval 6"/>
            <p:cNvSpPr/>
            <p:nvPr/>
          </p:nvSpPr>
          <p:spPr>
            <a:xfrm>
              <a:off x="3200951" y="1177827"/>
              <a:ext cx="1161740" cy="1081174"/>
            </a:xfrm>
            <a:prstGeom prst="ellipse">
              <a:avLst/>
            </a:prstGeom>
            <a:solidFill>
              <a:schemeClr val="bg1"/>
            </a:solidFill>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63" name="Rectangle 62"/>
            <p:cNvSpPr/>
            <p:nvPr/>
          </p:nvSpPr>
          <p:spPr>
            <a:xfrm>
              <a:off x="1002432" y="2050916"/>
              <a:ext cx="1184491" cy="246221"/>
            </a:xfrm>
            <a:prstGeom prst="rect">
              <a:avLst/>
            </a:prstGeom>
          </p:spPr>
          <p:txBody>
            <a:bodyPr wrap="square">
              <a:spAutoFit/>
            </a:bodyPr>
            <a:lstStyle/>
            <a:p>
              <a:pPr lvl="0"/>
              <a:endParaRPr lang="en-US" sz="1000" b="1" dirty="0">
                <a:latin typeface="+mj-lt"/>
                <a:cs typeface="Arial" panose="020B0604020202020204" pitchFamily="34" charset="0"/>
              </a:endParaRPr>
            </a:p>
          </p:txBody>
        </p:sp>
        <p:sp>
          <p:nvSpPr>
            <p:cNvPr id="64" name="Rectangle 63"/>
            <p:cNvSpPr/>
            <p:nvPr/>
          </p:nvSpPr>
          <p:spPr>
            <a:xfrm>
              <a:off x="735507" y="2364204"/>
              <a:ext cx="1712859" cy="1015662"/>
            </a:xfrm>
            <a:prstGeom prst="rect">
              <a:avLst/>
            </a:prstGeom>
          </p:spPr>
          <p:txBody>
            <a:bodyPr wrap="square">
              <a:spAutoFit/>
            </a:bodyPr>
            <a:lstStyle/>
            <a:p>
              <a:pPr marL="171446" indent="-171446">
                <a:buFont typeface="Wingdings" panose="05000000000000000000" pitchFamily="2" charset="2"/>
                <a:buChar char="Ø"/>
                <a:defRPr/>
              </a:pPr>
              <a:r>
                <a:rPr lang="en-IN" altLang="en-US" sz="1200" dirty="0">
                  <a:latin typeface="+mj-lt"/>
                  <a:cs typeface="Calibri" panose="020F0502020204030204" pitchFamily="34" charset="0"/>
                </a:rPr>
                <a:t>Product Study</a:t>
              </a:r>
            </a:p>
            <a:p>
              <a:pPr marL="171446" indent="-171446">
                <a:buFont typeface="Wingdings" panose="05000000000000000000" pitchFamily="2" charset="2"/>
                <a:buChar char="Ø"/>
                <a:defRPr/>
              </a:pPr>
              <a:r>
                <a:rPr lang="en-IN" altLang="en-US" sz="1200" dirty="0">
                  <a:latin typeface="+mj-lt"/>
                  <a:cs typeface="Calibri" panose="020F0502020204030204" pitchFamily="34" charset="0"/>
                </a:rPr>
                <a:t>Understanding the functionality</a:t>
              </a:r>
            </a:p>
            <a:p>
              <a:pPr marL="171446" indent="-171446">
                <a:buFont typeface="Wingdings" panose="05000000000000000000" pitchFamily="2" charset="2"/>
                <a:buChar char="Ø"/>
                <a:defRPr/>
              </a:pPr>
              <a:r>
                <a:rPr lang="en-IN" altLang="en-US" sz="1200" dirty="0">
                  <a:latin typeface="+mj-lt"/>
                  <a:cs typeface="Calibri" panose="020F0502020204030204" pitchFamily="34" charset="0"/>
                </a:rPr>
                <a:t>Teardown</a:t>
              </a:r>
            </a:p>
            <a:p>
              <a:pPr marL="171446" indent="-171446">
                <a:buFont typeface="Wingdings" panose="05000000000000000000" pitchFamily="2" charset="2"/>
                <a:buChar char="Ø"/>
                <a:defRPr/>
              </a:pPr>
              <a:r>
                <a:rPr lang="en-IN" altLang="en-US" sz="1200" dirty="0">
                  <a:latin typeface="+mj-lt"/>
                  <a:cs typeface="Calibri" panose="020F0502020204030204" pitchFamily="34" charset="0"/>
                </a:rPr>
                <a:t>Study the schematic</a:t>
              </a:r>
            </a:p>
          </p:txBody>
        </p:sp>
        <p:sp>
          <p:nvSpPr>
            <p:cNvPr id="94" name="Rectangle 93"/>
            <p:cNvSpPr/>
            <p:nvPr/>
          </p:nvSpPr>
          <p:spPr>
            <a:xfrm>
              <a:off x="3057671" y="899281"/>
              <a:ext cx="1460723" cy="276999"/>
            </a:xfrm>
            <a:prstGeom prst="rect">
              <a:avLst/>
            </a:prstGeom>
          </p:spPr>
          <p:txBody>
            <a:bodyPr wrap="square">
              <a:spAutoFit/>
            </a:bodyPr>
            <a:lstStyle/>
            <a:p>
              <a:pPr algn="ctr"/>
              <a:r>
                <a:rPr lang="en-US" sz="1200" b="1" dirty="0">
                  <a:latin typeface="+mj-lt"/>
                  <a:cs typeface="Arial" panose="020B0604020202020204" pitchFamily="34" charset="0"/>
                </a:rPr>
                <a:t>Design Review</a:t>
              </a:r>
            </a:p>
          </p:txBody>
        </p:sp>
        <p:sp>
          <p:nvSpPr>
            <p:cNvPr id="112" name="Rectangle 111"/>
            <p:cNvSpPr/>
            <p:nvPr/>
          </p:nvSpPr>
          <p:spPr>
            <a:xfrm>
              <a:off x="7701016" y="784461"/>
              <a:ext cx="1741596" cy="461665"/>
            </a:xfrm>
            <a:prstGeom prst="rect">
              <a:avLst/>
            </a:prstGeom>
          </p:spPr>
          <p:txBody>
            <a:bodyPr wrap="square">
              <a:spAutoFit/>
            </a:bodyPr>
            <a:lstStyle/>
            <a:p>
              <a:pPr lvl="0" algn="ctr"/>
              <a:r>
                <a:rPr lang="en-US" sz="1200" b="1" dirty="0">
                  <a:latin typeface="+mj-lt"/>
                  <a:cs typeface="Arial" panose="020B0604020202020204" pitchFamily="34" charset="0"/>
                </a:rPr>
                <a:t>Identification of Low cost FFF alternates</a:t>
              </a:r>
            </a:p>
          </p:txBody>
        </p:sp>
        <p:sp>
          <p:nvSpPr>
            <p:cNvPr id="116" name="Rectangle 115"/>
            <p:cNvSpPr/>
            <p:nvPr/>
          </p:nvSpPr>
          <p:spPr>
            <a:xfrm>
              <a:off x="2991395" y="2343332"/>
              <a:ext cx="1753405" cy="1015662"/>
            </a:xfrm>
            <a:prstGeom prst="rect">
              <a:avLst/>
            </a:prstGeom>
          </p:spPr>
          <p:txBody>
            <a:bodyPr wrap="square">
              <a:spAutoFit/>
            </a:bodyPr>
            <a:lstStyle/>
            <a:p>
              <a:pPr marL="171446" indent="-171446">
                <a:buFont typeface="Wingdings" panose="05000000000000000000" pitchFamily="2" charset="2"/>
                <a:buChar char="Ø"/>
                <a:defRPr/>
              </a:pPr>
              <a:r>
                <a:rPr lang="en-US" altLang="en-US" sz="1200" dirty="0">
                  <a:latin typeface="+mj-lt"/>
                  <a:cs typeface="Calibri" panose="020F0502020204030204" pitchFamily="34" charset="0"/>
                </a:rPr>
                <a:t>Identify areas for Cost optimization </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Schematic Analysis</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Identify high cost components in BOM</a:t>
              </a:r>
            </a:p>
          </p:txBody>
        </p:sp>
        <p:sp>
          <p:nvSpPr>
            <p:cNvPr id="120" name="Rectangle 119"/>
            <p:cNvSpPr/>
            <p:nvPr/>
          </p:nvSpPr>
          <p:spPr>
            <a:xfrm>
              <a:off x="7783543" y="2297106"/>
              <a:ext cx="1712859" cy="1384994"/>
            </a:xfrm>
            <a:prstGeom prst="rect">
              <a:avLst/>
            </a:prstGeom>
          </p:spPr>
          <p:txBody>
            <a:bodyPr wrap="square">
              <a:spAutoFit/>
            </a:bodyPr>
            <a:lstStyle/>
            <a:p>
              <a:pPr marL="171446" indent="-171446">
                <a:buFont typeface="Wingdings" panose="05000000000000000000" pitchFamily="2" charset="2"/>
                <a:buChar char="Ø"/>
                <a:defRPr/>
              </a:pPr>
              <a:r>
                <a:rPr lang="en-US" altLang="en-US" sz="1200" dirty="0">
                  <a:latin typeface="+mj-lt"/>
                  <a:cs typeface="Calibri" panose="020F0502020204030204" pitchFamily="34" charset="0"/>
                </a:rPr>
                <a:t>Datasheet study</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Prepare Comparison Sheets w.r.t. existing parts specs</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Float RFQ to supplier</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Verify cost competitiveness</a:t>
              </a:r>
            </a:p>
          </p:txBody>
        </p:sp>
        <p:sp>
          <p:nvSpPr>
            <p:cNvPr id="124" name="Rectangle 123"/>
            <p:cNvSpPr/>
            <p:nvPr/>
          </p:nvSpPr>
          <p:spPr>
            <a:xfrm>
              <a:off x="5474743" y="884390"/>
              <a:ext cx="1359199" cy="276999"/>
            </a:xfrm>
            <a:prstGeom prst="rect">
              <a:avLst/>
            </a:prstGeom>
          </p:spPr>
          <p:txBody>
            <a:bodyPr wrap="square">
              <a:spAutoFit/>
            </a:bodyPr>
            <a:lstStyle/>
            <a:p>
              <a:pPr lvl="0" algn="ctr"/>
              <a:r>
                <a:rPr lang="en-US" sz="1200" b="1" dirty="0">
                  <a:latin typeface="+mj-lt"/>
                  <a:cs typeface="Arial" panose="020B0604020202020204" pitchFamily="34" charset="0"/>
                </a:rPr>
                <a:t>Idea Generation</a:t>
              </a:r>
            </a:p>
          </p:txBody>
        </p:sp>
        <p:sp>
          <p:nvSpPr>
            <p:cNvPr id="133" name="Rectangle 132"/>
            <p:cNvSpPr/>
            <p:nvPr/>
          </p:nvSpPr>
          <p:spPr>
            <a:xfrm>
              <a:off x="9814192" y="744289"/>
              <a:ext cx="1583137" cy="461665"/>
            </a:xfrm>
            <a:prstGeom prst="rect">
              <a:avLst/>
            </a:prstGeom>
          </p:spPr>
          <p:txBody>
            <a:bodyPr wrap="square">
              <a:spAutoFit/>
            </a:bodyPr>
            <a:lstStyle/>
            <a:p>
              <a:pPr lvl="0" algn="ctr"/>
              <a:r>
                <a:rPr lang="en-US" sz="1200" b="1" dirty="0">
                  <a:latin typeface="+mj-lt"/>
                  <a:cs typeface="Arial" panose="020B0604020202020204" pitchFamily="34" charset="0"/>
                </a:rPr>
                <a:t>Low Cost Alternate vendor Identification</a:t>
              </a:r>
            </a:p>
          </p:txBody>
        </p:sp>
        <p:sp>
          <p:nvSpPr>
            <p:cNvPr id="136" name="Rectangle 135"/>
            <p:cNvSpPr/>
            <p:nvPr/>
          </p:nvSpPr>
          <p:spPr>
            <a:xfrm>
              <a:off x="9897049" y="2279958"/>
              <a:ext cx="1645203" cy="1200328"/>
            </a:xfrm>
            <a:prstGeom prst="rect">
              <a:avLst/>
            </a:prstGeom>
          </p:spPr>
          <p:txBody>
            <a:bodyPr wrap="square">
              <a:spAutoFit/>
            </a:bodyPr>
            <a:lstStyle/>
            <a:p>
              <a:pPr marL="171446" indent="-171446">
                <a:buFont typeface="Wingdings" panose="05000000000000000000" pitchFamily="2" charset="2"/>
                <a:buChar char="Ø"/>
                <a:defRPr/>
              </a:pPr>
              <a:r>
                <a:rPr lang="en-US" altLang="en-US" sz="1200" dirty="0">
                  <a:latin typeface="+mj-lt"/>
                  <a:cs typeface="Calibri" panose="020F0502020204030204" pitchFamily="34" charset="0"/>
                </a:rPr>
                <a:t>Identify vendors for </a:t>
              </a:r>
              <a:r>
                <a:rPr lang="en-US" altLang="en-US" sz="1200" dirty="0" err="1">
                  <a:latin typeface="+mj-lt"/>
                  <a:cs typeface="Calibri" panose="020F0502020204030204" pitchFamily="34" charset="0"/>
                </a:rPr>
                <a:t>Mech</a:t>
              </a:r>
              <a:r>
                <a:rPr lang="en-US" altLang="en-US" sz="1200" dirty="0">
                  <a:latin typeface="+mj-lt"/>
                  <a:cs typeface="Calibri" panose="020F0502020204030204" pitchFamily="34" charset="0"/>
                </a:rPr>
                <a:t> parts &amp; EMS in China\India</a:t>
              </a:r>
            </a:p>
            <a:p>
              <a:pPr marL="171446" indent="-171446">
                <a:buFont typeface="Wingdings" panose="05000000000000000000" pitchFamily="2" charset="2"/>
                <a:buChar char="Ø"/>
                <a:defRPr/>
              </a:pPr>
              <a:r>
                <a:rPr lang="en-US" altLang="en-US" sz="1200">
                  <a:latin typeface="+mj-lt"/>
                  <a:cs typeface="Calibri" panose="020F0502020204030204" pitchFamily="34" charset="0"/>
                </a:rPr>
                <a:t>Float RFQ</a:t>
              </a:r>
            </a:p>
            <a:p>
              <a:pPr marL="171446" indent="-171446">
                <a:buFont typeface="Wingdings" panose="05000000000000000000" pitchFamily="2" charset="2"/>
                <a:buChar char="Ø"/>
                <a:defRPr/>
              </a:pPr>
              <a:r>
                <a:rPr lang="en-US" altLang="en-US" sz="1200">
                  <a:latin typeface="+mj-lt"/>
                  <a:cs typeface="Calibri" panose="020F0502020204030204" pitchFamily="34" charset="0"/>
                </a:rPr>
                <a:t>Quote </a:t>
              </a:r>
              <a:r>
                <a:rPr lang="en-US" altLang="en-US" sz="1200" dirty="0">
                  <a:latin typeface="+mj-lt"/>
                  <a:cs typeface="Calibri" panose="020F0502020204030204" pitchFamily="34" charset="0"/>
                </a:rPr>
                <a:t>analysis </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Quote Finalization</a:t>
              </a:r>
            </a:p>
          </p:txBody>
        </p:sp>
        <p:sp>
          <p:nvSpPr>
            <p:cNvPr id="149" name="Rectangle 148"/>
            <p:cNvSpPr/>
            <p:nvPr/>
          </p:nvSpPr>
          <p:spPr>
            <a:xfrm>
              <a:off x="5424241" y="2280006"/>
              <a:ext cx="1686967" cy="1015662"/>
            </a:xfrm>
            <a:prstGeom prst="rect">
              <a:avLst/>
            </a:prstGeom>
          </p:spPr>
          <p:txBody>
            <a:bodyPr wrap="square">
              <a:spAutoFit/>
            </a:bodyPr>
            <a:lstStyle/>
            <a:p>
              <a:pPr marL="171446" indent="-171446">
                <a:buFont typeface="Wingdings" panose="05000000000000000000" pitchFamily="2" charset="2"/>
                <a:buChar char="Ø"/>
                <a:defRPr/>
              </a:pPr>
              <a:r>
                <a:rPr lang="en-US" altLang="en-US" sz="1200" dirty="0">
                  <a:latin typeface="+mj-lt"/>
                  <a:cs typeface="Calibri" panose="020F0502020204030204" pitchFamily="34" charset="0"/>
                </a:rPr>
                <a:t>Brainstorming on idea generation</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Check the feasibility for implementation</a:t>
              </a:r>
            </a:p>
            <a:p>
              <a:pPr marL="171446" indent="-171446">
                <a:buFont typeface="Wingdings" panose="05000000000000000000" pitchFamily="2" charset="2"/>
                <a:buChar char="Ø"/>
                <a:defRPr/>
              </a:pPr>
              <a:r>
                <a:rPr lang="en-US" altLang="en-US" sz="1200" dirty="0">
                  <a:latin typeface="+mj-lt"/>
                  <a:cs typeface="Calibri" panose="020F0502020204030204" pitchFamily="34" charset="0"/>
                </a:rPr>
                <a:t>Shortlist the ideas</a:t>
              </a:r>
            </a:p>
          </p:txBody>
        </p:sp>
        <p:pic>
          <p:nvPicPr>
            <p:cNvPr id="174" name="Picture 173"/>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8075670" y="1451547"/>
              <a:ext cx="863099" cy="539976"/>
            </a:xfrm>
            <a:prstGeom prst="rect">
              <a:avLst/>
            </a:prstGeom>
          </p:spPr>
        </p:pic>
        <p:pic>
          <p:nvPicPr>
            <p:cNvPr id="177" name="Picture 176"/>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5620369" y="1246447"/>
              <a:ext cx="1067947" cy="991956"/>
            </a:xfrm>
            <a:prstGeom prst="rect">
              <a:avLst/>
            </a:prstGeom>
          </p:spPr>
        </p:pic>
        <p:pic>
          <p:nvPicPr>
            <p:cNvPr id="188" name="Picture 187"/>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10155513" y="1257087"/>
              <a:ext cx="900496" cy="895915"/>
            </a:xfrm>
            <a:prstGeom prst="rect">
              <a:avLst/>
            </a:prstGeom>
          </p:spPr>
        </p:pic>
        <p:pic>
          <p:nvPicPr>
            <p:cNvPr id="168" name="Picture 167"/>
            <p:cNvPicPr>
              <a:picLocks noChangeAspect="1"/>
            </p:cNvPicPr>
            <p:nvPr/>
          </p:nvPicPr>
          <p:blipFill rotWithShape="1">
            <a:blip r:embed="rId14" cstate="print">
              <a:extLst>
                <a:ext uri="{28A0092B-C50C-407E-A947-70E740481C1C}">
                  <a14:useLocalDpi xmlns:a14="http://schemas.microsoft.com/office/drawing/2010/main"/>
                </a:ext>
              </a:extLst>
            </a:blip>
            <a:srcRect r="6626"/>
            <a:stretch/>
          </p:blipFill>
          <p:spPr>
            <a:xfrm>
              <a:off x="3373260" y="1350599"/>
              <a:ext cx="857404" cy="752063"/>
            </a:xfrm>
            <a:prstGeom prst="rect">
              <a:avLst/>
            </a:prstGeom>
          </p:spPr>
        </p:pic>
        <p:pic>
          <p:nvPicPr>
            <p:cNvPr id="1026" name="Picture 2" descr="Image result for product study icon"/>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1036523" y="1265965"/>
              <a:ext cx="929520" cy="9295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44803" y="895833"/>
              <a:ext cx="2044779" cy="276999"/>
            </a:xfrm>
            <a:prstGeom prst="rect">
              <a:avLst/>
            </a:prstGeom>
          </p:spPr>
          <p:txBody>
            <a:bodyPr wrap="square">
              <a:spAutoFit/>
            </a:bodyPr>
            <a:lstStyle/>
            <a:p>
              <a:pPr algn="ctr"/>
              <a:r>
                <a:rPr lang="en-US" sz="1200" b="1" dirty="0">
                  <a:latin typeface="+mj-lt"/>
                  <a:cs typeface="Arial" panose="020B0604020202020204" pitchFamily="34" charset="0"/>
                </a:rPr>
                <a:t>Input Study</a:t>
              </a:r>
            </a:p>
          </p:txBody>
        </p:sp>
      </p:grpSp>
      <p:sp>
        <p:nvSpPr>
          <p:cNvPr id="41" name="Rectangle 40"/>
          <p:cNvSpPr/>
          <p:nvPr/>
        </p:nvSpPr>
        <p:spPr>
          <a:xfrm>
            <a:off x="661985" y="451998"/>
            <a:ext cx="9621004" cy="387798"/>
          </a:xfrm>
          <a:prstGeom prst="rect">
            <a:avLst/>
          </a:prstGeom>
          <a:noFill/>
          <a:ln w="9525">
            <a:noFill/>
            <a:miter lim="800000"/>
            <a:headEnd/>
            <a:tailEnd/>
          </a:ln>
        </p:spPr>
        <p:txBody>
          <a:bodyPr vert="horz" lIns="91440" tIns="45720" rIns="91440" bIns="45720" rtlCol="0" anchor="ctr">
            <a:noAutofit/>
          </a:bodyPr>
          <a:lstStyle/>
          <a:p>
            <a:pPr defTabSz="914400">
              <a:lnSpc>
                <a:spcPct val="90000"/>
              </a:lnSpc>
              <a:spcBef>
                <a:spcPct val="0"/>
              </a:spcBef>
            </a:pPr>
            <a:r>
              <a:rPr lang="en-US" sz="2400" b="1" dirty="0">
                <a:latin typeface="+mn-lt"/>
              </a:rPr>
              <a:t>Project Execution Approach: 2/2</a:t>
            </a:r>
            <a:r>
              <a:rPr lang="en-US" sz="2400" dirty="0">
                <a:cs typeface="Arial" charset="0"/>
              </a:rPr>
              <a:t>			</a:t>
            </a:r>
          </a:p>
        </p:txBody>
      </p:sp>
    </p:spTree>
    <p:extLst>
      <p:ext uri="{BB962C8B-B14F-4D97-AF65-F5344CB8AC3E}">
        <p14:creationId xmlns:p14="http://schemas.microsoft.com/office/powerpoint/2010/main" val="82079663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8189638-84DC-4C18-86C9-D74BC5110FD7}"/>
              </a:ext>
            </a:extLst>
          </p:cNvPr>
          <p:cNvSpPr txBox="1">
            <a:spLocks/>
          </p:cNvSpPr>
          <p:nvPr/>
        </p:nvSpPr>
        <p:spPr>
          <a:xfrm>
            <a:off x="637564" y="324719"/>
            <a:ext cx="9541180" cy="384721"/>
          </a:xfrm>
          <a:prstGeom prst="rect">
            <a:avLst/>
          </a:prstGeom>
          <a:noFill/>
          <a:ln w="9525">
            <a:noFill/>
            <a:miter lim="800000"/>
            <a:headEnd/>
            <a:tailEnd/>
          </a:ln>
        </p:spPr>
        <p:txBody>
          <a:bodyPr vert="horz" lIns="91440" tIns="45720" rIns="91440" bIns="45720" rtlCol="0" anchor="ctr">
            <a:noAutofit/>
          </a:bodyPr>
          <a:lstStyle>
            <a:lvl1pPr defTabSz="914400">
              <a:lnSpc>
                <a:spcPct val="90000"/>
              </a:lnSpc>
              <a:spcBef>
                <a:spcPct val="0"/>
              </a:spcBef>
              <a:buNone/>
              <a:defRPr lang="en-US" sz="2400" dirty="0">
                <a:cs typeface="Arial" charset="0"/>
              </a:defRPr>
            </a:lvl1pPr>
          </a:lstStyle>
          <a:p>
            <a:r>
              <a:rPr lang="en-US" dirty="0"/>
              <a:t>Success Stories</a:t>
            </a:r>
          </a:p>
        </p:txBody>
      </p:sp>
      <p:sp>
        <p:nvSpPr>
          <p:cNvPr id="13" name="Rectangle 12">
            <a:extLst>
              <a:ext uri="{FF2B5EF4-FFF2-40B4-BE49-F238E27FC236}">
                <a16:creationId xmlns:a16="http://schemas.microsoft.com/office/drawing/2014/main" id="{49257B9E-8719-418D-A490-FB4A3807C0E6}"/>
              </a:ext>
            </a:extLst>
          </p:cNvPr>
          <p:cNvSpPr/>
          <p:nvPr/>
        </p:nvSpPr>
        <p:spPr>
          <a:xfrm>
            <a:off x="846212" y="999800"/>
            <a:ext cx="4208020" cy="5533481"/>
          </a:xfrm>
          <a:prstGeom prst="rect">
            <a:avLst/>
          </a:prstGeom>
          <a:solidFill>
            <a:schemeClr val="bg1"/>
          </a:solidFill>
          <a:ln>
            <a:solidFill>
              <a:schemeClr val="tx2"/>
            </a:solidFill>
            <a:prstDash val="sysDot"/>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defTabSz="900133"/>
            <a:endParaRPr lang="en-US" dirty="0">
              <a:solidFill>
                <a:prstClr val="black"/>
              </a:solidFill>
            </a:endParaRPr>
          </a:p>
        </p:txBody>
      </p:sp>
      <p:sp>
        <p:nvSpPr>
          <p:cNvPr id="14" name="Rectangle 13">
            <a:extLst>
              <a:ext uri="{FF2B5EF4-FFF2-40B4-BE49-F238E27FC236}">
                <a16:creationId xmlns:a16="http://schemas.microsoft.com/office/drawing/2014/main" id="{D70DF15D-13BC-4105-BAEF-2DB0DF81D3FF}"/>
              </a:ext>
            </a:extLst>
          </p:cNvPr>
          <p:cNvSpPr/>
          <p:nvPr/>
        </p:nvSpPr>
        <p:spPr>
          <a:xfrm>
            <a:off x="846212" y="2427839"/>
            <a:ext cx="4208020" cy="566200"/>
          </a:xfrm>
          <a:prstGeom prst="rect">
            <a:avLst/>
          </a:prstGeom>
          <a:solidFill>
            <a:schemeClr val="accent1">
              <a:lumMod val="90000"/>
              <a:lumOff val="10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defTabSz="900133"/>
            <a:r>
              <a:rPr lang="en-US" sz="1500" b="1" dirty="0">
                <a:solidFill>
                  <a:prstClr val="white"/>
                </a:solidFill>
              </a:rPr>
              <a:t>NVSRAM replacement and Firmware modifications</a:t>
            </a:r>
          </a:p>
        </p:txBody>
      </p:sp>
      <p:sp>
        <p:nvSpPr>
          <p:cNvPr id="15" name="TextBox 14">
            <a:extLst>
              <a:ext uri="{FF2B5EF4-FFF2-40B4-BE49-F238E27FC236}">
                <a16:creationId xmlns:a16="http://schemas.microsoft.com/office/drawing/2014/main" id="{4C4CF630-BE9E-4E73-8C0F-28665A3E9ACF}"/>
              </a:ext>
            </a:extLst>
          </p:cNvPr>
          <p:cNvSpPr txBox="1"/>
          <p:nvPr/>
        </p:nvSpPr>
        <p:spPr>
          <a:xfrm>
            <a:off x="883720" y="3429000"/>
            <a:ext cx="4122143" cy="2693045"/>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168776" indent="-168776" defTabSz="900133">
              <a:spcAft>
                <a:spcPts val="1143"/>
              </a:spcAft>
              <a:buClr>
                <a:srgbClr val="6D6E71"/>
              </a:buClr>
              <a:buFont typeface="Arial" pitchFamily="34" charset="0"/>
              <a:buChar char="•"/>
            </a:pPr>
            <a:r>
              <a:rPr lang="en-IN" sz="1200" dirty="0">
                <a:solidFill>
                  <a:prstClr val="black"/>
                </a:solidFill>
              </a:rPr>
              <a:t>Find out replacement for the existing NVSRAM with minimal changes in both Hardware and Firmware</a:t>
            </a:r>
          </a:p>
          <a:p>
            <a:pPr marL="168776" indent="-168776" defTabSz="900133">
              <a:spcAft>
                <a:spcPts val="1143"/>
              </a:spcAft>
              <a:buClr>
                <a:srgbClr val="6D6E71"/>
              </a:buClr>
              <a:buFont typeface="Arial" pitchFamily="34" charset="0"/>
              <a:buChar char="•"/>
            </a:pPr>
            <a:r>
              <a:rPr lang="en-IN" sz="1200" dirty="0">
                <a:solidFill>
                  <a:prstClr val="black"/>
                </a:solidFill>
              </a:rPr>
              <a:t>Analyse the schematics of the existing Hardware and firmware</a:t>
            </a:r>
          </a:p>
          <a:p>
            <a:pPr marL="168776" indent="-168776" defTabSz="900133">
              <a:spcAft>
                <a:spcPts val="1143"/>
              </a:spcAft>
              <a:buClr>
                <a:srgbClr val="6D6E71"/>
              </a:buClr>
              <a:buFont typeface="Arial" pitchFamily="34" charset="0"/>
              <a:buChar char="•"/>
            </a:pPr>
            <a:r>
              <a:rPr lang="en-IN" sz="1200" dirty="0">
                <a:solidFill>
                  <a:prstClr val="black"/>
                </a:solidFill>
              </a:rPr>
              <a:t>List out firmware modifications required for the new replacement</a:t>
            </a:r>
          </a:p>
          <a:p>
            <a:pPr marL="168776" indent="-168776" defTabSz="900133">
              <a:spcAft>
                <a:spcPts val="1143"/>
              </a:spcAft>
              <a:buClr>
                <a:srgbClr val="6D6E71"/>
              </a:buClr>
              <a:buFont typeface="Arial" pitchFamily="34" charset="0"/>
              <a:buChar char="•"/>
            </a:pPr>
            <a:r>
              <a:rPr lang="en-IN" sz="1200" dirty="0">
                <a:solidFill>
                  <a:prstClr val="black"/>
                </a:solidFill>
              </a:rPr>
              <a:t>Modify the firmware so that both the existing and the new alternate can work with one</a:t>
            </a:r>
          </a:p>
          <a:p>
            <a:pPr marL="168776" indent="-168776" defTabSz="900133">
              <a:spcAft>
                <a:spcPts val="1143"/>
              </a:spcAft>
              <a:buClr>
                <a:srgbClr val="6D6E71"/>
              </a:buClr>
              <a:buFont typeface="Arial" pitchFamily="34" charset="0"/>
              <a:buChar char="•"/>
            </a:pPr>
            <a:r>
              <a:rPr lang="en-IN" sz="1200" dirty="0">
                <a:solidFill>
                  <a:prstClr val="black"/>
                </a:solidFill>
              </a:rPr>
              <a:t>Prepare the test plan for qualification with modified firmware @ 180 C</a:t>
            </a:r>
          </a:p>
          <a:p>
            <a:pPr marL="168776" indent="-168776" defTabSz="900133">
              <a:spcAft>
                <a:spcPts val="1143"/>
              </a:spcAft>
              <a:buClr>
                <a:srgbClr val="6D6E71"/>
              </a:buClr>
              <a:buFont typeface="Arial" pitchFamily="34" charset="0"/>
              <a:buChar char="•"/>
            </a:pPr>
            <a:r>
              <a:rPr lang="en-IN" sz="1200" dirty="0">
                <a:solidFill>
                  <a:prstClr val="black"/>
                </a:solidFill>
              </a:rPr>
              <a:t>Log the real time test data for all 600 hrs. </a:t>
            </a:r>
            <a:r>
              <a:rPr lang="en-US" sz="1200" dirty="0">
                <a:solidFill>
                  <a:prstClr val="black"/>
                </a:solidFill>
              </a:rPr>
              <a:t>of high temperature testing (@180 C)</a:t>
            </a:r>
          </a:p>
          <a:p>
            <a:pPr marL="168776" indent="-168776" defTabSz="900133">
              <a:spcAft>
                <a:spcPts val="1143"/>
              </a:spcAft>
              <a:buClr>
                <a:srgbClr val="6D6E71"/>
              </a:buClr>
              <a:buFont typeface="Arial" pitchFamily="34" charset="0"/>
              <a:buChar char="•"/>
            </a:pPr>
            <a:r>
              <a:rPr lang="en-US" sz="1200" dirty="0">
                <a:solidFill>
                  <a:prstClr val="black"/>
                </a:solidFill>
              </a:rPr>
              <a:t>Prepare the test report and the new firmware release notes</a:t>
            </a:r>
          </a:p>
        </p:txBody>
      </p:sp>
      <p:pic>
        <p:nvPicPr>
          <p:cNvPr id="16" name="Picture 15">
            <a:extLst>
              <a:ext uri="{FF2B5EF4-FFF2-40B4-BE49-F238E27FC236}">
                <a16:creationId xmlns:a16="http://schemas.microsoft.com/office/drawing/2014/main" id="{EE872888-7531-43AB-9747-EBD225E86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594" y="1070920"/>
            <a:ext cx="4034269" cy="1230332"/>
          </a:xfrm>
          <a:prstGeom prst="rect">
            <a:avLst/>
          </a:prstGeom>
        </p:spPr>
      </p:pic>
      <p:sp>
        <p:nvSpPr>
          <p:cNvPr id="17" name="Rectangle 16">
            <a:extLst>
              <a:ext uri="{FF2B5EF4-FFF2-40B4-BE49-F238E27FC236}">
                <a16:creationId xmlns:a16="http://schemas.microsoft.com/office/drawing/2014/main" id="{904E7E34-A88C-4482-B4BB-75FFCD8F8E6C}"/>
              </a:ext>
            </a:extLst>
          </p:cNvPr>
          <p:cNvSpPr/>
          <p:nvPr/>
        </p:nvSpPr>
        <p:spPr>
          <a:xfrm>
            <a:off x="6406752" y="1005110"/>
            <a:ext cx="4208020" cy="5528171"/>
          </a:xfrm>
          <a:prstGeom prst="rect">
            <a:avLst/>
          </a:prstGeom>
          <a:solidFill>
            <a:schemeClr val="bg1"/>
          </a:solidFill>
          <a:ln>
            <a:solidFill>
              <a:schemeClr val="tx2"/>
            </a:solidFill>
            <a:prstDash val="sysDot"/>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defTabSz="900133"/>
            <a:endParaRPr lang="en-US" dirty="0">
              <a:solidFill>
                <a:prstClr val="black"/>
              </a:solidFill>
            </a:endParaRPr>
          </a:p>
        </p:txBody>
      </p:sp>
      <p:sp>
        <p:nvSpPr>
          <p:cNvPr id="18" name="Rectangle 17">
            <a:extLst>
              <a:ext uri="{FF2B5EF4-FFF2-40B4-BE49-F238E27FC236}">
                <a16:creationId xmlns:a16="http://schemas.microsoft.com/office/drawing/2014/main" id="{2FB87392-D060-4027-8184-0FEE54CD7631}"/>
              </a:ext>
            </a:extLst>
          </p:cNvPr>
          <p:cNvSpPr/>
          <p:nvPr/>
        </p:nvSpPr>
        <p:spPr>
          <a:xfrm>
            <a:off x="6406752" y="2396409"/>
            <a:ext cx="4208020" cy="585002"/>
          </a:xfrm>
          <a:prstGeom prst="rect">
            <a:avLst/>
          </a:prstGeom>
          <a:solidFill>
            <a:schemeClr val="accent1">
              <a:lumMod val="90000"/>
              <a:lumOff val="10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defTabSz="900133"/>
            <a:r>
              <a:rPr lang="en-US" sz="1500" b="1" dirty="0">
                <a:solidFill>
                  <a:prstClr val="white"/>
                </a:solidFill>
              </a:rPr>
              <a:t>USB Controller selection and qualification </a:t>
            </a:r>
          </a:p>
        </p:txBody>
      </p:sp>
      <p:sp>
        <p:nvSpPr>
          <p:cNvPr id="19" name="TextBox 18">
            <a:extLst>
              <a:ext uri="{FF2B5EF4-FFF2-40B4-BE49-F238E27FC236}">
                <a16:creationId xmlns:a16="http://schemas.microsoft.com/office/drawing/2014/main" id="{9812D9DF-49FD-4891-ACAC-81C5602AD040}"/>
              </a:ext>
            </a:extLst>
          </p:cNvPr>
          <p:cNvSpPr txBox="1"/>
          <p:nvPr/>
        </p:nvSpPr>
        <p:spPr>
          <a:xfrm>
            <a:off x="6449690" y="3217549"/>
            <a:ext cx="4122143" cy="2595582"/>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168776" indent="-168776" defTabSz="900133">
              <a:spcAft>
                <a:spcPts val="1143"/>
              </a:spcAft>
              <a:buClr>
                <a:srgbClr val="6D6E71"/>
              </a:buClr>
              <a:buFont typeface="Arial" pitchFamily="34" charset="0"/>
              <a:buChar char="•"/>
            </a:pPr>
            <a:r>
              <a:rPr lang="en-US" sz="1200" dirty="0">
                <a:solidFill>
                  <a:prstClr val="black"/>
                </a:solidFill>
              </a:rPr>
              <a:t>Analyze </a:t>
            </a:r>
            <a:r>
              <a:rPr lang="en-IN" sz="1200" dirty="0">
                <a:solidFill>
                  <a:prstClr val="black"/>
                </a:solidFill>
              </a:rPr>
              <a:t>the functionality and specification requirement of  the USB controller IC in current design. </a:t>
            </a:r>
          </a:p>
          <a:p>
            <a:pPr marL="168776" indent="-168776" defTabSz="900133">
              <a:spcAft>
                <a:spcPts val="1143"/>
              </a:spcAft>
              <a:buClr>
                <a:srgbClr val="6D6E71"/>
              </a:buClr>
              <a:buFont typeface="Arial" pitchFamily="34" charset="0"/>
              <a:buChar char="•"/>
            </a:pPr>
            <a:r>
              <a:rPr lang="en-IN" sz="1200" dirty="0">
                <a:solidFill>
                  <a:prstClr val="black"/>
                </a:solidFill>
              </a:rPr>
              <a:t>Identify and study the IC’s with similar functionalities. Create detailed Pugh matrix for selection(based on performance, cost, availability).</a:t>
            </a:r>
          </a:p>
          <a:p>
            <a:pPr marL="168776" indent="-168776" defTabSz="900133">
              <a:spcAft>
                <a:spcPts val="1143"/>
              </a:spcAft>
              <a:buClr>
                <a:srgbClr val="6D6E71"/>
              </a:buClr>
              <a:buFont typeface="Arial" pitchFamily="34" charset="0"/>
              <a:buChar char="•"/>
            </a:pPr>
            <a:r>
              <a:rPr lang="en-IN" sz="1200" dirty="0">
                <a:solidFill>
                  <a:prstClr val="black"/>
                </a:solidFill>
              </a:rPr>
              <a:t>Hardware interface design and porting the existing firmware for the identified IC’s.</a:t>
            </a:r>
          </a:p>
          <a:p>
            <a:pPr marL="168776" indent="-168776" defTabSz="900133">
              <a:spcAft>
                <a:spcPts val="1143"/>
              </a:spcAft>
              <a:buClr>
                <a:srgbClr val="6D6E71"/>
              </a:buClr>
              <a:buFont typeface="Arial" pitchFamily="34" charset="0"/>
              <a:buChar char="•"/>
            </a:pPr>
            <a:r>
              <a:rPr lang="en-IN" sz="1200" dirty="0">
                <a:solidFill>
                  <a:prstClr val="black"/>
                </a:solidFill>
              </a:rPr>
              <a:t>Testing the new IC to check the desired performance and functionality.</a:t>
            </a:r>
          </a:p>
          <a:p>
            <a:pPr marL="168776" indent="-168776" defTabSz="900133">
              <a:spcAft>
                <a:spcPts val="1143"/>
              </a:spcAft>
              <a:buClr>
                <a:srgbClr val="6D6E71"/>
              </a:buClr>
              <a:buFont typeface="Arial" pitchFamily="34" charset="0"/>
              <a:buChar char="•"/>
            </a:pPr>
            <a:r>
              <a:rPr lang="en-IN" sz="1200" dirty="0">
                <a:solidFill>
                  <a:prstClr val="black"/>
                </a:solidFill>
              </a:rPr>
              <a:t>Verifying the IC with new design for down hole  high temperature conditions.</a:t>
            </a:r>
            <a:endParaRPr lang="en-IN" sz="900" dirty="0">
              <a:solidFill>
                <a:prstClr val="black"/>
              </a:solidFill>
            </a:endParaRPr>
          </a:p>
        </p:txBody>
      </p:sp>
      <p:pic>
        <p:nvPicPr>
          <p:cNvPr id="20" name="Picture 4">
            <a:extLst>
              <a:ext uri="{FF2B5EF4-FFF2-40B4-BE49-F238E27FC236}">
                <a16:creationId xmlns:a16="http://schemas.microsoft.com/office/drawing/2014/main" id="{AA8A0EA4-F44B-4E9B-98AF-6FE1784AF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72" y="999800"/>
            <a:ext cx="4200214" cy="144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0134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056" y="393375"/>
            <a:ext cx="9823495" cy="387798"/>
          </a:xfrm>
          <a:noFill/>
          <a:ln w="9525">
            <a:noFill/>
            <a:miter lim="800000"/>
            <a:headEnd/>
            <a:tailEnd/>
          </a:ln>
        </p:spPr>
        <p:txBody>
          <a:bodyPr vert="horz" lIns="91440" tIns="45720" rIns="91440" bIns="45720" rtlCol="0" anchor="ctr">
            <a:noAutofit/>
          </a:bodyPr>
          <a:lstStyle/>
          <a:p>
            <a:r>
              <a:rPr lang="en-IN" dirty="0"/>
              <a:t>Obsolescence Management – Power Devices &amp; others</a:t>
            </a:r>
          </a:p>
        </p:txBody>
      </p:sp>
      <p:sp>
        <p:nvSpPr>
          <p:cNvPr id="13" name="TextBox 36"/>
          <p:cNvSpPr txBox="1">
            <a:spLocks noChangeArrowheads="1"/>
          </p:cNvSpPr>
          <p:nvPr/>
        </p:nvSpPr>
        <p:spPr bwMode="auto">
          <a:xfrm>
            <a:off x="604563" y="1129971"/>
            <a:ext cx="5797551" cy="2303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5715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just">
              <a:buClr>
                <a:schemeClr val="tx2"/>
              </a:buClr>
              <a:defRPr/>
            </a:pPr>
            <a:r>
              <a:rPr lang="en-US" altLang="en-US" sz="1600" b="1" dirty="0">
                <a:solidFill>
                  <a:schemeClr val="tx2"/>
                </a:solidFill>
                <a:latin typeface="+mj-lt"/>
              </a:rPr>
              <a:t>Scope:</a:t>
            </a:r>
          </a:p>
          <a:p>
            <a:pPr marL="95996" algn="just">
              <a:spcBef>
                <a:spcPts val="200"/>
              </a:spcBef>
              <a:spcAft>
                <a:spcPts val="200"/>
              </a:spcAft>
              <a:defRPr/>
            </a:pPr>
            <a:r>
              <a:rPr lang="en-US" sz="1400" dirty="0">
                <a:latin typeface="+mj-lt"/>
              </a:rPr>
              <a:t>Complete Ownership of product obsolescence activities for components in VFDs:</a:t>
            </a:r>
          </a:p>
          <a:p>
            <a:pPr marL="335984" indent="-239989" algn="just">
              <a:spcBef>
                <a:spcPts val="200"/>
              </a:spcBef>
              <a:spcAft>
                <a:spcPts val="200"/>
              </a:spcAft>
              <a:buFont typeface="Times" panose="02020603050405020304" pitchFamily="18" charset="0"/>
              <a:buChar char="•"/>
              <a:defRPr/>
            </a:pPr>
            <a:r>
              <a:rPr lang="en-US" sz="1400" dirty="0">
                <a:latin typeface="+mj-lt"/>
              </a:rPr>
              <a:t>Requirement analysis based on PCN / </a:t>
            </a:r>
            <a:r>
              <a:rPr lang="en-US" sz="1400" dirty="0" err="1">
                <a:latin typeface="+mj-lt"/>
              </a:rPr>
              <a:t>EoL</a:t>
            </a:r>
            <a:r>
              <a:rPr lang="en-US" sz="1400" dirty="0">
                <a:latin typeface="+mj-lt"/>
              </a:rPr>
              <a:t> notification from suppliers</a:t>
            </a:r>
          </a:p>
          <a:p>
            <a:pPr marL="335984" indent="-239989" algn="just">
              <a:spcBef>
                <a:spcPts val="200"/>
              </a:spcBef>
              <a:spcAft>
                <a:spcPts val="200"/>
              </a:spcAft>
              <a:buFont typeface="Times" panose="02020603050405020304" pitchFamily="18" charset="0"/>
              <a:buChar char="•"/>
              <a:defRPr/>
            </a:pPr>
            <a:r>
              <a:rPr lang="en-US" sz="1400" dirty="0">
                <a:latin typeface="+mj-lt"/>
              </a:rPr>
              <a:t>Component usage in products, BoM affected by change</a:t>
            </a:r>
          </a:p>
          <a:p>
            <a:pPr marL="335984" indent="-239989" algn="just">
              <a:spcBef>
                <a:spcPts val="200"/>
              </a:spcBef>
              <a:spcAft>
                <a:spcPts val="200"/>
              </a:spcAft>
              <a:buFont typeface="Times" panose="02020603050405020304" pitchFamily="18" charset="0"/>
              <a:buChar char="•"/>
              <a:defRPr/>
            </a:pPr>
            <a:r>
              <a:rPr lang="en-US" sz="1400" dirty="0">
                <a:latin typeface="+mj-lt"/>
              </a:rPr>
              <a:t>Assess impact on UL file</a:t>
            </a:r>
          </a:p>
          <a:p>
            <a:pPr marL="335984" indent="-239989" algn="just">
              <a:spcBef>
                <a:spcPts val="200"/>
              </a:spcBef>
              <a:spcAft>
                <a:spcPts val="200"/>
              </a:spcAft>
              <a:buFont typeface="Times" panose="02020603050405020304" pitchFamily="18" charset="0"/>
              <a:buChar char="•"/>
              <a:defRPr/>
            </a:pPr>
            <a:r>
              <a:rPr lang="en-US" sz="1400" dirty="0">
                <a:latin typeface="+mj-lt"/>
              </a:rPr>
              <a:t>Search alternate components, generate technical comparison and propose commercial strategy</a:t>
            </a:r>
          </a:p>
          <a:p>
            <a:pPr marL="335984" indent="-239989" algn="just">
              <a:spcBef>
                <a:spcPts val="200"/>
              </a:spcBef>
              <a:spcAft>
                <a:spcPts val="200"/>
              </a:spcAft>
              <a:buFont typeface="Times" panose="02020603050405020304" pitchFamily="18" charset="0"/>
              <a:buChar char="•"/>
              <a:defRPr/>
            </a:pPr>
            <a:r>
              <a:rPr lang="en-US" sz="1400" dirty="0">
                <a:latin typeface="+mj-lt"/>
              </a:rPr>
              <a:t>Procure samples, validate and generate test reports</a:t>
            </a:r>
          </a:p>
          <a:p>
            <a:pPr marL="335984" indent="-239989" algn="just">
              <a:spcBef>
                <a:spcPts val="200"/>
              </a:spcBef>
              <a:spcAft>
                <a:spcPts val="200"/>
              </a:spcAft>
              <a:buFont typeface="Times" panose="02020603050405020304" pitchFamily="18" charset="0"/>
              <a:buChar char="•"/>
              <a:defRPr/>
            </a:pPr>
            <a:r>
              <a:rPr lang="en-US" sz="1400" dirty="0">
                <a:latin typeface="+mj-lt"/>
              </a:rPr>
              <a:t>Raise ECN and update design documents (BoM, schematics, layouts, </a:t>
            </a:r>
            <a:r>
              <a:rPr lang="en-US" sz="1400" dirty="0" err="1">
                <a:latin typeface="+mj-lt"/>
              </a:rPr>
              <a:t>etc</a:t>
            </a:r>
            <a:r>
              <a:rPr lang="en-US" sz="1400" dirty="0">
                <a:latin typeface="+mj-lt"/>
              </a:rPr>
              <a:t>)</a:t>
            </a:r>
          </a:p>
        </p:txBody>
      </p:sp>
      <p:sp>
        <p:nvSpPr>
          <p:cNvPr id="14" name="TextBox 13"/>
          <p:cNvSpPr txBox="1"/>
          <p:nvPr/>
        </p:nvSpPr>
        <p:spPr>
          <a:xfrm>
            <a:off x="604563" y="3781964"/>
            <a:ext cx="6922672" cy="2831544"/>
          </a:xfrm>
          <a:prstGeom prst="rect">
            <a:avLst/>
          </a:prstGeom>
          <a:noFill/>
          <a:ln w="9525">
            <a:noFill/>
            <a:miter lim="800000"/>
            <a:headEnd/>
            <a:tailEnd/>
          </a:ln>
        </p:spPr>
        <p:txBody>
          <a:bodyPr wrap="square" lIns="0" tIns="0" rIns="0" bIns="0">
            <a:spAutoFit/>
          </a:bodyPr>
          <a:lstStyle/>
          <a:p>
            <a:pPr marL="76197" algn="just">
              <a:buClr>
                <a:schemeClr val="tx2"/>
              </a:buClr>
              <a:defRPr/>
            </a:pPr>
            <a:r>
              <a:rPr lang="en-US" sz="1600" b="1" dirty="0">
                <a:solidFill>
                  <a:schemeClr val="tx2"/>
                </a:solidFill>
                <a:latin typeface="+mj-lt"/>
              </a:rPr>
              <a:t>CIB modules and IGBTs:</a:t>
            </a:r>
          </a:p>
          <a:p>
            <a:pPr marL="335984" indent="-228589">
              <a:lnSpc>
                <a:spcPct val="150000"/>
              </a:lnSpc>
              <a:buFont typeface="Arial" panose="020B0604020202020204" pitchFamily="34" charset="0"/>
              <a:buChar char="•"/>
              <a:defRPr/>
            </a:pPr>
            <a:r>
              <a:rPr lang="en-US" sz="1400" dirty="0">
                <a:latin typeface="+mj-lt"/>
              </a:rPr>
              <a:t>Characteristic comparison</a:t>
            </a:r>
          </a:p>
          <a:p>
            <a:pPr marL="335984" indent="-228589">
              <a:lnSpc>
                <a:spcPct val="150000"/>
              </a:lnSpc>
              <a:buFont typeface="Arial" panose="020B0604020202020204" pitchFamily="34" charset="0"/>
              <a:buChar char="•"/>
              <a:defRPr/>
            </a:pPr>
            <a:r>
              <a:rPr lang="en-US" sz="1400" dirty="0">
                <a:latin typeface="+mj-lt"/>
              </a:rPr>
              <a:t>Gate resistance assessment</a:t>
            </a:r>
          </a:p>
          <a:p>
            <a:pPr marL="335984" indent="-228589">
              <a:lnSpc>
                <a:spcPct val="150000"/>
              </a:lnSpc>
              <a:buFont typeface="Arial" panose="020B0604020202020204" pitchFamily="34" charset="0"/>
              <a:buChar char="•"/>
              <a:defRPr/>
            </a:pPr>
            <a:r>
              <a:rPr lang="en-US" sz="1400" dirty="0">
                <a:latin typeface="+mj-lt"/>
              </a:rPr>
              <a:t>Power Loss calculation and assess changes required in product</a:t>
            </a:r>
          </a:p>
          <a:p>
            <a:pPr marL="335984" indent="-228589">
              <a:lnSpc>
                <a:spcPct val="150000"/>
              </a:lnSpc>
              <a:buFont typeface="Arial" panose="020B0604020202020204" pitchFamily="34" charset="0"/>
              <a:buChar char="•"/>
              <a:defRPr/>
            </a:pPr>
            <a:r>
              <a:rPr lang="en-US" sz="1400" dirty="0">
                <a:latin typeface="+mj-lt"/>
              </a:rPr>
              <a:t>Procure samples and validate</a:t>
            </a:r>
          </a:p>
          <a:p>
            <a:pPr marL="945568" lvl="1" indent="-228589">
              <a:lnSpc>
                <a:spcPct val="150000"/>
              </a:lnSpc>
              <a:buFont typeface="Arial" panose="020B0604020202020204" pitchFamily="34" charset="0"/>
              <a:buChar char="•"/>
              <a:defRPr/>
            </a:pPr>
            <a:r>
              <a:rPr lang="en-US" sz="1400" dirty="0">
                <a:latin typeface="+mj-lt"/>
              </a:rPr>
              <a:t>Switching characteristics</a:t>
            </a:r>
          </a:p>
          <a:p>
            <a:pPr marL="945568" lvl="1" indent="-228589">
              <a:lnSpc>
                <a:spcPct val="150000"/>
              </a:lnSpc>
              <a:buFont typeface="Arial" panose="020B0604020202020204" pitchFamily="34" charset="0"/>
              <a:buChar char="•"/>
              <a:defRPr/>
            </a:pPr>
            <a:r>
              <a:rPr lang="en-US" sz="1400" dirty="0">
                <a:latin typeface="+mj-lt"/>
              </a:rPr>
              <a:t>Temperature rise test</a:t>
            </a:r>
          </a:p>
          <a:p>
            <a:pPr marL="945568" lvl="1" indent="-228589">
              <a:lnSpc>
                <a:spcPct val="150000"/>
              </a:lnSpc>
              <a:buFont typeface="Arial" panose="020B0604020202020204" pitchFamily="34" charset="0"/>
              <a:buChar char="•"/>
              <a:defRPr/>
            </a:pPr>
            <a:r>
              <a:rPr lang="en-US" sz="1400" dirty="0">
                <a:latin typeface="+mj-lt"/>
              </a:rPr>
              <a:t>Overload behavior</a:t>
            </a:r>
          </a:p>
          <a:p>
            <a:pPr marL="335984" indent="-228589">
              <a:lnSpc>
                <a:spcPct val="150000"/>
              </a:lnSpc>
              <a:buFont typeface="Arial" panose="020B0604020202020204" pitchFamily="34" charset="0"/>
              <a:buChar char="•"/>
              <a:defRPr/>
            </a:pPr>
            <a:r>
              <a:rPr lang="en-US" sz="1400" dirty="0">
                <a:latin typeface="+mj-lt"/>
              </a:rPr>
              <a:t>BoM, schematic and PCB layout update</a:t>
            </a:r>
          </a:p>
        </p:txBody>
      </p:sp>
      <p:pic>
        <p:nvPicPr>
          <p:cNvPr id="4" name="Picture 3"/>
          <p:cNvPicPr>
            <a:picLocks noChangeAspect="1"/>
          </p:cNvPicPr>
          <p:nvPr/>
        </p:nvPicPr>
        <p:blipFill>
          <a:blip r:embed="rId2"/>
          <a:stretch>
            <a:fillRect/>
          </a:stretch>
        </p:blipFill>
        <p:spPr>
          <a:xfrm>
            <a:off x="7234617" y="1425965"/>
            <a:ext cx="2155647" cy="1695548"/>
          </a:xfrm>
          <a:prstGeom prst="rect">
            <a:avLst/>
          </a:prstGeom>
        </p:spPr>
      </p:pic>
      <p:pic>
        <p:nvPicPr>
          <p:cNvPr id="12294" name="Picture 6" descr="Image result for CIB modu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1203" y="1425964"/>
            <a:ext cx="2286000" cy="171450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36"/>
          <p:cNvSpPr txBox="1">
            <a:spLocks noChangeArrowheads="1"/>
          </p:cNvSpPr>
          <p:nvPr/>
        </p:nvSpPr>
        <p:spPr bwMode="auto">
          <a:xfrm>
            <a:off x="8121672" y="5106705"/>
            <a:ext cx="2378817"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57150">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just">
              <a:buClr>
                <a:schemeClr val="tx2"/>
              </a:buClr>
              <a:defRPr/>
            </a:pPr>
            <a:r>
              <a:rPr lang="en-US" altLang="en-US" sz="1100" b="1" dirty="0">
                <a:solidFill>
                  <a:schemeClr val="bg2"/>
                </a:solidFill>
                <a:latin typeface="+mj-lt"/>
              </a:rPr>
              <a:t>Regenerative test set-up in PE lab</a:t>
            </a:r>
            <a:endParaRPr lang="en-US" sz="1100" dirty="0">
              <a:latin typeface="+mj-lt"/>
            </a:endParaRPr>
          </a:p>
        </p:txBody>
      </p:sp>
      <p:pic>
        <p:nvPicPr>
          <p:cNvPr id="16" name="Picture 15"/>
          <p:cNvPicPr>
            <a:picLocks noChangeAspect="1"/>
          </p:cNvPicPr>
          <p:nvPr/>
        </p:nvPicPr>
        <p:blipFill rotWithShape="1">
          <a:blip r:embed="rId4"/>
          <a:srcRect r="67325"/>
          <a:stretch/>
        </p:blipFill>
        <p:spPr>
          <a:xfrm>
            <a:off x="8057160" y="3240745"/>
            <a:ext cx="2443329" cy="1828800"/>
          </a:xfrm>
          <a:prstGeom prst="rect">
            <a:avLst/>
          </a:prstGeom>
        </p:spPr>
      </p:pic>
    </p:spTree>
    <p:extLst>
      <p:ext uri="{BB962C8B-B14F-4D97-AF65-F5344CB8AC3E}">
        <p14:creationId xmlns:p14="http://schemas.microsoft.com/office/powerpoint/2010/main" val="25179559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783933" y="1527176"/>
            <a:ext cx="6729412" cy="492125"/>
          </a:xfrm>
        </p:spPr>
        <p:txBody>
          <a:bodyPr/>
          <a:lstStyle/>
          <a:p>
            <a:r>
              <a:rPr dirty="0">
                <a:latin typeface="Arial" charset="0"/>
                <a:cs typeface="Arial" charset="0"/>
              </a:rPr>
              <a:t>Thank you</a:t>
            </a:r>
          </a:p>
        </p:txBody>
      </p:sp>
      <p:sp>
        <p:nvSpPr>
          <p:cNvPr id="28675" name="Text Placeholder 2"/>
          <p:cNvSpPr>
            <a:spLocks noGrp="1"/>
          </p:cNvSpPr>
          <p:nvPr>
            <p:ph type="body" sz="quarter" idx="14"/>
          </p:nvPr>
        </p:nvSpPr>
        <p:spPr>
          <a:xfrm>
            <a:off x="1783934" y="2139951"/>
            <a:ext cx="6734175" cy="277813"/>
          </a:xfrm>
        </p:spPr>
        <p:txBody>
          <a:bodyPr/>
          <a:lstStyle/>
          <a:p>
            <a:pPr>
              <a:spcBef>
                <a:spcPct val="0"/>
              </a:spcBef>
              <a:buFont typeface="Arial" charset="0"/>
              <a:buNone/>
            </a:pPr>
            <a:r>
              <a:rPr>
                <a:latin typeface="Arial" charset="0"/>
                <a:cs typeface="Arial" charset="0"/>
              </a:rPr>
              <a:t>Visit us at www.techmahindra.com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ch Mahindra Template 2014">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extLst>
    <a:ext uri="{05A4C25C-085E-4340-85A3-A5531E510DB2}">
      <thm15:themeFamily xmlns:thm15="http://schemas.microsoft.com/office/thememl/2012/main" name="TechM Template - 2022.pptx  -  Read-Only" id="{B4B2A825-8D7C-404B-84E2-611A93ECB001}" vid="{24510300-E0B4-4637-96E5-C87B30563F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Categories0 xmlns="4d6ad1ba-d08e-4b75-8db3-2812d04b0920">System Elements</Categories0>
    <Buisness xmlns="4d6ad1ba-d08e-4b75-8db3-2812d04b0920">Corporate</Buisnes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3DB49D88D31094DA120D26E4D4F3F0E" ma:contentTypeVersion="12" ma:contentTypeDescription="Create a new document." ma:contentTypeScope="" ma:versionID="177528042dfc9983a61241e73ce23cff">
  <xsd:schema xmlns:xsd="http://www.w3.org/2001/XMLSchema" xmlns:xs="http://www.w3.org/2001/XMLSchema" xmlns:p="http://schemas.microsoft.com/office/2006/metadata/properties" xmlns:ns3="4d6ad1ba-d08e-4b75-8db3-2812d04b0920" targetNamespace="http://schemas.microsoft.com/office/2006/metadata/properties" ma:root="true" ma:fieldsID="e7a484c8c8fa8045003fe2170f633c7a" ns3:_="">
    <xsd:import namespace="4d6ad1ba-d08e-4b75-8db3-2812d04b0920"/>
    <xsd:element name="properties">
      <xsd:complexType>
        <xsd:sequence>
          <xsd:element name="documentManagement">
            <xsd:complexType>
              <xsd:all>
                <xsd:element ref="ns3:Categories0" minOccurs="0"/>
                <xsd:element ref="ns3:Buisnes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6ad1ba-d08e-4b75-8db3-2812d04b0920" elementFormDefault="qualified">
    <xsd:import namespace="http://schemas.microsoft.com/office/2006/documentManagement/types"/>
    <xsd:import namespace="http://schemas.microsoft.com/office/infopath/2007/PartnerControls"/>
    <xsd:element name="Categories0" ma:index="9" nillable="true" ma:displayName="Categories" ma:default="System Elements" ma:format="Dropdown" ma:internalName="Categories0">
      <xsd:simpleType>
        <xsd:restriction base="dms:Choice">
          <xsd:enumeration value="System Elements"/>
          <xsd:enumeration value="Stationary"/>
          <xsd:enumeration value="Signage"/>
          <xsd:enumeration value="Collateral"/>
          <xsd:enumeration value="Advertising"/>
          <xsd:enumeration value="Digital"/>
        </xsd:restriction>
      </xsd:simpleType>
    </xsd:element>
    <xsd:element name="Buisness" ma:index="10" nillable="true" ma:displayName="Buisness" ma:default="Corporate" ma:format="Dropdown" ma:internalName="Buisness">
      <xsd:simpleType>
        <xsd:restriction base="dms:Choice">
          <xsd:enumeration value="Corporate"/>
          <xsd:enumeration value="Mobility"/>
          <xsd:enumeration value="B2B"/>
          <xsd:enumeration value="Non mobility"/>
          <xsd:enumeration value="B2C"/>
          <xsd:enumeration value="Joint Ventur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A1B877-42DF-448B-A257-86EBCF04CE7C}">
  <ds:schemaRefs>
    <ds:schemaRef ds:uri="http://schemas.microsoft.com/sharepoint/v3/contenttype/forms"/>
  </ds:schemaRefs>
</ds:datastoreItem>
</file>

<file path=customXml/itemProps2.xml><?xml version="1.0" encoding="utf-8"?>
<ds:datastoreItem xmlns:ds="http://schemas.openxmlformats.org/officeDocument/2006/customXml" ds:itemID="{BF0B3A14-0F09-4A5A-AEC4-1E6EBA155821}">
  <ds:schemaRefs>
    <ds:schemaRef ds:uri="http://purl.org/dc/elements/1.1/"/>
    <ds:schemaRef ds:uri="4d6ad1ba-d08e-4b75-8db3-2812d04b0920"/>
    <ds:schemaRef ds:uri="http://schemas.microsoft.com/office/2006/metadata/properties"/>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3B5A58A0-7396-4B7D-871B-A6C043C61F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6ad1ba-d08e-4b75-8db3-2812d04b092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227</TotalTime>
  <Words>1826</Words>
  <Application>Microsoft Office PowerPoint</Application>
  <PresentationFormat>Widescreen</PresentationFormat>
  <Paragraphs>293</Paragraphs>
  <Slides>20</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Narrow</vt:lpstr>
      <vt:lpstr>Calibri</vt:lpstr>
      <vt:lpstr>Times</vt:lpstr>
      <vt:lpstr>Wingdings</vt:lpstr>
      <vt:lpstr>Tech Mahindra Template 2014</vt:lpstr>
      <vt:lpstr>PowerPoint Presentation</vt:lpstr>
      <vt:lpstr>OBS Management</vt:lpstr>
      <vt:lpstr>OBS Management Process</vt:lpstr>
      <vt:lpstr>Obsolescence Management Competency</vt:lpstr>
      <vt:lpstr>PowerPoint Presentation</vt:lpstr>
      <vt:lpstr>Component engineering</vt:lpstr>
      <vt:lpstr>Component Engineering</vt:lpstr>
      <vt:lpstr>Alternate Finding</vt:lpstr>
      <vt:lpstr>Alternate Finding</vt:lpstr>
      <vt:lpstr>Alternate Finding</vt:lpstr>
      <vt:lpstr>PowerPoint Presentation</vt:lpstr>
      <vt:lpstr>Alternate Finding</vt:lpstr>
      <vt:lpstr>Alternate Finding</vt:lpstr>
      <vt:lpstr>Case Studies</vt:lpstr>
      <vt:lpstr>Cost Optimization of Active Rectifier: 1/2         </vt:lpstr>
      <vt:lpstr>PowerPoint Presentation</vt:lpstr>
      <vt:lpstr>PowerPoint Presentation</vt:lpstr>
      <vt:lpstr>Obsolescence Management – Power Devices &amp; others</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Subhash Kiran Yandrapragada</dc:creator>
  <cp:lastModifiedBy>Subhash Kiran Yandrapragada</cp:lastModifiedBy>
  <cp:revision>118</cp:revision>
  <dcterms:created xsi:type="dcterms:W3CDTF">2022-09-23T02:30:05Z</dcterms:created>
  <dcterms:modified xsi:type="dcterms:W3CDTF">2023-07-05T21:46:38Z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0x01010013DB49D88D31094DA120D26E4D4F3F0E</vt:lpwstr>
  </property>
  <property fmtid="{D5CDD505-2E9C-101B-9397-08002B2CF9AE}" pid="3" name="Categories0">
    <vt:lpwstr>System Elements</vt:lpwstr>
  </property>
  <property fmtid="{D5CDD505-2E9C-101B-9397-08002B2CF9AE}" pid="4" name="Buisness">
    <vt:lpwstr>Corporate</vt:lpwstr>
  </property>
  <property fmtid="{D5CDD505-2E9C-101B-9397-08002B2CF9AE}" pid="5" name="DLPManualFileClassification">
    <vt:lpwstr>{1A067545-A4E2-4FA1-8094-0D7902669705}</vt:lpwstr>
  </property>
  <property fmtid="{D5CDD505-2E9C-101B-9397-08002B2CF9AE}" pid="6" name="DLPManualFileClassificationLastModifiedBy">
    <vt:lpwstr>TECHMAHINDRA\EH00502061</vt:lpwstr>
  </property>
  <property fmtid="{D5CDD505-2E9C-101B-9397-08002B2CF9AE}" pid="7" name="DLPManualFileClassificationLastModificationDate">
    <vt:lpwstr>1520406007</vt:lpwstr>
  </property>
  <property fmtid="{D5CDD505-2E9C-101B-9397-08002B2CF9AE}" pid="8" name="DLPManualFileClassificationVersion">
    <vt:lpwstr>10.0.100.37</vt:lpwstr>
  </property>
  <property fmtid="{D5CDD505-2E9C-101B-9397-08002B2CF9AE}" pid="9" name="MSIP_Label_ec655256-13e9-4c0b-ba73-c54361842301_Enabled">
    <vt:lpwstr>true</vt:lpwstr>
  </property>
  <property fmtid="{D5CDD505-2E9C-101B-9397-08002B2CF9AE}" pid="10" name="MSIP_Label_ec655256-13e9-4c0b-ba73-c54361842301_SetDate">
    <vt:lpwstr>2023-07-05T21:45:56Z</vt:lpwstr>
  </property>
  <property fmtid="{D5CDD505-2E9C-101B-9397-08002B2CF9AE}" pid="11" name="MSIP_Label_ec655256-13e9-4c0b-ba73-c54361842301_Method">
    <vt:lpwstr>Privileged</vt:lpwstr>
  </property>
  <property fmtid="{D5CDD505-2E9C-101B-9397-08002B2CF9AE}" pid="12" name="MSIP_Label_ec655256-13e9-4c0b-ba73-c54361842301_Name">
    <vt:lpwstr>Public</vt:lpwstr>
  </property>
  <property fmtid="{D5CDD505-2E9C-101B-9397-08002B2CF9AE}" pid="13" name="MSIP_Label_ec655256-13e9-4c0b-ba73-c54361842301_SiteId">
    <vt:lpwstr>edf442f5-b994-4c86-a131-b42b03a16c95</vt:lpwstr>
  </property>
  <property fmtid="{D5CDD505-2E9C-101B-9397-08002B2CF9AE}" pid="14" name="MSIP_Label_ec655256-13e9-4c0b-ba73-c54361842301_ActionId">
    <vt:lpwstr>9758b73d-8fd2-489e-8402-28b556bfa442</vt:lpwstr>
  </property>
  <property fmtid="{D5CDD505-2E9C-101B-9397-08002B2CF9AE}" pid="15" name="MSIP_Label_ec655256-13e9-4c0b-ba73-c54361842301_ContentBits">
    <vt:lpwstr>0</vt:lpwstr>
  </property>
</Properties>
</file>