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F69A2-331F-48DE-47B9-187535DC0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D2843-9E5D-B222-709C-48C784CDB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ED923-05AC-0EAB-4351-6E39FEE0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62DA2-863D-12B9-58E3-BCDE2804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86D82-4624-E74B-12BA-210EC8F2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7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C44E-53B8-669B-5674-24C84DA8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040A1-D20C-80DE-BE55-89555E248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26D10-CD62-3917-E0B2-CD00EC20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D8CCF-D931-24AA-CCF3-48F16FC9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066EA-9AA6-B501-DE76-82D2C66D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8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7532-19BB-4638-AB27-20D68E98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08FAE-4AD2-48E9-B2EE-BD0A4100F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6AAA-9160-D5E8-3136-A7D3C5C3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0B3D3-FBED-288E-7126-49C0CD12D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C9935-F710-5274-0F8F-D1873192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2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96CC-7F10-1F14-00A5-A3338C99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1F557-3F62-D033-6B74-B61985765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8A8AB-5918-F337-459F-CAFB01CD0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70D55-1966-0FBA-94E6-73DF725E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B6463-FBB8-FD34-57DF-75025C08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69446-3822-A66A-A1DC-A7A172AC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0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F49-688B-567E-A680-0CFA1931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F1E25-7C7D-FE04-48C0-62F9540D7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2C2AE-E859-5182-2BEE-4E4EE672A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BB1714-E817-9DFA-8211-6B5A7F3019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3365A-BCB4-C7D4-DF17-0C473C466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F683E-DBA4-FF40-3911-9613FAFC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D378A6-45C1-8857-885E-C33ABEFF8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C5044-2762-C8B3-F1EE-D4AB916B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1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08410-0946-17D6-19BE-84264965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12F45-DA44-E33E-9A6C-A2A5F9A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98524-7307-98DB-3E00-D0846385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A6DF6-BDA2-8A2B-2D56-ACAAD29C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16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5960B-5BEF-65F7-1EC5-7AC569CE2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01D04-4C49-EB89-311A-82E91B6F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E4418-4398-3DAC-BBE4-67ECBD95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5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D841F-FF62-6992-1A8C-0687FE686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801D-BD81-C6C4-E261-0AEDC4BF8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059FB-1F5E-2E9C-1619-A38616D32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8F080-B111-92D6-9BF8-12C494D9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26549-9816-8BBA-E184-2E209CD9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87679-5942-6BD4-8A7F-EA9A93FC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80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E61C-0B02-759E-21BB-921E37BB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32FE1-4301-5776-0763-203BE0DC1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B3960-BEFB-62A1-85C7-0193B568F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E8575-6A31-9D84-38F2-C311D7C4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A48F6-4B77-048E-3FCA-A3D06D7C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A9249-C177-5B61-A993-BEC4C005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4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A22E-1C03-0BC1-484C-5B3C2E9E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87584-6077-EAFB-9AE6-D4A894BFA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5288-DB70-A026-0B42-AF201672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77C8B-F18F-62DE-3C1F-C02BFEC9B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0FF9-925B-D442-69F8-42B940FE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5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D7E5D0-CB8D-D63F-0740-A5BEA49D1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3CBD9-9B30-FE03-B0FC-2B6912F87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9CB24-15B8-20F4-F327-7DE565B81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A09E7-CA35-BB73-5D72-0471A9358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613AC-8D31-6FA3-4DB8-3D9EC70D2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1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41A189-B53C-7950-14A1-F6B95E461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53E14-22F8-CBCB-C14C-D45E0ACBD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94552-2002-2BDE-CE10-15E9A8933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F2063-2C97-4DE0-94A5-6AE45226969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44284-D8CA-BD85-7AE7-993DA8F4D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8B94F-C70B-E89C-3196-8A043A34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42DC3-1364-47B0-8037-DFEB2522B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33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916520-D6DB-3BAB-75DC-71950C9DCA2C}"/>
              </a:ext>
            </a:extLst>
          </p:cNvPr>
          <p:cNvSpPr txBox="1">
            <a:spLocks/>
          </p:cNvSpPr>
          <p:nvPr/>
        </p:nvSpPr>
        <p:spPr>
          <a:xfrm>
            <a:off x="817705" y="518046"/>
            <a:ext cx="10753114" cy="519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>
                <a:solidFill>
                  <a:srgbClr val="4D4D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Global</a:t>
            </a:r>
            <a:r>
              <a:rPr lang="en-US" sz="3377" kern="0">
                <a:solidFill>
                  <a:srgbClr val="E51736"/>
                </a:solidFill>
                <a:latin typeface="Oswald" panose="02000503000000000000" pitchFamily="2" charset="0"/>
              </a:rPr>
              <a:t> </a:t>
            </a:r>
            <a:r>
              <a:rPr lang="en-US" sz="2600">
                <a:solidFill>
                  <a:srgbClr val="4D4D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Vehicle Inverter – GVI250</a:t>
            </a:r>
            <a:endParaRPr lang="en-IN" sz="2600" dirty="0">
              <a:solidFill>
                <a:srgbClr val="4D4D4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188FC-B0DF-D657-2CF9-CC1578297A6E}"/>
              </a:ext>
            </a:extLst>
          </p:cNvPr>
          <p:cNvSpPr/>
          <p:nvPr/>
        </p:nvSpPr>
        <p:spPr>
          <a:xfrm>
            <a:off x="766924" y="1261415"/>
            <a:ext cx="74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D6809D-F945-14EC-23B4-684F97DA1476}"/>
              </a:ext>
            </a:extLst>
          </p:cNvPr>
          <p:cNvSpPr/>
          <p:nvPr/>
        </p:nvSpPr>
        <p:spPr>
          <a:xfrm>
            <a:off x="766925" y="1749552"/>
            <a:ext cx="412105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3" indent="-285743" algn="just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scope of the project was to perform Manual and  Automation Testing (Verification &amp; Validation) of the Parker Hannifin Controller GVI250.</a:t>
            </a:r>
          </a:p>
          <a:p>
            <a:pPr marL="285743" indent="-285743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scope also includes the automation regression testing of the automated test cases on continuously developed firmware. </a:t>
            </a:r>
            <a:endParaRPr lang="en-US" sz="1800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8DAA83-DCC2-D6EA-4CDB-17E1F6ED2BB9}"/>
              </a:ext>
            </a:extLst>
          </p:cNvPr>
          <p:cNvSpPr/>
          <p:nvPr/>
        </p:nvSpPr>
        <p:spPr>
          <a:xfrm>
            <a:off x="6029118" y="3449418"/>
            <a:ext cx="34441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6CA55F-0296-D139-AF1A-2952B4C6964A}"/>
              </a:ext>
            </a:extLst>
          </p:cNvPr>
          <p:cNvSpPr/>
          <p:nvPr/>
        </p:nvSpPr>
        <p:spPr>
          <a:xfrm>
            <a:off x="5858360" y="3779505"/>
            <a:ext cx="571246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3088" indent="-403225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Automation Framework Development for different kind of regression test</a:t>
            </a:r>
          </a:p>
          <a:p>
            <a:pPr marL="507974" indent="-507974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Automation and Reusability</a:t>
            </a:r>
          </a:p>
          <a:p>
            <a:pPr marL="507974" indent="-507974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33291" indent="-38099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Executing of Regression Tests</a:t>
            </a:r>
          </a:p>
          <a:p>
            <a:pPr marL="533291" indent="-38099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Automated test cases: 110</a:t>
            </a:r>
          </a:p>
          <a:p>
            <a:pPr marL="533291" indent="-38099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Percentage Automation ~ 90%</a:t>
            </a:r>
          </a:p>
          <a:p>
            <a:pPr marL="533291" indent="-38099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 saving due to Automation ~ 87%</a:t>
            </a:r>
          </a:p>
          <a:p>
            <a:pPr marL="533291" indent="-38099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Reusability of LabVIEW Modules ~ 70%</a:t>
            </a:r>
          </a:p>
          <a:p>
            <a:pPr marL="533291" indent="-38099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Parker custom tools like </a:t>
            </a:r>
            <a:r>
              <a:rPr lang="en-US" alt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Ftool</a:t>
            </a: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CfgTool</a:t>
            </a: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Jenkins are integrated with LabVIEW and </a:t>
            </a:r>
            <a:r>
              <a:rPr lang="en-US" alt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TestStand</a:t>
            </a: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through Python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38D467-3A65-98FA-E7CE-312624A7BAAA}"/>
              </a:ext>
            </a:extLst>
          </p:cNvPr>
          <p:cNvCxnSpPr>
            <a:cxnSpLocks/>
          </p:cNvCxnSpPr>
          <p:nvPr/>
        </p:nvCxnSpPr>
        <p:spPr>
          <a:xfrm flipV="1">
            <a:off x="766924" y="1705537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A31AFD-1931-9D83-FBC1-82E183175C8D}"/>
              </a:ext>
            </a:extLst>
          </p:cNvPr>
          <p:cNvCxnSpPr>
            <a:cxnSpLocks/>
          </p:cNvCxnSpPr>
          <p:nvPr/>
        </p:nvCxnSpPr>
        <p:spPr>
          <a:xfrm>
            <a:off x="6029119" y="3814516"/>
            <a:ext cx="3828372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571B292-5D16-BE8A-FD75-8033ACE7971A}"/>
              </a:ext>
            </a:extLst>
          </p:cNvPr>
          <p:cNvSpPr/>
          <p:nvPr/>
        </p:nvSpPr>
        <p:spPr>
          <a:xfrm>
            <a:off x="766924" y="4568303"/>
            <a:ext cx="1820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Business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F077A1-BA56-35E9-3F3D-BD887E3ACCBA}"/>
              </a:ext>
            </a:extLst>
          </p:cNvPr>
          <p:cNvSpPr/>
          <p:nvPr/>
        </p:nvSpPr>
        <p:spPr>
          <a:xfrm>
            <a:off x="766924" y="4999066"/>
            <a:ext cx="532907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indent="-2317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400+ requirements are fully automated.</a:t>
            </a:r>
          </a:p>
          <a:p>
            <a:pPr marL="231775" indent="-2317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320+ requirements are tested manually.</a:t>
            </a:r>
          </a:p>
          <a:p>
            <a:pPr marL="231775" indent="-2317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50+ software bugs were identified, till date, through automated regression tests and manual tests.</a:t>
            </a:r>
          </a:p>
          <a:p>
            <a:pPr marL="231775" indent="-2317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Smoke Tests are performed for software product releases.</a:t>
            </a:r>
          </a:p>
          <a:p>
            <a:pPr marL="231775" indent="-2317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Resolved software bugs are automated for bugs tracking.</a:t>
            </a:r>
          </a:p>
          <a:p>
            <a:pPr marL="231775" indent="-23177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Automated requirements based on image processing using Python.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D326E-EAB3-FE24-0E2E-22F21120FECE}"/>
              </a:ext>
            </a:extLst>
          </p:cNvPr>
          <p:cNvCxnSpPr>
            <a:cxnSpLocks/>
          </p:cNvCxnSpPr>
          <p:nvPr/>
        </p:nvCxnSpPr>
        <p:spPr>
          <a:xfrm flipV="1">
            <a:off x="766924" y="4955049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CF6886D-74DD-7835-6C99-DC68B455938D}"/>
              </a:ext>
            </a:extLst>
          </p:cNvPr>
          <p:cNvSpPr/>
          <p:nvPr/>
        </p:nvSpPr>
        <p:spPr>
          <a:xfrm>
            <a:off x="766925" y="3424780"/>
            <a:ext cx="1195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B4E890-73BC-C9BF-5A8F-D5002FB8F913}"/>
              </a:ext>
            </a:extLst>
          </p:cNvPr>
          <p:cNvSpPr/>
          <p:nvPr/>
        </p:nvSpPr>
        <p:spPr>
          <a:xfrm>
            <a:off x="766924" y="3779505"/>
            <a:ext cx="457999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indent="-231775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 of test cases at client location because of Latency issues</a:t>
            </a:r>
          </a:p>
          <a:p>
            <a:pPr marL="231775" indent="-231775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Developing test cases based onshore hardware  setup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460C87-5FF9-B5BC-174F-6C95E39C0D9A}"/>
              </a:ext>
            </a:extLst>
          </p:cNvPr>
          <p:cNvCxnSpPr>
            <a:cxnSpLocks/>
          </p:cNvCxnSpPr>
          <p:nvPr/>
        </p:nvCxnSpPr>
        <p:spPr>
          <a:xfrm flipV="1">
            <a:off x="766924" y="3797183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7" name="Picture 16" descr="A close-up of a computer chip&#10;&#10;Description automatically generated with low confidence">
            <a:extLst>
              <a:ext uri="{FF2B5EF4-FFF2-40B4-BE49-F238E27FC236}">
                <a16:creationId xmlns:a16="http://schemas.microsoft.com/office/drawing/2014/main" id="{A5813690-A954-2766-63F9-0ED9DBD2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771" y="1229678"/>
            <a:ext cx="5680908" cy="22064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9A5CDB9-0AEB-9511-C455-653542A0C304}"/>
              </a:ext>
            </a:extLst>
          </p:cNvPr>
          <p:cNvSpPr txBox="1"/>
          <p:nvPr/>
        </p:nvSpPr>
        <p:spPr>
          <a:xfrm>
            <a:off x="9630004" y="133325"/>
            <a:ext cx="1940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ECD</a:t>
            </a:r>
          </a:p>
        </p:txBody>
      </p:sp>
    </p:spTree>
    <p:extLst>
      <p:ext uri="{BB962C8B-B14F-4D97-AF65-F5344CB8AC3E}">
        <p14:creationId xmlns:p14="http://schemas.microsoft.com/office/powerpoint/2010/main" val="3508406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Oswald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2025-10-10T05:40:51Z</dcterms:created>
  <dcterms:modified xsi:type="dcterms:W3CDTF">2025-10-10T05:42:07Z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2025-10-10T05:42:07Z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31596d09-04c1-4cdb-a762-d2af44aa01c1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