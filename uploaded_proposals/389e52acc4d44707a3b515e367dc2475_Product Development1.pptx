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9D011-AEDA-96A9-E0BB-432FCED13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801756-DA5F-7DD2-F40D-F1F1D405F4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85773-9FB6-2267-A827-B89C747E5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2E1B3-9810-4669-A168-231517F84C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1BB1BA-7AC4-C909-EF0C-E9824F25B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CAC5B-A298-26EE-8F7D-CA59A697C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D7B03-E241-466C-A3AA-0D6D41C51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654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07A37-4C40-9607-00AA-4644017D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47D25-D0A8-5A2F-B778-06444C120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52DDD-A890-33FF-5D1E-4CEF41A0F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2E1B3-9810-4669-A168-231517F84C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0B276-F705-1D02-3B29-8872E4334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9FC85-944F-8262-1058-D8436160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D7B03-E241-466C-A3AA-0D6D41C51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277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670DB-6061-1681-CCAE-A566284F5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F7D18A-0096-CBE5-E86E-6190C7D06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CF4F6-80E7-8FB6-D0E3-608C7EEDE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2E1B3-9810-4669-A168-231517F84C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52BD7-6EC5-48D8-E4DF-A1704B0E6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12A34-71C4-4518-B72D-C1D89CB12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D7B03-E241-466C-A3AA-0D6D41C51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248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CD25D-BEB4-ABC9-4E52-2F0FFC897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0EA23-7C3D-064F-9509-1906A82A9F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2D24E1-38C4-75D6-B267-CFA6050818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FCFF8-50BC-9DD1-737A-8C2A9B0C7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2E1B3-9810-4669-A168-231517F84C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1106D-EE3E-6248-B80D-EC298E3A1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A6FE0-0C4B-6EA4-F595-B046BF582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D7B03-E241-466C-A3AA-0D6D41C51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07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C201C-440C-09F7-90A8-0241998E4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0A26B-437C-25E0-FBF2-B765675D2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646D6-D8B4-459E-C83D-B90076F97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D905A7-B7AC-15D7-2BBA-DE7D688D63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34EC39-6750-3936-B3AF-8224B70DAA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A51488-D38A-7DD8-48C4-10BDC13D2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2E1B3-9810-4669-A168-231517F84C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C33913-50DC-CAB8-B694-DFCD9ABCC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ED5DBD-FB7C-272A-60AA-AFFCD8E15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D7B03-E241-466C-A3AA-0D6D41C51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789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92BA0-2C15-0BCD-349D-1C7CFF14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DDC81F-4670-33F9-4551-73F9F5634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2E1B3-9810-4669-A168-231517F84C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0FB7F6-B5BE-B66A-9160-2D657CF91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F77122-3F63-F213-3909-73E6B9198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D7B03-E241-466C-A3AA-0D6D41C51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660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3CA612-F24E-906E-D50E-EC592D300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2E1B3-9810-4669-A168-231517F84C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F6845C-6DC0-4170-9ED2-61604E0C0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E2033E-52DA-CB40-3CAD-3D64CF920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D7B03-E241-466C-A3AA-0D6D41C51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793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8C0F8-B3AB-309B-26EB-5781C72E7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A313D-393E-269C-BA47-6B78DDF49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57C64-E7B3-095A-4858-6A02750B04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392DBB-BA5B-D254-F1C5-83053FB74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2E1B3-9810-4669-A168-231517F84C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30316-5A09-A2C3-1D2E-11C17AC41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85D372-A8F0-F3D4-8BF4-C271F1AF0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D7B03-E241-466C-A3AA-0D6D41C51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649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CC47F-89E2-69E8-8465-182421DFF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651D99-3395-DD14-A67B-D6CC1689FF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3E07B3-4747-DC90-2E66-C936176CFC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E5D193-B66E-7788-349E-C546B64CC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2E1B3-9810-4669-A168-231517F84C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2415B2-2A97-7973-AD72-655E87229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43712-E51D-30E0-C386-B60C970E3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D7B03-E241-466C-A3AA-0D6D41C51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66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2CFDE-83D0-1771-EB4F-E24C07AEC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6A266F-D9F3-9A93-B049-FA954F682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0F518-ABF6-A708-8D95-0FC7159CB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2E1B3-9810-4669-A168-231517F84C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C145F-C45F-5D7D-75C4-A68465450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605BD-9171-86CF-4452-B6269EAB7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D7B03-E241-466C-A3AA-0D6D41C51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52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E57215-8340-FFB7-E5CA-6AC40E61BA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50FD02-950F-43F2-696E-93E004F52A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E7C48-B84E-6309-EB5D-8615E0BE4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2E1B3-9810-4669-A168-231517F84C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1602A-67BB-B580-BA6A-65A8E7B3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DC59C-D67F-C507-D46D-3C569E2ED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2D7B03-E241-466C-A3AA-0D6D41C51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87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2202E9-0223-2D78-416E-BCB5C0457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8D800-995C-0760-7877-C72AAA61E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1593F-CC98-3703-B780-B07B16045F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F2E1B3-9810-4669-A168-231517F84C37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D5A48-E8AB-E70D-85FB-70EC8EED51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10267-DC35-4DCF-3AE0-5882962786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2D7B03-E241-466C-A3AA-0D6D41C51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0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6A04B5-A309-1A31-35D8-B17C4DA92FF7}"/>
              </a:ext>
            </a:extLst>
          </p:cNvPr>
          <p:cNvSpPr txBox="1"/>
          <p:nvPr/>
        </p:nvSpPr>
        <p:spPr>
          <a:xfrm>
            <a:off x="9630004" y="133325"/>
            <a:ext cx="2048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kern="0" dirty="0">
                <a:solidFill>
                  <a:srgbClr val="E51736"/>
                </a:solidFill>
                <a:ea typeface="+mj-ea"/>
                <a:cs typeface="+mj-cs"/>
              </a:rPr>
              <a:t>Division: GSFE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7B273C9-B3CF-2E13-C1E0-D2A875CA3957}"/>
              </a:ext>
            </a:extLst>
          </p:cNvPr>
          <p:cNvSpPr txBox="1">
            <a:spLocks/>
          </p:cNvSpPr>
          <p:nvPr/>
        </p:nvSpPr>
        <p:spPr>
          <a:xfrm>
            <a:off x="817705" y="518046"/>
            <a:ext cx="10753114" cy="519716"/>
          </a:xfr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>
                <a:solidFill>
                  <a:srgbClr val="4D4D4F"/>
                </a:solidFill>
                <a:latin typeface="Arial" panose="020B0604020202020204" pitchFamily="34" charset="0"/>
                <a:ea typeface="+mn-ea"/>
                <a:cs typeface="Arial" pitchFamily="34" charset="0"/>
              </a:rPr>
              <a:t>Intelligent Air Dryer - Redesign</a:t>
            </a:r>
            <a:endParaRPr lang="en-IN" sz="3000" dirty="0">
              <a:solidFill>
                <a:srgbClr val="4D4D4F"/>
              </a:solidFill>
              <a:latin typeface="Arial" panose="020B0604020202020204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CE9FD9-5EC9-1F4B-0E4E-F769D5FF02AC}"/>
              </a:ext>
            </a:extLst>
          </p:cNvPr>
          <p:cNvSpPr/>
          <p:nvPr/>
        </p:nvSpPr>
        <p:spPr>
          <a:xfrm>
            <a:off x="766925" y="1563573"/>
            <a:ext cx="4820513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Clr>
                <a:srgbClr val="160A47"/>
              </a:buClr>
              <a:defRPr/>
            </a:pP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Customer has developed versions of Controller board (up to </a:t>
            </a:r>
            <a:r>
              <a:rPr lang="en-IN" sz="1400" dirty="0" err="1">
                <a:latin typeface="Calibri" panose="020F0502020204030204" pitchFamily="34" charset="0"/>
                <a:cs typeface="Calibri" panose="020F0502020204030204" pitchFamily="34" charset="0"/>
              </a:rPr>
              <a:t>Rev.C</a:t>
            </a:r>
            <a:r>
              <a:rPr lang="en-IN" sz="1400" dirty="0">
                <a:latin typeface="Calibri" panose="020F0502020204030204" pitchFamily="34" charset="0"/>
                <a:cs typeface="Calibri" panose="020F0502020204030204" pitchFamily="34" charset="0"/>
              </a:rPr>
              <a:t>) for Intelligent Air Dryer product which failed in EMI/EMC.</a:t>
            </a:r>
          </a:p>
          <a:p>
            <a:pPr algn="just">
              <a:buClr>
                <a:srgbClr val="160A47"/>
              </a:buClr>
              <a:defRPr/>
            </a:pPr>
            <a:endParaRPr lang="en-US" altLang="en-US" sz="1400" dirty="0">
              <a:solidFill>
                <a:srgbClr val="C91B2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Clr>
                <a:srgbClr val="160A47"/>
              </a:buClr>
              <a:defRPr/>
            </a:pPr>
            <a:r>
              <a:rPr lang="en-US" alt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The requirement was to Design and Develop a control board for the Intelligent Air Dryer product with two variants – 110VDC input and 24VDC input. Power and Controller boards are to be designed as separate boards and then stacked. The project scope included the following:</a:t>
            </a:r>
          </a:p>
          <a:p>
            <a:pPr marL="914400" lvl="1" indent="-171450" algn="just">
              <a:buClr>
                <a:srgbClr val="160A47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Hardware Design</a:t>
            </a:r>
          </a:p>
          <a:p>
            <a:pPr marL="914400" lvl="1" indent="-171450" algn="just">
              <a:buClr>
                <a:srgbClr val="160A47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Firmware Design</a:t>
            </a:r>
          </a:p>
          <a:p>
            <a:pPr marL="914400" lvl="1" indent="-171450" algn="just">
              <a:buClr>
                <a:srgbClr val="160A47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Software Design</a:t>
            </a:r>
          </a:p>
          <a:p>
            <a:pPr marL="914400" lvl="1" indent="-171450" algn="just">
              <a:buClr>
                <a:srgbClr val="160A47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Prototyping, Testing</a:t>
            </a:r>
          </a:p>
          <a:p>
            <a:pPr defTabSz="914332">
              <a:spcBef>
                <a:spcPct val="0"/>
              </a:spcBef>
              <a:spcAft>
                <a:spcPct val="0"/>
              </a:spcAft>
              <a:buClr>
                <a:srgbClr val="160A47"/>
              </a:buClr>
              <a:defRPr/>
            </a:pPr>
            <a:endParaRPr lang="en-US" alt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6218CF2-BF83-8F15-D914-51E15A147DC5}"/>
              </a:ext>
            </a:extLst>
          </p:cNvPr>
          <p:cNvCxnSpPr>
            <a:cxnSpLocks/>
          </p:cNvCxnSpPr>
          <p:nvPr/>
        </p:nvCxnSpPr>
        <p:spPr>
          <a:xfrm flipV="1">
            <a:off x="766924" y="1519559"/>
            <a:ext cx="2804160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3D4CEC-835F-A51E-37D2-D1135ED631EE}"/>
              </a:ext>
            </a:extLst>
          </p:cNvPr>
          <p:cNvCxnSpPr>
            <a:cxnSpLocks/>
          </p:cNvCxnSpPr>
          <p:nvPr/>
        </p:nvCxnSpPr>
        <p:spPr>
          <a:xfrm>
            <a:off x="5874135" y="3892006"/>
            <a:ext cx="3236169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91ECF39-6A5F-4903-1A8F-2B9DF6EEB3D1}"/>
              </a:ext>
            </a:extLst>
          </p:cNvPr>
          <p:cNvCxnSpPr>
            <a:cxnSpLocks/>
          </p:cNvCxnSpPr>
          <p:nvPr/>
        </p:nvCxnSpPr>
        <p:spPr>
          <a:xfrm flipV="1">
            <a:off x="766923" y="4670068"/>
            <a:ext cx="3048000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A77AF9C-9376-CFCE-47CE-8F7AB818233E}"/>
              </a:ext>
            </a:extLst>
          </p:cNvPr>
          <p:cNvSpPr/>
          <p:nvPr/>
        </p:nvSpPr>
        <p:spPr>
          <a:xfrm>
            <a:off x="766924" y="4706567"/>
            <a:ext cx="415420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171450" algn="just">
              <a:buClr>
                <a:srgbClr val="160A47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Altium</a:t>
            </a:r>
          </a:p>
          <a:p>
            <a:pPr marL="285750" indent="-171450" algn="just">
              <a:buClr>
                <a:srgbClr val="160A47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Schematic Guidelines – Schematics and PCB Layout</a:t>
            </a:r>
          </a:p>
          <a:p>
            <a:pPr marL="285750" indent="-171450" algn="just">
              <a:buClr>
                <a:srgbClr val="160A47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Compliance to Standards – EN50155, EN50128</a:t>
            </a:r>
          </a:p>
          <a:p>
            <a:pPr marL="285750" indent="-171450" algn="just">
              <a:buClr>
                <a:srgbClr val="160A47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Derating Analysis</a:t>
            </a:r>
          </a:p>
          <a:p>
            <a:pPr marL="285750" indent="-171450" algn="just">
              <a:buClr>
                <a:srgbClr val="160A47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MTBF Analysis</a:t>
            </a:r>
          </a:p>
          <a:p>
            <a:pPr marL="285750" indent="-171450" algn="just">
              <a:buClr>
                <a:srgbClr val="160A47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LTSpice</a:t>
            </a:r>
            <a:endParaRPr 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171450" algn="just">
              <a:buClr>
                <a:srgbClr val="160A47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MPLAB X</a:t>
            </a:r>
          </a:p>
          <a:p>
            <a:pPr marL="285750" indent="-171450" algn="just">
              <a:buClr>
                <a:srgbClr val="160A47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Visual Studio (GUI)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6A0A0D-99DB-86AF-B29D-9B4E8E26C7BD}"/>
              </a:ext>
            </a:extLst>
          </p:cNvPr>
          <p:cNvSpPr/>
          <p:nvPr/>
        </p:nvSpPr>
        <p:spPr>
          <a:xfrm>
            <a:off x="5649353" y="3874500"/>
            <a:ext cx="38356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81" lvl="2" indent="-38098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IN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Documentation not available for Firmware, Software and Firmware used in the product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E2DDDD-8BB7-CF62-C1B7-50B53EF9FC5A}"/>
              </a:ext>
            </a:extLst>
          </p:cNvPr>
          <p:cNvSpPr/>
          <p:nvPr/>
        </p:nvSpPr>
        <p:spPr>
          <a:xfrm>
            <a:off x="5815214" y="5268655"/>
            <a:ext cx="34441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80981" lvl="2" indent="-38098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Hardware, firmware completely owned by POEC.</a:t>
            </a:r>
            <a:endParaRPr lang="en-US" altLang="en-US" sz="14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018DEF0-A1E8-FFD0-A27C-A62CA8F30963}"/>
              </a:ext>
            </a:extLst>
          </p:cNvPr>
          <p:cNvCxnSpPr>
            <a:cxnSpLocks/>
          </p:cNvCxnSpPr>
          <p:nvPr/>
        </p:nvCxnSpPr>
        <p:spPr>
          <a:xfrm>
            <a:off x="5870229" y="5256919"/>
            <a:ext cx="3236169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A534D75-8BF5-A508-EB1F-9DA662ECE4C9}"/>
              </a:ext>
            </a:extLst>
          </p:cNvPr>
          <p:cNvSpPr txBox="1"/>
          <p:nvPr/>
        </p:nvSpPr>
        <p:spPr>
          <a:xfrm>
            <a:off x="9316572" y="5282624"/>
            <a:ext cx="28754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80981" indent="-380981" defTabSz="914332">
              <a:spcBef>
                <a:spcPct val="0"/>
              </a:spcBef>
              <a:spcAft>
                <a:spcPct val="0"/>
              </a:spcAft>
              <a:buClr>
                <a:srgbClr val="160A47"/>
              </a:buClr>
              <a:buFont typeface="Arial" pitchFamily="34" charset="0"/>
              <a:buChar char="•"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End to End development of controller board.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ABDE638-EBD0-482B-592D-0A1BB4ECF4D8}"/>
              </a:ext>
            </a:extLst>
          </p:cNvPr>
          <p:cNvCxnSpPr>
            <a:cxnSpLocks/>
          </p:cNvCxnSpPr>
          <p:nvPr/>
        </p:nvCxnSpPr>
        <p:spPr>
          <a:xfrm>
            <a:off x="9316572" y="5246703"/>
            <a:ext cx="2771426" cy="0"/>
          </a:xfrm>
          <a:prstGeom prst="line">
            <a:avLst/>
          </a:prstGeom>
          <a:ln w="12700">
            <a:headEnd type="none"/>
            <a:tailEnd type="oval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16" name="Picture 2">
            <a:extLst>
              <a:ext uri="{FF2B5EF4-FFF2-40B4-BE49-F238E27FC236}">
                <a16:creationId xmlns:a16="http://schemas.microsoft.com/office/drawing/2014/main" id="{35CC9624-69C2-C4B0-49F0-6966CE7817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8140" y="994709"/>
            <a:ext cx="1630363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3">
            <a:extLst>
              <a:ext uri="{FF2B5EF4-FFF2-40B4-BE49-F238E27FC236}">
                <a16:creationId xmlns:a16="http://schemas.microsoft.com/office/drawing/2014/main" id="{96AFC5BE-6C8C-EC54-D0F7-E88C422AE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8140" y="2088497"/>
            <a:ext cx="1630363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17EDA87C-A01D-BE74-CE25-EEAC07DEE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9205" y="1006548"/>
            <a:ext cx="3134233" cy="2077250"/>
          </a:xfrm>
          <a:prstGeom prst="rect">
            <a:avLst/>
          </a:prstGeom>
          <a:solidFill>
            <a:srgbClr val="00B0F0"/>
          </a:solidFill>
          <a:ln w="57150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4A30D6B-DD4C-C27A-228F-654A94BF0742}"/>
              </a:ext>
            </a:extLst>
          </p:cNvPr>
          <p:cNvSpPr txBox="1"/>
          <p:nvPr/>
        </p:nvSpPr>
        <p:spPr>
          <a:xfrm>
            <a:off x="9630004" y="133325"/>
            <a:ext cx="20489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kern="0" dirty="0">
                <a:solidFill>
                  <a:srgbClr val="E51736"/>
                </a:solidFill>
                <a:ea typeface="+mj-ea"/>
                <a:cs typeface="+mj-cs"/>
              </a:rPr>
              <a:t>Division: GSFE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1D5F3E-ADAF-913D-A5F4-175F5FDDF5F2}"/>
              </a:ext>
            </a:extLst>
          </p:cNvPr>
          <p:cNvSpPr/>
          <p:nvPr/>
        </p:nvSpPr>
        <p:spPr>
          <a:xfrm>
            <a:off x="766923" y="1147403"/>
            <a:ext cx="7453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Scope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755115-F649-CFA6-99F0-E0633C060C5D}"/>
              </a:ext>
            </a:extLst>
          </p:cNvPr>
          <p:cNvSpPr/>
          <p:nvPr/>
        </p:nvSpPr>
        <p:spPr>
          <a:xfrm>
            <a:off x="5844666" y="3518393"/>
            <a:ext cx="27266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Challenges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71475D-F943-CAC6-0AE7-E276789D3DB6}"/>
              </a:ext>
            </a:extLst>
          </p:cNvPr>
          <p:cNvSpPr/>
          <p:nvPr/>
        </p:nvSpPr>
        <p:spPr>
          <a:xfrm>
            <a:off x="766923" y="4272007"/>
            <a:ext cx="13884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Environment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4BCCAB5-EAC4-591A-DF0A-19AA58E05115}"/>
              </a:ext>
            </a:extLst>
          </p:cNvPr>
          <p:cNvSpPr/>
          <p:nvPr/>
        </p:nvSpPr>
        <p:spPr>
          <a:xfrm>
            <a:off x="5921196" y="4859913"/>
            <a:ext cx="31342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Benefits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Improvements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CAC91C-DC99-FD56-EB81-D134AE0294C8}"/>
              </a:ext>
            </a:extLst>
          </p:cNvPr>
          <p:cNvSpPr txBox="1"/>
          <p:nvPr/>
        </p:nvSpPr>
        <p:spPr>
          <a:xfrm>
            <a:off x="9316572" y="4889334"/>
            <a:ext cx="2120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31837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Solution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361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2025-10-10T05:46:39Z</dcterms:created>
  <dcterms:modified xsi:type="dcterms:W3CDTF">2025-10-10T05:47:32Z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2025-10-10T05:47:32Z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3ac6d0b9-b3a8-4055-8d55-1a2dd8ecb382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