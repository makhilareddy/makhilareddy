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BD5A-5EDF-7A2B-53D0-58852BFA4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456675-EEE4-F3C0-F5A3-18B169A23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62EC1-55EF-2B23-15C8-C9F8EB5A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AF224-554C-772B-CF2C-BA2BE2C5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55057-D95E-91D6-066F-ED32BA18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75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20C0-2317-D4E9-C8EC-703F5CE9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F403-17D1-1F88-37D4-6CD0DA4AD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54911-118D-5C9F-60A9-5C558A3D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EE53E-6BBE-70B0-2A64-433D74359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C5F7F-A47C-972F-78C8-3B774242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4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A12A-5101-6530-2B03-CD856206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82D6C-7280-077D-B798-9A1B00812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F1567-E6CF-F39F-EA83-A454BB1B5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042BB-526B-3EB8-5D9F-BACDE577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D2925-95D2-0957-56D0-B9075F87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13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0A24-E0C0-5D9B-003B-05D34239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6C9A7-9B7C-6B6D-0281-E0D9C0821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73DB1-0FE4-9501-A228-0CFFFA5D0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FD785-02F3-1A4B-C324-B516D2D9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9773-8339-0757-07F2-B1E102E8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3E9B6-9CBC-15F6-6D26-ABFD3F58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4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8989-1307-EE74-6FCB-41AABA99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0213D-753C-24D6-2643-1A1D87B85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E80BD-E55D-F4B7-C79D-137746EAD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7707C-7B3F-809E-BB74-838220F01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F8FB48-A898-C7BC-3743-FA39CA06A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3A8340-03F3-270B-1BC9-1C992A10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C9004-4E46-19C4-63BC-AA96EF27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0BFB3-30FD-D5DF-C118-5F394516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5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BDF3-9DB0-BF9F-7DF2-54CAF35B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899B-9349-4D4C-327A-54414B53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424C4B-FB6B-464B-4FB9-411EF4725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B5CE0-A9E9-9C12-FA9C-25D1E3A4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0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A99A33-5FB5-219E-7BEE-E132A588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A6F140-9148-6E13-5452-F859E4E2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65D3A-419D-C654-7E8B-D9645D0C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8A41-9CAB-A02C-F15F-3CA60F0B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14F0C-D932-8088-0347-2D49246D5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B1B6F-FA6E-08F8-AB7F-769902F98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161E0-0C3E-9924-6195-26B60ACA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DA830-F725-CE89-B0EC-9E756C289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68EE8-36BA-E0BF-4F65-87052DB60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599F-6B00-4482-552B-EA0E4B780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11AED-4267-23FB-C861-AEBAC579F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5558A-2485-D260-E4D4-8A85826EF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C085B-B0F1-9A7A-2DB0-5BFD3DDE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B0B2E-D10F-4EDD-2C64-1126DD56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1D49E-AA6C-EDD6-7196-1A224599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3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142A-7C94-71E6-FDE8-437D2B6B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F425D-E043-E524-E96B-9F717A692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A33E1-7020-2B3A-52BD-79610E53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EC0C6-77E7-AA3C-44E0-E47022A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021B9-7A54-CB1F-33B3-32584014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8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27333-CE1F-5917-6C4B-D87AFF40E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B7D96-1950-DF8E-1BC6-9164BC9D5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5B975-53B8-E67B-1D23-4D17B7C6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20832-8832-8016-A25C-100930D6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A859F-2CF7-27D0-85A9-E8FA21AC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07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B1205-8675-6CF9-FA09-89444EE71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18696-46D8-EADE-D64D-C2341945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88094-333A-633C-B40A-0AD61DC48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0B9E9-BA73-4CC9-9535-EDBBED6474C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CAC4C-A3A9-AACB-B883-E7A2F394D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6CA1D-CF76-52AD-4F65-B8B29C66F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AFEA0B-78F6-47D0-AC8C-3A34AEBFB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4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EF3887F-B731-426F-9083-B75A0911302C}"/>
              </a:ext>
            </a:extLst>
          </p:cNvPr>
          <p:cNvSpPr>
            <a:spLocks noGrp="1"/>
          </p:cNvSpPr>
          <p:nvPr/>
        </p:nvSpPr>
        <p:spPr>
          <a:xfrm>
            <a:off x="652274" y="234962"/>
            <a:ext cx="10556590" cy="633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600" b="0" i="0" kern="1200" baseline="0">
                <a:solidFill>
                  <a:srgbClr val="4D4D4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Demo 2: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HiL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Setup – Vehicle Controller for European OEM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1E8B27-0521-EEB0-18C6-9D38E97A1FFE}"/>
              </a:ext>
            </a:extLst>
          </p:cNvPr>
          <p:cNvGrpSpPr/>
          <p:nvPr/>
        </p:nvGrpSpPr>
        <p:grpSpPr>
          <a:xfrm>
            <a:off x="6897961" y="3027850"/>
            <a:ext cx="4896695" cy="1886174"/>
            <a:chOff x="6557504" y="3593533"/>
            <a:chExt cx="5885129" cy="2902226"/>
          </a:xfrm>
        </p:grpSpPr>
        <p:sp>
          <p:nvSpPr>
            <p:cNvPr id="21" name="Rounded Rectangle 24">
              <a:extLst>
                <a:ext uri="{FF2B5EF4-FFF2-40B4-BE49-F238E27FC236}">
                  <a16:creationId xmlns:a16="http://schemas.microsoft.com/office/drawing/2014/main" id="{9840B5E3-5516-3E43-5AC6-6619276D05A3}"/>
                </a:ext>
              </a:extLst>
            </p:cNvPr>
            <p:cNvSpPr/>
            <p:nvPr/>
          </p:nvSpPr>
          <p:spPr>
            <a:xfrm>
              <a:off x="6557504" y="3593533"/>
              <a:ext cx="3144144" cy="2902226"/>
            </a:xfrm>
            <a:prstGeom prst="round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Test Cases (172)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State Machine (25)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ECU states  (11)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ASIL Functionality (29)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CAN Communication (22)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Failure Handling (72)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Default Values (9)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Voltage Range (4)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2" name="Rounded Rectangle 25">
              <a:extLst>
                <a:ext uri="{FF2B5EF4-FFF2-40B4-BE49-F238E27FC236}">
                  <a16:creationId xmlns:a16="http://schemas.microsoft.com/office/drawing/2014/main" id="{BBF04995-949F-C441-C6AC-684F87E6B71B}"/>
                </a:ext>
              </a:extLst>
            </p:cNvPr>
            <p:cNvSpPr/>
            <p:nvPr/>
          </p:nvSpPr>
          <p:spPr>
            <a:xfrm>
              <a:off x="9905562" y="4197820"/>
              <a:ext cx="2537071" cy="1844948"/>
            </a:xfrm>
            <a:prstGeom prst="roundRect">
              <a:avLst/>
            </a:prstGeom>
            <a:solidFill>
              <a:srgbClr val="5B9BD5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sng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Tools Used: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sng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Vtest</a:t>
              </a: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Studio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CAPL/Python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CANoe</a:t>
              </a:r>
              <a:endParaRPr kumimoji="0" lang="en-I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IN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RestBus</a:t>
              </a:r>
              <a:r>
                <a: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Simulation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498CFC9-F0B6-2737-4344-C464A9843DB7}"/>
              </a:ext>
            </a:extLst>
          </p:cNvPr>
          <p:cNvGrpSpPr/>
          <p:nvPr/>
        </p:nvGrpSpPr>
        <p:grpSpPr>
          <a:xfrm>
            <a:off x="7437141" y="1111438"/>
            <a:ext cx="4357511" cy="1681069"/>
            <a:chOff x="6250369" y="51492"/>
            <a:chExt cx="5799849" cy="244084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7749B15-50D0-BA88-BDD5-4A59C1DBC6E9}"/>
                </a:ext>
              </a:extLst>
            </p:cNvPr>
            <p:cNvGrpSpPr/>
            <p:nvPr/>
          </p:nvGrpSpPr>
          <p:grpSpPr>
            <a:xfrm>
              <a:off x="7185835" y="51492"/>
              <a:ext cx="2719727" cy="2440844"/>
              <a:chOff x="7137537" y="51492"/>
              <a:chExt cx="2719727" cy="2440844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1BFB78A7-DF44-3729-822B-F5C0EBD762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37537" y="51492"/>
                <a:ext cx="2719727" cy="1430049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BDA9ED8-E9E7-EC56-129F-BA2E59A079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41031" y="1360465"/>
                <a:ext cx="1879946" cy="1131871"/>
              </a:xfrm>
              <a:prstGeom prst="rect">
                <a:avLst/>
              </a:prstGeom>
            </p:spPr>
          </p:pic>
        </p:grpSp>
        <p:sp>
          <p:nvSpPr>
            <p:cNvPr id="14" name="Left-Right Arrow 18">
              <a:extLst>
                <a:ext uri="{FF2B5EF4-FFF2-40B4-BE49-F238E27FC236}">
                  <a16:creationId xmlns:a16="http://schemas.microsoft.com/office/drawing/2014/main" id="{3E32EBC1-F1FB-F088-4949-11FFD1F380DE}"/>
                </a:ext>
              </a:extLst>
            </p:cNvPr>
            <p:cNvSpPr/>
            <p:nvPr/>
          </p:nvSpPr>
          <p:spPr>
            <a:xfrm>
              <a:off x="9634978" y="1406882"/>
              <a:ext cx="1007165" cy="263363"/>
            </a:xfrm>
            <a:prstGeom prst="leftRightArrow">
              <a:avLst/>
            </a:prstGeom>
            <a:solidFill>
              <a:srgbClr val="B90636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15" name="Left-Right Arrow 19">
              <a:extLst>
                <a:ext uri="{FF2B5EF4-FFF2-40B4-BE49-F238E27FC236}">
                  <a16:creationId xmlns:a16="http://schemas.microsoft.com/office/drawing/2014/main" id="{017902A0-2D8D-5ED7-994B-2FAB2CD3EA2E}"/>
                </a:ext>
              </a:extLst>
            </p:cNvPr>
            <p:cNvSpPr/>
            <p:nvPr/>
          </p:nvSpPr>
          <p:spPr>
            <a:xfrm>
              <a:off x="6250369" y="1360465"/>
              <a:ext cx="1007165" cy="263363"/>
            </a:xfrm>
            <a:prstGeom prst="leftRightArrow">
              <a:avLst/>
            </a:prstGeom>
            <a:solidFill>
              <a:srgbClr val="B90636"/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46CA60-A79D-ABAF-8E55-6A93F92BA824}"/>
                </a:ext>
              </a:extLst>
            </p:cNvPr>
            <p:cNvGrpSpPr/>
            <p:nvPr/>
          </p:nvGrpSpPr>
          <p:grpSpPr>
            <a:xfrm>
              <a:off x="10846956" y="613381"/>
              <a:ext cx="1203262" cy="1459312"/>
              <a:chOff x="10740939" y="616741"/>
              <a:chExt cx="1203262" cy="1459312"/>
            </a:xfrm>
          </p:grpSpPr>
          <p:pic>
            <p:nvPicPr>
              <p:cNvPr id="17" name="Picture 16" descr="Clipart - icon laptop">
                <a:extLst>
                  <a:ext uri="{FF2B5EF4-FFF2-40B4-BE49-F238E27FC236}">
                    <a16:creationId xmlns:a16="http://schemas.microsoft.com/office/drawing/2014/main" id="{1C4BE90E-5544-7010-DEF3-C74D5B478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40939" y="616741"/>
                <a:ext cx="960731" cy="960731"/>
              </a:xfrm>
              <a:prstGeom prst="rect">
                <a:avLst/>
              </a:prstGeom>
            </p:spPr>
          </p:pic>
          <p:sp>
            <p:nvSpPr>
              <p:cNvPr id="18" name="TextBox 37">
                <a:extLst>
                  <a:ext uri="{FF2B5EF4-FFF2-40B4-BE49-F238E27FC236}">
                    <a16:creationId xmlns:a16="http://schemas.microsoft.com/office/drawing/2014/main" id="{13780DFC-5D78-93A5-1BBD-046EA949593A}"/>
                  </a:ext>
                </a:extLst>
              </p:cNvPr>
              <p:cNvSpPr txBox="1"/>
              <p:nvPr/>
            </p:nvSpPr>
            <p:spPr>
              <a:xfrm>
                <a:off x="10802542" y="1706732"/>
                <a:ext cx="1141659" cy="3693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Customer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84B7875-105A-E3B9-0D40-39D1C5E00DFA}"/>
              </a:ext>
            </a:extLst>
          </p:cNvPr>
          <p:cNvGrpSpPr/>
          <p:nvPr/>
        </p:nvGrpSpPr>
        <p:grpSpPr>
          <a:xfrm>
            <a:off x="397345" y="4921947"/>
            <a:ext cx="5954293" cy="1568275"/>
            <a:chOff x="296076" y="5289725"/>
            <a:chExt cx="5954293" cy="156827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E4D631-473E-33FE-0470-19023D340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6076" y="5289725"/>
              <a:ext cx="5954293" cy="1568275"/>
            </a:xfrm>
            <a:prstGeom prst="rect">
              <a:avLst/>
            </a:prstGeom>
          </p:spPr>
        </p:pic>
        <p:sp>
          <p:nvSpPr>
            <p:cNvPr id="12" name="TextBox 40">
              <a:extLst>
                <a:ext uri="{FF2B5EF4-FFF2-40B4-BE49-F238E27FC236}">
                  <a16:creationId xmlns:a16="http://schemas.microsoft.com/office/drawing/2014/main" id="{55CA347F-0E95-3EA6-B1B8-075A73A1DC77}"/>
                </a:ext>
              </a:extLst>
            </p:cNvPr>
            <p:cNvSpPr txBox="1"/>
            <p:nvPr/>
          </p:nvSpPr>
          <p:spPr>
            <a:xfrm>
              <a:off x="822516" y="6187604"/>
              <a:ext cx="502697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Arial" charset="0"/>
                </a:rPr>
                <a:t>Customer</a:t>
              </a:r>
            </a:p>
          </p:txBody>
        </p:sp>
      </p:grpSp>
      <p:pic>
        <p:nvPicPr>
          <p:cNvPr id="8" name="Picture 7" descr="A machine with wires and a digital display&#10;&#10;Description automatically generated">
            <a:extLst>
              <a:ext uri="{FF2B5EF4-FFF2-40B4-BE49-F238E27FC236}">
                <a16:creationId xmlns:a16="http://schemas.microsoft.com/office/drawing/2014/main" id="{3C183CA5-3717-DC1A-05F6-21A1971E36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279269" y="1650703"/>
            <a:ext cx="2190443" cy="3896016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16B81848-B0F4-8E8D-78FE-39EA84E9662E}"/>
              </a:ext>
            </a:extLst>
          </p:cNvPr>
          <p:cNvSpPr txBox="1"/>
          <p:nvPr/>
        </p:nvSpPr>
        <p:spPr>
          <a:xfrm>
            <a:off x="647087" y="949503"/>
            <a:ext cx="104732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Problem Statement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: Create a remote test Lab to conduct validation of an Embedded RTOS based Vehicle Controller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F79FAD17-836C-4D63-67C9-3116FD02C927}"/>
              </a:ext>
            </a:extLst>
          </p:cNvPr>
          <p:cNvSpPr txBox="1"/>
          <p:nvPr/>
        </p:nvSpPr>
        <p:spPr>
          <a:xfrm>
            <a:off x="6635187" y="5145711"/>
            <a:ext cx="51594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TechM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 Value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: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Created Lab with investments and resource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Commenced 7 system level tests within 5 weeks</a:t>
            </a:r>
            <a:endParaRPr 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charset="0"/>
                <a:cs typeface="Arial" charset="0"/>
              </a:rPr>
              <a:t>Manual and Remote Testing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15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2025-10-14T06:42:58Z</dcterms:created>
  <dcterms:modified xsi:type="dcterms:W3CDTF">2025-10-14T06:44:23Z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2025-10-14T06:44:23Z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0c9711a6-5782-4e22-9e6b-00b74cc66d3f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