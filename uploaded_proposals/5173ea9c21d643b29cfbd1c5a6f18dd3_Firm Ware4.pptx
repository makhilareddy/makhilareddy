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38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7AA7-4A2E-F4D1-D951-1AC4440E9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4A12A-873D-71E4-A495-15ECC8268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0944F-CE82-4517-C93E-DEBC2594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8980E-CABA-48B2-28E2-F40BE025E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696CA-0520-F0F9-FC75-07E426F2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8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4303C-68E3-659D-7C09-E324D10C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D3F29-CDAF-E93F-C350-09576525D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7846A-C6E4-DCFE-0683-0435FAC65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01263-6211-7ED7-53EA-154819F9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0648-06B9-BFFA-275C-B38BB7F8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0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CDE1-F96E-F840-AAFD-01A51E50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7B34B-7A60-B276-B21A-078218153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D48B3-D613-FC2C-41A0-C2F9134D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6B6F-F3A0-2750-DB15-50C2B384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D1379-B80A-AD8F-F5F7-9B2953DA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17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7295-2E96-5706-F91A-55E048B3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C5A01-032E-1070-D148-731D8287B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D5C7C-0609-C9FA-AA3C-7C4F9B690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B2B73-93D7-7D50-E832-8A37B21B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58C66-EA35-D8CD-DA47-D54F59725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43558-FCF7-3AB6-7650-A6C26E68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3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5C01-25DE-40D9-09A8-200495F4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26768-5DEF-7063-BD3A-4EEF2060E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A3917-3B55-5E69-D014-FF7779927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BD8F7-E775-451D-AABF-5B8E79D8B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BA446-D3BC-9B79-D79E-AB8B82D66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CD71F-73D6-3535-C895-2B3923FA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833074-9E94-F4C2-6EBC-7B9B93DF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251C1-A765-8465-B653-85F5C56BB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4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3BD3-EC1D-C7CF-1FA2-466DC5B28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483DD6-C95D-CDA1-ABFC-6DEB01B1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6D73E-3912-4BF8-7F55-A6D01D6C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6375C-DD72-BF0A-9D89-46A84E197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97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A67B88-A3CB-4ECC-AAFE-AE1D427C0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491D1-8DFD-28FE-12EB-DDE2FE92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ECD16-5919-2357-C407-E52CF1D6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0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F668-2812-3A19-D9BD-BD7DB172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DE8D-8CEA-13B6-5553-F005670AB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D5BE3-935A-BD66-4E9D-4B49E41D9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46233-302C-CC31-FDCB-C6F24AB92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C7591-4469-FF87-09D4-857F99A0B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529A1-28CA-CED9-D058-AD8FE520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98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AAAC-EA2A-96B5-2C8E-DFAA25E5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7BEBB0-7204-2EB3-D136-A3875E4AC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F6B5C-0B01-4DAF-488C-AE94419AF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1C0A3-7D67-3BCE-EF17-2A9CCE6A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A5AD8-D48E-5D93-6805-FCB2476D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35A4C-1410-65A2-53D2-37DA9F04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2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6EBE-EBF1-5204-3E63-764BBC85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A21C7-E35A-5B39-C3B5-F945D043E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C98E3-9504-4371-BB17-3E1229C0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46879-A2BE-4B54-C143-A88072F20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7024E-CF63-B011-308C-526C7908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4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46B97D-025C-77A2-F25A-98B737A2C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E1CC2-42AD-B961-5DEC-777EFF348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AB7A1-C2CB-73C3-572D-4B0E2E6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B3656-D904-AA80-6DED-D4B3C387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2BC1E-6F00-AEB9-CCAF-0343AF8D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70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5" y="135224"/>
            <a:ext cx="10515605" cy="965397"/>
            <a:chOff x="-5" y="719138"/>
            <a:chExt cx="11170924" cy="965397"/>
          </a:xfrm>
        </p:grpSpPr>
        <p:sp>
          <p:nvSpPr>
            <p:cNvPr id="11" name="Rectangle 10"/>
            <p:cNvSpPr/>
            <p:nvPr/>
          </p:nvSpPr>
          <p:spPr>
            <a:xfrm flipH="1">
              <a:off x="-5" y="719138"/>
              <a:ext cx="11170924" cy="722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35968" y="849474"/>
              <a:ext cx="104407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2400" dirty="0">
                <a:solidFill>
                  <a:srgbClr val="000000"/>
                </a:solidFill>
                <a:latin typeface="+mn-lt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257" y="1439571"/>
              <a:ext cx="11126662" cy="244964"/>
            </a:xfrm>
            <a:prstGeom prst="rect">
              <a:avLst/>
            </a:prstGeom>
          </p:spPr>
        </p:pic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8503" y="169704"/>
            <a:ext cx="9428010" cy="64008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BCDCDA-A9B2-41ED-8B87-A99C57CEAD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37311" y="307676"/>
            <a:ext cx="1103426" cy="37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3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9789AE-9AD7-7105-FAAC-65BE1442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40FBF-5311-D654-4CC2-F0C37D96A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E2743-A8F9-B998-97AA-7BAABBFF0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4DDB8-55A1-453C-B927-5620A395EE5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F7460-6D87-8231-4F48-A68581C89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E0489-CB1E-3F10-3A75-1ABC8DBF6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E8888-7B8A-4689-8A4C-41110AD16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3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8189638-84DC-4C18-86C9-D74BC5110FD7}"/>
              </a:ext>
            </a:extLst>
          </p:cNvPr>
          <p:cNvSpPr txBox="1">
            <a:spLocks/>
          </p:cNvSpPr>
          <p:nvPr/>
        </p:nvSpPr>
        <p:spPr>
          <a:xfrm>
            <a:off x="637564" y="324719"/>
            <a:ext cx="9541180" cy="38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lIns="91440" tIns="45720" rIns="91440" bIns="45720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lang="en-US" sz="2400" dirty="0">
                <a:cs typeface="Arial" charset="0"/>
              </a:defRPr>
            </a:lvl1pPr>
          </a:lstStyle>
          <a:p>
            <a:r>
              <a:rPr lang="en-US" dirty="0"/>
              <a:t>Success Stories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257B9E-8719-418D-A490-FB4A3807C0E6}"/>
              </a:ext>
            </a:extLst>
          </p:cNvPr>
          <p:cNvSpPr/>
          <p:nvPr/>
        </p:nvSpPr>
        <p:spPr>
          <a:xfrm>
            <a:off x="846212" y="999800"/>
            <a:ext cx="4208020" cy="553348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 defTabSz="900133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DF15D-13BC-4105-BAEF-2DB0DF81D3FF}"/>
              </a:ext>
            </a:extLst>
          </p:cNvPr>
          <p:cNvSpPr/>
          <p:nvPr/>
        </p:nvSpPr>
        <p:spPr>
          <a:xfrm>
            <a:off x="846212" y="2427839"/>
            <a:ext cx="4208020" cy="56620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 defTabSz="900133"/>
            <a:r>
              <a:rPr lang="en-US" sz="1500" b="1" dirty="0">
                <a:solidFill>
                  <a:prstClr val="white"/>
                </a:solidFill>
              </a:rPr>
              <a:t>NVSRAM replacement and Firmware modifications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4CF630-BE9E-4E73-8C0F-28665A3E9ACF}"/>
              </a:ext>
            </a:extLst>
          </p:cNvPr>
          <p:cNvSpPr txBox="1"/>
          <p:nvPr/>
        </p:nvSpPr>
        <p:spPr>
          <a:xfrm>
            <a:off x="883720" y="3429000"/>
            <a:ext cx="4122143" cy="2693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prstClr val="black"/>
                </a:solidFill>
              </a:rPr>
              <a:t>Find out replacement for the existing NVSRAM with minimal changes in both Hardware and Firmware</a:t>
            </a:r>
          </a:p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prstClr val="black"/>
                </a:solidFill>
              </a:rPr>
              <a:t>Analyse the schematics of the existing Hardware and firmware</a:t>
            </a:r>
          </a:p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prstClr val="black"/>
                </a:solidFill>
              </a:rPr>
              <a:t>List out firmware modifications required for the new replacement</a:t>
            </a:r>
          </a:p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prstClr val="black"/>
                </a:solidFill>
              </a:rPr>
              <a:t>Modify the firmware so that both the existing and the new alternate can work with one</a:t>
            </a:r>
          </a:p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prstClr val="black"/>
                </a:solidFill>
              </a:rPr>
              <a:t>Prepare the test plan for qualification with modified firmware @ 180 C</a:t>
            </a:r>
          </a:p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prstClr val="black"/>
                </a:solidFill>
              </a:rPr>
              <a:t>Log the real time test data for all 600 hrs. </a:t>
            </a:r>
            <a:r>
              <a:rPr lang="en-US" sz="1200" dirty="0">
                <a:solidFill>
                  <a:prstClr val="black"/>
                </a:solidFill>
              </a:rPr>
              <a:t>of high temperature testing (@180 C)</a:t>
            </a:r>
          </a:p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</a:rPr>
              <a:t>Prepare the test report and the new firmware release notes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872888-7531-43AB-9747-EBD225E86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94" y="1070920"/>
            <a:ext cx="4034269" cy="123033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E7E34-A88C-4482-B4BB-75FFCD8F8E6C}"/>
              </a:ext>
            </a:extLst>
          </p:cNvPr>
          <p:cNvSpPr/>
          <p:nvPr/>
        </p:nvSpPr>
        <p:spPr>
          <a:xfrm>
            <a:off x="6406752" y="1005110"/>
            <a:ext cx="4208020" cy="55281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 defTabSz="900133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87392-D060-4027-8184-0FEE54CD7631}"/>
              </a:ext>
            </a:extLst>
          </p:cNvPr>
          <p:cNvSpPr/>
          <p:nvPr/>
        </p:nvSpPr>
        <p:spPr>
          <a:xfrm>
            <a:off x="6406752" y="2396409"/>
            <a:ext cx="4208020" cy="58500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 defTabSz="900133"/>
            <a:r>
              <a:rPr lang="en-US" sz="1500" b="1" dirty="0">
                <a:solidFill>
                  <a:prstClr val="white"/>
                </a:solidFill>
              </a:rPr>
              <a:t>USB Controller selection and qualification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2D9DF-49FD-4891-ACAC-81C5602AD040}"/>
              </a:ext>
            </a:extLst>
          </p:cNvPr>
          <p:cNvSpPr txBox="1"/>
          <p:nvPr/>
        </p:nvSpPr>
        <p:spPr>
          <a:xfrm>
            <a:off x="6449690" y="3217549"/>
            <a:ext cx="4122143" cy="2595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</a:rPr>
              <a:t>Analyze </a:t>
            </a:r>
            <a:r>
              <a:rPr lang="en-IN" sz="1200" dirty="0">
                <a:solidFill>
                  <a:prstClr val="black"/>
                </a:solidFill>
              </a:rPr>
              <a:t>the functionality and specification requirement of  the USB controller IC in current design. </a:t>
            </a:r>
          </a:p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prstClr val="black"/>
                </a:solidFill>
              </a:rPr>
              <a:t>Identify and study the IC’s with similar functionalities. Create detailed Pugh matrix for selection(based on performance, cost, availability).</a:t>
            </a:r>
          </a:p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prstClr val="black"/>
                </a:solidFill>
              </a:rPr>
              <a:t>Hardware interface design and porting the existing firmware for the identified IC’s.</a:t>
            </a:r>
          </a:p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prstClr val="black"/>
                </a:solidFill>
              </a:rPr>
              <a:t>Testing the new IC to check the desired performance and functionality.</a:t>
            </a:r>
          </a:p>
          <a:p>
            <a:pPr marL="168776" indent="-168776" defTabSz="900133">
              <a:spcAft>
                <a:spcPts val="1143"/>
              </a:spcAft>
              <a:buClr>
                <a:srgbClr val="6D6E71"/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prstClr val="black"/>
                </a:solidFill>
              </a:rPr>
              <a:t>Verifying the IC with new design for down hole  high temperature conditions.</a:t>
            </a:r>
            <a:endParaRPr lang="en-IN" sz="900" dirty="0">
              <a:solidFill>
                <a:prstClr val="black"/>
              </a:solidFill>
            </a:endParaRP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AA8A0EA4-F44B-4E9B-98AF-6FE1784AF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72" y="999800"/>
            <a:ext cx="4200214" cy="144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0134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2025-10-14T11:39:56Z</dcterms:created>
  <dcterms:modified xsi:type="dcterms:W3CDTF">2025-10-14T11:40:49Z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2025-10-14T11:40:49Z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38e9a4a5-8dbc-4711-b9e1-1c22588aae07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