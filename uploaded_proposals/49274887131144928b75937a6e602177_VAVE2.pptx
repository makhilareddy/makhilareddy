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6E1B-B2BD-20D9-7937-CB9C494D7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2F607-D706-111E-5D53-AE3E97A53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3CDB-C450-9BF8-AB59-1FB98ED5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FE8B5-CEA8-9CE6-2CC7-C34A955A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2A02F-D7DB-6CCE-0F5B-88C08156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01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42EB-E1FA-2CC0-DDD9-A354DC24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104DF-60BC-DEF0-88E2-AC86621BC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6F9E1-7C54-C6E7-E5A4-48D34C39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BCE7-25D9-CCB3-4450-DF82FFD5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8C4CE-0A2F-AB68-C6C1-78F3BCF9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0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7B51-056D-0097-7CC0-65BA9D64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8E5C0-EDBF-8B46-0F54-192FD769D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25CA2-E2C3-751D-E6D2-A1A049DB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FE960-846E-0D96-DA3A-8AE5A631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05C36-12F6-1D0E-962D-371E5864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3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7D5E-B695-7EEF-029C-E9B6238B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81291-B689-D7C2-3A7B-8BFFE5AD5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EEF00-0F0C-B7C7-DC52-C888EDF15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C120B-41D2-4B95-270E-8B92ED98C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7536F-B7FC-2B61-91D7-0CD5FA9D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6F77A-E62E-F49E-F250-D89B3757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4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D172-DADD-6250-6F76-F25D0653C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9BE4B-FBAB-7EA2-8596-2654ABF0F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0B8D6-186B-6780-D044-88D1C157F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B5911-2BB0-F327-1199-FDC068A67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D502C-15F9-50EC-656B-7A5EEB4E5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C1387A-4A6D-4044-C1EE-BFC3968E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145AF-CF3B-5113-F16C-788F2637F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5242B9-FFFD-FA28-35FB-507D3F56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2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2933-B608-DDE1-720A-24AAC1BBD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3AACA-F770-4EBA-E0D8-593091ED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FB696-B81D-0DAA-6567-80E5D308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E6356-F5D6-2C26-09D0-2784FF75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1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172CF-A42E-F80D-A7EB-0DD75CBF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76C21-3A14-EB56-2A08-EB878C52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7CF0F-3391-D3B7-C684-92EB969A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32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3C701-9ACC-9CE4-8F4D-33181FD76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230FF-8D4A-F908-1212-2AEF18BD3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9E8ED-9978-48DB-3A75-370FB9CFC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45F34-E14D-31C8-6441-65C3AFAFF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02EC2-4763-93AA-7BCD-6452764D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02597-CF69-91A5-55C7-D94432C1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55D6-E8B3-31C3-8250-84F1E727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F59DF-C7F3-AA54-5CD9-00DD21D79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DB6DA-AD19-B6FE-C090-F183C7A58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6551E-EB3A-E9D1-5ECB-2DC72DAE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97861-E300-D605-A8DE-ACCD1D07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65D4E-5837-8374-36B4-048275BC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5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0191-09FC-6D11-3F32-96E2B7BB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5A50D-A5FB-C2B3-F96F-2E78F366D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A870F-5C88-C3B1-DB1F-926CE5F33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BA86B-3A7B-BFB5-CC1A-76144C3B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074CA-7243-AFBE-EBC3-0C2BCC5F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9283A-0C71-B510-FDA4-B78CA22CD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EE645-13C4-D8E3-1230-DEC42711C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A752E-5425-A3A0-793D-170C07FD3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9FFEA-446E-1942-3905-305945FC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46A97-E4A7-5349-495F-96A83451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809D-8D1F-7EF9-04E1-E38EB8D5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89722-2215-E394-B220-600AE1C46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05A90-0F9C-F716-1E3F-9B1EDF906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84644-10B1-40A4-BD0F-DE974A19276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26B86-5E95-1C86-7006-637C3943A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2D574-B75A-6267-5B73-9E8EE9ACB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C84B5-69DD-4D32-A564-462F9D044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9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2">
            <a:extLst>
              <a:ext uri="{FF2B5EF4-FFF2-40B4-BE49-F238E27FC236}">
                <a16:creationId xmlns:a16="http://schemas.microsoft.com/office/drawing/2014/main" id="{397D09BE-BC5B-75AE-8C4D-E1EA15346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3225" y="296862"/>
            <a:ext cx="4184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charset="0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en-US" altLang="en-US" sz="2000" b="1">
                <a:latin typeface="Calibri" panose="020F0502020204030204" pitchFamily="34" charset="0"/>
              </a:rPr>
              <a:t>CM2723 I/O controller – VAVE Analysis</a:t>
            </a: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5DD6717F-B50C-3882-9EDA-99C961177977}"/>
              </a:ext>
            </a:extLst>
          </p:cNvPr>
          <p:cNvSpPr txBox="1"/>
          <p:nvPr/>
        </p:nvSpPr>
        <p:spPr>
          <a:xfrm>
            <a:off x="6267451" y="604836"/>
            <a:ext cx="4244975" cy="261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itchFamily="34" charset="0"/>
              </a:rPr>
              <a:t>Achievements:</a:t>
            </a:r>
          </a:p>
          <a:p>
            <a:pPr marL="114300" algn="just">
              <a:buClr>
                <a:schemeClr val="tx2"/>
              </a:buClr>
              <a:defRPr/>
            </a:pPr>
            <a:endParaRPr lang="en-US" sz="1200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Listed 49 VAVE Ideas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accent4"/>
                </a:solidFill>
                <a:latin typeface="Calibri" panose="020F0502020204030204" pitchFamily="34" charset="0"/>
              </a:rPr>
              <a:t>Estimated Cost Savings of </a:t>
            </a: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</a:rPr>
              <a:t>$</a:t>
            </a:r>
            <a:r>
              <a:rPr lang="en-US" sz="1400" b="1" u="sng" dirty="0">
                <a:solidFill>
                  <a:schemeClr val="accent4"/>
                </a:solidFill>
                <a:latin typeface="Calibri" panose="020F0502020204030204" pitchFamily="34" charset="0"/>
              </a:rPr>
              <a:t>7</a:t>
            </a: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>
                <a:solidFill>
                  <a:schemeClr val="accent4"/>
                </a:solidFill>
                <a:latin typeface="Calibri" panose="020F0502020204030204" pitchFamily="34" charset="0"/>
              </a:rPr>
              <a:t>have been identified (</a:t>
            </a: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</a:rPr>
              <a:t>0.35M USD </a:t>
            </a:r>
            <a:r>
              <a:rPr lang="en-US" sz="1400" dirty="0">
                <a:solidFill>
                  <a:schemeClr val="accent4"/>
                </a:solidFill>
                <a:latin typeface="Calibri" panose="020F0502020204030204" pitchFamily="34" charset="0"/>
              </a:rPr>
              <a:t>savings per annum for 50K Quantity)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Suggested different power topology approach to reduce costing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EoL and Obsolescence check performed on the product Bill of Material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Schematics modified with the proposed Cost Reduction changes and submitted to Client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EFA7DF-62F0-412B-6E23-A7F1E72C07F5}"/>
              </a:ext>
            </a:extLst>
          </p:cNvPr>
          <p:cNvCxnSpPr/>
          <p:nvPr/>
        </p:nvCxnSpPr>
        <p:spPr>
          <a:xfrm>
            <a:off x="1784351" y="3795711"/>
            <a:ext cx="8728075" cy="0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36">
            <a:extLst>
              <a:ext uri="{FF2B5EF4-FFF2-40B4-BE49-F238E27FC236}">
                <a16:creationId xmlns:a16="http://schemas.microsoft.com/office/drawing/2014/main" id="{FDEA38AE-D153-CE42-2213-201FA7B81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1373187"/>
            <a:ext cx="43481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5715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Arial" charset="0"/>
              </a:defRPr>
            </a:lvl9pPr>
          </a:lstStyle>
          <a:p>
            <a:pPr algn="just">
              <a:buClr>
                <a:schemeClr val="tx2"/>
              </a:buClr>
              <a:defRPr/>
            </a:pPr>
            <a:r>
              <a:rPr lang="en-US" altLang="en-US" sz="1800" b="1" dirty="0">
                <a:latin typeface="Calibri" pitchFamily="34" charset="0"/>
              </a:rPr>
              <a:t>Scope:</a:t>
            </a:r>
          </a:p>
          <a:p>
            <a:pPr algn="just">
              <a:buClr>
                <a:schemeClr val="tx2"/>
              </a:buClr>
              <a:defRPr/>
            </a:pPr>
            <a:endParaRPr lang="en-US" altLang="en-US" sz="1400" b="1" dirty="0">
              <a:latin typeface="Calibri" pitchFamily="34" charset="0"/>
            </a:endParaRPr>
          </a:p>
          <a:p>
            <a:pPr algn="just">
              <a:buClr>
                <a:schemeClr val="tx2"/>
              </a:buClr>
              <a:defRPr/>
            </a:pPr>
            <a:r>
              <a:rPr lang="en-US" altLang="en-US" sz="1400" dirty="0">
                <a:latin typeface="Calibri" pitchFamily="34" charset="0"/>
              </a:rPr>
              <a:t>To perform VAVE Analysis on the CM2723 I/O Controller.. The Project has to go through entire VAVE cycle.  The scope of the project includes:</a:t>
            </a:r>
          </a:p>
          <a:p>
            <a:pPr marL="34290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Calibri" pitchFamily="34" charset="0"/>
              </a:rPr>
              <a:t>Electrical Cost Reduction Analysis </a:t>
            </a:r>
          </a:p>
          <a:p>
            <a:pPr marL="34290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Calibri" pitchFamily="34" charset="0"/>
              </a:rPr>
              <a:t>Competitor product Analysis</a:t>
            </a:r>
          </a:p>
          <a:p>
            <a:pPr marL="1028700" lvl="1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200" dirty="0">
                <a:latin typeface="Calibri" pitchFamily="34" charset="0"/>
              </a:rPr>
              <a:t>Reverse Engineering</a:t>
            </a:r>
          </a:p>
          <a:p>
            <a:pPr marL="1028700" lvl="1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200" dirty="0">
                <a:latin typeface="Calibri" pitchFamily="34" charset="0"/>
              </a:rPr>
              <a:t>BoM of Competitor Product</a:t>
            </a:r>
          </a:p>
          <a:p>
            <a:pPr marL="1028700" lvl="1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200" dirty="0">
                <a:latin typeface="Calibri" pitchFamily="34" charset="0"/>
              </a:rPr>
              <a:t>Comparison with the Client Product</a:t>
            </a: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BADD91C8-4A79-3546-EA3E-396E4F645057}"/>
              </a:ext>
            </a:extLst>
          </p:cNvPr>
          <p:cNvSpPr txBox="1"/>
          <p:nvPr/>
        </p:nvSpPr>
        <p:spPr>
          <a:xfrm>
            <a:off x="1706563" y="3948111"/>
            <a:ext cx="4348162" cy="153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anose="020F0502020204030204" pitchFamily="34" charset="0"/>
              </a:rPr>
              <a:t>Tools/Techniques used:</a:t>
            </a:r>
          </a:p>
          <a:p>
            <a:pPr marL="57150" algn="just">
              <a:buClr>
                <a:schemeClr val="tx2"/>
              </a:buClr>
              <a:defRPr/>
            </a:pPr>
            <a:endParaRPr lang="en-US" sz="1200" b="1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Silicon Expert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Q-STAR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Pugh Matrix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Pareto Analysis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Manuscript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52012A-9FAE-70A3-AB3F-5C885CAD77E1}"/>
              </a:ext>
            </a:extLst>
          </p:cNvPr>
          <p:cNvCxnSpPr/>
          <p:nvPr/>
        </p:nvCxnSpPr>
        <p:spPr>
          <a:xfrm>
            <a:off x="6229350" y="4189411"/>
            <a:ext cx="0" cy="2484438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6A1FC0-E166-8015-8DD2-9A3DF6E5245F}"/>
              </a:ext>
            </a:extLst>
          </p:cNvPr>
          <p:cNvCxnSpPr/>
          <p:nvPr/>
        </p:nvCxnSpPr>
        <p:spPr>
          <a:xfrm>
            <a:off x="6229350" y="450850"/>
            <a:ext cx="0" cy="3748087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9109ED7-BCBA-9261-AD09-508912DC8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6" y="3906836"/>
            <a:ext cx="1762125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E0461B-E011-AE28-4CE6-7B30DE07F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075" y="3900487"/>
            <a:ext cx="19177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CADE74-6A67-F95B-056C-E328F7BDF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5221286"/>
            <a:ext cx="1733550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DCF7F7-F5DE-B776-3278-71DA4D26A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5" y="5175250"/>
            <a:ext cx="19304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A9EBA66D-775D-1DBD-B78F-70ACC7801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5689600"/>
            <a:ext cx="43481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5715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8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4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US" altLang="en-US" sz="1800" b="1" dirty="0">
                <a:solidFill>
                  <a:schemeClr val="accent4"/>
                </a:solidFill>
                <a:latin typeface="Calibri" pitchFamily="34" charset="0"/>
              </a:rPr>
              <a:t>Application : Automotive Industry</a:t>
            </a:r>
            <a:endParaRPr lang="en-US" altLang="en-US" sz="1200" b="1" dirty="0">
              <a:solidFill>
                <a:schemeClr val="accent4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751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2025-10-14T07:12:00Z</dcterms:created>
  <dcterms:modified xsi:type="dcterms:W3CDTF">2025-10-14T07:12:52Z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2025-10-14T07:12:52Z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2e67e4b4-1398-49f4-9ced-ba132c348367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