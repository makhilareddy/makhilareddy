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00CC-25EB-CFF1-B3A8-72DD37368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E048D-AE28-E7C9-6C34-8F6FC73A5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FAEB7-1A11-1201-EB49-3335DD82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E17A-0210-7D85-1121-AA989157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1591A-90C4-9ACF-086B-E848320C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5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6EC6-2ECC-4BF7-597A-CEBE549F8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A2C74-E5FB-AA9B-2ED6-A93B1A766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C6DBF-C835-CF14-A8BD-6E5F795A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EF464-C866-C67C-D8D5-C54CEC0BE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40553-7DB8-B9CE-7871-FCF20D67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6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A608-F571-F4DC-5811-9B1326F6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72E95-D402-66D7-E52A-9EFF357FB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79544-DB52-7CE1-FEC7-1210D773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30997-7523-46D3-2E9D-37BAC09E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DF0D5-5580-9E90-B502-0ADB48CC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6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B895-619B-78D2-AF03-D5B0419CF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FDF4-F49C-72D0-639B-92AF3EC82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91BFB-04C8-CF88-D93D-C1AC5C982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A13AF-A311-7EDB-1ED7-A7366894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63E90-E756-08A2-D51F-6030DE74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C6F08-0BDC-F586-1075-70CDF249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D458-8066-8498-9E3C-350AC9DE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27AC1-73BB-13F2-40BB-C9C84DAC6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37963-A603-1111-4664-5AE387F20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67D60-71AC-AB02-147F-059F80E56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0E1375-CBB0-5E79-6356-7B54926D6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AF361-C41E-51D4-5C32-9E74D3BD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C5DA01-C99B-BF0F-0264-AC85BF90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B58BB9-9004-9639-EFF5-F5571D97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9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5F82-CB19-5497-3876-2DC32339D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D7586B-BFAC-6DDF-B721-F7F7CB08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D7A4A-161E-A1BA-5219-5EDA5AC1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0DE5D-8B2A-CDDE-AF5D-5B64256A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7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84395-6B02-D03E-9FF1-C7B433575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2C3C0-470D-8542-FFDD-AC15E726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14EE4-9D5A-4989-3AA8-D612277B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5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91B19-1C03-9D4B-1F2B-45E9895F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1D760-8585-BB56-1807-A2AC940A5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92D47-B213-5E26-3D4C-64374F3E4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FB29C-CC5B-7720-5D15-BA3DE6F90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9A8B4-0EAF-4041-E578-C356D957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7D62-CDC7-84B4-51B6-E8A50D86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F093-51A5-4CD2-27E5-7DF5E0B9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30F76E-34E3-72C3-2F71-B4DF09853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8B633-9CDE-CA35-588D-3671695F5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C03A8-3333-CFB4-D633-2A182AD3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51CAE-9D6C-1F1D-03D9-B655D944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DCF20-064C-8A67-049C-5D526463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8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4DE0-8B1C-D1FB-5050-205E8CAE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DFD29-5225-9690-6020-7914D36D6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7A2DE-1F0D-57E8-9437-543DF093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DBFFC-164C-F745-B065-CB98D787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3358-A71C-1B60-975F-17A13D2E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1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92321-5BC8-EC7C-E77B-91F918BC0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399C1-92D2-1F59-B9CC-44DEEDDF2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5BFF-8154-34A6-A21E-AA83A1A8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152B-C70B-CAD9-1BA7-CA6B701E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F0CCD-EFFB-CD75-E6B8-00CC0AFFB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8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46AFB-0C0F-C1F8-B92D-714CD1CCF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94F14-341B-879D-B242-3B4529EA7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1AB8-51A2-FFD7-194C-989CEB9B4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A8600C-73B9-443C-A93C-25C6BC28ED3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F7293-1BAC-FB6C-4510-D72802D1E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368F3-7882-E839-E05A-DB3DA0414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CB85B-1AFA-47B0-B55B-5FECDA401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4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2">
            <a:extLst>
              <a:ext uri="{FF2B5EF4-FFF2-40B4-BE49-F238E27FC236}">
                <a16:creationId xmlns:a16="http://schemas.microsoft.com/office/drawing/2014/main" id="{11C367C3-DB75-A219-87DC-190C4CB4A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82551"/>
            <a:ext cx="4184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imes" panose="02020603050405020304" pitchFamily="18" charset="0"/>
              <a:buChar char="•"/>
              <a:defRPr sz="28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FontTx/>
              <a:buNone/>
            </a:pPr>
            <a:r>
              <a:rPr lang="en-US" altLang="en-US" sz="2000" b="1">
                <a:latin typeface="Calibri" panose="020F0502020204030204" pitchFamily="34" charset="0"/>
              </a:rPr>
              <a:t>AC30 – VAVE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8A891-64F2-BC55-B1BF-928FFDF60114}"/>
              </a:ext>
            </a:extLst>
          </p:cNvPr>
          <p:cNvSpPr txBox="1"/>
          <p:nvPr/>
        </p:nvSpPr>
        <p:spPr>
          <a:xfrm>
            <a:off x="6200776" y="247650"/>
            <a:ext cx="4244975" cy="261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itchFamily="34" charset="0"/>
              </a:rPr>
              <a:t>Achievements:</a:t>
            </a:r>
          </a:p>
          <a:p>
            <a:pPr marL="114300" algn="just">
              <a:buClr>
                <a:schemeClr val="tx2"/>
              </a:buClr>
              <a:defRPr/>
            </a:pPr>
            <a:endParaRPr lang="en-US" sz="1200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Conceptual 3D model by reducing number of PCBs in power stack from 3 to 1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</a:rPr>
              <a:t>Suggested drop-in replacement of IGBT gate-drive ICs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accent4"/>
                </a:solidFill>
                <a:latin typeface="Calibri" panose="020F0502020204030204" pitchFamily="34" charset="0"/>
              </a:rPr>
              <a:t>Proposed to replace some of the sheet metal components as part of enclosure to plastic moulding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accent4"/>
                </a:solidFill>
                <a:latin typeface="Calibri" panose="020F0502020204030204" pitchFamily="34" charset="0"/>
              </a:rPr>
              <a:t>Proposed to change molded heat sink to casting type for cost reduction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accent4"/>
                </a:solidFill>
                <a:latin typeface="Calibri" panose="020F0502020204030204" pitchFamily="34" charset="0"/>
              </a:rPr>
              <a:t>Estimated savings ~ 6.1% ($21.2)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accent4"/>
                </a:solidFill>
                <a:latin typeface="Calibri" panose="020F0502020204030204" pitchFamily="34" charset="0"/>
              </a:rPr>
              <a:t>Project not feasible due to low annual sales volumes (~2500/annum)</a:t>
            </a:r>
            <a:endParaRPr lang="en-US" sz="1400" dirty="0">
              <a:latin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56435-C7A1-299A-FF53-C7E3A0DA1B4B}"/>
              </a:ext>
            </a:extLst>
          </p:cNvPr>
          <p:cNvCxnSpPr/>
          <p:nvPr/>
        </p:nvCxnSpPr>
        <p:spPr>
          <a:xfrm>
            <a:off x="1717676" y="3581400"/>
            <a:ext cx="8728075" cy="0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36">
            <a:extLst>
              <a:ext uri="{FF2B5EF4-FFF2-40B4-BE49-F238E27FC236}">
                <a16:creationId xmlns:a16="http://schemas.microsoft.com/office/drawing/2014/main" id="{36861303-FB36-7EA6-376C-4ABF1B027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938" y="1158875"/>
            <a:ext cx="43481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7150">
              <a:spcBef>
                <a:spcPct val="20000"/>
              </a:spcBef>
              <a:buFont typeface="Times" pitchFamily="18" charset="0"/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Times" pitchFamily="18" charset="0"/>
              <a:buChar char="•"/>
              <a:defRPr sz="2800">
                <a:solidFill>
                  <a:schemeClr val="accent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accent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US" altLang="en-US" sz="1800" b="1" dirty="0">
                <a:latin typeface="Calibri" pitchFamily="34" charset="0"/>
              </a:rPr>
              <a:t>Scope:</a:t>
            </a:r>
          </a:p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endParaRPr lang="en-US" altLang="en-US" sz="1400" b="1" dirty="0">
              <a:latin typeface="Calibri" pitchFamily="34" charset="0"/>
            </a:endParaRPr>
          </a:p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IN" sz="1400" dirty="0">
                <a:latin typeface="Calibri" pitchFamily="34" charset="0"/>
              </a:rPr>
              <a:t>The scope of the project is  VAVE Analysis and identify cost reduction opportunities without any change in product specification:</a:t>
            </a:r>
            <a:endParaRPr lang="en-US" altLang="en-US" sz="1400" dirty="0">
              <a:solidFill>
                <a:srgbClr val="FF0000"/>
              </a:solidFill>
              <a:latin typeface="Calibri" pitchFamily="34" charset="0"/>
            </a:endParaRPr>
          </a:p>
          <a:p>
            <a:pPr marL="342900" indent="-285750" algn="just">
              <a:spcBef>
                <a:spcPct val="0"/>
              </a:spcBef>
              <a:buClr>
                <a:schemeClr val="tx2"/>
              </a:buClr>
              <a:defRPr/>
            </a:pPr>
            <a:r>
              <a:rPr lang="en-US" altLang="en-US" sz="1400" dirty="0">
                <a:solidFill>
                  <a:schemeClr val="accent4"/>
                </a:solidFill>
                <a:latin typeface="Calibri" pitchFamily="34" charset="0"/>
              </a:rPr>
              <a:t>Analysis of Frame D Power stack</a:t>
            </a:r>
          </a:p>
          <a:p>
            <a:pPr marL="342900" indent="-285750" algn="just">
              <a:spcBef>
                <a:spcPct val="0"/>
              </a:spcBef>
              <a:buClr>
                <a:schemeClr val="tx2"/>
              </a:buClr>
              <a:defRPr/>
            </a:pPr>
            <a:r>
              <a:rPr lang="en-US" altLang="en-US" sz="1400" dirty="0">
                <a:solidFill>
                  <a:schemeClr val="accent4"/>
                </a:solidFill>
                <a:latin typeface="Calibri" pitchFamily="34" charset="0"/>
              </a:rPr>
              <a:t>AC30V control module</a:t>
            </a:r>
          </a:p>
          <a:p>
            <a:pPr marL="342900" indent="-285750" algn="just">
              <a:spcBef>
                <a:spcPct val="0"/>
              </a:spcBef>
              <a:buClr>
                <a:schemeClr val="tx2"/>
              </a:buClr>
              <a:defRPr/>
            </a:pPr>
            <a:r>
              <a:rPr lang="en-US" altLang="en-US" sz="1400" dirty="0">
                <a:solidFill>
                  <a:schemeClr val="accent4"/>
                </a:solidFill>
                <a:latin typeface="Calibri" pitchFamily="34" charset="0"/>
              </a:rPr>
              <a:t>Mechanical Enclosure</a:t>
            </a:r>
            <a:endParaRPr lang="en-US" altLang="en-US" sz="1200" dirty="0">
              <a:solidFill>
                <a:schemeClr val="accent4"/>
              </a:solidFill>
              <a:latin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0B0A3-4DF6-DFF7-F02D-64E83396EDBF}"/>
              </a:ext>
            </a:extLst>
          </p:cNvPr>
          <p:cNvSpPr txBox="1"/>
          <p:nvPr/>
        </p:nvSpPr>
        <p:spPr>
          <a:xfrm>
            <a:off x="1639888" y="3733800"/>
            <a:ext cx="4348162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anose="020F0502020204030204" pitchFamily="34" charset="0"/>
              </a:rPr>
              <a:t>Tools/Techniques used:</a:t>
            </a:r>
          </a:p>
          <a:p>
            <a:pPr marL="57150" algn="just">
              <a:buClr>
                <a:schemeClr val="tx2"/>
              </a:buClr>
              <a:defRPr/>
            </a:pPr>
            <a:endParaRPr lang="en-US" sz="1200" b="1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Pugh Matrix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Pareto Analysis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Autodesk Inventor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Competition benchmarking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Calibri" pitchFamily="34" charset="0"/>
              </a:rPr>
              <a:t>Function </a:t>
            </a:r>
            <a:r>
              <a:rPr lang="en-US" sz="1400" dirty="0" err="1">
                <a:latin typeface="Calibri" pitchFamily="34" charset="0"/>
              </a:rPr>
              <a:t>Vs</a:t>
            </a:r>
            <a:r>
              <a:rPr lang="en-US" sz="1400" dirty="0">
                <a:latin typeface="Calibri" pitchFamily="34" charset="0"/>
              </a:rPr>
              <a:t> Cost analysis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Calibri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2BFBE6-4708-AEC3-6D53-FF38B711148B}"/>
              </a:ext>
            </a:extLst>
          </p:cNvPr>
          <p:cNvCxnSpPr/>
          <p:nvPr/>
        </p:nvCxnSpPr>
        <p:spPr>
          <a:xfrm>
            <a:off x="6162675" y="3975100"/>
            <a:ext cx="0" cy="2484438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9A7577-DC48-31D6-AFB8-614085FE7FE2}"/>
              </a:ext>
            </a:extLst>
          </p:cNvPr>
          <p:cNvCxnSpPr/>
          <p:nvPr/>
        </p:nvCxnSpPr>
        <p:spPr>
          <a:xfrm>
            <a:off x="6162675" y="236539"/>
            <a:ext cx="0" cy="3748087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3">
            <a:extLst>
              <a:ext uri="{FF2B5EF4-FFF2-40B4-BE49-F238E27FC236}">
                <a16:creationId xmlns:a16="http://schemas.microsoft.com/office/drawing/2014/main" id="{B4520134-7874-FB19-6D38-1A9E4C14F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938" y="6316663"/>
            <a:ext cx="43481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57150">
              <a:spcBef>
                <a:spcPct val="20000"/>
              </a:spcBef>
              <a:buFont typeface="Times" pitchFamily="18" charset="0"/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Times" pitchFamily="18" charset="0"/>
              <a:buChar char="•"/>
              <a:defRPr sz="2800">
                <a:solidFill>
                  <a:schemeClr val="accent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Times" pitchFamily="18" charset="0"/>
              <a:buChar char="•"/>
              <a:defRPr sz="2400">
                <a:solidFill>
                  <a:schemeClr val="accent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accent1"/>
                </a:solidFill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US" altLang="en-US" sz="1800" b="1" dirty="0">
                <a:solidFill>
                  <a:schemeClr val="accent4"/>
                </a:solidFill>
                <a:latin typeface="Calibri" pitchFamily="34" charset="0"/>
              </a:rPr>
              <a:t>Application : General Industrial Applications</a:t>
            </a:r>
            <a:endParaRPr lang="en-US" altLang="en-US" sz="1200" b="1" dirty="0">
              <a:solidFill>
                <a:schemeClr val="accent4"/>
              </a:solidFill>
              <a:latin typeface="Calibri" pitchFamily="34" charset="0"/>
            </a:endParaRP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7A624C42-3DC5-6254-8B31-3EAF2BCE4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51" y="3733801"/>
            <a:ext cx="4060825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56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2025-10-14T07:15:34Z</dcterms:created>
  <dcterms:modified xsi:type="dcterms:W3CDTF">2025-10-14T07:16:13Z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2025-10-14T07:16:12Z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88f20aac-3afb-4240-9ac5-c924e9816772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