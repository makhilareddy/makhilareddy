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23C9-6DBC-B634-F211-C28075F81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2A913-1C8A-58EC-3CA2-95A908B05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69D88-6FC8-4EAA-B9A8-80DEEDBF6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7C44-1F46-4401-B0A9-1E544F4502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4E1BC-BADD-09E9-B766-DD7C4826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30BD8-3B87-3D3B-CC40-E9D4060F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29D3-1ED8-46C1-A0E4-53796092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2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343E-C7DA-8B0A-C0D5-BD2D567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3967B-AA2F-E124-C9BA-D90CEE56C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209F2-14FD-3F32-F666-B30C4DA0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7C44-1F46-4401-B0A9-1E544F4502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8E11D-7D73-B5CB-591A-D1D28AF8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EF29E-5F4B-662B-2200-9572C42AD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29D3-1ED8-46C1-A0E4-53796092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2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BFB3-827B-4A71-2D3F-FF81F74B9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FF72A-E096-C111-0EB1-578AFDB0C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EDFF2-3291-C59F-3772-21BB0200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7C44-1F46-4401-B0A9-1E544F4502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9EB41-01E9-2825-7621-F619BE7F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B9533-1455-0A8E-2378-E526252B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29D3-1ED8-46C1-A0E4-53796092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52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D37D-392B-5F92-A3A6-81503877E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A170B-0B97-0E96-74B1-BCDED2EDF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87392-BE82-CB96-8A4F-CB551AE8D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8084C-3EF1-3728-1303-FA4718033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7C44-1F46-4401-B0A9-1E544F4502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3319C-1D59-16D8-0496-06E6A203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26B13-48CE-B215-C8AA-1B875440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29D3-1ED8-46C1-A0E4-53796092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42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C2B0-5D09-87F7-A478-F2841DD3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627B6-9B3B-B81D-BF35-365BA8499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D1BF1-B949-D978-91DE-3F945824B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7DCC30-D231-5EC1-2918-88B044787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E9A906-2CAC-C4C6-7F51-83ADB109B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BD239D-B94E-99FD-8686-83AFDE13B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7C44-1F46-4401-B0A9-1E544F4502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62BD5F-ED12-EED1-22AC-C49B6D69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7DB11B-4339-52AC-AF2B-AD7EA1A9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29D3-1ED8-46C1-A0E4-53796092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69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D9D4-DBE7-E61C-9F7A-0F29D90D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F4DCC-E27F-A7FA-144A-319F9749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7C44-1F46-4401-B0A9-1E544F4502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EA2F48-6ED6-CCF8-878E-EE092E5A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91EBE-0DD4-641D-39E3-ED516E90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29D3-1ED8-46C1-A0E4-53796092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2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9ABADE-D03D-35F4-83C4-DEA37840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7C44-1F46-4401-B0A9-1E544F4502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3DFD6-D9A4-D38D-8635-CE66E84D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B3236-E25D-B762-BDC7-14F47BEC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29D3-1ED8-46C1-A0E4-53796092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48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E5C3A-A522-D32B-A7DB-F2C6C91E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A6EBF-1EF6-FE1F-7664-C1963E1ED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69B0B-55C5-CCBD-E341-09EF5427F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78860-E014-E110-9C9C-106606B11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7C44-1F46-4401-B0A9-1E544F4502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4B287-156C-3830-3229-43A5E8FA2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582BC-B38D-EC54-82F7-31CF93B5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29D3-1ED8-46C1-A0E4-53796092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6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C08A-88ED-3300-7425-41AFA840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F4F775-A385-1F59-7EF6-E261D9406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AD759-086E-2F70-6FB8-34F86E0D2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B0399-3BAD-92CB-7F5E-C4579C7A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7C44-1F46-4401-B0A9-1E544F4502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85712-1234-DDF1-ADCE-91729C52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FA17D-5F27-BC68-F36B-5E6777BAD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29D3-1ED8-46C1-A0E4-53796092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2F3B1-9910-48FD-4BA9-C1D13E088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2E680-E154-AA14-47DF-C8DFF087E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4C707-67B9-99DC-8C2F-B0AC380A4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7C44-1F46-4401-B0A9-1E544F4502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476D6-B327-0A76-165F-7F722956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0CBA7-C4A9-574C-819A-C5A80D71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29D3-1ED8-46C1-A0E4-53796092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467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0C1BAE-FA3C-1B51-E8EF-91051BFD0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51863-9D78-96EF-1734-94B4468DF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210AD-ACE1-F49C-43B6-EC1593DB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7C44-1F46-4401-B0A9-1E544F4502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E4F36-6F56-68CC-FA6E-1B4D2696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6CD66-5DCF-8B9B-3BD9-37F46DA4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29D3-1ED8-46C1-A0E4-53796092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6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AA7916-3E39-4681-C84F-D8C226484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B66B3-35BB-24D7-F412-457104ED5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62D2D-37E2-7DBA-BFE6-84CBB7D83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797C44-1F46-4401-B0A9-1E544F4502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0E6F3-9506-4B7A-4E57-648002618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A3E54-3DB2-B058-17A4-4CAEE66C2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529D3-1ED8-46C1-A0E4-53796092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6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0545DE6-03D0-B103-AFEB-9991B0FB998C}"/>
              </a:ext>
            </a:extLst>
          </p:cNvPr>
          <p:cNvSpPr>
            <a:spLocks noGrp="1"/>
          </p:cNvSpPr>
          <p:nvPr/>
        </p:nvSpPr>
        <p:spPr bwMode="gray">
          <a:xfrm>
            <a:off x="805189" y="719139"/>
            <a:ext cx="822483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3200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dirty="0">
                <a:latin typeface="Arial" charset="0"/>
                <a:cs typeface="Arial" charset="0"/>
              </a:rPr>
              <a:t>Component Engineering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6FFB309-3309-5303-FBE5-B0A4D0D95CE8}"/>
              </a:ext>
            </a:extLst>
          </p:cNvPr>
          <p:cNvSpPr>
            <a:spLocks noGrp="1"/>
          </p:cNvSpPr>
          <p:nvPr/>
        </p:nvSpPr>
        <p:spPr bwMode="gray">
          <a:xfrm>
            <a:off x="805189" y="1971676"/>
            <a:ext cx="4768649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90513" indent="-290513" algn="l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sz="18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71500" indent="-279400" algn="l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50900" indent="-279400" algn="l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136650" indent="-285750" algn="l" defTabSz="93345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435100" indent="-28575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Wingdings" pitchFamily="2" charset="2"/>
              <a:buChar char="§"/>
              <a:defRPr lang="en-US" sz="18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714500" indent="-27305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7pPr>
            <a:lvl8pPr marL="16002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1824038" indent="-223838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296863" indent="-296863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charset="0"/>
                <a:cs typeface="Arial" charset="0"/>
              </a:rPr>
              <a:t>Segregation of the given list of components into multiple categories like Electrical , Mechanical, Electromechanical &amp; Custom parts</a:t>
            </a:r>
          </a:p>
          <a:p>
            <a:pPr marL="296863" indent="-296863">
              <a:spcBef>
                <a:spcPct val="0"/>
              </a:spcBef>
              <a:spcAft>
                <a:spcPct val="0"/>
              </a:spcAft>
            </a:pPr>
            <a:endParaRPr dirty="0">
              <a:latin typeface="Arial" charset="0"/>
              <a:cs typeface="Arial" charset="0"/>
            </a:endParaRPr>
          </a:p>
          <a:p>
            <a:pPr marL="296863" indent="-296863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charset="0"/>
                <a:cs typeface="Arial" charset="0"/>
              </a:rPr>
              <a:t>Working with BOM manager tools and other distributors for alternates and Parts at risk</a:t>
            </a:r>
          </a:p>
          <a:p>
            <a:pPr marL="296863" indent="-296863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 marL="296863" indent="-296863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charset="0"/>
                <a:cs typeface="Arial" charset="0"/>
              </a:rPr>
              <a:t>Preparing comparison sheets for the proposed alternates</a:t>
            </a:r>
          </a:p>
          <a:p>
            <a:pPr marL="296863" indent="-296863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0EB221B-06EE-72AE-D21F-D83776C15359}"/>
              </a:ext>
            </a:extLst>
          </p:cNvPr>
          <p:cNvSpPr txBox="1">
            <a:spLocks/>
          </p:cNvSpPr>
          <p:nvPr/>
        </p:nvSpPr>
        <p:spPr bwMode="auto">
          <a:xfrm>
            <a:off x="5902018" y="1971675"/>
            <a:ext cx="5484794" cy="2769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296863" indent="-296863">
              <a:buClr>
                <a:schemeClr val="bg2"/>
              </a:buClr>
              <a:buSzPct val="120000"/>
              <a:buFont typeface="Wingdings" pitchFamily="2" charset="2"/>
              <a:buChar char="§"/>
            </a:pPr>
            <a:r>
              <a:rPr lang="en-US" dirty="0"/>
              <a:t>Suggestions on the best possible alternates</a:t>
            </a:r>
          </a:p>
          <a:p>
            <a:pPr marL="296863" indent="-296863">
              <a:buClr>
                <a:schemeClr val="bg2"/>
              </a:buClr>
              <a:buSzPct val="120000"/>
              <a:buFont typeface="Wingdings" pitchFamily="2" charset="2"/>
              <a:buChar char="§"/>
            </a:pPr>
            <a:endParaRPr lang="en-US" dirty="0"/>
          </a:p>
          <a:p>
            <a:pPr marL="296863" indent="-296863">
              <a:buClr>
                <a:schemeClr val="bg2"/>
              </a:buClr>
              <a:buSzPct val="120000"/>
              <a:buFont typeface="Wingdings" pitchFamily="2" charset="2"/>
              <a:buChar char="§"/>
            </a:pPr>
            <a:r>
              <a:rPr lang="en-US" dirty="0"/>
              <a:t>Vendor Communication for data and certification related issues</a:t>
            </a:r>
          </a:p>
          <a:p>
            <a:pPr marL="296863" indent="-296863">
              <a:buClr>
                <a:schemeClr val="bg2"/>
              </a:buClr>
              <a:buSzPct val="120000"/>
              <a:buFont typeface="Wingdings" pitchFamily="2" charset="2"/>
              <a:buChar char="§"/>
            </a:pPr>
            <a:endParaRPr lang="en-US" dirty="0"/>
          </a:p>
          <a:p>
            <a:pPr marL="296863" indent="-296863">
              <a:buClr>
                <a:schemeClr val="bg2"/>
              </a:buClr>
              <a:buSzPct val="120000"/>
              <a:buFont typeface="Wingdings" pitchFamily="2" charset="2"/>
              <a:buChar char="§"/>
            </a:pPr>
            <a:r>
              <a:rPr lang="en-US" dirty="0"/>
              <a:t>Alternate finding for Custom Parts</a:t>
            </a:r>
          </a:p>
          <a:p>
            <a:pPr marL="296863" indent="-296863">
              <a:buClr>
                <a:schemeClr val="bg2"/>
              </a:buClr>
              <a:buSzPct val="120000"/>
              <a:buFont typeface="Wingdings" pitchFamily="2" charset="2"/>
              <a:buChar char="§"/>
            </a:pPr>
            <a:endParaRPr lang="en-US" dirty="0"/>
          </a:p>
          <a:p>
            <a:pPr marL="296863" indent="-296863">
              <a:buClr>
                <a:schemeClr val="bg2"/>
              </a:buClr>
              <a:buSzPct val="120000"/>
              <a:buFont typeface="Wingdings" pitchFamily="2" charset="2"/>
              <a:buChar char="§"/>
            </a:pPr>
            <a:r>
              <a:rPr lang="en-US" dirty="0"/>
              <a:t>Collecting PCN,PDN, RoHS and Reach Statements</a:t>
            </a:r>
          </a:p>
          <a:p>
            <a:pPr marL="296863" indent="-296863">
              <a:buClr>
                <a:schemeClr val="bg2"/>
              </a:buClr>
              <a:buSzPct val="120000"/>
              <a:buFont typeface="Wingdings" pitchFamily="2" charset="2"/>
              <a:buChar char="§"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B1BCED-2D2B-460E-8345-F26765C0B00D}"/>
              </a:ext>
            </a:extLst>
          </p:cNvPr>
          <p:cNvGrpSpPr/>
          <p:nvPr/>
        </p:nvGrpSpPr>
        <p:grpSpPr>
          <a:xfrm>
            <a:off x="805189" y="5316611"/>
            <a:ext cx="10166373" cy="822250"/>
            <a:chOff x="876551" y="1943398"/>
            <a:chExt cx="10166373" cy="8222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73B88EF-A2E8-4A63-8D6A-F7213E86FF4F}"/>
                </a:ext>
              </a:extLst>
            </p:cNvPr>
            <p:cNvSpPr/>
            <p:nvPr/>
          </p:nvSpPr>
          <p:spPr>
            <a:xfrm>
              <a:off x="1848329" y="1943398"/>
              <a:ext cx="9194595" cy="8092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9" name="Picture 8" descr="QTEC Solutions, Inc. - Electronic Component Obsolescence Management">
              <a:extLst>
                <a:ext uri="{FF2B5EF4-FFF2-40B4-BE49-F238E27FC236}">
                  <a16:creationId xmlns:a16="http://schemas.microsoft.com/office/drawing/2014/main" id="{86C005BC-8A7A-4B51-A0DB-40A57C5105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26"/>
            <a:stretch/>
          </p:blipFill>
          <p:spPr bwMode="auto">
            <a:xfrm>
              <a:off x="5675588" y="2096130"/>
              <a:ext cx="1685925" cy="456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IHS Markit Announces Intent to Acquire Ipreo, a Leading Software Solutions  and Data Provider in Global Capital Markets | Business Wire">
              <a:extLst>
                <a:ext uri="{FF2B5EF4-FFF2-40B4-BE49-F238E27FC236}">
                  <a16:creationId xmlns:a16="http://schemas.microsoft.com/office/drawing/2014/main" id="{0E67FE3B-D335-465D-BC38-E1A1DCE219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4594" y="2027703"/>
              <a:ext cx="2144731" cy="6406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Product Lifecycle Risk Management Platform &amp; Support Services">
              <a:extLst>
                <a:ext uri="{FF2B5EF4-FFF2-40B4-BE49-F238E27FC236}">
                  <a16:creationId xmlns:a16="http://schemas.microsoft.com/office/drawing/2014/main" id="{E42758E6-9B9F-46DD-96EA-DBC70A6D9F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7776" y="2096130"/>
              <a:ext cx="2559050" cy="383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310014C2-0812-4CED-B117-E1208B3E4FDC}"/>
                </a:ext>
              </a:extLst>
            </p:cNvPr>
            <p:cNvSpPr/>
            <p:nvPr/>
          </p:nvSpPr>
          <p:spPr>
            <a:xfrm>
              <a:off x="876551" y="1943398"/>
              <a:ext cx="1408924" cy="82225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Tools Used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8996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2025-10-14T07:59:10Z</dcterms:created>
  <dcterms:modified xsi:type="dcterms:W3CDTF">2025-10-14T08:00:03Z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2025-10-14T08:00:03Z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fa750ac3-e449-4c57-8227-a929ca3116f5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