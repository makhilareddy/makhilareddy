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9406-6DF6-418D-8824-FBF154C34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624CB-85FE-E43B-3DE3-9F482EDA1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C6130-0362-DBBD-0E61-6B33E8F8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6A61D-2047-E3D2-5F36-F20CC757A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83A7F-9F24-1DC8-301D-BBC53C4F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1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0CE3-B61A-83B8-DCEA-CA783E13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0AC0-E08A-AA8A-432B-E9E7DE811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F3551-D46F-E392-439D-05557860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E5FC0-2975-012C-A717-85268E8F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310C3-02D9-3959-0ABA-E4183988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5CBE-55F2-FA94-AAC5-D69431CE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7363A-3013-F2DC-982F-73D685CE3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836FA-7F19-7F3A-923E-E24CA23E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CB2A3-D366-D67B-CB67-0BE0F9D0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8531E-7D82-06E3-49DE-5AB620B0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0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4E35-64B0-8459-CCDF-1FCEB6DC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A54C2-B1F0-9DBC-0FD4-070EE4E54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459AD-BB20-299B-86D7-A201B7B29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94E1C-FBFC-FC7B-650A-B05E5DDC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6DC80-F1E8-B7F1-167C-95D02C00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83CCA-D50E-9052-95E6-CA97A53F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4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C0E3-369D-0991-72FE-A59CA6A7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29C9F-BCF8-103B-A5AD-E2BEE891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4619A-DE08-3A00-B551-792BFD6E9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99D79-CA7A-92B1-3085-ABCD58930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6F691-2653-8BEF-B62B-2705E822C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FACF3-B025-AF66-3516-CFF2ED84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EA66D-6626-E93A-40E4-B4CE2AE4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F06B9-560F-D965-A882-B1663829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3314-4DA9-9C0C-FA0D-0DA4736E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07A1F-7C80-6732-D65B-936EE2CC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BE207-A94E-A265-235C-DF37BEBF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3E972-49C3-D978-C8C7-B4D4BB74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3A1FC-06E9-6913-3D83-77D66186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360B5-DE21-E008-D158-A28DC93C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1448E-3A1B-0C60-EAB6-52AE1D47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2402-396C-804B-5A2D-1C571766E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D0537-863E-6357-F67A-B5EBEAA0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A5FDA-DF02-734D-51CA-FB17A1B53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CD956-7AD1-C5AB-8A61-E0A14C35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C4586-8331-4F24-2056-3AE23EBBB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15CE9-2332-5047-041C-643DF5B0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4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3E98-5594-F359-3C3F-1DB7E7D0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67700-D62F-E3AA-0412-8FC9114B8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74A5E-EEEA-BF7F-9216-44884B1A0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88781-2FA9-D452-E73B-D1753383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B04A0-E879-10EB-7BDC-FE04476F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CEE7-1574-5872-13BF-8748C520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3BFB-E2DA-2E9A-5B53-1B1856B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8D174-4053-9A45-30CD-DA5B6F70B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56CBC-93E9-4F9D-9CA2-A2C25A28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15000-8C4C-71AB-A3B9-5ACDE045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0E8C-2CCE-4C02-7CC0-D4352900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8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E74C2-2695-BDD4-3A9D-DB54E9641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4B785-F52C-CBEE-2CA2-88C8EC093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E768-70B8-6676-7EB2-1840C7DF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10556-75CC-0717-6AD2-F275A877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FC87-C3EF-4893-AB05-C7F24134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8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41F6-EB92-FDC2-0252-8C09D2B4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1BA68-C7AB-F261-A874-49A4181B2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C337D-B12C-270C-9696-066BE424A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14375-65F6-4FDE-9C2C-E71751591B6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21B2-B4C9-9BF1-0BE3-9D4EE216F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F6E9-E496-1C58-112B-23D94E1A1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80E32-A060-4076-903D-58DA68185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8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3EAEB0-AB42-C0C8-797D-C4B1541FBDDA}"/>
              </a:ext>
            </a:extLst>
          </p:cNvPr>
          <p:cNvSpPr txBox="1">
            <a:spLocks/>
          </p:cNvSpPr>
          <p:nvPr/>
        </p:nvSpPr>
        <p:spPr>
          <a:xfrm>
            <a:off x="817705" y="512782"/>
            <a:ext cx="7736604" cy="526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</a:pPr>
            <a:r>
              <a:rPr lang="en-US" altLang="en-US" sz="2600"/>
              <a:t>CM3620 I/O Controller – VAVE Analysis</a:t>
            </a:r>
            <a:endParaRPr lang="en-US" altLang="en-US" sz="2600" dirty="0"/>
          </a:p>
        </p:txBody>
      </p:sp>
      <p:sp>
        <p:nvSpPr>
          <p:cNvPr id="3" name="Google Shape;343;p58">
            <a:extLst>
              <a:ext uri="{FF2B5EF4-FFF2-40B4-BE49-F238E27FC236}">
                <a16:creationId xmlns:a16="http://schemas.microsoft.com/office/drawing/2014/main" id="{F2694015-FCDA-84F2-A268-2F07508A5656}"/>
              </a:ext>
            </a:extLst>
          </p:cNvPr>
          <p:cNvSpPr txBox="1">
            <a:spLocks/>
          </p:cNvSpPr>
          <p:nvPr/>
        </p:nvSpPr>
        <p:spPr>
          <a:xfrm>
            <a:off x="928541" y="1306716"/>
            <a:ext cx="4619852" cy="2122284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290513" indent="-290513" eaLnBrk="1" hangingPunct="1">
              <a:buClr>
                <a:srgbClr val="A7A9AC"/>
              </a:buClr>
              <a:buSzPct val="120000"/>
              <a:buFont typeface="Wingdings" pitchFamily="2" charset="2"/>
              <a:buChar char="§"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defRPr>
            </a:lvl1pPr>
            <a:lvl2pPr marL="285750" indent="-285750" eaLnBrk="1" hangingPunct="1">
              <a:buClr>
                <a:schemeClr val="bg2"/>
              </a:buClr>
              <a:buSzPct val="100000"/>
              <a:buFont typeface="Wingdings" pitchFamily="2" charset="2"/>
              <a:buChar char="§"/>
              <a:defRPr>
                <a:latin typeface="+mn-lt"/>
              </a:defRPr>
            </a:lvl2pPr>
            <a:lvl3pPr marL="571500" indent="-279400" eaLnBrk="1" hangingPunct="1">
              <a:buClr>
                <a:schemeClr val="bg2"/>
              </a:buClr>
              <a:buSzPct val="90000"/>
              <a:buFont typeface="Arial" charset="0"/>
              <a:buChar char="–"/>
              <a:defRPr>
                <a:latin typeface="Arial" pitchFamily="34" charset="0"/>
                <a:cs typeface="Arial" pitchFamily="34" charset="0"/>
              </a:defRPr>
            </a:lvl3pPr>
            <a:lvl4pPr marL="850900" indent="-279400" eaLnBrk="1" hangingPunct="1">
              <a:buClr>
                <a:schemeClr val="bg2"/>
              </a:buClr>
              <a:buSzPct val="80000"/>
              <a:buFont typeface="Wingdings" pitchFamily="2" charset="2"/>
              <a:buChar char="§"/>
              <a:defRPr>
                <a:latin typeface="Arial" pitchFamily="34" charset="0"/>
              </a:defRPr>
            </a:lvl4pPr>
            <a:lvl5pPr marL="1136650" indent="-285750" defTabSz="933450" eaLnBrk="1" hangingPunct="1">
              <a:buClr>
                <a:schemeClr val="bg2"/>
              </a:buClr>
              <a:buSzPct val="70000"/>
              <a:buFont typeface="Arial" charset="0"/>
              <a:buChar char="–"/>
              <a:defRPr>
                <a:latin typeface="Arial" pitchFamily="34" charset="0"/>
              </a:defRPr>
            </a:lvl5pPr>
            <a:lvl6pPr marL="1371600" indent="-241300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>
                <a:latin typeface="Arial" pitchFamily="34" charset="0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marL="0" indent="0">
              <a:buNone/>
            </a:pPr>
            <a:endParaRPr lang="en-GB" sz="1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perform VAVE Analysis on the CM3620 I/O Controller. Existing Microcontroller is Obsolete and alternate controller to be identified. The Project has to go through entire VAVE cycle and Schedule and costing to be submitted for Re-Design with new microcontroller. </a:t>
            </a:r>
          </a:p>
          <a:p>
            <a:pPr marL="0" indent="0" algn="just">
              <a:spcBef>
                <a:spcPct val="0"/>
              </a:spcBef>
              <a:buClr>
                <a:schemeClr val="tx2"/>
              </a:buClr>
              <a:buFontTx/>
              <a:buNone/>
            </a:pPr>
            <a:endParaRPr lang="en-US" alt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project scope included Electrical Cost Reduction, Mechanical Cost Reduction, Re-Design, Certification of the new design, Mechanical Enclosure Development and Firmware Development</a:t>
            </a:r>
            <a:endParaRPr lang="en-US" alt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C86BA03-47D0-2A0B-5AF7-50CA793F4668}"/>
              </a:ext>
            </a:extLst>
          </p:cNvPr>
          <p:cNvSpPr txBox="1">
            <a:spLocks/>
          </p:cNvSpPr>
          <p:nvPr/>
        </p:nvSpPr>
        <p:spPr>
          <a:xfrm>
            <a:off x="981864" y="3653942"/>
            <a:ext cx="4951541" cy="2885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Tools / Techniques used</a:t>
            </a:r>
          </a:p>
          <a:p>
            <a:pPr marL="290513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Silicon Expert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Q-STAR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Pugh Matrix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Pareto Analysis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Autodesk Inventor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Allegro Tools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Manuscript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IAR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Collaborator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Parker Coding standards</a:t>
            </a:r>
          </a:p>
          <a:p>
            <a:pPr defTabSz="1097236"/>
            <a:endParaRPr lang="en-US" altLang="en-US" sz="1400" kern="0" dirty="0">
              <a:solidFill>
                <a:srgbClr val="6D6E7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18B17CE-3375-B282-AD3D-819B948B01A4}"/>
              </a:ext>
            </a:extLst>
          </p:cNvPr>
          <p:cNvSpPr txBox="1">
            <a:spLocks/>
          </p:cNvSpPr>
          <p:nvPr/>
        </p:nvSpPr>
        <p:spPr>
          <a:xfrm>
            <a:off x="6181345" y="4439134"/>
            <a:ext cx="4495452" cy="21003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Achievements</a:t>
            </a: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Listed 63 VAVE Ideas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Alternate Microcontroller identified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Cost Savings of $1 have been identified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Plastic Mechanical prototype has been built and shipped Parker for testing and evaluation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Schedule and Costing for the Re-Design Submitted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VAVE process has been defined and shared with Customer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EoL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and Obsolescence check performed on the product Bill of Material</a:t>
            </a: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2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endParaRPr lang="en-IN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0513" lvl="1" indent="-290513" defTabSz="1097236" fontAlgn="base">
              <a:spcBef>
                <a:spcPct val="0"/>
              </a:spcBef>
              <a:spcAft>
                <a:spcPct val="0"/>
              </a:spcAft>
              <a:buClr>
                <a:srgbClr val="A7A9AC"/>
              </a:buClr>
              <a:buSzPct val="120000"/>
              <a:buFont typeface="Arial" panose="020B0604020202020204" pitchFamily="34" charset="0"/>
              <a:buChar char="•"/>
            </a:pP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4DE02-03C5-252E-4E36-3505C891517F}"/>
              </a:ext>
            </a:extLst>
          </p:cNvPr>
          <p:cNvCxnSpPr>
            <a:cxnSpLocks/>
          </p:cNvCxnSpPr>
          <p:nvPr/>
        </p:nvCxnSpPr>
        <p:spPr>
          <a:xfrm>
            <a:off x="6096000" y="4309252"/>
            <a:ext cx="4394932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F7925C-C719-5C0C-EA05-0D58D2A9745E}"/>
              </a:ext>
            </a:extLst>
          </p:cNvPr>
          <p:cNvCxnSpPr>
            <a:cxnSpLocks/>
          </p:cNvCxnSpPr>
          <p:nvPr/>
        </p:nvCxnSpPr>
        <p:spPr>
          <a:xfrm flipV="1">
            <a:off x="981864" y="1659042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BAA2AE-E2D7-FEAC-FC1D-B27FF390372A}"/>
              </a:ext>
            </a:extLst>
          </p:cNvPr>
          <p:cNvCxnSpPr>
            <a:cxnSpLocks/>
          </p:cNvCxnSpPr>
          <p:nvPr/>
        </p:nvCxnSpPr>
        <p:spPr>
          <a:xfrm>
            <a:off x="928541" y="3947213"/>
            <a:ext cx="3817195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AAC4ECA-22B8-194A-63E8-E9A9CC98B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059" y="1225067"/>
            <a:ext cx="1746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379B9-D553-93D2-8F44-EE80CA72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096" y="2495067"/>
            <a:ext cx="16637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DD6C7-2D73-DC7F-72AA-63A61397F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809" y="2363304"/>
            <a:ext cx="21907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37B7BA-6C6D-A58B-37C4-CE72C6B0E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109" y="1225067"/>
            <a:ext cx="1944687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BBCA3D-1194-D624-4E36-6F86E546F4EE}"/>
              </a:ext>
            </a:extLst>
          </p:cNvPr>
          <p:cNvSpPr txBox="1"/>
          <p:nvPr/>
        </p:nvSpPr>
        <p:spPr>
          <a:xfrm>
            <a:off x="9630004" y="133325"/>
            <a:ext cx="194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ECD</a:t>
            </a:r>
          </a:p>
        </p:txBody>
      </p:sp>
    </p:spTree>
    <p:extLst>
      <p:ext uri="{BB962C8B-B14F-4D97-AF65-F5344CB8AC3E}">
        <p14:creationId xmlns:p14="http://schemas.microsoft.com/office/powerpoint/2010/main" val="391399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2</cp:revision>
  <dcterms:created xsi:type="dcterms:W3CDTF">2025-10-09T07:14:38Z</dcterms:created>
  <dcterms:modified xsi:type="dcterms:W3CDTF">2025-10-10T05:35:51Z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2025-10-09T07:30:12Z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d5794387-5071-4dd4-913e-0926382426d6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