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9F732-3C8E-9EC5-C64E-90C84EA821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283239-1188-E964-EAF2-CC49BA0E81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AE38C-8A29-5A04-79E0-ECD11037C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631E7-EA3D-476C-ADDA-67D89B2E933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4BEE0-77C4-069F-979E-EFD7ED32A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CDC52-6A5F-4405-6E81-291AC4754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10F6-E02E-4D1F-B6EE-E2C9B628E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993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B073A-66FE-3FFF-6EC1-ACD25931F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301AE-1E31-5C7A-967B-DE215C5EB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6E9D8-7C55-E157-EFAF-C4C8F8B3D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631E7-EA3D-476C-ADDA-67D89B2E933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A3C0E-0C2C-EBAD-E225-7C30C569B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E6D2F-4E15-38BC-8DDF-266F83D4F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10F6-E02E-4D1F-B6EE-E2C9B628E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231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74F7C-A0FC-F810-7F28-E08E7AAC2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2C90B9-2536-5CBE-A867-DFF7D56E99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32CD1-5875-80A3-54C8-A4EEE006E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631E7-EA3D-476C-ADDA-67D89B2E933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2B8DE-E392-46E2-E23A-8C944E946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B515D-0E02-DBF4-F19A-0EFAEF566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10F6-E02E-4D1F-B6EE-E2C9B628E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95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20048-2E47-1495-D713-E83F30EE2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0EE88-B450-BE8B-3EC0-46B2B4184F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F3C91D-7423-B6F7-A904-D6A66480A1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3E279A-C236-2BA3-DFA3-9EE8E518E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631E7-EA3D-476C-ADDA-67D89B2E933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CE5EFF-16ED-0358-16A0-569368015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0DE2C6-8B45-4095-DE9E-830D20879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10F6-E02E-4D1F-B6EE-E2C9B628E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896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10F87-28CC-5781-09C1-58F94CC8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52F75A-406F-2F3C-87C2-A1F72A12B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613060-ACD8-CAD3-73C9-C21C1D2629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376A00-7142-1FC6-BD24-81AA2BA0A9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0B51BA-6662-1F01-A945-027FE99FE3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6AF703-13DB-8417-AA74-F75B4CF01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631E7-EA3D-476C-ADDA-67D89B2E933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F92EEA-AE3B-2AA9-588E-06930AEF4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69B48-52B1-EC14-E843-A830D72EE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10F6-E02E-4D1F-B6EE-E2C9B628E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709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57722-BE6A-81F5-8AAB-0F49036D6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45A3B3-DADF-6305-8F23-18BAC6570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631E7-EA3D-476C-ADDA-67D89B2E933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BF74FA-E6B5-5F8A-E79F-A2E55A513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9860A-68FD-E6BE-8945-C331EDF3D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10F6-E02E-4D1F-B6EE-E2C9B628E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50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3726A3-F326-CFEA-41B5-7DBDFC422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631E7-EA3D-476C-ADDA-67D89B2E933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608D9F-59CD-0EC1-9C18-5945DBCEC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0DEB13-A2CC-17EB-9569-0EA9713E3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10F6-E02E-4D1F-B6EE-E2C9B628E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069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9D84A-596A-B485-1CD1-D6CE69E23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E6333-24FE-8D61-8515-392166189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72D266-5F63-67C6-65D8-FA09E52C01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9DDC51-0338-4E05-2468-660F24283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631E7-EA3D-476C-ADDA-67D89B2E933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37A958-B054-98AB-331B-44ED6684B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00F15B-1285-B375-4E88-39CA3CF7C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10F6-E02E-4D1F-B6EE-E2C9B628E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782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01B0F-1DA6-36C0-97E6-386523A71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C92D2A-5FE7-D8C0-F249-4D07813401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10EB5E-FE34-C535-37A8-A389A3B4E1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1E36C7-958B-E4DA-C9E0-B131F0E92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631E7-EA3D-476C-ADDA-67D89B2E933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95FA67-E30D-B0C6-4A42-AFFA910C0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F5D16E-C4CE-14E0-621E-0D3B99085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10F6-E02E-4D1F-B6EE-E2C9B628E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9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D0DA8-1017-084E-6C21-3D93674DF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5F2F70-7D4F-9DE1-90C3-E720605CA7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582C0F-D8B1-C59D-8447-53B8C555A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631E7-EA3D-476C-ADDA-67D89B2E933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B423B6-CAAE-81E8-044B-A1D25D471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08A4F-A1C9-B990-7E0F-137B50A5D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10F6-E02E-4D1F-B6EE-E2C9B628E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547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94311E-DA74-3613-EC93-F95FF23E25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247DB1-564C-F3AB-E6CC-F69D19351F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1DEA9-85E1-B5B6-2EB2-C99F38233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631E7-EA3D-476C-ADDA-67D89B2E933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9DC653-5463-B8BA-7AA1-936B7E0ED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8C82B-27C5-D678-6709-2889E26FF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10F6-E02E-4D1F-B6EE-E2C9B628E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817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446592-3324-0DF9-259C-29A809120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72FB32-DE95-B20E-CA58-36ED49A35F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DC659-E869-54D8-3532-AD1021F7C7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8631E7-EA3D-476C-ADDA-67D89B2E933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14895-0C8B-5E79-E77B-522D17943F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48407-C4FA-DEDF-7FE0-EFB7472949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F610F6-E02E-4D1F-B6EE-E2C9B628E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9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57EBA6F-FC43-F5DD-1FAE-B85EFF35158B}"/>
              </a:ext>
            </a:extLst>
          </p:cNvPr>
          <p:cNvSpPr>
            <a:spLocks noGrp="1"/>
          </p:cNvSpPr>
          <p:nvPr/>
        </p:nvSpPr>
        <p:spPr bwMode="gray">
          <a:xfrm>
            <a:off x="821484" y="410579"/>
            <a:ext cx="8444195" cy="9848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lang="en-US" sz="3200" b="1" kern="120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IN" dirty="0">
                <a:latin typeface="Arial" charset="0"/>
                <a:cs typeface="Arial" charset="0"/>
              </a:rPr>
              <a:t>Obsolescence Management</a:t>
            </a:r>
            <a:r>
              <a:rPr lang="en-IN" sz="25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IN" dirty="0">
                <a:latin typeface="Arial" charset="0"/>
                <a:cs typeface="Arial" charset="0"/>
              </a:rPr>
              <a:t>Competency</a:t>
            </a: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5" name="Chevron 5">
            <a:extLst>
              <a:ext uri="{FF2B5EF4-FFF2-40B4-BE49-F238E27FC236}">
                <a16:creationId xmlns:a16="http://schemas.microsoft.com/office/drawing/2014/main" id="{65E8802C-6E24-BA0B-0FBF-8D1E06CC36DE}"/>
              </a:ext>
            </a:extLst>
          </p:cNvPr>
          <p:cNvSpPr/>
          <p:nvPr/>
        </p:nvSpPr>
        <p:spPr>
          <a:xfrm>
            <a:off x="1494999" y="1246043"/>
            <a:ext cx="1688194" cy="822949"/>
          </a:xfrm>
          <a:prstGeom prst="chevron">
            <a:avLst>
              <a:gd name="adj" fmla="val 12967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87965" tIns="43983" rIns="87965" bIns="43983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088461" fontAlgn="auto">
              <a:spcBef>
                <a:spcPts val="0"/>
              </a:spcBef>
              <a:spcAft>
                <a:spcPts val="0"/>
              </a:spcAft>
            </a:pPr>
            <a:r>
              <a:rPr lang="en-US" sz="1300" b="1" dirty="0">
                <a:solidFill>
                  <a:prstClr val="white"/>
                </a:solidFill>
              </a:rPr>
              <a:t>Obsolescence Management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B163B1E-0BA2-8DF2-036E-CD3E1FC573EC}"/>
              </a:ext>
            </a:extLst>
          </p:cNvPr>
          <p:cNvGrpSpPr/>
          <p:nvPr/>
        </p:nvGrpSpPr>
        <p:grpSpPr>
          <a:xfrm>
            <a:off x="3553099" y="1518862"/>
            <a:ext cx="6927612" cy="1075011"/>
            <a:chOff x="251520" y="4077072"/>
            <a:chExt cx="8595021" cy="1665125"/>
          </a:xfrm>
        </p:grpSpPr>
        <p:sp>
          <p:nvSpPr>
            <p:cNvPr id="30" name="Rounded Rectangle 7">
              <a:extLst>
                <a:ext uri="{FF2B5EF4-FFF2-40B4-BE49-F238E27FC236}">
                  <a16:creationId xmlns:a16="http://schemas.microsoft.com/office/drawing/2014/main" id="{0CF207BD-E8CA-6EAC-7B7A-884BA3B71E14}"/>
                </a:ext>
              </a:extLst>
            </p:cNvPr>
            <p:cNvSpPr/>
            <p:nvPr/>
          </p:nvSpPr>
          <p:spPr>
            <a:xfrm>
              <a:off x="1183432" y="4437112"/>
              <a:ext cx="7663109" cy="922558"/>
            </a:xfrm>
            <a:prstGeom prst="round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088461" fontAlgn="auto">
                <a:spcBef>
                  <a:spcPts val="0"/>
                </a:spcBef>
                <a:spcAft>
                  <a:spcPts val="0"/>
                </a:spcAft>
              </a:pPr>
              <a:endParaRPr lang="en-US" sz="1100" b="1">
                <a:solidFill>
                  <a:prstClr val="white"/>
                </a:solidFill>
              </a:endParaRPr>
            </a:p>
          </p:txBody>
        </p:sp>
        <p:sp>
          <p:nvSpPr>
            <p:cNvPr id="31" name="Rounded Rectangle 8">
              <a:extLst>
                <a:ext uri="{FF2B5EF4-FFF2-40B4-BE49-F238E27FC236}">
                  <a16:creationId xmlns:a16="http://schemas.microsoft.com/office/drawing/2014/main" id="{C0B3C74B-CF02-D339-369B-DF7179D853C9}"/>
                </a:ext>
              </a:extLst>
            </p:cNvPr>
            <p:cNvSpPr/>
            <p:nvPr/>
          </p:nvSpPr>
          <p:spPr>
            <a:xfrm>
              <a:off x="683568" y="5009881"/>
              <a:ext cx="1368152" cy="72008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088461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1" dirty="0">
                  <a:solidFill>
                    <a:prstClr val="black"/>
                  </a:solidFill>
                </a:rPr>
                <a:t>Component Engineering</a:t>
              </a:r>
            </a:p>
          </p:txBody>
        </p:sp>
        <p:sp>
          <p:nvSpPr>
            <p:cNvPr id="32" name="Rounded Rectangle 9">
              <a:extLst>
                <a:ext uri="{FF2B5EF4-FFF2-40B4-BE49-F238E27FC236}">
                  <a16:creationId xmlns:a16="http://schemas.microsoft.com/office/drawing/2014/main" id="{E61A7170-0925-DB28-3924-CA547A2CDC51}"/>
                </a:ext>
              </a:extLst>
            </p:cNvPr>
            <p:cNvSpPr/>
            <p:nvPr/>
          </p:nvSpPr>
          <p:spPr>
            <a:xfrm>
              <a:off x="2267744" y="5018875"/>
              <a:ext cx="1368152" cy="72008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088461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1" dirty="0">
                  <a:solidFill>
                    <a:prstClr val="black"/>
                  </a:solidFill>
                </a:rPr>
                <a:t>Electronics Design Engineering</a:t>
              </a:r>
            </a:p>
          </p:txBody>
        </p:sp>
        <p:sp>
          <p:nvSpPr>
            <p:cNvPr id="33" name="Rounded Rectangle 10">
              <a:extLst>
                <a:ext uri="{FF2B5EF4-FFF2-40B4-BE49-F238E27FC236}">
                  <a16:creationId xmlns:a16="http://schemas.microsoft.com/office/drawing/2014/main" id="{70817E6D-C3AB-437D-ADAE-49A6E16CEB69}"/>
                </a:ext>
              </a:extLst>
            </p:cNvPr>
            <p:cNvSpPr/>
            <p:nvPr/>
          </p:nvSpPr>
          <p:spPr>
            <a:xfrm>
              <a:off x="3875441" y="5022117"/>
              <a:ext cx="1368152" cy="72008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088461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1" dirty="0">
                  <a:solidFill>
                    <a:prstClr val="black"/>
                  </a:solidFill>
                </a:rPr>
                <a:t>ECAD- PCB Layouts </a:t>
              </a:r>
            </a:p>
          </p:txBody>
        </p:sp>
        <p:sp>
          <p:nvSpPr>
            <p:cNvPr id="34" name="Rounded Rectangle 11">
              <a:extLst>
                <a:ext uri="{FF2B5EF4-FFF2-40B4-BE49-F238E27FC236}">
                  <a16:creationId xmlns:a16="http://schemas.microsoft.com/office/drawing/2014/main" id="{A645FD2F-81CC-4A0A-FDC1-458F0A36E705}"/>
                </a:ext>
              </a:extLst>
            </p:cNvPr>
            <p:cNvSpPr/>
            <p:nvPr/>
          </p:nvSpPr>
          <p:spPr>
            <a:xfrm>
              <a:off x="5473960" y="5009881"/>
              <a:ext cx="1368152" cy="72008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088461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1" dirty="0">
                  <a:solidFill>
                    <a:prstClr val="black"/>
                  </a:solidFill>
                </a:rPr>
                <a:t>Sourcing</a:t>
              </a:r>
            </a:p>
          </p:txBody>
        </p:sp>
        <p:sp>
          <p:nvSpPr>
            <p:cNvPr id="35" name="Rounded Rectangle 12">
              <a:extLst>
                <a:ext uri="{FF2B5EF4-FFF2-40B4-BE49-F238E27FC236}">
                  <a16:creationId xmlns:a16="http://schemas.microsoft.com/office/drawing/2014/main" id="{97D4F0A9-9B3F-85C8-E70C-C8E4A77E3A80}"/>
                </a:ext>
              </a:extLst>
            </p:cNvPr>
            <p:cNvSpPr/>
            <p:nvPr/>
          </p:nvSpPr>
          <p:spPr>
            <a:xfrm>
              <a:off x="251520" y="4077072"/>
              <a:ext cx="1368152" cy="72008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088461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1" dirty="0">
                  <a:solidFill>
                    <a:prstClr val="black"/>
                  </a:solidFill>
                </a:rPr>
                <a:t>Embedded  Firmware</a:t>
              </a:r>
            </a:p>
          </p:txBody>
        </p:sp>
        <p:sp>
          <p:nvSpPr>
            <p:cNvPr id="36" name="Rounded Rectangle 13">
              <a:extLst>
                <a:ext uri="{FF2B5EF4-FFF2-40B4-BE49-F238E27FC236}">
                  <a16:creationId xmlns:a16="http://schemas.microsoft.com/office/drawing/2014/main" id="{750DB126-0B15-AEF8-6C36-D3C8BAF04C48}"/>
                </a:ext>
              </a:extLst>
            </p:cNvPr>
            <p:cNvSpPr/>
            <p:nvPr/>
          </p:nvSpPr>
          <p:spPr>
            <a:xfrm>
              <a:off x="1907704" y="4077072"/>
              <a:ext cx="1368152" cy="72008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088461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1" dirty="0">
                  <a:solidFill>
                    <a:prstClr val="black"/>
                  </a:solidFill>
                </a:rPr>
                <a:t>Application SW</a:t>
              </a:r>
            </a:p>
          </p:txBody>
        </p:sp>
        <p:sp>
          <p:nvSpPr>
            <p:cNvPr id="37" name="Rounded Rectangle 14">
              <a:extLst>
                <a:ext uri="{FF2B5EF4-FFF2-40B4-BE49-F238E27FC236}">
                  <a16:creationId xmlns:a16="http://schemas.microsoft.com/office/drawing/2014/main" id="{3BC0D450-08E8-3555-4F38-D19561755146}"/>
                </a:ext>
              </a:extLst>
            </p:cNvPr>
            <p:cNvSpPr/>
            <p:nvPr/>
          </p:nvSpPr>
          <p:spPr>
            <a:xfrm>
              <a:off x="3582370" y="4077072"/>
              <a:ext cx="1368152" cy="72008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088461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1" dirty="0">
                  <a:solidFill>
                    <a:prstClr val="black"/>
                  </a:solidFill>
                </a:rPr>
                <a:t>Mechanical Design  </a:t>
              </a:r>
            </a:p>
          </p:txBody>
        </p:sp>
        <p:sp>
          <p:nvSpPr>
            <p:cNvPr id="38" name="Rounded Rectangle 15">
              <a:extLst>
                <a:ext uri="{FF2B5EF4-FFF2-40B4-BE49-F238E27FC236}">
                  <a16:creationId xmlns:a16="http://schemas.microsoft.com/office/drawing/2014/main" id="{DB496AEE-9E76-CB09-C0C9-17FCABE6B3EA}"/>
                </a:ext>
              </a:extLst>
            </p:cNvPr>
            <p:cNvSpPr/>
            <p:nvPr/>
          </p:nvSpPr>
          <p:spPr>
            <a:xfrm>
              <a:off x="5220072" y="4077072"/>
              <a:ext cx="1368152" cy="72008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088461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1" dirty="0">
                  <a:solidFill>
                    <a:prstClr val="black"/>
                  </a:solidFill>
                </a:rPr>
                <a:t>Prototyping </a:t>
              </a:r>
            </a:p>
          </p:txBody>
        </p:sp>
        <p:sp>
          <p:nvSpPr>
            <p:cNvPr id="39" name="Rounded Rectangle 16">
              <a:extLst>
                <a:ext uri="{FF2B5EF4-FFF2-40B4-BE49-F238E27FC236}">
                  <a16:creationId xmlns:a16="http://schemas.microsoft.com/office/drawing/2014/main" id="{42980B3E-E607-DA0D-3F96-53986F232D0C}"/>
                </a:ext>
              </a:extLst>
            </p:cNvPr>
            <p:cNvSpPr/>
            <p:nvPr/>
          </p:nvSpPr>
          <p:spPr>
            <a:xfrm>
              <a:off x="7092280" y="4999630"/>
              <a:ext cx="1512168" cy="72008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088461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1" dirty="0">
                  <a:solidFill>
                    <a:prstClr val="black"/>
                  </a:solidFill>
                </a:rPr>
                <a:t>Engineering </a:t>
              </a:r>
            </a:p>
            <a:p>
              <a:pPr algn="ctr" defTabSz="1088461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1" dirty="0">
                  <a:solidFill>
                    <a:prstClr val="black"/>
                  </a:solidFill>
                </a:rPr>
                <a:t>Documentation</a:t>
              </a:r>
            </a:p>
          </p:txBody>
        </p:sp>
        <p:sp>
          <p:nvSpPr>
            <p:cNvPr id="40" name="Rounded Rectangle 17">
              <a:extLst>
                <a:ext uri="{FF2B5EF4-FFF2-40B4-BE49-F238E27FC236}">
                  <a16:creationId xmlns:a16="http://schemas.microsoft.com/office/drawing/2014/main" id="{B3907189-B62F-6D36-0690-16AAA9D306CD}"/>
                </a:ext>
              </a:extLst>
            </p:cNvPr>
            <p:cNvSpPr/>
            <p:nvPr/>
          </p:nvSpPr>
          <p:spPr>
            <a:xfrm>
              <a:off x="6842112" y="4077072"/>
              <a:ext cx="1368152" cy="72008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088461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000" b="1" dirty="0">
                  <a:solidFill>
                    <a:prstClr val="black"/>
                  </a:solidFill>
                </a:rPr>
                <a:t>Product Qualification</a:t>
              </a:r>
            </a:p>
          </p:txBody>
        </p:sp>
      </p:grpSp>
      <p:sp>
        <p:nvSpPr>
          <p:cNvPr id="7" name="Chevron 18">
            <a:extLst>
              <a:ext uri="{FF2B5EF4-FFF2-40B4-BE49-F238E27FC236}">
                <a16:creationId xmlns:a16="http://schemas.microsoft.com/office/drawing/2014/main" id="{66C10545-8E08-6DE8-DD52-6D35408BDD50}"/>
              </a:ext>
            </a:extLst>
          </p:cNvPr>
          <p:cNvSpPr/>
          <p:nvPr/>
        </p:nvSpPr>
        <p:spPr>
          <a:xfrm>
            <a:off x="3111322" y="1246043"/>
            <a:ext cx="141728" cy="822949"/>
          </a:xfrm>
          <a:prstGeom prst="chevron">
            <a:avLst>
              <a:gd name="adj" fmla="val 88325"/>
            </a:avLst>
          </a:prstGeom>
          <a:solidFill>
            <a:schemeClr val="bg2"/>
          </a:solidFill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87965" tIns="43983" rIns="87965" bIns="43983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088461" fontAlgn="auto">
              <a:spcBef>
                <a:spcPts val="0"/>
              </a:spcBef>
              <a:spcAft>
                <a:spcPts val="0"/>
              </a:spcAft>
            </a:pPr>
            <a:endParaRPr lang="en-US" sz="1300" b="1" dirty="0">
              <a:solidFill>
                <a:prstClr val="white"/>
              </a:solidFill>
            </a:endParaRPr>
          </a:p>
        </p:txBody>
      </p:sp>
      <p:sp>
        <p:nvSpPr>
          <p:cNvPr id="8" name="Freeform 25">
            <a:extLst>
              <a:ext uri="{FF2B5EF4-FFF2-40B4-BE49-F238E27FC236}">
                <a16:creationId xmlns:a16="http://schemas.microsoft.com/office/drawing/2014/main" id="{57BEC679-5043-EC5E-2C6F-377EE4DECB61}"/>
              </a:ext>
            </a:extLst>
          </p:cNvPr>
          <p:cNvSpPr/>
          <p:nvPr/>
        </p:nvSpPr>
        <p:spPr>
          <a:xfrm>
            <a:off x="5205189" y="3561339"/>
            <a:ext cx="1930605" cy="2886076"/>
          </a:xfrm>
          <a:custGeom>
            <a:avLst/>
            <a:gdLst>
              <a:gd name="connsiteX0" fmla="*/ 0 w 1253820"/>
              <a:gd name="connsiteY0" fmla="*/ 0 h 4741318"/>
              <a:gd name="connsiteX1" fmla="*/ 1253820 w 1253820"/>
              <a:gd name="connsiteY1" fmla="*/ 0 h 4741318"/>
              <a:gd name="connsiteX2" fmla="*/ 1253820 w 1253820"/>
              <a:gd name="connsiteY2" fmla="*/ 4741318 h 4741318"/>
              <a:gd name="connsiteX3" fmla="*/ 0 w 1253820"/>
              <a:gd name="connsiteY3" fmla="*/ 4741318 h 4741318"/>
              <a:gd name="connsiteX4" fmla="*/ 0 w 1253820"/>
              <a:gd name="connsiteY4" fmla="*/ 0 h 4741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3820" h="4741318">
                <a:moveTo>
                  <a:pt x="0" y="0"/>
                </a:moveTo>
                <a:lnTo>
                  <a:pt x="1253820" y="0"/>
                </a:lnTo>
                <a:lnTo>
                  <a:pt x="1253820" y="4741318"/>
                </a:lnTo>
                <a:lnTo>
                  <a:pt x="0" y="474131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22" anchor="t" anchorCtr="0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662" lvl="1" indent="-118662" defTabSz="718379">
              <a:lnSpc>
                <a:spcPct val="90000"/>
              </a:lnSpc>
              <a:spcAft>
                <a:spcPct val="15000"/>
              </a:spcAft>
              <a:buFontTx/>
              <a:buChar char="••"/>
            </a:pPr>
            <a:endParaRPr lang="en-IN" sz="1100" dirty="0">
              <a:solidFill>
                <a:prstClr val="black">
                  <a:lumMod val="65000"/>
                  <a:lumOff val="35000"/>
                </a:prstClr>
              </a:solidFill>
              <a:cs typeface="Calibri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779C749-635B-7E3E-C40F-CCF7B60F3F65}"/>
              </a:ext>
            </a:extLst>
          </p:cNvPr>
          <p:cNvGrpSpPr/>
          <p:nvPr/>
        </p:nvGrpSpPr>
        <p:grpSpPr>
          <a:xfrm>
            <a:off x="2805488" y="2942220"/>
            <a:ext cx="2090057" cy="3478785"/>
            <a:chOff x="304800" y="2057400"/>
            <a:chExt cx="2057400" cy="3478785"/>
          </a:xfrm>
        </p:grpSpPr>
        <p:sp>
          <p:nvSpPr>
            <p:cNvPr id="28" name="Pentagon 28">
              <a:extLst>
                <a:ext uri="{FF2B5EF4-FFF2-40B4-BE49-F238E27FC236}">
                  <a16:creationId xmlns:a16="http://schemas.microsoft.com/office/drawing/2014/main" id="{05106563-E08E-BD69-F3B9-49606BC6AE93}"/>
                </a:ext>
              </a:extLst>
            </p:cNvPr>
            <p:cNvSpPr/>
            <p:nvPr/>
          </p:nvSpPr>
          <p:spPr>
            <a:xfrm>
              <a:off x="304800" y="2057400"/>
              <a:ext cx="2057399" cy="609600"/>
            </a:xfrm>
            <a:prstGeom prst="homePlate">
              <a:avLst>
                <a:gd name="adj" fmla="val 0"/>
              </a:avLst>
            </a:prstGeom>
            <a:solidFill>
              <a:schemeClr val="bg2"/>
            </a:soli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23634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400" b="1" dirty="0">
                  <a:solidFill>
                    <a:prstClr val="white"/>
                  </a:solidFill>
                </a:rPr>
                <a:t>Hardware development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94BEDFA-25C9-AFB6-0D1F-6A348658EFBA}"/>
                </a:ext>
              </a:extLst>
            </p:cNvPr>
            <p:cNvSpPr/>
            <p:nvPr/>
          </p:nvSpPr>
          <p:spPr>
            <a:xfrm>
              <a:off x="304800" y="2667000"/>
              <a:ext cx="2057400" cy="286918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18662" lvl="1" indent="-118662" defTabSz="718379">
                <a:lnSpc>
                  <a:spcPct val="90000"/>
                </a:lnSpc>
                <a:spcBef>
                  <a:spcPts val="606"/>
                </a:spcBef>
                <a:spcAft>
                  <a:spcPct val="15000"/>
                </a:spcAft>
                <a:buFontTx/>
                <a:buChar char="••"/>
              </a:pPr>
              <a:endParaRPr lang="en-IN" sz="1000" dirty="0">
                <a:latin typeface="+mj-lt"/>
                <a:cs typeface="Calibri" pitchFamily="34" charset="0"/>
              </a:endParaRPr>
            </a:p>
          </p:txBody>
        </p:sp>
      </p:grpSp>
      <p:sp>
        <p:nvSpPr>
          <p:cNvPr id="10" name="Freeform 30">
            <a:extLst>
              <a:ext uri="{FF2B5EF4-FFF2-40B4-BE49-F238E27FC236}">
                <a16:creationId xmlns:a16="http://schemas.microsoft.com/office/drawing/2014/main" id="{0D4AA39C-2890-FAC2-CB0C-867B7C2CA615}"/>
              </a:ext>
            </a:extLst>
          </p:cNvPr>
          <p:cNvSpPr/>
          <p:nvPr/>
        </p:nvSpPr>
        <p:spPr>
          <a:xfrm>
            <a:off x="3460247" y="2943085"/>
            <a:ext cx="1406273" cy="2297916"/>
          </a:xfrm>
          <a:custGeom>
            <a:avLst/>
            <a:gdLst>
              <a:gd name="connsiteX0" fmla="*/ 0 w 1253820"/>
              <a:gd name="connsiteY0" fmla="*/ 0 h 4741318"/>
              <a:gd name="connsiteX1" fmla="*/ 1253820 w 1253820"/>
              <a:gd name="connsiteY1" fmla="*/ 0 h 4741318"/>
              <a:gd name="connsiteX2" fmla="*/ 1253820 w 1253820"/>
              <a:gd name="connsiteY2" fmla="*/ 4741318 h 4741318"/>
              <a:gd name="connsiteX3" fmla="*/ 0 w 1253820"/>
              <a:gd name="connsiteY3" fmla="*/ 4741318 h 4741318"/>
              <a:gd name="connsiteX4" fmla="*/ 0 w 1253820"/>
              <a:gd name="connsiteY4" fmla="*/ 0 h 4741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3820" h="4741318">
                <a:moveTo>
                  <a:pt x="0" y="0"/>
                </a:moveTo>
                <a:lnTo>
                  <a:pt x="1253820" y="0"/>
                </a:lnTo>
                <a:lnTo>
                  <a:pt x="1253820" y="4741318"/>
                </a:lnTo>
                <a:lnTo>
                  <a:pt x="0" y="474131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22" anchor="t" anchorCtr="0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662" lvl="1" indent="-118662" defTabSz="718379">
              <a:lnSpc>
                <a:spcPct val="90000"/>
              </a:lnSpc>
              <a:spcAft>
                <a:spcPct val="15000"/>
              </a:spcAft>
              <a:buFontTx/>
              <a:buChar char="••"/>
            </a:pPr>
            <a:endParaRPr lang="en-IN" sz="1100" dirty="0">
              <a:solidFill>
                <a:prstClr val="black">
                  <a:lumMod val="65000"/>
                  <a:lumOff val="35000"/>
                </a:prstClr>
              </a:solidFill>
              <a:cs typeface="Calibri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B3241C5-A4E1-C025-F712-1EE1F0BF855A}"/>
              </a:ext>
            </a:extLst>
          </p:cNvPr>
          <p:cNvGrpSpPr/>
          <p:nvPr/>
        </p:nvGrpSpPr>
        <p:grpSpPr>
          <a:xfrm>
            <a:off x="5050369" y="2942220"/>
            <a:ext cx="2102959" cy="3478785"/>
            <a:chOff x="2514600" y="2057400"/>
            <a:chExt cx="2070100" cy="3478785"/>
          </a:xfrm>
        </p:grpSpPr>
        <p:sp>
          <p:nvSpPr>
            <p:cNvPr id="26" name="Pentagon 32">
              <a:extLst>
                <a:ext uri="{FF2B5EF4-FFF2-40B4-BE49-F238E27FC236}">
                  <a16:creationId xmlns:a16="http://schemas.microsoft.com/office/drawing/2014/main" id="{E10C2313-FBF2-1AEA-AAE0-220F99760238}"/>
                </a:ext>
              </a:extLst>
            </p:cNvPr>
            <p:cNvSpPr/>
            <p:nvPr/>
          </p:nvSpPr>
          <p:spPr>
            <a:xfrm>
              <a:off x="2514600" y="2057400"/>
              <a:ext cx="2070100" cy="609600"/>
            </a:xfrm>
            <a:prstGeom prst="homePlate">
              <a:avLst>
                <a:gd name="adj" fmla="val 0"/>
              </a:avLst>
            </a:prstGeom>
            <a:solidFill>
              <a:schemeClr val="bg2"/>
            </a:soli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23634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400" b="1" dirty="0">
                  <a:solidFill>
                    <a:prstClr val="white"/>
                  </a:solidFill>
                </a:rPr>
                <a:t>Firmware development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4013E95-0DBF-E7CC-3176-9F3918627CA2}"/>
                </a:ext>
              </a:extLst>
            </p:cNvPr>
            <p:cNvSpPr/>
            <p:nvPr/>
          </p:nvSpPr>
          <p:spPr>
            <a:xfrm>
              <a:off x="2514600" y="2667000"/>
              <a:ext cx="2057400" cy="286918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defTabSz="718379">
                <a:lnSpc>
                  <a:spcPct val="90000"/>
                </a:lnSpc>
                <a:spcBef>
                  <a:spcPts val="606"/>
                </a:spcBef>
                <a:spcAft>
                  <a:spcPct val="15000"/>
                </a:spcAft>
              </a:pPr>
              <a:endParaRPr lang="en-IN" sz="1100" dirty="0">
                <a:cs typeface="Calibri" pitchFamily="34" charset="0"/>
              </a:endParaRPr>
            </a:p>
            <a:p>
              <a:pPr marL="0" lvl="1" defTabSz="718379">
                <a:lnSpc>
                  <a:spcPct val="90000"/>
                </a:lnSpc>
                <a:spcAft>
                  <a:spcPct val="15000"/>
                </a:spcAft>
              </a:pPr>
              <a:endParaRPr lang="en-IN" sz="1100" dirty="0">
                <a:solidFill>
                  <a:prstClr val="black">
                    <a:lumMod val="65000"/>
                    <a:lumOff val="35000"/>
                  </a:prstClr>
                </a:solidFill>
                <a:cs typeface="Calibri" pitchFamily="34" charset="0"/>
              </a:endParaRPr>
            </a:p>
            <a:p>
              <a:pPr marL="0" lvl="1" defTabSz="718379">
                <a:lnSpc>
                  <a:spcPct val="90000"/>
                </a:lnSpc>
                <a:spcAft>
                  <a:spcPct val="15000"/>
                </a:spcAft>
              </a:pPr>
              <a:endParaRPr lang="en-IN" sz="1100" dirty="0">
                <a:solidFill>
                  <a:prstClr val="black">
                    <a:lumMod val="65000"/>
                    <a:lumOff val="35000"/>
                  </a:prstClr>
                </a:solidFill>
                <a:cs typeface="Calibri" pitchFamily="34" charset="0"/>
              </a:endParaRPr>
            </a:p>
            <a:p>
              <a:pPr marL="118662" lvl="1" indent="-118662" defTabSz="718379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</a:pPr>
              <a:endParaRPr lang="en-IN" sz="1100" dirty="0">
                <a:solidFill>
                  <a:prstClr val="black">
                    <a:lumMod val="65000"/>
                    <a:lumOff val="35000"/>
                  </a:prstClr>
                </a:solidFill>
                <a:cs typeface="Calibri" pitchFamily="34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48EB994-C33F-9F8D-2A9E-5B34AF5DBF98}"/>
              </a:ext>
            </a:extLst>
          </p:cNvPr>
          <p:cNvGrpSpPr/>
          <p:nvPr/>
        </p:nvGrpSpPr>
        <p:grpSpPr>
          <a:xfrm>
            <a:off x="7295239" y="2942220"/>
            <a:ext cx="2090063" cy="3505201"/>
            <a:chOff x="4679754" y="2057400"/>
            <a:chExt cx="2057406" cy="3505201"/>
          </a:xfrm>
        </p:grpSpPr>
        <p:sp>
          <p:nvSpPr>
            <p:cNvPr id="24" name="Pentagon 35">
              <a:extLst>
                <a:ext uri="{FF2B5EF4-FFF2-40B4-BE49-F238E27FC236}">
                  <a16:creationId xmlns:a16="http://schemas.microsoft.com/office/drawing/2014/main" id="{10F4DEAF-2B7D-3445-3332-F4808F6F8DBA}"/>
                </a:ext>
              </a:extLst>
            </p:cNvPr>
            <p:cNvSpPr/>
            <p:nvPr/>
          </p:nvSpPr>
          <p:spPr>
            <a:xfrm>
              <a:off x="4679760" y="2057400"/>
              <a:ext cx="2057400" cy="609600"/>
            </a:xfrm>
            <a:prstGeom prst="homePlate">
              <a:avLst>
                <a:gd name="adj" fmla="val 0"/>
              </a:avLst>
            </a:prstGeom>
            <a:solidFill>
              <a:schemeClr val="bg2"/>
            </a:soli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23634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400" b="1" dirty="0">
                  <a:solidFill>
                    <a:prstClr val="white"/>
                  </a:solidFill>
                </a:rPr>
                <a:t>HMI application development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FAD7C0A-11D1-A94C-426D-5193D88F62FC}"/>
                </a:ext>
              </a:extLst>
            </p:cNvPr>
            <p:cNvSpPr/>
            <p:nvPr/>
          </p:nvSpPr>
          <p:spPr>
            <a:xfrm>
              <a:off x="4679754" y="2667001"/>
              <a:ext cx="2057406" cy="2895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defTabSz="718379">
                <a:lnSpc>
                  <a:spcPct val="90000"/>
                </a:lnSpc>
                <a:spcBef>
                  <a:spcPts val="606"/>
                </a:spcBef>
                <a:spcAft>
                  <a:spcPct val="15000"/>
                </a:spcAft>
              </a:pPr>
              <a:endParaRPr lang="en-IN" sz="1100" dirty="0">
                <a:cs typeface="Calibri" pitchFamily="34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13EFCC5-5352-A5BF-5688-BEF67392EB96}"/>
              </a:ext>
            </a:extLst>
          </p:cNvPr>
          <p:cNvGrpSpPr/>
          <p:nvPr/>
        </p:nvGrpSpPr>
        <p:grpSpPr>
          <a:xfrm>
            <a:off x="9540121" y="2959106"/>
            <a:ext cx="2090057" cy="3488309"/>
            <a:chOff x="7010400" y="2083815"/>
            <a:chExt cx="2057400" cy="3488309"/>
          </a:xfrm>
        </p:grpSpPr>
        <p:sp>
          <p:nvSpPr>
            <p:cNvPr id="22" name="Pentagon 38">
              <a:extLst>
                <a:ext uri="{FF2B5EF4-FFF2-40B4-BE49-F238E27FC236}">
                  <a16:creationId xmlns:a16="http://schemas.microsoft.com/office/drawing/2014/main" id="{8F94736D-715F-DA18-B737-BCCF03943EB8}"/>
                </a:ext>
              </a:extLst>
            </p:cNvPr>
            <p:cNvSpPr/>
            <p:nvPr/>
          </p:nvSpPr>
          <p:spPr>
            <a:xfrm>
              <a:off x="7010400" y="2083815"/>
              <a:ext cx="2057400" cy="583185"/>
            </a:xfrm>
            <a:prstGeom prst="homePlate">
              <a:avLst>
                <a:gd name="adj" fmla="val 0"/>
              </a:avLst>
            </a:prstGeom>
            <a:solidFill>
              <a:schemeClr val="bg2"/>
            </a:soli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23634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400" b="1" dirty="0">
                  <a:solidFill>
                    <a:prstClr val="white"/>
                  </a:solidFill>
                </a:rPr>
                <a:t>Testing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E633251-40EB-FDFE-C38B-2BC624DE4AA4}"/>
                </a:ext>
              </a:extLst>
            </p:cNvPr>
            <p:cNvSpPr/>
            <p:nvPr/>
          </p:nvSpPr>
          <p:spPr>
            <a:xfrm>
              <a:off x="7010400" y="2667000"/>
              <a:ext cx="2057400" cy="29051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18662" lvl="1" indent="-118662" defTabSz="718379">
                <a:lnSpc>
                  <a:spcPct val="90000"/>
                </a:lnSpc>
                <a:spcBef>
                  <a:spcPts val="606"/>
                </a:spcBef>
                <a:spcAft>
                  <a:spcPct val="15000"/>
                </a:spcAft>
                <a:buFontTx/>
                <a:buChar char="••"/>
              </a:pPr>
              <a:endParaRPr lang="en-IN" sz="1000" dirty="0">
                <a:cs typeface="Calibri" pitchFamily="34" charset="0"/>
              </a:endParaRPr>
            </a:p>
            <a:p>
              <a:pPr marL="118662" lvl="1" indent="-118662" defTabSz="718379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</a:pPr>
              <a:endParaRPr lang="en-IN" sz="1000" dirty="0">
                <a:solidFill>
                  <a:prstClr val="black">
                    <a:lumMod val="65000"/>
                    <a:lumOff val="35000"/>
                  </a:prstClr>
                </a:solidFill>
                <a:cs typeface="Calibri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E7FD084-95E0-6999-7C55-EC4505B07E7E}"/>
              </a:ext>
            </a:extLst>
          </p:cNvPr>
          <p:cNvGrpSpPr/>
          <p:nvPr/>
        </p:nvGrpSpPr>
        <p:grpSpPr>
          <a:xfrm>
            <a:off x="561821" y="2950687"/>
            <a:ext cx="2090057" cy="3478785"/>
            <a:chOff x="304800" y="2057400"/>
            <a:chExt cx="2057400" cy="3478785"/>
          </a:xfrm>
        </p:grpSpPr>
        <p:sp>
          <p:nvSpPr>
            <p:cNvPr id="20" name="Pentagon 41">
              <a:extLst>
                <a:ext uri="{FF2B5EF4-FFF2-40B4-BE49-F238E27FC236}">
                  <a16:creationId xmlns:a16="http://schemas.microsoft.com/office/drawing/2014/main" id="{8726C02D-EE68-AC9D-CF95-733A5F58C226}"/>
                </a:ext>
              </a:extLst>
            </p:cNvPr>
            <p:cNvSpPr/>
            <p:nvPr/>
          </p:nvSpPr>
          <p:spPr>
            <a:xfrm>
              <a:off x="304800" y="2057400"/>
              <a:ext cx="2057399" cy="609600"/>
            </a:xfrm>
            <a:prstGeom prst="homePlate">
              <a:avLst>
                <a:gd name="adj" fmla="val 0"/>
              </a:avLst>
            </a:prstGeom>
            <a:solidFill>
              <a:schemeClr val="bg2"/>
            </a:soli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23634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1400" b="1" dirty="0">
                  <a:solidFill>
                    <a:prstClr val="white"/>
                  </a:solidFill>
                </a:rPr>
                <a:t>Component Engineering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7816163-A4FD-0162-CC01-CF8DBAF74D95}"/>
                </a:ext>
              </a:extLst>
            </p:cNvPr>
            <p:cNvSpPr/>
            <p:nvPr/>
          </p:nvSpPr>
          <p:spPr>
            <a:xfrm>
              <a:off x="304800" y="2667000"/>
              <a:ext cx="2057400" cy="286918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18662" lvl="1" indent="-118662" defTabSz="718379">
                <a:lnSpc>
                  <a:spcPct val="90000"/>
                </a:lnSpc>
                <a:spcBef>
                  <a:spcPts val="606"/>
                </a:spcBef>
                <a:spcAft>
                  <a:spcPct val="15000"/>
                </a:spcAft>
                <a:buFontTx/>
                <a:buChar char="••"/>
              </a:pPr>
              <a:endParaRPr lang="en-US" sz="1100" dirty="0">
                <a:cs typeface="Calibri" pitchFamily="34" charset="0"/>
              </a:endParaRPr>
            </a:p>
            <a:p>
              <a:pPr marL="118662" lvl="1" indent="-118662" defTabSz="718379">
                <a:lnSpc>
                  <a:spcPct val="90000"/>
                </a:lnSpc>
                <a:spcBef>
                  <a:spcPts val="606"/>
                </a:spcBef>
                <a:spcAft>
                  <a:spcPct val="15000"/>
                </a:spcAft>
                <a:buFontTx/>
                <a:buChar char="••"/>
              </a:pPr>
              <a:endParaRPr lang="en-US" sz="1100" dirty="0">
                <a:solidFill>
                  <a:prstClr val="black">
                    <a:lumMod val="65000"/>
                    <a:lumOff val="35000"/>
                  </a:prstClr>
                </a:solidFill>
                <a:cs typeface="Calibri" pitchFamily="34" charset="0"/>
              </a:endParaRPr>
            </a:p>
          </p:txBody>
        </p:sp>
      </p:grpSp>
      <p:sp>
        <p:nvSpPr>
          <p:cNvPr id="15" name="TextBox 43">
            <a:extLst>
              <a:ext uri="{FF2B5EF4-FFF2-40B4-BE49-F238E27FC236}">
                <a16:creationId xmlns:a16="http://schemas.microsoft.com/office/drawing/2014/main" id="{036F7D1A-42CE-C1CE-D6C7-61275A6F0DB8}"/>
              </a:ext>
            </a:extLst>
          </p:cNvPr>
          <p:cNvSpPr txBox="1"/>
          <p:nvPr/>
        </p:nvSpPr>
        <p:spPr>
          <a:xfrm>
            <a:off x="9619695" y="3618430"/>
            <a:ext cx="1936401" cy="2739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118662" lvl="1" indent="-118662" defTabSz="718379">
              <a:lnSpc>
                <a:spcPct val="90000"/>
              </a:lnSpc>
              <a:spcBef>
                <a:spcPts val="606"/>
              </a:spcBef>
              <a:spcAft>
                <a:spcPct val="15000"/>
              </a:spcAft>
              <a:buFontTx/>
              <a:buChar char="••"/>
            </a:pPr>
            <a:r>
              <a:rPr lang="en-IN" sz="1000" dirty="0">
                <a:cs typeface="Calibri" pitchFamily="34" charset="0"/>
              </a:rPr>
              <a:t>Running the tests through HMI</a:t>
            </a:r>
          </a:p>
          <a:p>
            <a:pPr marL="118662" lvl="1" indent="-118662" defTabSz="718379">
              <a:lnSpc>
                <a:spcPct val="90000"/>
              </a:lnSpc>
              <a:spcBef>
                <a:spcPts val="606"/>
              </a:spcBef>
              <a:spcAft>
                <a:spcPct val="15000"/>
              </a:spcAft>
              <a:buFontTx/>
              <a:buChar char="••"/>
            </a:pPr>
            <a:r>
              <a:rPr lang="en-IN" sz="1000" dirty="0">
                <a:cs typeface="Calibri" pitchFamily="34" charset="0"/>
              </a:rPr>
              <a:t>Monitor and capturing the test results.</a:t>
            </a:r>
          </a:p>
          <a:p>
            <a:pPr marL="118662" lvl="1" indent="-118662" defTabSz="718379">
              <a:lnSpc>
                <a:spcPct val="90000"/>
              </a:lnSpc>
              <a:spcBef>
                <a:spcPts val="606"/>
              </a:spcBef>
              <a:spcAft>
                <a:spcPct val="15000"/>
              </a:spcAft>
              <a:buFontTx/>
              <a:buChar char="••"/>
            </a:pPr>
            <a:r>
              <a:rPr lang="en-US" sz="1000" dirty="0">
                <a:cs typeface="Calibri" pitchFamily="34" charset="0"/>
              </a:rPr>
              <a:t>ESD safe environment to handle dedicated parts</a:t>
            </a:r>
          </a:p>
          <a:p>
            <a:pPr marL="118662" lvl="1" indent="-118662" defTabSz="718379">
              <a:lnSpc>
                <a:spcPct val="90000"/>
              </a:lnSpc>
              <a:spcBef>
                <a:spcPts val="606"/>
              </a:spcBef>
              <a:spcAft>
                <a:spcPct val="15000"/>
              </a:spcAft>
              <a:buFontTx/>
              <a:buChar char="••"/>
            </a:pPr>
            <a:r>
              <a:rPr lang="en-US" sz="1000" dirty="0">
                <a:cs typeface="Calibri" pitchFamily="34" charset="0"/>
              </a:rPr>
              <a:t>High temperature testing oven</a:t>
            </a:r>
          </a:p>
          <a:p>
            <a:pPr marL="118662" lvl="1" indent="-118662" defTabSz="718379">
              <a:lnSpc>
                <a:spcPct val="90000"/>
              </a:lnSpc>
              <a:spcBef>
                <a:spcPts val="606"/>
              </a:spcBef>
              <a:spcAft>
                <a:spcPct val="15000"/>
              </a:spcAft>
              <a:buFontTx/>
              <a:buChar char="••"/>
            </a:pPr>
            <a:r>
              <a:rPr lang="en-US" sz="1000" dirty="0">
                <a:cs typeface="Calibri" pitchFamily="34" charset="0"/>
              </a:rPr>
              <a:t>Environmental chamber (-30ºC to +250ºC)</a:t>
            </a:r>
          </a:p>
          <a:p>
            <a:pPr marL="118662" lvl="1" indent="-118662" defTabSz="718379">
              <a:lnSpc>
                <a:spcPct val="90000"/>
              </a:lnSpc>
              <a:spcBef>
                <a:spcPts val="606"/>
              </a:spcBef>
              <a:spcAft>
                <a:spcPct val="15000"/>
              </a:spcAft>
              <a:buFontTx/>
              <a:buChar char="••"/>
            </a:pPr>
            <a:r>
              <a:rPr lang="en-US" sz="1000" dirty="0">
                <a:cs typeface="Calibri" pitchFamily="34" charset="0"/>
              </a:rPr>
              <a:t>High temperature soldering and de-soldering setup</a:t>
            </a:r>
          </a:p>
          <a:p>
            <a:pPr marL="118662" lvl="1" indent="-118662" defTabSz="718379">
              <a:lnSpc>
                <a:spcPct val="90000"/>
              </a:lnSpc>
              <a:spcBef>
                <a:spcPts val="606"/>
              </a:spcBef>
              <a:spcAft>
                <a:spcPct val="15000"/>
              </a:spcAft>
              <a:buFontTx/>
              <a:buChar char="••"/>
            </a:pPr>
            <a:r>
              <a:rPr lang="en-IN" sz="1000" dirty="0">
                <a:cs typeface="Calibri" pitchFamily="34" charset="0"/>
              </a:rPr>
              <a:t>Developing test suite.</a:t>
            </a:r>
          </a:p>
          <a:p>
            <a:pPr marL="118662" lvl="1" indent="-118662" defTabSz="718379">
              <a:lnSpc>
                <a:spcPct val="90000"/>
              </a:lnSpc>
              <a:spcBef>
                <a:spcPts val="606"/>
              </a:spcBef>
              <a:spcAft>
                <a:spcPct val="15000"/>
              </a:spcAft>
              <a:buFontTx/>
              <a:buChar char="••"/>
            </a:pPr>
            <a:r>
              <a:rPr lang="en-IN" sz="1000" dirty="0">
                <a:cs typeface="Calibri" pitchFamily="34" charset="0"/>
              </a:rPr>
              <a:t>Hardware testing.</a:t>
            </a:r>
            <a:endParaRPr lang="en-US" sz="1000" dirty="0">
              <a:cs typeface="Calibri" pitchFamily="34" charset="0"/>
            </a:endParaRPr>
          </a:p>
          <a:p>
            <a:pPr marL="118662" lvl="1" indent="-118662" defTabSz="718379">
              <a:lnSpc>
                <a:spcPct val="90000"/>
              </a:lnSpc>
              <a:spcBef>
                <a:spcPts val="606"/>
              </a:spcBef>
              <a:spcAft>
                <a:spcPct val="15000"/>
              </a:spcAft>
              <a:buFontTx/>
              <a:buChar char="••"/>
            </a:pPr>
            <a:r>
              <a:rPr lang="en-IN" sz="1000" dirty="0">
                <a:cs typeface="Calibri" pitchFamily="34" charset="0"/>
              </a:rPr>
              <a:t>Analysing test results and preparing the test report.</a:t>
            </a:r>
            <a:endParaRPr lang="en-US" sz="1200" dirty="0">
              <a:latin typeface="+mj-lt"/>
            </a:endParaRPr>
          </a:p>
        </p:txBody>
      </p:sp>
      <p:sp>
        <p:nvSpPr>
          <p:cNvPr id="16" name="TextBox 44">
            <a:extLst>
              <a:ext uri="{FF2B5EF4-FFF2-40B4-BE49-F238E27FC236}">
                <a16:creationId xmlns:a16="http://schemas.microsoft.com/office/drawing/2014/main" id="{3D9773EA-2017-54E4-3A68-0656A02539B8}"/>
              </a:ext>
            </a:extLst>
          </p:cNvPr>
          <p:cNvSpPr txBox="1"/>
          <p:nvPr/>
        </p:nvSpPr>
        <p:spPr>
          <a:xfrm>
            <a:off x="616248" y="3618430"/>
            <a:ext cx="2029796" cy="27776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118662" lvl="1" indent="-118662" defTabSz="718379">
              <a:lnSpc>
                <a:spcPct val="90000"/>
              </a:lnSpc>
              <a:spcBef>
                <a:spcPts val="606"/>
              </a:spcBef>
              <a:spcAft>
                <a:spcPct val="15000"/>
              </a:spcAft>
              <a:buFontTx/>
              <a:buChar char="••"/>
            </a:pPr>
            <a:r>
              <a:rPr lang="en-IN" sz="1000" dirty="0">
                <a:cs typeface="Calibri" pitchFamily="34" charset="0"/>
              </a:rPr>
              <a:t>Real time monitoring of the components obsolesce status</a:t>
            </a:r>
          </a:p>
          <a:p>
            <a:pPr marL="118662" lvl="1" indent="-118662" defTabSz="718379">
              <a:lnSpc>
                <a:spcPct val="90000"/>
              </a:lnSpc>
              <a:spcBef>
                <a:spcPts val="606"/>
              </a:spcBef>
              <a:spcAft>
                <a:spcPct val="15000"/>
              </a:spcAft>
              <a:buFontTx/>
              <a:buChar char="••"/>
            </a:pPr>
            <a:r>
              <a:rPr lang="en-IN" sz="1000" dirty="0">
                <a:cs typeface="Calibri" pitchFamily="34" charset="0"/>
              </a:rPr>
              <a:t>Automated obsolesce management system </a:t>
            </a:r>
          </a:p>
          <a:p>
            <a:pPr marL="118662" lvl="1" indent="-118662" defTabSz="718379">
              <a:lnSpc>
                <a:spcPct val="90000"/>
              </a:lnSpc>
              <a:spcBef>
                <a:spcPts val="606"/>
              </a:spcBef>
              <a:spcAft>
                <a:spcPct val="15000"/>
              </a:spcAft>
              <a:buFontTx/>
              <a:buChar char="••"/>
            </a:pPr>
            <a:r>
              <a:rPr lang="en-IN" sz="1000" dirty="0">
                <a:cs typeface="Calibri" pitchFamily="34" charset="0"/>
              </a:rPr>
              <a:t>Live component and PCB levels dash boards and reports </a:t>
            </a:r>
          </a:p>
          <a:p>
            <a:pPr marL="118662" lvl="1" indent="-118662" defTabSz="718379">
              <a:lnSpc>
                <a:spcPct val="90000"/>
              </a:lnSpc>
              <a:spcBef>
                <a:spcPts val="606"/>
              </a:spcBef>
              <a:spcAft>
                <a:spcPct val="15000"/>
              </a:spcAft>
              <a:buFontTx/>
              <a:buChar char="••"/>
            </a:pPr>
            <a:r>
              <a:rPr lang="en-US" sz="1000" dirty="0">
                <a:cs typeface="Calibri" pitchFamily="34" charset="0"/>
              </a:rPr>
              <a:t>Alerts on component status</a:t>
            </a:r>
          </a:p>
          <a:p>
            <a:pPr marL="118662" lvl="1" indent="-118662" defTabSz="718379">
              <a:lnSpc>
                <a:spcPct val="90000"/>
              </a:lnSpc>
              <a:spcBef>
                <a:spcPts val="606"/>
              </a:spcBef>
              <a:spcAft>
                <a:spcPct val="15000"/>
              </a:spcAft>
              <a:buFontTx/>
              <a:buChar char="••"/>
            </a:pPr>
            <a:r>
              <a:rPr lang="en-US" sz="1000" dirty="0">
                <a:cs typeface="Calibri" pitchFamily="34" charset="0"/>
              </a:rPr>
              <a:t>Dedicated team monitoring the component status</a:t>
            </a:r>
          </a:p>
          <a:p>
            <a:pPr marL="118662" lvl="1" indent="-118662" defTabSz="718379">
              <a:lnSpc>
                <a:spcPct val="90000"/>
              </a:lnSpc>
              <a:spcBef>
                <a:spcPts val="606"/>
              </a:spcBef>
              <a:spcAft>
                <a:spcPct val="15000"/>
              </a:spcAft>
              <a:buFontTx/>
              <a:buChar char="••"/>
            </a:pPr>
            <a:r>
              <a:rPr lang="en-US" sz="1000" dirty="0">
                <a:cs typeface="Calibri" pitchFamily="34" charset="0"/>
              </a:rPr>
              <a:t>Develop a strategy for obsolescence management</a:t>
            </a:r>
          </a:p>
          <a:p>
            <a:pPr marL="118662" lvl="1" indent="-118662" defTabSz="718379">
              <a:lnSpc>
                <a:spcPct val="90000"/>
              </a:lnSpc>
              <a:spcBef>
                <a:spcPts val="606"/>
              </a:spcBef>
              <a:spcAft>
                <a:spcPct val="15000"/>
              </a:spcAft>
              <a:buFontTx/>
              <a:buChar char="••"/>
            </a:pPr>
            <a:r>
              <a:rPr lang="en-US" sz="1000" dirty="0">
                <a:cs typeface="Calibri" pitchFamily="34" charset="0"/>
              </a:rPr>
              <a:t>Address current issue of EOL, LTB</a:t>
            </a:r>
          </a:p>
          <a:p>
            <a:pPr marL="118662" lvl="1" indent="-118662" defTabSz="718379">
              <a:lnSpc>
                <a:spcPct val="90000"/>
              </a:lnSpc>
              <a:spcBef>
                <a:spcPts val="606"/>
              </a:spcBef>
              <a:spcAft>
                <a:spcPct val="15000"/>
              </a:spcAft>
              <a:buFontTx/>
              <a:buChar char="••"/>
            </a:pPr>
            <a:r>
              <a:rPr lang="en-US" sz="1000" dirty="0">
                <a:cs typeface="Calibri" pitchFamily="34" charset="0"/>
              </a:rPr>
              <a:t>Forecast and plan obsolescence in advance</a:t>
            </a:r>
            <a:endParaRPr lang="en-US" sz="1200" dirty="0">
              <a:latin typeface="+mj-lt"/>
            </a:endParaRPr>
          </a:p>
        </p:txBody>
      </p:sp>
      <p:sp>
        <p:nvSpPr>
          <p:cNvPr id="17" name="TextBox 45">
            <a:extLst>
              <a:ext uri="{FF2B5EF4-FFF2-40B4-BE49-F238E27FC236}">
                <a16:creationId xmlns:a16="http://schemas.microsoft.com/office/drawing/2014/main" id="{2882BACC-15B6-CC1A-C457-BB5E8573B019}"/>
              </a:ext>
            </a:extLst>
          </p:cNvPr>
          <p:cNvSpPr txBox="1"/>
          <p:nvPr/>
        </p:nvSpPr>
        <p:spPr>
          <a:xfrm>
            <a:off x="2856844" y="3632523"/>
            <a:ext cx="1987343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118662" lvl="1" indent="-118662" defTabSz="718379">
              <a:lnSpc>
                <a:spcPct val="90000"/>
              </a:lnSpc>
              <a:spcBef>
                <a:spcPts val="606"/>
              </a:spcBef>
              <a:spcAft>
                <a:spcPct val="15000"/>
              </a:spcAft>
              <a:buFontTx/>
              <a:buChar char="••"/>
            </a:pPr>
            <a:r>
              <a:rPr lang="en-IN" sz="1000" dirty="0">
                <a:cs typeface="Calibri" pitchFamily="34" charset="0"/>
              </a:rPr>
              <a:t>Identifying components available with the required features.</a:t>
            </a:r>
          </a:p>
          <a:p>
            <a:pPr marL="118662" lvl="1" indent="-118662" defTabSz="718379">
              <a:lnSpc>
                <a:spcPct val="90000"/>
              </a:lnSpc>
              <a:spcBef>
                <a:spcPts val="606"/>
              </a:spcBef>
              <a:spcAft>
                <a:spcPct val="15000"/>
              </a:spcAft>
              <a:buFontTx/>
              <a:buChar char="••"/>
            </a:pPr>
            <a:r>
              <a:rPr lang="en-IN" sz="1000" dirty="0">
                <a:cs typeface="Calibri" pitchFamily="34" charset="0"/>
              </a:rPr>
              <a:t>Analysis of the components and identifying best match with respect to features and modifications needed for H/W and F/W.</a:t>
            </a:r>
          </a:p>
          <a:p>
            <a:pPr marL="118662" lvl="1" indent="-118662" defTabSz="718379">
              <a:lnSpc>
                <a:spcPct val="90000"/>
              </a:lnSpc>
              <a:spcBef>
                <a:spcPts val="606"/>
              </a:spcBef>
              <a:spcAft>
                <a:spcPct val="15000"/>
              </a:spcAft>
              <a:buFontTx/>
              <a:buChar char="••"/>
            </a:pPr>
            <a:r>
              <a:rPr lang="en-IN" sz="1000" dirty="0">
                <a:cs typeface="Calibri" pitchFamily="34" charset="0"/>
              </a:rPr>
              <a:t>Designing the hardware to test the components.</a:t>
            </a:r>
          </a:p>
          <a:p>
            <a:pPr marL="118662" lvl="1" indent="-118662" defTabSz="718379">
              <a:lnSpc>
                <a:spcPct val="90000"/>
              </a:lnSpc>
              <a:spcBef>
                <a:spcPts val="606"/>
              </a:spcBef>
              <a:spcAft>
                <a:spcPct val="15000"/>
              </a:spcAft>
              <a:buFontTx/>
              <a:buChar char="••"/>
            </a:pPr>
            <a:r>
              <a:rPr lang="en-IN" sz="1000" dirty="0">
                <a:cs typeface="Calibri" pitchFamily="34" charset="0"/>
              </a:rPr>
              <a:t>PCB designing.</a:t>
            </a:r>
          </a:p>
          <a:p>
            <a:pPr marL="118662" lvl="1" indent="-118662" defTabSz="718379">
              <a:lnSpc>
                <a:spcPct val="90000"/>
              </a:lnSpc>
              <a:spcBef>
                <a:spcPts val="606"/>
              </a:spcBef>
              <a:spcAft>
                <a:spcPct val="15000"/>
              </a:spcAft>
              <a:buFontTx/>
              <a:buChar char="••"/>
            </a:pPr>
            <a:r>
              <a:rPr lang="en-IN" sz="1000" dirty="0">
                <a:cs typeface="Calibri" pitchFamily="34" charset="0"/>
              </a:rPr>
              <a:t>PCB manufacturing and assembling.</a:t>
            </a:r>
          </a:p>
          <a:p>
            <a:pPr marL="118662" lvl="1" indent="-118662" defTabSz="718379">
              <a:lnSpc>
                <a:spcPct val="90000"/>
              </a:lnSpc>
              <a:spcBef>
                <a:spcPts val="606"/>
              </a:spcBef>
              <a:spcAft>
                <a:spcPct val="15000"/>
              </a:spcAft>
              <a:buFontTx/>
              <a:buChar char="••"/>
            </a:pPr>
            <a:r>
              <a:rPr lang="en-US" sz="1000" dirty="0">
                <a:solidFill>
                  <a:prstClr val="black"/>
                </a:solidFill>
                <a:latin typeface="Arial"/>
              </a:rPr>
              <a:t>Alliance partner for PCB manufacturing, EMI EMC testing</a:t>
            </a:r>
          </a:p>
          <a:p>
            <a:pPr marL="118662" lvl="1" indent="-118662" defTabSz="718379">
              <a:lnSpc>
                <a:spcPct val="90000"/>
              </a:lnSpc>
              <a:spcBef>
                <a:spcPts val="606"/>
              </a:spcBef>
              <a:spcAft>
                <a:spcPct val="15000"/>
              </a:spcAft>
              <a:buFontTx/>
              <a:buChar char="••"/>
            </a:pPr>
            <a:endParaRPr lang="en-IN" sz="1000" dirty="0">
              <a:cs typeface="Calibri" pitchFamily="34" charset="0"/>
            </a:endParaRPr>
          </a:p>
        </p:txBody>
      </p:sp>
      <p:sp>
        <p:nvSpPr>
          <p:cNvPr id="18" name="TextBox 46">
            <a:extLst>
              <a:ext uri="{FF2B5EF4-FFF2-40B4-BE49-F238E27FC236}">
                <a16:creationId xmlns:a16="http://schemas.microsoft.com/office/drawing/2014/main" id="{3652A32E-3A00-3D14-EE8B-386D2275540E}"/>
              </a:ext>
            </a:extLst>
          </p:cNvPr>
          <p:cNvSpPr txBox="1"/>
          <p:nvPr/>
        </p:nvSpPr>
        <p:spPr>
          <a:xfrm>
            <a:off x="5111093" y="3716029"/>
            <a:ext cx="2024701" cy="1508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118662" lvl="1" indent="-118662" defTabSz="718379">
              <a:lnSpc>
                <a:spcPct val="90000"/>
              </a:lnSpc>
              <a:spcBef>
                <a:spcPts val="606"/>
              </a:spcBef>
              <a:spcAft>
                <a:spcPct val="15000"/>
              </a:spcAft>
              <a:buFontTx/>
              <a:buChar char="••"/>
            </a:pPr>
            <a:r>
              <a:rPr lang="en-IN" sz="1000" dirty="0">
                <a:cs typeface="Calibri" pitchFamily="34" charset="0"/>
              </a:rPr>
              <a:t>Analysing the existing firmware.</a:t>
            </a:r>
          </a:p>
          <a:p>
            <a:pPr marL="118662" lvl="1" indent="-118662" defTabSz="718379">
              <a:lnSpc>
                <a:spcPct val="90000"/>
              </a:lnSpc>
              <a:spcBef>
                <a:spcPts val="606"/>
              </a:spcBef>
              <a:spcAft>
                <a:spcPct val="15000"/>
              </a:spcAft>
              <a:buFontTx/>
              <a:buChar char="••"/>
            </a:pPr>
            <a:r>
              <a:rPr lang="en-IN" sz="1000" dirty="0">
                <a:cs typeface="Calibri" pitchFamily="34" charset="0"/>
              </a:rPr>
              <a:t>Identifying the changes needed.</a:t>
            </a:r>
          </a:p>
          <a:p>
            <a:pPr marL="118662" lvl="1" indent="-118662" defTabSz="718379">
              <a:lnSpc>
                <a:spcPct val="90000"/>
              </a:lnSpc>
              <a:spcBef>
                <a:spcPts val="606"/>
              </a:spcBef>
              <a:spcAft>
                <a:spcPct val="15000"/>
              </a:spcAft>
              <a:buFontTx/>
              <a:buChar char="••"/>
            </a:pPr>
            <a:r>
              <a:rPr lang="en-IN" sz="1000" dirty="0">
                <a:cs typeface="Calibri" pitchFamily="34" charset="0"/>
              </a:rPr>
              <a:t>Updating the firmware so that the new and earlier components can work with the same</a:t>
            </a:r>
          </a:p>
          <a:p>
            <a:pPr marL="118662" lvl="1" indent="-118662" defTabSz="718379">
              <a:lnSpc>
                <a:spcPct val="90000"/>
              </a:lnSpc>
              <a:spcBef>
                <a:spcPts val="606"/>
              </a:spcBef>
              <a:spcAft>
                <a:spcPct val="15000"/>
              </a:spcAft>
              <a:buFontTx/>
              <a:buChar char="••"/>
            </a:pPr>
            <a:r>
              <a:rPr lang="en-IN" sz="1000" dirty="0">
                <a:cs typeface="Calibri" pitchFamily="34" charset="0"/>
              </a:rPr>
              <a:t>Developing new interface modules required.</a:t>
            </a:r>
          </a:p>
          <a:p>
            <a:pPr marL="118662" lvl="1" indent="-118662" defTabSz="718379">
              <a:lnSpc>
                <a:spcPct val="90000"/>
              </a:lnSpc>
              <a:spcBef>
                <a:spcPts val="606"/>
              </a:spcBef>
              <a:spcAft>
                <a:spcPct val="15000"/>
              </a:spcAft>
              <a:buFontTx/>
              <a:buChar char="••"/>
            </a:pPr>
            <a:r>
              <a:rPr lang="en-IN" sz="1000" dirty="0">
                <a:cs typeface="Calibri" pitchFamily="34" charset="0"/>
              </a:rPr>
              <a:t>Developing the test cases</a:t>
            </a:r>
            <a:endParaRPr lang="en-US" sz="1000" dirty="0">
              <a:latin typeface="+mj-lt"/>
            </a:endParaRPr>
          </a:p>
        </p:txBody>
      </p:sp>
      <p:sp>
        <p:nvSpPr>
          <p:cNvPr id="19" name="TextBox 47">
            <a:extLst>
              <a:ext uri="{FF2B5EF4-FFF2-40B4-BE49-F238E27FC236}">
                <a16:creationId xmlns:a16="http://schemas.microsoft.com/office/drawing/2014/main" id="{2D9CA7D1-172C-BB96-B9A4-5070AD0DF89C}"/>
              </a:ext>
            </a:extLst>
          </p:cNvPr>
          <p:cNvSpPr txBox="1"/>
          <p:nvPr/>
        </p:nvSpPr>
        <p:spPr>
          <a:xfrm>
            <a:off x="7427771" y="3721486"/>
            <a:ext cx="1837908" cy="26853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118662" lvl="1" indent="-118662" defTabSz="718379">
              <a:lnSpc>
                <a:spcPct val="90000"/>
              </a:lnSpc>
              <a:spcBef>
                <a:spcPts val="606"/>
              </a:spcBef>
              <a:spcAft>
                <a:spcPct val="15000"/>
              </a:spcAft>
              <a:buFontTx/>
              <a:buChar char="••"/>
            </a:pPr>
            <a:r>
              <a:rPr lang="en-IN" sz="1000" dirty="0">
                <a:cs typeface="Calibri" pitchFamily="34" charset="0"/>
              </a:rPr>
              <a:t>Designing the HMI screens to setup the tests, execute them and display results online.</a:t>
            </a:r>
          </a:p>
          <a:p>
            <a:pPr marL="118662" lvl="1" indent="-118662" defTabSz="718379">
              <a:lnSpc>
                <a:spcPct val="90000"/>
              </a:lnSpc>
              <a:spcBef>
                <a:spcPts val="606"/>
              </a:spcBef>
              <a:spcAft>
                <a:spcPct val="15000"/>
              </a:spcAft>
              <a:buFontTx/>
              <a:buChar char="••"/>
            </a:pPr>
            <a:r>
              <a:rPr lang="en-IN" sz="1000" dirty="0">
                <a:cs typeface="Calibri" pitchFamily="34" charset="0"/>
              </a:rPr>
              <a:t>Developing the modules to capturing the test results online and saving them.</a:t>
            </a:r>
          </a:p>
          <a:p>
            <a:pPr marL="118662" lvl="1" indent="-118662" defTabSz="718379">
              <a:lnSpc>
                <a:spcPct val="90000"/>
              </a:lnSpc>
              <a:spcBef>
                <a:spcPts val="606"/>
              </a:spcBef>
              <a:spcAft>
                <a:spcPct val="15000"/>
              </a:spcAft>
              <a:buFontTx/>
              <a:buChar char="••"/>
            </a:pPr>
            <a:r>
              <a:rPr lang="en-IN" sz="1000" dirty="0">
                <a:cs typeface="Calibri" pitchFamily="34" charset="0"/>
              </a:rPr>
              <a:t>Developing the interface modules to interact with different test instruments.</a:t>
            </a:r>
          </a:p>
          <a:p>
            <a:pPr marL="118662" lvl="1" indent="-118662" defTabSz="718379">
              <a:lnSpc>
                <a:spcPct val="90000"/>
              </a:lnSpc>
              <a:spcBef>
                <a:spcPts val="606"/>
              </a:spcBef>
              <a:spcAft>
                <a:spcPct val="15000"/>
              </a:spcAft>
              <a:buFontTx/>
              <a:buChar char="••"/>
            </a:pPr>
            <a:r>
              <a:rPr lang="en-IN" sz="1000" dirty="0">
                <a:cs typeface="Calibri" pitchFamily="34" charset="0"/>
              </a:rPr>
              <a:t>Implementing protocols needed to interact with different test instruments like Modbus and ASCCI.</a:t>
            </a:r>
          </a:p>
          <a:p>
            <a:pPr marL="118662" lvl="1" indent="-118662" defTabSz="718379">
              <a:lnSpc>
                <a:spcPct val="90000"/>
              </a:lnSpc>
              <a:spcBef>
                <a:spcPts val="606"/>
              </a:spcBef>
              <a:spcAft>
                <a:spcPct val="15000"/>
              </a:spcAft>
              <a:buFontTx/>
              <a:buChar char="••"/>
            </a:pPr>
            <a:r>
              <a:rPr lang="en-IN" sz="1000" dirty="0">
                <a:cs typeface="Calibri" pitchFamily="34" charset="0"/>
              </a:rPr>
              <a:t>Interfacing with third party drivers.</a:t>
            </a:r>
          </a:p>
          <a:p>
            <a:pPr fontAlgn="base">
              <a:buClr>
                <a:schemeClr val="tx2"/>
              </a:buClr>
            </a:pPr>
            <a:endParaRPr lang="en-US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53779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290</Words>
  <Application>Microsoft Office PowerPoint</Application>
  <PresentationFormat>Widescreen</PresentationFormat>
  <Paragraphs>53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Maddikunta Akhila</dc:creator>
  <cp:lastModifiedBy>Maddikunta Akhila</cp:lastModifiedBy>
  <cp:revision>1</cp:revision>
  <dcterms:created xsi:type="dcterms:W3CDTF">2025-10-14T07:48:30Z</dcterms:created>
  <dcterms:modified xsi:type="dcterms:W3CDTF">2025-10-14T07:49:54Z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31f486-f8b5-456b-a19a-dbe0d296c5fd_Enabled">
    <vt:lpwstr>true</vt:lpwstr>
  </property>
  <property fmtid="{D5CDD505-2E9C-101B-9397-08002B2CF9AE}" pid="3" name="MSIP_Label_7331f486-f8b5-456b-a19a-dbe0d296c5fd_SetDate">
    <vt:lpwstr>2025-10-14T07:49:54Z</vt:lpwstr>
  </property>
  <property fmtid="{D5CDD505-2E9C-101B-9397-08002B2CF9AE}" pid="4" name="MSIP_Label_7331f486-f8b5-456b-a19a-dbe0d296c5fd_Method">
    <vt:lpwstr>Privileged</vt:lpwstr>
  </property>
  <property fmtid="{D5CDD505-2E9C-101B-9397-08002B2CF9AE}" pid="5" name="MSIP_Label_7331f486-f8b5-456b-a19a-dbe0d296c5fd_Name">
    <vt:lpwstr>Company Confidential Internal Use</vt:lpwstr>
  </property>
  <property fmtid="{D5CDD505-2E9C-101B-9397-08002B2CF9AE}" pid="6" name="MSIP_Label_7331f486-f8b5-456b-a19a-dbe0d296c5fd_SiteId">
    <vt:lpwstr>edf442f5-b994-4c86-a131-b42b03a16c95</vt:lpwstr>
  </property>
  <property fmtid="{D5CDD505-2E9C-101B-9397-08002B2CF9AE}" pid="7" name="MSIP_Label_7331f486-f8b5-456b-a19a-dbe0d296c5fd_ActionId">
    <vt:lpwstr>d0ad734b-b82c-4cf4-966b-ebd1475a9b08</vt:lpwstr>
  </property>
  <property fmtid="{D5CDD505-2E9C-101B-9397-08002B2CF9AE}" pid="8" name="MSIP_Label_7331f486-f8b5-456b-a19a-dbe0d296c5fd_ContentBits">
    <vt:lpwstr>0</vt:lpwstr>
  </property>
  <property fmtid="{D5CDD505-2E9C-101B-9397-08002B2CF9AE}" pid="9" name="MSIP_Label_7331f486-f8b5-456b-a19a-dbe0d296c5fd_Tag">
    <vt:lpwstr>10, 0, 1, 1</vt:lpwstr>
  </property>
</Properties>
</file>