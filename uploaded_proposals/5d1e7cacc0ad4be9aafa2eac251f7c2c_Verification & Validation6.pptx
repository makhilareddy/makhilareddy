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7954-74C5-0FB9-F239-B4DADD5D5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CFE69-9876-2FE7-B20E-74D6677CE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2E2E1-16FF-99D3-48E0-5A8611EA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AEBEC-7031-0D5D-6D97-5C167C563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E71C1-9156-604C-B7D2-E201559F2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2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B5617-276B-7A52-BFCC-DE0CA2D8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461AB-4B7F-1139-B843-193F713D0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ED528-E059-2FB7-963C-55980A3A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C5ED-222C-10CA-CEB8-E33DE15B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B675A-D455-9615-79DF-2DEF84A9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19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39973-875B-7F07-41FA-8E3AAA27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36C1B-7DCE-5E36-2396-D45FF7A5D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819AF-14C6-8E05-DF41-71ACF86E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58C4C-9745-0E66-3555-EDF2D4FB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21BC6-681E-981C-49DD-7B4CBD8C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0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F92A8-1E0E-5464-D2E5-7B7B332E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C7459-D1F9-3DE0-F2A6-35F06DAF6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B335D-2E7C-D5AF-08A1-A870032C1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B00F70-B343-E684-2386-CAD300263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0D2ED-5E65-B41A-60C4-445410B1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82CEC-60A5-8C9C-7F9C-9095AE34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64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F5BB-BCBF-DBBE-184A-7172C687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3EC64-0622-C652-FB42-AD0597877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E9E908-B7FF-EC17-1B24-4F006CB87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E644B-4631-0C61-B4BD-9F49370DF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0FB320-81FA-D768-A715-A7C144518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7D0764-A3E2-8342-FC5F-D06CF8417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8857C-7F9E-4FD5-28B8-D25F015A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39A35-82C3-AE07-A2EF-A946183B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61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FB7F-6CA1-20D5-AEC4-FC542424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E814A-5D4B-F55F-F4AB-DB126DB54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52242-A0A9-CBB3-A4F4-AC593496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D44A85-C6FB-12E6-EC35-0F5A2BB2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25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B31C2F-F843-6041-B03B-6A6856861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4110C7-C77C-EE11-EED6-7CAC08E28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E6B50-6F12-B1B5-2AFC-332F07B4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56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93F7-E6B3-4F88-3F2B-FBA31F00C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EFA05-3F1D-EEDC-BC67-37FE3A11C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5FF31-2D59-D185-3306-2F171EB46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493F74-0B01-6CD7-F43F-F80C25FB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177CC-D9FB-B3EB-5D79-C147152E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19DA5-CA26-993D-208D-B3F810FAA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6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3E384-BF2E-2F5D-5248-9A1630ED3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2B9B7-F20C-CDEA-D45C-CBDF71A09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14616-4E8E-65F9-33C0-B54207185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22C2D-9727-E415-5280-4AD3EAD91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E85B66-3AD1-FBE7-A6BD-E7B5DE44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5D70FE-DACC-A777-3C14-914A813B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652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A015C-7FD8-5EB7-FD05-D82B92648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60D7E-9D3D-7987-D968-142A76105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C7832-D2AD-564E-4166-F0FC8067A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AC6B3-EB81-46D0-FC63-D2F3122D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47048-1467-3DEC-4C1B-1C768CE65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76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890BBE-E813-B4E9-C0C2-6AE0B585A2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C3C09-0798-BBB6-493C-DA8F86BF3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47CAB-BA5F-7CEE-E19E-1FC07C8D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A606A-3E6A-9F89-472D-7F338B02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E327F-6AB8-81FC-02CA-CEEDB49A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9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D26820-7CAF-1BF0-84F1-4F52ADAB6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D2625-D558-BA49-A797-8774923B6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392AF-1A70-3B22-7DED-40FF478E9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2DBD0-5DF5-4C47-98A2-DE40D9064EA6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12BF-CC68-8D0B-6B4D-5437C90FF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99E96-044E-8099-FA13-E2CBB4485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E155C-D1AF-43E9-8FA3-2B2E2256C4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4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5E3B8C-3FE8-ED7D-4845-F75DC59B212B}"/>
              </a:ext>
            </a:extLst>
          </p:cNvPr>
          <p:cNvSpPr txBox="1">
            <a:spLocks/>
          </p:cNvSpPr>
          <p:nvPr/>
        </p:nvSpPr>
        <p:spPr>
          <a:xfrm>
            <a:off x="1480624" y="1321904"/>
            <a:ext cx="8610600" cy="556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Times" panose="02020603050405020304" pitchFamily="18" charset="0"/>
              <a:buNone/>
              <a:defRPr/>
            </a:pPr>
            <a:endParaRPr lang="en-US" altLang="en-US" sz="1800" b="1">
              <a:latin typeface="Calibri" panose="020F0502020204030204" pitchFamily="34" charset="0"/>
            </a:endParaRPr>
          </a:p>
          <a:p>
            <a:pPr marL="457200" lvl="1" indent="0" fontAlgn="auto">
              <a:spcAft>
                <a:spcPts val="0"/>
              </a:spcAft>
              <a:buFont typeface="Times" panose="02020603050405020304" pitchFamily="18" charset="0"/>
              <a:buNone/>
              <a:defRPr/>
            </a:pPr>
            <a:endParaRPr lang="en-US" altLang="en-US" sz="1400" b="1">
              <a:latin typeface="Calibri" panose="020F0502020204030204" pitchFamily="34" charset="0"/>
            </a:endParaRPr>
          </a:p>
          <a:p>
            <a:pPr lvl="1" fontAlgn="auto">
              <a:spcAft>
                <a:spcPts val="0"/>
              </a:spcAft>
              <a:buFont typeface="Times"/>
              <a:buChar char="•"/>
              <a:defRPr/>
            </a:pPr>
            <a:endParaRPr lang="en-US" altLang="en-US" sz="1400" b="1">
              <a:latin typeface="Calibri" panose="020F0502020204030204" pitchFamily="34" charset="0"/>
            </a:endParaRPr>
          </a:p>
          <a:p>
            <a:pPr marL="457200" lvl="1" indent="0" fontAlgn="auto">
              <a:spcAft>
                <a:spcPts val="0"/>
              </a:spcAft>
              <a:buFont typeface="Times" panose="02020603050405020304" pitchFamily="18" charset="0"/>
              <a:buNone/>
              <a:defRPr/>
            </a:pPr>
            <a:endParaRPr lang="en-US" altLang="en-US" sz="1600" dirty="0">
              <a:latin typeface="Calibri" panose="020F0502020204030204" pitchFamily="34" charset="0"/>
            </a:endParaRPr>
          </a:p>
        </p:txBody>
      </p:sp>
      <p:grpSp>
        <p:nvGrpSpPr>
          <p:cNvPr id="5" name="Group 1">
            <a:extLst>
              <a:ext uri="{FF2B5EF4-FFF2-40B4-BE49-F238E27FC236}">
                <a16:creationId xmlns:a16="http://schemas.microsoft.com/office/drawing/2014/main" id="{C1654A2D-22C8-ED44-C50B-9FE87EC91357}"/>
              </a:ext>
            </a:extLst>
          </p:cNvPr>
          <p:cNvGrpSpPr>
            <a:grpSpLocks/>
          </p:cNvGrpSpPr>
          <p:nvPr/>
        </p:nvGrpSpPr>
        <p:grpSpPr bwMode="auto">
          <a:xfrm>
            <a:off x="3818206" y="1981200"/>
            <a:ext cx="5867400" cy="4479925"/>
            <a:chOff x="1905000" y="1981200"/>
            <a:chExt cx="5867400" cy="4479925"/>
          </a:xfrm>
        </p:grpSpPr>
        <p:sp>
          <p:nvSpPr>
            <p:cNvPr id="6" name="Rounded Rectangle 35">
              <a:extLst>
                <a:ext uri="{FF2B5EF4-FFF2-40B4-BE49-F238E27FC236}">
                  <a16:creationId xmlns:a16="http://schemas.microsoft.com/office/drawing/2014/main" id="{798BBD7C-828D-5DC9-699D-CAF9717C58AE}"/>
                </a:ext>
              </a:extLst>
            </p:cNvPr>
            <p:cNvSpPr/>
            <p:nvPr/>
          </p:nvSpPr>
          <p:spPr bwMode="auto">
            <a:xfrm>
              <a:off x="1905000" y="2628900"/>
              <a:ext cx="3370263" cy="566738"/>
            </a:xfrm>
            <a:prstGeom prst="roundRect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LOOP through each TestCase.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Get Test ID, TestCase Name,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TestStand Seq, Execution</a:t>
              </a:r>
            </a:p>
          </p:txBody>
        </p:sp>
        <p:sp>
          <p:nvSpPr>
            <p:cNvPr id="7" name="Rounded Rectangle 36">
              <a:extLst>
                <a:ext uri="{FF2B5EF4-FFF2-40B4-BE49-F238E27FC236}">
                  <a16:creationId xmlns:a16="http://schemas.microsoft.com/office/drawing/2014/main" id="{0F2C050A-2320-1B1A-B241-E85ECCC2BD17}"/>
                </a:ext>
              </a:extLst>
            </p:cNvPr>
            <p:cNvSpPr/>
            <p:nvPr/>
          </p:nvSpPr>
          <p:spPr bwMode="auto">
            <a:xfrm>
              <a:off x="1905000" y="1981200"/>
              <a:ext cx="3370263" cy="384175"/>
            </a:xfrm>
            <a:prstGeom prst="roundRect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Get All TestCases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As per Configuration file</a:t>
              </a:r>
            </a:p>
          </p:txBody>
        </p:sp>
        <p:sp>
          <p:nvSpPr>
            <p:cNvPr id="8" name="Diamond 7">
              <a:extLst>
                <a:ext uri="{FF2B5EF4-FFF2-40B4-BE49-F238E27FC236}">
                  <a16:creationId xmlns:a16="http://schemas.microsoft.com/office/drawing/2014/main" id="{C231251A-EAC0-6A13-CAD0-D139C41301C0}"/>
                </a:ext>
              </a:extLst>
            </p:cNvPr>
            <p:cNvSpPr/>
            <p:nvPr/>
          </p:nvSpPr>
          <p:spPr bwMode="auto">
            <a:xfrm>
              <a:off x="2500313" y="3368675"/>
              <a:ext cx="2178050" cy="687388"/>
            </a:xfrm>
            <a:prstGeom prst="diamond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LOOP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END = TRUE</a:t>
              </a:r>
            </a:p>
          </p:txBody>
        </p:sp>
        <p:sp>
          <p:nvSpPr>
            <p:cNvPr id="9" name="Rounded Rectangle 38">
              <a:extLst>
                <a:ext uri="{FF2B5EF4-FFF2-40B4-BE49-F238E27FC236}">
                  <a16:creationId xmlns:a16="http://schemas.microsoft.com/office/drawing/2014/main" id="{B2D8CB17-53E2-709A-C36E-0FC7B0733630}"/>
                </a:ext>
              </a:extLst>
            </p:cNvPr>
            <p:cNvSpPr/>
            <p:nvPr/>
          </p:nvSpPr>
          <p:spPr bwMode="auto">
            <a:xfrm>
              <a:off x="1905000" y="5270500"/>
              <a:ext cx="3370263" cy="379413"/>
            </a:xfrm>
            <a:prstGeom prst="roundRect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EXECUTE TESTCASE with Sequence</a:t>
              </a:r>
            </a:p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File Name</a:t>
              </a:r>
            </a:p>
          </p:txBody>
        </p:sp>
        <p:sp>
          <p:nvSpPr>
            <p:cNvPr id="10" name="Rounded Rectangle 39">
              <a:extLst>
                <a:ext uri="{FF2B5EF4-FFF2-40B4-BE49-F238E27FC236}">
                  <a16:creationId xmlns:a16="http://schemas.microsoft.com/office/drawing/2014/main" id="{02D6B556-E4F9-41AF-7F7D-5D11133130CB}"/>
                </a:ext>
              </a:extLst>
            </p:cNvPr>
            <p:cNvSpPr/>
            <p:nvPr/>
          </p:nvSpPr>
          <p:spPr bwMode="auto">
            <a:xfrm>
              <a:off x="1911350" y="5845175"/>
              <a:ext cx="3370263" cy="361950"/>
            </a:xfrm>
            <a:prstGeom prst="roundRect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TestCase Report Generation</a:t>
              </a:r>
            </a:p>
          </p:txBody>
        </p:sp>
        <p:sp>
          <p:nvSpPr>
            <p:cNvPr id="11" name="Rounded Rectangle 40">
              <a:extLst>
                <a:ext uri="{FF2B5EF4-FFF2-40B4-BE49-F238E27FC236}">
                  <a16:creationId xmlns:a16="http://schemas.microsoft.com/office/drawing/2014/main" id="{2612A057-1578-B325-C9EB-9D57C1F60F5E}"/>
                </a:ext>
              </a:extLst>
            </p:cNvPr>
            <p:cNvSpPr/>
            <p:nvPr/>
          </p:nvSpPr>
          <p:spPr bwMode="auto">
            <a:xfrm>
              <a:off x="5986463" y="5454650"/>
              <a:ext cx="1785937" cy="379413"/>
            </a:xfrm>
            <a:prstGeom prst="roundRect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Test Summary Report Generation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883B037-78B0-D89D-EB74-4BD6971B6D46}"/>
                </a:ext>
              </a:extLst>
            </p:cNvPr>
            <p:cNvSpPr/>
            <p:nvPr/>
          </p:nvSpPr>
          <p:spPr bwMode="auto">
            <a:xfrm>
              <a:off x="6470650" y="6156325"/>
              <a:ext cx="812800" cy="304800"/>
            </a:xfrm>
            <a:prstGeom prst="ellipse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END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18D26A3-853C-F213-3133-6BEEB076F846}"/>
                </a:ext>
              </a:extLst>
            </p:cNvPr>
            <p:cNvSpPr txBox="1"/>
            <p:nvPr/>
          </p:nvSpPr>
          <p:spPr bwMode="auto">
            <a:xfrm>
              <a:off x="4678363" y="3479800"/>
              <a:ext cx="446087" cy="242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YES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89F505C-346A-A4E7-C0C5-EB20F583B3F6}"/>
                </a:ext>
              </a:extLst>
            </p:cNvPr>
            <p:cNvSpPr txBox="1"/>
            <p:nvPr/>
          </p:nvSpPr>
          <p:spPr bwMode="auto">
            <a:xfrm>
              <a:off x="4792663" y="4424363"/>
              <a:ext cx="420687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NO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8C54824-67DA-8233-7D35-FB2FDAD41207}"/>
                </a:ext>
              </a:extLst>
            </p:cNvPr>
            <p:cNvSpPr txBox="1"/>
            <p:nvPr/>
          </p:nvSpPr>
          <p:spPr bwMode="auto">
            <a:xfrm>
              <a:off x="3051175" y="4056063"/>
              <a:ext cx="422275" cy="242887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NO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6223DD-2CAB-0C20-808C-430EE5D5DFDE}"/>
                </a:ext>
              </a:extLst>
            </p:cNvPr>
            <p:cNvSpPr txBox="1"/>
            <p:nvPr/>
          </p:nvSpPr>
          <p:spPr bwMode="auto">
            <a:xfrm>
              <a:off x="3090863" y="5027613"/>
              <a:ext cx="444500" cy="244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YES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FCF0CCC-5458-9CED-5853-7F75F3F7CF23}"/>
                </a:ext>
              </a:extLst>
            </p:cNvPr>
            <p:cNvCxnSpPr>
              <a:stCxn id="7" idx="2"/>
              <a:endCxn id="6" idx="0"/>
            </p:cNvCxnSpPr>
            <p:nvPr/>
          </p:nvCxnSpPr>
          <p:spPr bwMode="auto">
            <a:xfrm>
              <a:off x="3589338" y="2365375"/>
              <a:ext cx="0" cy="263525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F47B1D6-3992-66A5-E644-BA6CA4700CC3}"/>
                </a:ext>
              </a:extLst>
            </p:cNvPr>
            <p:cNvCxnSpPr>
              <a:cxnSpLocks/>
              <a:stCxn id="6" idx="2"/>
              <a:endCxn id="8" idx="0"/>
            </p:cNvCxnSpPr>
            <p:nvPr/>
          </p:nvCxnSpPr>
          <p:spPr bwMode="auto">
            <a:xfrm flipH="1">
              <a:off x="3589338" y="3195638"/>
              <a:ext cx="0" cy="173037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mond 18">
              <a:extLst>
                <a:ext uri="{FF2B5EF4-FFF2-40B4-BE49-F238E27FC236}">
                  <a16:creationId xmlns:a16="http://schemas.microsoft.com/office/drawing/2014/main" id="{8F79F4CD-ED2C-D0CA-DA9A-80253D00D3AA}"/>
                </a:ext>
              </a:extLst>
            </p:cNvPr>
            <p:cNvSpPr/>
            <p:nvPr/>
          </p:nvSpPr>
          <p:spPr bwMode="auto">
            <a:xfrm>
              <a:off x="2500313" y="4225925"/>
              <a:ext cx="2178050" cy="831850"/>
            </a:xfrm>
            <a:prstGeom prst="diamond">
              <a:avLst/>
            </a:prstGeom>
            <a:solidFill>
              <a:srgbClr val="E8EEF7"/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100" b="1" dirty="0">
                  <a:solidFill>
                    <a:schemeClr val="bg2">
                      <a:lumMod val="25000"/>
                    </a:schemeClr>
                  </a:solidFill>
                </a:rPr>
                <a:t>IF EXECUTION =  TRUE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8DAD830-BB30-3A10-C586-F93A8FD3A42F}"/>
                </a:ext>
              </a:extLst>
            </p:cNvPr>
            <p:cNvCxnSpPr>
              <a:cxnSpLocks/>
              <a:stCxn id="8" idx="2"/>
              <a:endCxn id="19" idx="0"/>
            </p:cNvCxnSpPr>
            <p:nvPr/>
          </p:nvCxnSpPr>
          <p:spPr bwMode="auto">
            <a:xfrm>
              <a:off x="3589338" y="4056063"/>
              <a:ext cx="0" cy="169862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D61A4DBD-3956-715A-3C4C-7138352C1D62}"/>
                </a:ext>
              </a:extLst>
            </p:cNvPr>
            <p:cNvCxnSpPr>
              <a:cxnSpLocks/>
              <a:stCxn id="19" idx="2"/>
              <a:endCxn id="9" idx="0"/>
            </p:cNvCxnSpPr>
            <p:nvPr/>
          </p:nvCxnSpPr>
          <p:spPr bwMode="auto">
            <a:xfrm>
              <a:off x="3589338" y="5057775"/>
              <a:ext cx="0" cy="212725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75CFED6-40EF-7245-2BD6-B7F3CA1C5F70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 bwMode="auto">
            <a:xfrm>
              <a:off x="3589338" y="5649913"/>
              <a:ext cx="7937" cy="195262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834F03C-7D33-A5B1-468E-AD537ACDC831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 bwMode="auto">
            <a:xfrm flipH="1">
              <a:off x="6877050" y="5834063"/>
              <a:ext cx="1588" cy="322262"/>
            </a:xfrm>
            <a:prstGeom prst="straightConnector1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85">
              <a:extLst>
                <a:ext uri="{FF2B5EF4-FFF2-40B4-BE49-F238E27FC236}">
                  <a16:creationId xmlns:a16="http://schemas.microsoft.com/office/drawing/2014/main" id="{48188ED8-D758-E60F-A573-90009912D621}"/>
                </a:ext>
              </a:extLst>
            </p:cNvPr>
            <p:cNvCxnSpPr>
              <a:cxnSpLocks/>
              <a:stCxn id="8" idx="3"/>
              <a:endCxn id="11" idx="0"/>
            </p:cNvCxnSpPr>
            <p:nvPr/>
          </p:nvCxnSpPr>
          <p:spPr bwMode="auto">
            <a:xfrm>
              <a:off x="4678363" y="3711575"/>
              <a:ext cx="2200275" cy="1743075"/>
            </a:xfrm>
            <a:prstGeom prst="bentConnector2">
              <a:avLst/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87">
              <a:extLst>
                <a:ext uri="{FF2B5EF4-FFF2-40B4-BE49-F238E27FC236}">
                  <a16:creationId xmlns:a16="http://schemas.microsoft.com/office/drawing/2014/main" id="{F85B1CB8-B204-78A0-DFC4-21DD577C2B16}"/>
                </a:ext>
              </a:extLst>
            </p:cNvPr>
            <p:cNvCxnSpPr>
              <a:cxnSpLocks/>
              <a:stCxn id="19" idx="3"/>
            </p:cNvCxnSpPr>
            <p:nvPr/>
          </p:nvCxnSpPr>
          <p:spPr bwMode="auto">
            <a:xfrm flipH="1">
              <a:off x="3592513" y="4641850"/>
              <a:ext cx="1085850" cy="1795463"/>
            </a:xfrm>
            <a:prstGeom prst="bentConnector4">
              <a:avLst>
                <a:gd name="adj1" fmla="val -104211"/>
                <a:gd name="adj2" fmla="val 100344"/>
              </a:avLst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: Elbow 89">
              <a:extLst>
                <a:ext uri="{FF2B5EF4-FFF2-40B4-BE49-F238E27FC236}">
                  <a16:creationId xmlns:a16="http://schemas.microsoft.com/office/drawing/2014/main" id="{D05B861B-DD5F-0D3A-8C4D-DB045A5983A8}"/>
                </a:ext>
              </a:extLst>
            </p:cNvPr>
            <p:cNvCxnSpPr>
              <a:cxnSpLocks/>
              <a:stCxn id="10" idx="2"/>
            </p:cNvCxnSpPr>
            <p:nvPr/>
          </p:nvCxnSpPr>
          <p:spPr bwMode="auto">
            <a:xfrm rot="5400000" flipH="1">
              <a:off x="1732757" y="4342606"/>
              <a:ext cx="3721100" cy="7937"/>
            </a:xfrm>
            <a:prstGeom prst="bentConnector5">
              <a:avLst>
                <a:gd name="adj1" fmla="val -6659"/>
                <a:gd name="adj2" fmla="val 33321310"/>
                <a:gd name="adj3" fmla="val 100221"/>
              </a:avLst>
            </a:prstGeom>
            <a:ln w="1270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2FF1723-75C6-FBAD-2A6C-E81BA2B415F3}"/>
              </a:ext>
            </a:extLst>
          </p:cNvPr>
          <p:cNvSpPr txBox="1"/>
          <p:nvPr/>
        </p:nvSpPr>
        <p:spPr>
          <a:xfrm>
            <a:off x="1171721" y="788239"/>
            <a:ext cx="922840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>
              <a:defRPr/>
            </a:pPr>
            <a:r>
              <a:rPr lang="en-US" alt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Test  Execution Flow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1400" dirty="0">
                <a:latin typeface="+mn-lt"/>
                <a:cs typeface="Arial" panose="020B0604020202020204" pitchFamily="34" charset="0"/>
              </a:rPr>
              <a:t>LOOP through all TestCases  ID’s Updated in ‘STATION GLOBAL VARIABLE” one after another.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1400" dirty="0">
                <a:latin typeface="+mn-lt"/>
                <a:cs typeface="Arial" panose="020B0604020202020204" pitchFamily="34" charset="0"/>
              </a:rPr>
              <a:t>EXECUTE Testcase sequence file in TestStand Main Sequence  as per the EXECUTE selection  parameter.</a:t>
            </a:r>
          </a:p>
          <a:p>
            <a:pPr marL="742950" lvl="1" indent="-285750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en-US" sz="1400" dirty="0">
                <a:latin typeface="+mn-lt"/>
                <a:cs typeface="Arial" panose="020B0604020202020204" pitchFamily="34" charset="0"/>
              </a:rPr>
              <a:t>Test Cases are executed, and Reports  are generated as shown  in the below flow diagram</a:t>
            </a:r>
            <a:endParaRPr lang="en-US" altLang="en-US" sz="1800" dirty="0">
              <a:latin typeface="+mn-lt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7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Times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2025-10-14T11:26:18Z</dcterms:created>
  <dcterms:modified xsi:type="dcterms:W3CDTF">2025-10-14T11:27:16Z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2025-10-14T11:26:54Z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3849a08b-7763-426f-896c-1c80366362e2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