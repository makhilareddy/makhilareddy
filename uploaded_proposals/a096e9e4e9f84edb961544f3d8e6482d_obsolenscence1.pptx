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E8A3-16AD-F40B-3522-36E4FF49A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DD968-9B88-AA57-38BF-8B7721989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3AE3-F857-AF9F-A5A2-CF4D6AD0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FF979-6CE8-8927-94D0-90509A61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72DF-FD51-9E5A-7B1C-8AE46331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64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3A592-1E31-F22B-1563-0361EA2FB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C343A-9E25-5D36-FA17-E1B754500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1CC3B-1F23-056B-FD77-8FF7E161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9AD03-B202-81C3-CDD3-AEEE3C3B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B8D67-8974-7DAB-3DBA-0F1298F1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1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92E4-EDF5-1138-819C-2E1602D8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CE4F2-F1CE-59E0-5188-648C47CEE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9ACCE-D0EA-E42B-5F2D-3EE201A6E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77470-2790-604F-B31D-2EB138C6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839B-060A-5BA2-F7AE-54987D27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025B-D09E-834E-8D63-FCAAD6B6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EC985-DF15-85BC-A7DE-98CF5C3C9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0291D-7FBE-0C00-3F3E-4D3741585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A7B29-6350-15FC-DD8A-C8149ED7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F9688-B7C9-9C01-F50F-7EDDCC5D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26690-E101-FD16-D066-C00B6E61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1579-84CE-1962-FE67-673C795F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5B1D8-B346-0358-5296-45FFEBFFA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3BCBC-C42B-9642-87AF-DED87E6B4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D519C-D733-B29B-22ED-3A52BCCE8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AD5B0-C83E-485A-7193-02DE99DCC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0ADDE-0A42-5911-39C3-0AA90A69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D9E96-6543-8858-E497-9EFC17A7C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D17CF-C00F-2115-921A-1F61A7EC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6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C16F-6241-B173-7690-6080E6A8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4FC85-B039-BFA4-7C84-D15754CB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3606A-FBF8-D348-C43C-92BEB3E7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A73DD-BD8D-C7FE-FA08-08993B95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5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99B6C4-ABAE-66A2-421F-152F8A9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59D218-34FE-670B-D1DD-3F6063E3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CC6AA-C988-6D66-991E-68798EBB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0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9BFE-59DC-2306-D2A5-7C5B743BF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CF73E-A0C9-5532-B439-2156F1BC4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7DB95-9704-4290-38A3-58A38B896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85D65-5BD0-2F6C-C34D-5BB6DADE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2F724-1942-2F11-D876-E14D206F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02514-22F9-0BBA-A764-138417CE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6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0D8D-DECE-4379-A260-F2F665E0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6A8AE-8339-80FF-8925-62A3A77E9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6701A-C63B-6673-2A5E-C09BF90F4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8DDD0-BEEA-6F71-AE78-3020F851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2199A-B473-C882-838F-2278E614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CA0EA-10A1-DA26-C57F-B53DFD57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7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8342-11AF-18CC-459C-17D413E9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BE779-99BA-B257-662D-CE1189E5A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28845-29A2-D046-BA7C-94266FD9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AE2C7-B3FE-82DB-0E75-59DC1600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20AD5-8296-6B13-4A30-F0FA153F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3294D-C4E1-0769-0037-D1A02048B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EE7ED-9E6B-C2CC-B83A-7F8086864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ADD14-7AD3-8334-C0DE-E9B8E465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C5B11-F6FC-E37C-2DC0-CA94C048C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AF951-59DE-BA9B-2B85-FE8CB8D5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6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C5D5F-A448-D9D1-BFD3-08C0B55B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496AC-1132-FAB3-92E6-E6538FD6A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79135-5B4F-D7B7-569A-71F8ADBC3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524CF-F4F5-46E2-8CFB-8799D89FF42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16FDA-FEC4-97A1-FC21-D802B0994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9C71-BFAB-9DC6-D0BC-923A37103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4CD6B-742C-460A-9C86-4CEE2D98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9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17372B2D-EF33-0565-6B38-CA30E77044E9}"/>
              </a:ext>
            </a:extLst>
          </p:cNvPr>
          <p:cNvSpPr txBox="1">
            <a:spLocks/>
          </p:cNvSpPr>
          <p:nvPr/>
        </p:nvSpPr>
        <p:spPr>
          <a:xfrm>
            <a:off x="164592" y="244363"/>
            <a:ext cx="5704331" cy="908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Obsolescence</a:t>
            </a:r>
            <a:r>
              <a:rPr lang="en-US" altLang="en-US" sz="2600" dirty="0"/>
              <a:t>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60A88-CE91-5FC5-3D81-F6512D2CD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087" y="719173"/>
            <a:ext cx="2790168" cy="2768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B64934-0E66-DB86-C17A-7EAF21629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044" y="719175"/>
            <a:ext cx="2899512" cy="2768006"/>
          </a:xfrm>
          <a:prstGeom prst="rect">
            <a:avLst/>
          </a:prstGeom>
        </p:spPr>
      </p:pic>
      <p:sp>
        <p:nvSpPr>
          <p:cNvPr id="7" name="Google Shape;343;p58">
            <a:extLst>
              <a:ext uri="{FF2B5EF4-FFF2-40B4-BE49-F238E27FC236}">
                <a16:creationId xmlns:a16="http://schemas.microsoft.com/office/drawing/2014/main" id="{24B00644-4DB7-16B7-E81E-D5A015E4545E}"/>
              </a:ext>
            </a:extLst>
          </p:cNvPr>
          <p:cNvSpPr txBox="1">
            <a:spLocks/>
          </p:cNvSpPr>
          <p:nvPr/>
        </p:nvSpPr>
        <p:spPr>
          <a:xfrm>
            <a:off x="920050" y="1100054"/>
            <a:ext cx="3459926" cy="1331624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290513" indent="-290513" eaLnBrk="1" hangingPunct="1">
              <a:buClr>
                <a:srgbClr val="A7A9AC"/>
              </a:buClr>
              <a:buSzPct val="120000"/>
              <a:buFont typeface="Wingdings" pitchFamily="2" charset="2"/>
              <a:buChar char="§"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defRPr>
            </a:lvl1pPr>
            <a:lvl2pPr marL="285750" indent="-285750" eaLnBrk="1" hangingPunct="1">
              <a:buClr>
                <a:schemeClr val="bg2"/>
              </a:buClr>
              <a:buSzPct val="100000"/>
              <a:buFont typeface="Wingdings" pitchFamily="2" charset="2"/>
              <a:buChar char="§"/>
              <a:defRPr>
                <a:latin typeface="+mn-lt"/>
              </a:defRPr>
            </a:lvl2pPr>
            <a:lvl3pPr marL="571500" indent="-279400" eaLnBrk="1" hangingPunct="1">
              <a:buClr>
                <a:schemeClr val="bg2"/>
              </a:buClr>
              <a:buSzPct val="90000"/>
              <a:buFont typeface="Arial" charset="0"/>
              <a:buChar char="–"/>
              <a:defRPr>
                <a:latin typeface="Arial" pitchFamily="34" charset="0"/>
                <a:cs typeface="Arial" pitchFamily="34" charset="0"/>
              </a:defRPr>
            </a:lvl3pPr>
            <a:lvl4pPr marL="850900" indent="-279400" eaLnBrk="1" hangingPunct="1">
              <a:buClr>
                <a:schemeClr val="bg2"/>
              </a:buClr>
              <a:buSzPct val="80000"/>
              <a:buFont typeface="Wingdings" pitchFamily="2" charset="2"/>
              <a:buChar char="§"/>
              <a:defRPr>
                <a:latin typeface="Arial" pitchFamily="34" charset="0"/>
              </a:defRPr>
            </a:lvl4pPr>
            <a:lvl5pPr marL="1136650" indent="-285750" defTabSz="933450" eaLnBrk="1" hangingPunct="1">
              <a:buClr>
                <a:schemeClr val="bg2"/>
              </a:buClr>
              <a:buSzPct val="70000"/>
              <a:buFont typeface="Arial" charset="0"/>
              <a:buChar char="–"/>
              <a:defRPr>
                <a:latin typeface="Arial" pitchFamily="34" charset="0"/>
              </a:defRPr>
            </a:lvl5pPr>
            <a:lvl6pPr marL="1371600" indent="-24130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>
                <a:latin typeface="Arial" pitchFamily="34" charset="0"/>
                <a:cs typeface="+mn-cs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  <a:p>
            <a:pPr marL="0" indent="0">
              <a:buNone/>
            </a:pPr>
            <a:endParaRPr lang="en-GB" sz="1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the</a:t>
            </a:r>
          </a:p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Drop-in replacement parts</a:t>
            </a:r>
          </a:p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equivalent parts</a:t>
            </a:r>
          </a:p>
          <a:p>
            <a:r>
              <a:rPr lang="en-GB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Alternate parts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50DD841-8FAF-840D-EFF9-3E8BECB06B3B}"/>
              </a:ext>
            </a:extLst>
          </p:cNvPr>
          <p:cNvSpPr txBox="1">
            <a:spLocks/>
          </p:cNvSpPr>
          <p:nvPr/>
        </p:nvSpPr>
        <p:spPr>
          <a:xfrm>
            <a:off x="859316" y="2847192"/>
            <a:ext cx="4204047" cy="25255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A7A9AC"/>
              </a:buClr>
              <a:buSzPct val="120000"/>
            </a:pPr>
            <a:r>
              <a:rPr lang="en-US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Considerations while selection of Alternate</a:t>
            </a:r>
          </a:p>
          <a:p>
            <a:pPr marL="290513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endParaRPr lang="en-US" sz="1600" dirty="0">
              <a:solidFill>
                <a:srgbClr val="E3183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Circuit Complexity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Electrical parameters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Manufacturers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 Parameters (Dimensions, Package, Weight. </a:t>
            </a:r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 parameters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Compliances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 term Availability/End Of Life Lead Time 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 Time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</a:p>
          <a:p>
            <a:pPr marL="290513" indent="-290513" algn="l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Supplier details</a:t>
            </a:r>
          </a:p>
          <a:p>
            <a:pPr defTabSz="1097236"/>
            <a:endParaRPr lang="en-US" altLang="en-US" sz="1400" kern="0" dirty="0">
              <a:solidFill>
                <a:srgbClr val="6D6E7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4C44EE2-593E-0D7A-F697-D13D9FE34197}"/>
              </a:ext>
            </a:extLst>
          </p:cNvPr>
          <p:cNvSpPr txBox="1">
            <a:spLocks/>
          </p:cNvSpPr>
          <p:nvPr/>
        </p:nvSpPr>
        <p:spPr>
          <a:xfrm>
            <a:off x="825154" y="5289161"/>
            <a:ext cx="5332774" cy="14225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</a:pPr>
            <a:r>
              <a:rPr lang="en-US" sz="16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Challenges</a:t>
            </a: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Identifying components available with the required features.</a:t>
            </a: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Analysis of the components and identifying best match with respect to features and modifications needed for H/W and F/W.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19938DB-22CB-0F2A-0726-00BEE363B3A7}"/>
              </a:ext>
            </a:extLst>
          </p:cNvPr>
          <p:cNvSpPr txBox="1">
            <a:spLocks/>
          </p:cNvSpPr>
          <p:nvPr/>
        </p:nvSpPr>
        <p:spPr>
          <a:xfrm>
            <a:off x="6446932" y="3602735"/>
            <a:ext cx="4991845" cy="29169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A7A9AC"/>
              </a:buClr>
              <a:buSzPct val="120000"/>
            </a:pPr>
            <a:endParaRPr lang="en-US" sz="1800" dirty="0">
              <a:solidFill>
                <a:srgbClr val="E3183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A7A9AC"/>
              </a:buClr>
              <a:buSzPct val="120000"/>
            </a:pPr>
            <a:endParaRPr lang="en-US" sz="1800" dirty="0">
              <a:solidFill>
                <a:srgbClr val="E3183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A7A9AC"/>
              </a:buClr>
              <a:buSzPct val="120000"/>
            </a:pPr>
            <a:r>
              <a:rPr lang="en-US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Deliverables</a:t>
            </a: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Identified the Drop-in / Alternate parts for 40 type of components, which includes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Comparator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Op-Amp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Multiplexer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Shift Register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EEPROM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Regulators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Diodes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High Side Switch, Low Side Switch</a:t>
            </a:r>
          </a:p>
          <a:p>
            <a:pPr marL="7477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Current sensors, etc.</a:t>
            </a:r>
          </a:p>
          <a:p>
            <a:pPr marL="457200" lvl="2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1" indent="-171450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1D1528-4311-C9B8-D8C4-CBA7C4212C0B}"/>
              </a:ext>
            </a:extLst>
          </p:cNvPr>
          <p:cNvCxnSpPr>
            <a:cxnSpLocks/>
          </p:cNvCxnSpPr>
          <p:nvPr/>
        </p:nvCxnSpPr>
        <p:spPr>
          <a:xfrm>
            <a:off x="6525484" y="399928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ABB2A2-F2D5-E45D-F381-9A2D2D9825B6}"/>
              </a:ext>
            </a:extLst>
          </p:cNvPr>
          <p:cNvCxnSpPr>
            <a:cxnSpLocks/>
          </p:cNvCxnSpPr>
          <p:nvPr/>
        </p:nvCxnSpPr>
        <p:spPr>
          <a:xfrm>
            <a:off x="825154" y="1485306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726936-70F2-BE0C-11E8-6DDF950E3C12}"/>
              </a:ext>
            </a:extLst>
          </p:cNvPr>
          <p:cNvCxnSpPr>
            <a:cxnSpLocks/>
          </p:cNvCxnSpPr>
          <p:nvPr/>
        </p:nvCxnSpPr>
        <p:spPr>
          <a:xfrm>
            <a:off x="715221" y="2943598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A330D5-DC4C-97B7-B3A7-53DA7DF0A396}"/>
              </a:ext>
            </a:extLst>
          </p:cNvPr>
          <p:cNvCxnSpPr>
            <a:cxnSpLocks/>
          </p:cNvCxnSpPr>
          <p:nvPr/>
        </p:nvCxnSpPr>
        <p:spPr>
          <a:xfrm>
            <a:off x="926146" y="5801119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5C51B9-9ABC-FED7-88C0-CB148702CD02}"/>
              </a:ext>
            </a:extLst>
          </p:cNvPr>
          <p:cNvSpPr txBox="1"/>
          <p:nvPr/>
        </p:nvSpPr>
        <p:spPr>
          <a:xfrm>
            <a:off x="9630004" y="133325"/>
            <a:ext cx="1940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ECD</a:t>
            </a:r>
          </a:p>
        </p:txBody>
      </p:sp>
    </p:spTree>
    <p:extLst>
      <p:ext uri="{BB962C8B-B14F-4D97-AF65-F5344CB8AC3E}">
        <p14:creationId xmlns:p14="http://schemas.microsoft.com/office/powerpoint/2010/main" val="118329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2025-10-09T11:44:50Z</dcterms:created>
  <dcterms:modified xsi:type="dcterms:W3CDTF">2025-10-09T11:46:12Z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2025-10-09T11:46:12Z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b294a810-8476-448d-8413-11882eaec90d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