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</a:t>
            </a:r>
            <a:r>
              <a:rPr b="0" lang="en-IN" sz="4400" spc="-1" strike="noStrike">
                <a:latin typeface="Arial"/>
              </a:rPr>
              <a:t>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Aptos Display"/>
              </a:rPr>
              <a:t>VAVE</a:t>
            </a:r>
            <a:endParaRPr b="0" lang="en-IN" sz="6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"/>
          <p:cNvSpPr/>
          <p:nvPr/>
        </p:nvSpPr>
        <p:spPr>
          <a:xfrm>
            <a:off x="817560" y="512640"/>
            <a:ext cx="7736040" cy="52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2600" spc="-1" strike="noStrike">
                <a:solidFill>
                  <a:srgbClr val="787878"/>
                </a:solidFill>
                <a:latin typeface="Aptos"/>
                <a:ea typeface="DejaVu Sans"/>
              </a:rPr>
              <a:t>CM3620 I/O Controller – VAVE Analysis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78" name="CustomShape 2"/>
          <p:cNvSpPr/>
          <p:nvPr/>
        </p:nvSpPr>
        <p:spPr>
          <a:xfrm>
            <a:off x="1008000" y="1306800"/>
            <a:ext cx="5183640" cy="2121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e31837"/>
                </a:solidFill>
                <a:latin typeface="Calibri"/>
                <a:ea typeface="DejaVu Sans"/>
              </a:rPr>
              <a:t>Scope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To perform VAVE Analysis on the CM3620 I/O Controller. Existing Microcontroller is Obsolete and alternate controller to be identified. The Project has to go through entire VAVE cycle and Schedule and costing to be submitted for Re-Design with new microcontroller. </a:t>
            </a:r>
            <a:endParaRPr b="0" lang="en-IN" sz="1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The project scope included Electrical Cost Reduction, Mechanical Cost Reduction, Re-Design, Certification of the new design, Mechanical Enclosure Development and Firmware Development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</p:txBody>
      </p:sp>
      <p:sp>
        <p:nvSpPr>
          <p:cNvPr id="79" name="CustomShape 3"/>
          <p:cNvSpPr/>
          <p:nvPr/>
        </p:nvSpPr>
        <p:spPr>
          <a:xfrm>
            <a:off x="808920" y="3654000"/>
            <a:ext cx="4950720" cy="288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e31837"/>
                </a:solidFill>
                <a:latin typeface="Calibri"/>
                <a:ea typeface="DejaVu Sans"/>
              </a:rPr>
              <a:t>Tools / Techniques used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Silicon Expert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Q-STAR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Pugh Matrix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Pareto Analysis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Autodesk Inventor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Allegro Tools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Manuscript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IAR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Collaborator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Parker Coding standards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80" name="CustomShape 4"/>
          <p:cNvSpPr/>
          <p:nvPr/>
        </p:nvSpPr>
        <p:spPr>
          <a:xfrm>
            <a:off x="6181200" y="4608000"/>
            <a:ext cx="4906440" cy="209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85840" indent="-285120" algn="ctr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800" spc="-1" strike="noStrike">
                <a:solidFill>
                  <a:srgbClr val="e31837"/>
                </a:solidFill>
                <a:latin typeface="Calibri"/>
                <a:ea typeface="DejaVu Sans"/>
              </a:rPr>
              <a:t>Achievements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Listed 63 VAVE Ideas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Alternate Microcontroller identified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Cost Savings of $1 have been identified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Plastic Mechanical prototype has been built and shipped Parker for testing and evaluation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Schedule and Costing for the Re-Design Submitted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VAVE process has been defined and shared with Customer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EoL and Obsolescence check performed on the product Bill of Material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81" name="Line 5"/>
          <p:cNvSpPr/>
          <p:nvPr/>
        </p:nvSpPr>
        <p:spPr>
          <a:xfrm>
            <a:off x="6095880" y="4309200"/>
            <a:ext cx="4394880" cy="0"/>
          </a:xfrm>
          <a:prstGeom prst="line">
            <a:avLst/>
          </a:prstGeom>
          <a:ln>
            <a:solidFill>
              <a:srgbClr val="4ba629"/>
            </a:solidFill>
            <a:tailEnd len="med" type="oval" w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82" name="Line 6"/>
          <p:cNvSpPr/>
          <p:nvPr/>
        </p:nvSpPr>
        <p:spPr>
          <a:xfrm>
            <a:off x="981720" y="1658880"/>
            <a:ext cx="2804040" cy="0"/>
          </a:xfrm>
          <a:prstGeom prst="line">
            <a:avLst/>
          </a:prstGeom>
          <a:ln>
            <a:solidFill>
              <a:srgbClr val="4ba629"/>
            </a:solidFill>
            <a:tailEnd len="med" type="oval" w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83" name="Line 7"/>
          <p:cNvSpPr/>
          <p:nvPr/>
        </p:nvSpPr>
        <p:spPr>
          <a:xfrm>
            <a:off x="928440" y="3947040"/>
            <a:ext cx="3817080" cy="0"/>
          </a:xfrm>
          <a:prstGeom prst="line">
            <a:avLst/>
          </a:prstGeom>
          <a:ln>
            <a:solidFill>
              <a:srgbClr val="4ba629"/>
            </a:solidFill>
            <a:tailEnd len="med" type="oval" w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84" name="Picture 8" descr=""/>
          <p:cNvPicPr/>
          <p:nvPr/>
        </p:nvPicPr>
        <p:blipFill>
          <a:blip r:embed="rId1"/>
          <a:stretch/>
        </p:blipFill>
        <p:spPr>
          <a:xfrm>
            <a:off x="6807960" y="1225080"/>
            <a:ext cx="1745640" cy="1065960"/>
          </a:xfrm>
          <a:prstGeom prst="rect">
            <a:avLst/>
          </a:prstGeom>
          <a:ln>
            <a:noFill/>
          </a:ln>
        </p:spPr>
      </p:pic>
      <p:pic>
        <p:nvPicPr>
          <p:cNvPr id="85" name="Picture 9" descr=""/>
          <p:cNvPicPr/>
          <p:nvPr/>
        </p:nvPicPr>
        <p:blipFill>
          <a:blip r:embed="rId2"/>
          <a:stretch/>
        </p:blipFill>
        <p:spPr>
          <a:xfrm>
            <a:off x="9012960" y="2495160"/>
            <a:ext cx="1662840" cy="1158120"/>
          </a:xfrm>
          <a:prstGeom prst="rect">
            <a:avLst/>
          </a:prstGeom>
          <a:ln>
            <a:noFill/>
          </a:ln>
        </p:spPr>
      </p:pic>
      <p:pic>
        <p:nvPicPr>
          <p:cNvPr id="86" name="Picture 10" descr=""/>
          <p:cNvPicPr/>
          <p:nvPr/>
        </p:nvPicPr>
        <p:blipFill>
          <a:blip r:embed="rId3"/>
          <a:stretch/>
        </p:blipFill>
        <p:spPr>
          <a:xfrm>
            <a:off x="6585840" y="2363400"/>
            <a:ext cx="2189880" cy="1421640"/>
          </a:xfrm>
          <a:prstGeom prst="rect">
            <a:avLst/>
          </a:prstGeom>
          <a:ln>
            <a:noFill/>
          </a:ln>
        </p:spPr>
      </p:pic>
      <p:pic>
        <p:nvPicPr>
          <p:cNvPr id="87" name="Picture 11" descr=""/>
          <p:cNvPicPr/>
          <p:nvPr/>
        </p:nvPicPr>
        <p:blipFill>
          <a:blip r:embed="rId4"/>
          <a:stretch/>
        </p:blipFill>
        <p:spPr>
          <a:xfrm>
            <a:off x="8732160" y="1225080"/>
            <a:ext cx="1944000" cy="1193040"/>
          </a:xfrm>
          <a:prstGeom prst="rect">
            <a:avLst/>
          </a:prstGeom>
          <a:ln>
            <a:noFill/>
          </a:ln>
        </p:spPr>
      </p:pic>
      <p:sp>
        <p:nvSpPr>
          <p:cNvPr id="88" name="CustomShape 8"/>
          <p:cNvSpPr/>
          <p:nvPr/>
        </p:nvSpPr>
        <p:spPr>
          <a:xfrm>
            <a:off x="9630000" y="133200"/>
            <a:ext cx="194004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e51736"/>
                </a:solidFill>
                <a:latin typeface="Aptos"/>
                <a:ea typeface="DejaVu Sans"/>
              </a:rPr>
              <a:t>Division: ECD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817560" y="512640"/>
            <a:ext cx="7736040" cy="52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2600" spc="-1" strike="noStrike">
                <a:solidFill>
                  <a:srgbClr val="787878"/>
                </a:solidFill>
                <a:latin typeface="Aptos"/>
                <a:ea typeface="DejaVu Sans"/>
              </a:rPr>
              <a:t>CM2723 I/O Controller – VAVE Analysis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922680" y="1306800"/>
            <a:ext cx="4619160" cy="251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e31837"/>
                </a:solidFill>
                <a:latin typeface="Calibri"/>
                <a:ea typeface="DejaVu Sans"/>
              </a:rPr>
              <a:t>Scope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 marL="290520" indent="-289800" algn="just">
              <a:lnSpc>
                <a:spcPct val="100000"/>
              </a:lnSpc>
              <a:buClr>
                <a:srgbClr val="0e2841"/>
              </a:buClr>
              <a:buSzPct val="120000"/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To perform VAVE Analysis on the CM2723 I/O Controller. The Project has to go through entire VAVE cycle.  The scope of the project includes:</a:t>
            </a:r>
            <a:endParaRPr b="0" lang="en-IN" sz="1400" spc="-1" strike="noStrike">
              <a:latin typeface="Arial"/>
            </a:endParaRPr>
          </a:p>
          <a:p>
            <a:pPr marL="290520" indent="-289800" algn="just">
              <a:lnSpc>
                <a:spcPct val="100000"/>
              </a:lnSpc>
              <a:buClr>
                <a:srgbClr val="0e2841"/>
              </a:buClr>
              <a:buSzPct val="120000"/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Electrical Cost Reduction Analysis </a:t>
            </a:r>
            <a:endParaRPr b="0" lang="en-IN" sz="1400" spc="-1" strike="noStrike">
              <a:latin typeface="Arial"/>
            </a:endParaRPr>
          </a:p>
          <a:p>
            <a:pPr marL="290520" indent="-289800" algn="just">
              <a:lnSpc>
                <a:spcPct val="100000"/>
              </a:lnSpc>
              <a:buClr>
                <a:srgbClr val="0e2841"/>
              </a:buClr>
              <a:buSzPct val="120000"/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Competitor product Analysis</a:t>
            </a:r>
            <a:endParaRPr b="0" lang="en-IN" sz="1400" spc="-1" strike="noStrike">
              <a:latin typeface="Arial"/>
            </a:endParaRPr>
          </a:p>
          <a:p>
            <a:pPr marL="290520" indent="-289800" algn="just">
              <a:lnSpc>
                <a:spcPct val="100000"/>
              </a:lnSpc>
              <a:buClr>
                <a:srgbClr val="0e2841"/>
              </a:buClr>
              <a:buSzPct val="120000"/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Reverse Engineering</a:t>
            </a:r>
            <a:endParaRPr b="0" lang="en-IN" sz="1400" spc="-1" strike="noStrike">
              <a:latin typeface="Arial"/>
            </a:endParaRPr>
          </a:p>
          <a:p>
            <a:pPr marL="290520" indent="-289800" algn="just">
              <a:lnSpc>
                <a:spcPct val="100000"/>
              </a:lnSpc>
              <a:buClr>
                <a:srgbClr val="0e2841"/>
              </a:buClr>
              <a:buSzPct val="120000"/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BoM of Competitor Product</a:t>
            </a:r>
            <a:endParaRPr b="0" lang="en-IN" sz="1400" spc="-1" strike="noStrike">
              <a:latin typeface="Arial"/>
            </a:endParaRPr>
          </a:p>
          <a:p>
            <a:pPr marL="290520" indent="-289800" algn="just">
              <a:lnSpc>
                <a:spcPct val="100000"/>
              </a:lnSpc>
              <a:buClr>
                <a:srgbClr val="0e2841"/>
              </a:buClr>
              <a:buSzPct val="120000"/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Comparison with the Parker Product</a:t>
            </a:r>
            <a:endParaRPr b="0" lang="en-IN" sz="14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720000" y="3456000"/>
            <a:ext cx="5183640" cy="333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e31837"/>
                </a:solidFill>
                <a:latin typeface="Calibri"/>
                <a:ea typeface="DejaVu Sans"/>
              </a:rPr>
              <a:t>Tools / Techniques used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Silicon Expert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Q-STAR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Pugh Matrix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Pareto Analysis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Manuscript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2" name="CustomShape 4"/>
          <p:cNvSpPr/>
          <p:nvPr/>
        </p:nvSpPr>
        <p:spPr>
          <a:xfrm>
            <a:off x="5616000" y="4680000"/>
            <a:ext cx="5975640" cy="1746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e31837"/>
                </a:solidFill>
                <a:latin typeface="Calibri"/>
                <a:ea typeface="DejaVu Sans"/>
              </a:rPr>
              <a:t>Achievements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Listed 49 VAVE Ideas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Cost Savings of $7 have been identified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Competitor product Technical approach compared with the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Parker approach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Suggested different power topology approach to reduce costing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EoL and Obsolescence check performed on the product Bill of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Material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Schematics modified with the proposed Cost Reduction changes</a:t>
            </a:r>
            <a:endParaRPr b="0" lang="en-IN" sz="1400" spc="-1" strike="noStrike">
              <a:latin typeface="Arial"/>
            </a:endParaRPr>
          </a:p>
          <a:p>
            <a:pPr lvl="2" marL="290520" indent="-289800">
              <a:lnSpc>
                <a:spcPct val="100000"/>
              </a:lnSpc>
              <a:buClr>
                <a:srgbClr val="a7a9ac"/>
              </a:buClr>
              <a:buSzPct val="120000"/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and submitted to Parker</a:t>
            </a:r>
            <a:endParaRPr b="0" lang="en-IN" sz="1400" spc="-1" strike="noStrike">
              <a:latin typeface="Arial"/>
            </a:endParaRPr>
          </a:p>
          <a:p>
            <a:pPr marL="290520" indent="-289800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 marL="290520" indent="-289800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93" name="Line 5"/>
          <p:cNvSpPr/>
          <p:nvPr/>
        </p:nvSpPr>
        <p:spPr>
          <a:xfrm>
            <a:off x="6408000" y="4248000"/>
            <a:ext cx="4104000" cy="0"/>
          </a:xfrm>
          <a:prstGeom prst="line">
            <a:avLst/>
          </a:prstGeom>
          <a:ln>
            <a:solidFill>
              <a:srgbClr val="4ba629"/>
            </a:solidFill>
            <a:tailEnd len="med" type="oval" w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94" name="Line 6"/>
          <p:cNvSpPr/>
          <p:nvPr/>
        </p:nvSpPr>
        <p:spPr>
          <a:xfrm>
            <a:off x="981720" y="1658880"/>
            <a:ext cx="2804040" cy="0"/>
          </a:xfrm>
          <a:prstGeom prst="line">
            <a:avLst/>
          </a:prstGeom>
          <a:ln>
            <a:solidFill>
              <a:srgbClr val="4ba629"/>
            </a:solidFill>
            <a:tailEnd len="med" type="oval" w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sp>
        <p:nvSpPr>
          <p:cNvPr id="95" name="Line 7"/>
          <p:cNvSpPr/>
          <p:nvPr/>
        </p:nvSpPr>
        <p:spPr>
          <a:xfrm>
            <a:off x="720000" y="4608000"/>
            <a:ext cx="4758480" cy="4680"/>
          </a:xfrm>
          <a:prstGeom prst="line">
            <a:avLst/>
          </a:prstGeom>
          <a:ln>
            <a:solidFill>
              <a:srgbClr val="4ba629"/>
            </a:solidFill>
            <a:tailEnd len="med" type="oval" w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96" name="Picture 43" descr=""/>
          <p:cNvPicPr/>
          <p:nvPr/>
        </p:nvPicPr>
        <p:blipFill>
          <a:blip r:embed="rId1"/>
          <a:stretch/>
        </p:blipFill>
        <p:spPr>
          <a:xfrm>
            <a:off x="6792120" y="1038960"/>
            <a:ext cx="1761480" cy="1240560"/>
          </a:xfrm>
          <a:prstGeom prst="rect">
            <a:avLst/>
          </a:prstGeom>
          <a:ln>
            <a:noFill/>
          </a:ln>
        </p:spPr>
      </p:pic>
      <p:pic>
        <p:nvPicPr>
          <p:cNvPr id="97" name="Picture 44" descr=""/>
          <p:cNvPicPr/>
          <p:nvPr/>
        </p:nvPicPr>
        <p:blipFill>
          <a:blip r:embed="rId2"/>
          <a:stretch/>
        </p:blipFill>
        <p:spPr>
          <a:xfrm>
            <a:off x="8851320" y="1173240"/>
            <a:ext cx="1917000" cy="1370880"/>
          </a:xfrm>
          <a:prstGeom prst="rect">
            <a:avLst/>
          </a:prstGeom>
          <a:ln>
            <a:noFill/>
          </a:ln>
        </p:spPr>
      </p:pic>
      <p:pic>
        <p:nvPicPr>
          <p:cNvPr id="98" name="Picture 45" descr=""/>
          <p:cNvPicPr/>
          <p:nvPr/>
        </p:nvPicPr>
        <p:blipFill>
          <a:blip r:embed="rId3"/>
          <a:stretch/>
        </p:blipFill>
        <p:spPr>
          <a:xfrm>
            <a:off x="8966880" y="2642760"/>
            <a:ext cx="1732680" cy="1174680"/>
          </a:xfrm>
          <a:prstGeom prst="rect">
            <a:avLst/>
          </a:prstGeom>
          <a:ln>
            <a:noFill/>
          </a:ln>
        </p:spPr>
      </p:pic>
      <p:pic>
        <p:nvPicPr>
          <p:cNvPr id="99" name="Picture 46" descr=""/>
          <p:cNvPicPr/>
          <p:nvPr/>
        </p:nvPicPr>
        <p:blipFill>
          <a:blip r:embed="rId4"/>
          <a:stretch/>
        </p:blipFill>
        <p:spPr>
          <a:xfrm>
            <a:off x="6792120" y="2280600"/>
            <a:ext cx="1929600" cy="1449360"/>
          </a:xfrm>
          <a:prstGeom prst="rect">
            <a:avLst/>
          </a:prstGeom>
          <a:ln>
            <a:noFill/>
          </a:ln>
        </p:spPr>
      </p:pic>
      <p:sp>
        <p:nvSpPr>
          <p:cNvPr id="100" name="CustomShape 8"/>
          <p:cNvSpPr/>
          <p:nvPr/>
        </p:nvSpPr>
        <p:spPr>
          <a:xfrm>
            <a:off x="9630000" y="133200"/>
            <a:ext cx="194004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e51736"/>
                </a:solidFill>
                <a:latin typeface="Aptos"/>
                <a:ea typeface="DejaVu Sans"/>
              </a:rPr>
              <a:t>Division: ECD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LibreOffice/6.4.7.2$Linux_X86_64 LibreOffice_project/40$Build-2</Application>
  <Words>285</Words>
  <Paragraphs>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2025-10-09T07:14:38Z</dcterms:created>
  <dc:creator>Maddikunta Akhila</dc:creator>
  <dc:description/>
  <dc:language>en-IN</dc:language>
  <cp:lastModifiedBy/>
  <dcterms:modified xsi:type="dcterms:W3CDTF">2025-10-09T14:09:57Z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MSIP_Label_7331f486-f8b5-456b-a19a-dbe0d296c5fd_ActionId">
    <vt:lpwstr>d5794387-5071-4dd4-913e-0926382426d6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Enabled">
    <vt:lpwstr>true</vt:lpwstr>
  </property>
  <property fmtid="{D5CDD505-2E9C-101B-9397-08002B2CF9AE}" pid="10" name="MSIP_Label_7331f486-f8b5-456b-a19a-dbe0d296c5fd_Method">
    <vt:lpwstr>Privileged</vt:lpwstr>
  </property>
  <property fmtid="{D5CDD505-2E9C-101B-9397-08002B2CF9AE}" pid="11" name="MSIP_Label_7331f486-f8b5-456b-a19a-dbe0d296c5fd_Name">
    <vt:lpwstr>Company Confidential Internal Use</vt:lpwstr>
  </property>
  <property fmtid="{D5CDD505-2E9C-101B-9397-08002B2CF9AE}" pid="12" name="MSIP_Label_7331f486-f8b5-456b-a19a-dbe0d296c5fd_SetDate">
    <vt:lpwstr>2025-10-09T07:30:12Z</vt:lpwstr>
  </property>
  <property fmtid="{D5CDD505-2E9C-101B-9397-08002B2CF9AE}" pid="13" name="MSIP_Label_7331f486-f8b5-456b-a19a-dbe0d296c5fd_SiteId">
    <vt:lpwstr>edf442f5-b994-4c86-a131-b42b03a16c95</vt:lpwstr>
  </property>
  <property fmtid="{D5CDD505-2E9C-101B-9397-08002B2CF9AE}" pid="14" name="MSIP_Label_7331f486-f8b5-456b-a19a-dbe0d296c5fd_Tag">
    <vt:lpwstr>10, 0, 1, 1</vt:lpwstr>
  </property>
  <property fmtid="{D5CDD505-2E9C-101B-9397-08002B2CF9AE}" pid="15" name="Notes">
    <vt:i4>0</vt:i4>
  </property>
  <property fmtid="{D5CDD505-2E9C-101B-9397-08002B2CF9AE}" pid="16" name="PresentationFormat">
    <vt:lpwstr>Widescreen</vt:lpwstr>
  </property>
  <property fmtid="{D5CDD505-2E9C-101B-9397-08002B2CF9AE}" pid="17" name="ScaleCrop">
    <vt:bool>0</vt:bool>
  </property>
  <property fmtid="{D5CDD505-2E9C-101B-9397-08002B2CF9AE}" pid="18" name="ShareDoc">
    <vt:bool>0</vt:bool>
  </property>
  <property fmtid="{D5CDD505-2E9C-101B-9397-08002B2CF9AE}" pid="19" name="Slides">
    <vt:i4>3</vt:i4>
  </property>
</Properties>
</file>