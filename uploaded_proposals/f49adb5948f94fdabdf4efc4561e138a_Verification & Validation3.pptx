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29CB-5477-E298-073F-058BA0937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935FA-7888-8354-67B3-E674F6442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B9950-8911-59EE-A9B6-5A52C827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49412-5EF7-8C71-72A2-7106D530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83A54-E597-9C29-2511-36749B23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6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2320-8AAE-59E4-7EEC-C0E5573D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0992-8BCC-03E6-9817-CE075BCD4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62F7-7327-4CA5-82AB-028409F1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41D73-62AC-CA41-BB9A-5CC0722C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FE70C-C7C6-2BAB-21CC-0E58B769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1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BFBF-050A-B1E2-B4DC-1B81FD2C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B4AC-D352-DCDA-266B-0857D4CE6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16D7B-FFB1-B0CE-0637-AA6D5D48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BE419-4A33-6D1C-2E00-6F97D7C3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C23F-8AF3-F77F-7E19-B386F365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0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B51F-DEF5-A526-4A59-5EBC6CE9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3E68-63C1-182B-F75E-F0021F092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74EEC-3FA9-5BFE-645A-264E7F54F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3DD37-55A4-3070-ACE0-5E898325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EA097-49FD-0E2A-296B-C8C9429D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C82C9-DBEE-E568-0848-10657055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7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A580-4AB1-BDC4-37E3-0EDCDA4D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0A7C2-B650-5300-2D67-A14A4F483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C3912-177F-EECC-0316-654B4BEE0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CA696-EBCE-11D6-8AF7-1414CFA2E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E1A46-C4A1-10AF-A92B-50ADDE632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004B5-D975-9588-AC7E-25D56FD1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21656-9FF5-4951-9806-58FFA4651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8B6BE-9964-7176-0927-45F363F8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88B8-818E-B5AD-22C0-29343AA2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B8E7F-5499-2606-FBD6-FA48C7BF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2481C-3B03-52B4-99F9-9D788209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A5658-D4FC-B1B8-13EB-87B58000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6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0F924-1164-1531-BF4E-EC88F913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F5E50-FDE9-A4C4-DF62-E1500874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7FE16-CB7E-35DD-FE9A-D524AC66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E6BE-3840-B4D6-7680-4E31144E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A302-893C-4202-93F5-13D45D8C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AC9FD-0B57-F521-A07E-E7896864C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BE23-FA66-FA39-CAB6-3582E2AB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BAA54-8B32-7891-6F99-D90A9E48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4C5A1-F2A4-F02B-BCB1-45A28977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3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9155-E02F-CA4F-6E1D-C21B78BD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BCFC5-5F5F-ACB0-493A-E5AD51BD0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98C10-B247-4134-8026-83582E053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6D6D8-EF85-9757-EE40-A9C112E7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3734-DEB7-D4CC-2DE3-AEDB06EB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5B8BB-CABD-7ABD-8A66-3E15D2FA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7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657F-5F9D-54EE-EC5B-21638ACC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7D959-FB4C-CC34-3A7C-F8A9D375D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3014-7F31-4826-128E-40704163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C140-C204-BCAA-F182-F465FB4E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96252-E7FF-8A57-1FBD-0D38FC5C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7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1F80E7-9E11-2F55-7AA2-1CC33FD30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FF67C-2BE2-42BE-EF35-769090C23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6DB22-C1A4-4C2D-00CF-F1D9F74D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1DED3-7A27-7444-3386-4A90C027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C382A-A8CF-868A-0173-2924E079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BD298-69A5-6049-0411-BF2D7295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8D3D7-0393-DD6F-DE45-A3AFC45DD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9D99-09BF-EA2B-9FE3-3A7BAB665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43D27-32E7-4EA3-933B-5C85230303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B3B6-5B7F-965C-A84A-AF65A8FCF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FAEE9-2A11-CEF9-025E-61739F76E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040BF-56F2-460E-94BB-F4595AB0A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7EAF3C-AE39-8FCB-A8DE-AC3E3E56CBD5}"/>
              </a:ext>
            </a:extLst>
          </p:cNvPr>
          <p:cNvSpPr>
            <a:spLocks noGrp="1"/>
          </p:cNvSpPr>
          <p:nvPr/>
        </p:nvSpPr>
        <p:spPr>
          <a:xfrm>
            <a:off x="718427" y="311277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Automated Test Suite for Vehicle System Gateway - Regression Testing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3CB44-CE87-D91D-B1B3-71889F3C4DA8}"/>
              </a:ext>
            </a:extLst>
          </p:cNvPr>
          <p:cNvSpPr/>
          <p:nvPr/>
        </p:nvSpPr>
        <p:spPr>
          <a:xfrm>
            <a:off x="667645" y="1442600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8340C-6F75-6C60-906F-044A6B5C815B}"/>
              </a:ext>
            </a:extLst>
          </p:cNvPr>
          <p:cNvSpPr/>
          <p:nvPr/>
        </p:nvSpPr>
        <p:spPr>
          <a:xfrm>
            <a:off x="667645" y="1879624"/>
            <a:ext cx="4249577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The scope of the project was to perform Automation Testing (Verification &amp; Validation) of the VSG</a:t>
            </a:r>
            <a:r>
              <a:rPr lang="en-US" sz="1400" dirty="0">
                <a:latin typeface="+mn-lt"/>
              </a:rPr>
              <a:t> (Vehicle System Gateway)</a:t>
            </a: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 system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The scope also includes Automation of the test cases. Perform regression testing using the Automation methods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7D1D9-DC84-4494-9186-45F5DD6E2A2D}"/>
              </a:ext>
            </a:extLst>
          </p:cNvPr>
          <p:cNvSpPr/>
          <p:nvPr/>
        </p:nvSpPr>
        <p:spPr>
          <a:xfrm>
            <a:off x="3888455" y="3407670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Challenges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2783B-040E-EDDA-D5FC-ACAF102C3D2C}"/>
              </a:ext>
            </a:extLst>
          </p:cNvPr>
          <p:cNvSpPr/>
          <p:nvPr/>
        </p:nvSpPr>
        <p:spPr>
          <a:xfrm>
            <a:off x="3888455" y="3908029"/>
            <a:ext cx="346095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Execution of test cases at client location because of Latency issues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986ED-FB18-8B49-B264-F67AB5CEA00F}"/>
              </a:ext>
            </a:extLst>
          </p:cNvPr>
          <p:cNvSpPr/>
          <p:nvPr/>
        </p:nvSpPr>
        <p:spPr>
          <a:xfrm>
            <a:off x="7364173" y="3105599"/>
            <a:ext cx="103528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7EE7E-2016-8F59-4E30-5BAE8C15B5FE}"/>
              </a:ext>
            </a:extLst>
          </p:cNvPr>
          <p:cNvSpPr/>
          <p:nvPr/>
        </p:nvSpPr>
        <p:spPr>
          <a:xfrm>
            <a:off x="7711222" y="3512366"/>
            <a:ext cx="3444173" cy="28931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Automation Framework Development</a:t>
            </a:r>
          </a:p>
          <a:p>
            <a:pPr marL="0" lvl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endParaRPr lang="en-US" altLang="en-US" sz="1400" b="1" dirty="0">
              <a:solidFill>
                <a:prstClr val="black"/>
              </a:solidFill>
              <a:latin typeface="+mn-lt"/>
              <a:cs typeface="Arial" charset="0"/>
            </a:endParaRPr>
          </a:p>
          <a:p>
            <a:pPr marL="0" lvl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en-US" altLang="en-US" sz="1400" b="1" dirty="0">
                <a:solidFill>
                  <a:prstClr val="black"/>
                </a:solidFill>
                <a:latin typeface="+mn-lt"/>
                <a:cs typeface="Arial" charset="0"/>
              </a:rPr>
              <a:t>Automation and Reusability</a:t>
            </a:r>
          </a:p>
          <a:p>
            <a:pPr marL="0" lvl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endParaRPr lang="en-US" altLang="en-US" sz="1400" b="1" dirty="0">
              <a:solidFill>
                <a:prstClr val="black"/>
              </a:solidFill>
              <a:latin typeface="+mn-lt"/>
              <a:cs typeface="Arial" charset="0"/>
            </a:endParaRP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Total Automated test cases 107 out of 150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Percentage Automation ~ 71%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Time saving due to Automation ~ 85%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Reusability of LabVIEW Modules ~ 60%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Custom tools like </a:t>
            </a:r>
            <a:r>
              <a:rPr lang="en-US" altLang="en-US" sz="1400" dirty="0" err="1">
                <a:solidFill>
                  <a:prstClr val="black"/>
                </a:solidFill>
                <a:latin typeface="+mn-lt"/>
                <a:cs typeface="Arial" charset="0"/>
              </a:rPr>
              <a:t>CANSniff</a:t>
            </a: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, SIM Engine, Flash Loader, ECU Test and VMMS are integrated with LabVIEW and TestStand through Visual Studio CodedUI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1F292B-1C3F-5056-6B7A-FA8116B72292}"/>
              </a:ext>
            </a:extLst>
          </p:cNvPr>
          <p:cNvSpPr/>
          <p:nvPr/>
        </p:nvSpPr>
        <p:spPr>
          <a:xfrm>
            <a:off x="746302" y="341303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DEBB02-4DF6-5A3D-9F9F-3EE3B27A905E}"/>
              </a:ext>
            </a:extLst>
          </p:cNvPr>
          <p:cNvSpPr/>
          <p:nvPr/>
        </p:nvSpPr>
        <p:spPr>
          <a:xfrm>
            <a:off x="674580" y="3869067"/>
            <a:ext cx="3441281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LabVIEW and TestStand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NI XNET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NI Virtual Bench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Visual Studio CodedUI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 err="1">
                <a:solidFill>
                  <a:prstClr val="black"/>
                </a:solidFill>
                <a:latin typeface="+mn-lt"/>
                <a:cs typeface="Arial" charset="0"/>
              </a:rPr>
              <a:t>CANSniff</a:t>
            </a: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 and </a:t>
            </a:r>
            <a:r>
              <a:rPr lang="en-US" sz="1400" dirty="0" err="1">
                <a:solidFill>
                  <a:prstClr val="black"/>
                </a:solidFill>
                <a:latin typeface="+mn-lt"/>
                <a:cs typeface="Arial" charset="0"/>
              </a:rPr>
              <a:t>CANoe</a:t>
            </a:r>
            <a:endParaRPr lang="en-US" sz="1400" dirty="0">
              <a:solidFill>
                <a:prstClr val="black"/>
              </a:solidFill>
              <a:latin typeface="+mn-lt"/>
              <a:cs typeface="Arial" charset="0"/>
            </a:endParaRP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Phidgets Relay Board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ECU Test Tools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 err="1">
                <a:solidFill>
                  <a:prstClr val="black"/>
                </a:solidFill>
                <a:latin typeface="+mn-lt"/>
                <a:cs typeface="Arial" charset="0"/>
              </a:rPr>
              <a:t>FogBugZ</a:t>
            </a: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 and Manuscript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SIM Engine, Flash Loader</a:t>
            </a: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, ECU Test and VMMS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Doors</a:t>
            </a:r>
          </a:p>
          <a:p>
            <a:pPr marL="380990" indent="-38099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Python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AF65EC-B902-F584-9CFB-BD635B6C152F}"/>
              </a:ext>
            </a:extLst>
          </p:cNvPr>
          <p:cNvCxnSpPr/>
          <p:nvPr/>
        </p:nvCxnSpPr>
        <p:spPr>
          <a:xfrm flipV="1">
            <a:off x="765962" y="1817040"/>
            <a:ext cx="280416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E84F6E-583E-4264-DC50-70BFD77E9928}"/>
              </a:ext>
            </a:extLst>
          </p:cNvPr>
          <p:cNvCxnSpPr/>
          <p:nvPr/>
        </p:nvCxnSpPr>
        <p:spPr>
          <a:xfrm flipV="1">
            <a:off x="4006435" y="3830693"/>
            <a:ext cx="304800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C4CD75-49D1-D4D7-780E-22888D2936F2}"/>
              </a:ext>
            </a:extLst>
          </p:cNvPr>
          <p:cNvCxnSpPr/>
          <p:nvPr/>
        </p:nvCxnSpPr>
        <p:spPr>
          <a:xfrm>
            <a:off x="7327023" y="3510428"/>
            <a:ext cx="3828372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149DAC-B45E-4E7D-D6DB-76BD32DB375C}"/>
              </a:ext>
            </a:extLst>
          </p:cNvPr>
          <p:cNvCxnSpPr/>
          <p:nvPr/>
        </p:nvCxnSpPr>
        <p:spPr>
          <a:xfrm flipV="1">
            <a:off x="746301" y="3815807"/>
            <a:ext cx="280416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0319999-FFA9-F8AB-E173-C1A5B00CD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12" y="1443315"/>
            <a:ext cx="2534409" cy="172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B69124-51A7-06D8-DFDE-D44BC2396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455" y="1513345"/>
            <a:ext cx="3390900" cy="169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E9003EC-C977-8C9C-3A97-C4BD663DFCC0}"/>
              </a:ext>
            </a:extLst>
          </p:cNvPr>
          <p:cNvSpPr/>
          <p:nvPr/>
        </p:nvSpPr>
        <p:spPr>
          <a:xfrm>
            <a:off x="3890839" y="4500175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>
                <a:latin typeface="+mn-lt"/>
              </a:rPr>
              <a:t>Business Benefits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7B4B7D-85CF-3518-38EB-B827EDAD4339}"/>
              </a:ext>
            </a:extLst>
          </p:cNvPr>
          <p:cNvSpPr/>
          <p:nvPr/>
        </p:nvSpPr>
        <p:spPr>
          <a:xfrm>
            <a:off x="3890840" y="5000534"/>
            <a:ext cx="3460951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Cost per month saving due to automation of test cases - $4620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Hardware cost saving of ~$3K per test setup</a:t>
            </a:r>
          </a:p>
          <a:p>
            <a:pPr marL="380990" lvl="2" indent="-38099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Framework is reutilized in next projects like CODE – 1 and PHC – 1 thus reducing the development time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D321B4-79A7-F33F-DCB7-E017D78BEEAA}"/>
              </a:ext>
            </a:extLst>
          </p:cNvPr>
          <p:cNvCxnSpPr/>
          <p:nvPr/>
        </p:nvCxnSpPr>
        <p:spPr>
          <a:xfrm flipV="1">
            <a:off x="4008821" y="4923199"/>
            <a:ext cx="3048000" cy="0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2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2025-10-14T06:47:13Z</dcterms:created>
  <dcterms:modified xsi:type="dcterms:W3CDTF">2025-10-14T06:48:04Z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2025-10-14T06:48:04Z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6d3a2674-e58d-4fd6-8ed8-75bf40dafc0b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