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6B82-1EE8-2566-96CB-E9C88B017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02325-BC1D-B90F-F68F-DAFD778BA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EAD7E-CD58-631F-1514-260460E0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9DDA3-6D9A-0007-0DFE-1BAB0D22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F73F2-E212-CBA0-8663-6677D2D2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8FE67-F215-DD46-03A9-BB29052D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A9AD-C33A-FA71-6963-6E53306F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4764-DD14-FFD7-29FC-A006BCE2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019CD-96A9-B261-C1F6-6D1A197D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F346-63F1-E6C2-3F0D-3C98F101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5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6ADF-D623-648B-25EA-8C95BCC3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79ED5-3AC9-00DF-207C-D7FD80042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09C0E-245F-7448-8B55-9E0D1707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9D1C-DB2A-3DF0-AE76-3FCC0D07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BA3E-7AB3-BF96-1D3D-2A558FEA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5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E3C3-C298-2472-8EB5-D0399105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FF68A-D967-E867-1167-31594B9AC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25E4A-2B14-9DE3-1BCA-0420B3E3A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B5AB5-6CC6-6BB5-5038-B51625A33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01AB6-A641-3C3E-614A-132AB2A4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272A3-4230-3A2B-BEE4-FBB58C18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9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027E-4890-F89D-96E9-6B8C1441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CAA0D-5037-F497-B262-3BA1618CE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47835-3236-0EA2-4E22-C16C59B36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1215C-DD44-FF2C-0266-97C33BC5C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EACFF-9B38-7E7D-293A-EC47794E9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E44C6-4403-33BB-4C02-0B8B4CDC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6D968-DFFF-BD6F-C5BC-34B94C4E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6DA64-B7B3-7E2E-E3DA-CB3EA22C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87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7782A-1915-0E02-5308-8F656310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0723C-9B4F-C9A8-FAF9-9E8BD41C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79E1E-ECED-18AC-45C9-F0D1D0EA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41A4C-27E7-3CDD-6901-DBC27C52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7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4A379-AADF-94E1-776E-6E742CCC1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0E9DC-687A-2B17-325A-E3A21C9E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982E2-CCDD-1CBB-DA5A-54A816A7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8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1E0F-88F6-D981-B0AD-CEBCBCC2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9D260-DB6E-4B1B-91D9-986D4185E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C1F6A-1E9C-095F-D19A-02B18E59F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1E1AB-761B-8CB0-4039-550DFED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93AE8-A302-27D9-0259-76DBFDD9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4462F-1E8B-970C-FD43-5634FD76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1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EC2A-0A57-FAD4-BFD9-AE41E828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87D9E-E098-FFED-8E7D-8DE4F8B86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A551D-F4E3-02B6-4D3F-843D40563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EFBDF-DC06-2329-80B4-70C87941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2B3F-B6DA-7499-1B56-6E4B7A18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92E75-7637-49FB-DB74-F0D6B874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2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EEE9-7E49-ABAC-BC10-392F2BD4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E6165-9AC1-900A-B223-A1329CCD7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B5749-B0C9-90CE-CF45-6DF9CAF6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333E-CC0C-EDAE-8B97-B435800F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9A8E-9F5E-3758-2791-1D25621F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1EE41-A9AD-B509-AB90-44D11D7E6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B940A-18DD-9D7A-5515-5CF2E8D6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A4426-12CE-4C62-7789-A0914480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6C96E-3AF7-475D-5060-B680D333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AA6CD-785F-59D4-C277-7E7134D1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54646-48FA-B237-14FE-E7FD7946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5F504-20D4-9901-FC29-4DB0D3090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E9077-94F2-D2F4-7149-1E0AACA4A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E7D61-C7D5-49E8-AD57-41C5515B0A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9CD1C-98CD-2E48-4B78-7FD65F04B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2327-2F4A-068E-A773-F6E48284B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B76F4-4C3B-4D34-847C-1D3AAD148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3269753-7892-600A-4A93-3E5B40EC2CA7}"/>
              </a:ext>
            </a:extLst>
          </p:cNvPr>
          <p:cNvSpPr txBox="1">
            <a:spLocks/>
          </p:cNvSpPr>
          <p:nvPr/>
        </p:nvSpPr>
        <p:spPr>
          <a:xfrm>
            <a:off x="817705" y="515586"/>
            <a:ext cx="7736604" cy="5235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</a:pPr>
            <a:r>
              <a:rPr lang="en-US" altLang="en-US" sz="2600"/>
              <a:t>CM2723 I/O Controller – VAVE Analysis</a:t>
            </a:r>
            <a:endParaRPr lang="en-US" altLang="en-US" sz="2600" dirty="0"/>
          </a:p>
        </p:txBody>
      </p:sp>
      <p:sp>
        <p:nvSpPr>
          <p:cNvPr id="5" name="Google Shape;343;p58">
            <a:extLst>
              <a:ext uri="{FF2B5EF4-FFF2-40B4-BE49-F238E27FC236}">
                <a16:creationId xmlns:a16="http://schemas.microsoft.com/office/drawing/2014/main" id="{C8B6EE23-6E1D-2551-61A9-12F60A85D1F6}"/>
              </a:ext>
            </a:extLst>
          </p:cNvPr>
          <p:cNvSpPr txBox="1">
            <a:spLocks/>
          </p:cNvSpPr>
          <p:nvPr/>
        </p:nvSpPr>
        <p:spPr>
          <a:xfrm>
            <a:off x="922853" y="1320096"/>
            <a:ext cx="4619852" cy="2497995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290513" indent="-290513" eaLnBrk="1" hangingPunct="1">
              <a:buClr>
                <a:srgbClr val="A7A9AC"/>
              </a:buClr>
              <a:buSzPct val="120000"/>
              <a:buFont typeface="Wingdings" pitchFamily="2" charset="2"/>
              <a:buChar char="§"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defRPr>
            </a:lvl1pPr>
            <a:lvl2pPr marL="285750" indent="-285750" eaLnBrk="1" hangingPunct="1">
              <a:buClr>
                <a:schemeClr val="bg2"/>
              </a:buClr>
              <a:buSzPct val="100000"/>
              <a:buFont typeface="Wingdings" pitchFamily="2" charset="2"/>
              <a:buChar char="§"/>
              <a:defRPr>
                <a:latin typeface="+mn-lt"/>
              </a:defRPr>
            </a:lvl2pPr>
            <a:lvl3pPr marL="571500" indent="-279400" eaLnBrk="1" hangingPunct="1">
              <a:buClr>
                <a:schemeClr val="bg2"/>
              </a:buClr>
              <a:buSzPct val="90000"/>
              <a:buFont typeface="Arial" charset="0"/>
              <a:buChar char="–"/>
              <a:defRPr>
                <a:latin typeface="Arial" pitchFamily="34" charset="0"/>
                <a:cs typeface="Arial" pitchFamily="34" charset="0"/>
              </a:defRPr>
            </a:lvl3pPr>
            <a:lvl4pPr marL="850900" indent="-279400" eaLnBrk="1" hangingPunct="1">
              <a:buClr>
                <a:schemeClr val="bg2"/>
              </a:buClr>
              <a:buSzPct val="80000"/>
              <a:buFont typeface="Wingdings" pitchFamily="2" charset="2"/>
              <a:buChar char="§"/>
              <a:defRPr>
                <a:latin typeface="Arial" pitchFamily="34" charset="0"/>
              </a:defRPr>
            </a:lvl4pPr>
            <a:lvl5pPr marL="1136650" indent="-285750" defTabSz="933450" eaLnBrk="1" hangingPunct="1">
              <a:buClr>
                <a:schemeClr val="bg2"/>
              </a:buClr>
              <a:buSzPct val="70000"/>
              <a:buFont typeface="Arial" charset="0"/>
              <a:buChar char="–"/>
              <a:defRPr>
                <a:latin typeface="Arial" pitchFamily="34" charset="0"/>
              </a:defRPr>
            </a:lvl5pPr>
            <a:lvl6pPr marL="1371600" indent="-24130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>
                <a:latin typeface="Arial" pitchFamily="34" charset="0"/>
                <a:cs typeface="+mn-cs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marL="0" indent="0">
              <a:buNone/>
            </a:pPr>
            <a:endParaRPr lang="en-GB" sz="1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chemeClr val="tx2"/>
              </a:buClr>
              <a:defRPr/>
            </a:pPr>
            <a:r>
              <a:rPr lang="en-US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perform VAVE Analysis on the CM2723 I/O Controller. The Project has to go through entire VAVE cycle.  The scope of the project includes:</a:t>
            </a:r>
          </a:p>
          <a:p>
            <a:pPr algn="just">
              <a:buClr>
                <a:schemeClr val="tx2"/>
              </a:buClr>
              <a:defRPr/>
            </a:pPr>
            <a:r>
              <a:rPr lang="en-US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Electrical Cost Reduction Analysis </a:t>
            </a:r>
          </a:p>
          <a:p>
            <a:pPr algn="just">
              <a:buClr>
                <a:schemeClr val="tx2"/>
              </a:buClr>
              <a:defRPr/>
            </a:pPr>
            <a:r>
              <a:rPr lang="en-US" alt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Competitor product Analysis</a:t>
            </a:r>
          </a:p>
          <a:p>
            <a:pPr marL="1487488" lvl="1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Reverse Engineering</a:t>
            </a:r>
          </a:p>
          <a:p>
            <a:pPr marL="1487488" lvl="1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BoM of Competitor Product</a:t>
            </a:r>
          </a:p>
          <a:p>
            <a:pPr marL="1487488" lvl="1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Comparison with the Parker Product</a:t>
            </a:r>
          </a:p>
          <a:p>
            <a:pPr marL="0" indent="0" algn="just">
              <a:spcBef>
                <a:spcPct val="0"/>
              </a:spcBef>
              <a:buClr>
                <a:schemeClr val="tx2"/>
              </a:buClr>
              <a:buFontTx/>
              <a:buNone/>
            </a:pPr>
            <a:endParaRPr lang="en-US" alt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0F6CA42A-6FA5-6B8C-7E6A-55319ADBC969}"/>
              </a:ext>
            </a:extLst>
          </p:cNvPr>
          <p:cNvSpPr txBox="1">
            <a:spLocks/>
          </p:cNvSpPr>
          <p:nvPr/>
        </p:nvSpPr>
        <p:spPr>
          <a:xfrm>
            <a:off x="1767867" y="3328677"/>
            <a:ext cx="3977466" cy="34623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r>
              <a:rPr lang="en-US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Tools / Techniques used</a:t>
            </a:r>
          </a:p>
          <a:p>
            <a:pPr marL="285750" lvl="2" indent="-285750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srgbClr val="E3183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Silicon Expert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Q-STAR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Pugh Matrix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Pareto Analysis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Manuscript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DDC910D9-D85D-08E1-6FB2-4372DD781B2E}"/>
              </a:ext>
            </a:extLst>
          </p:cNvPr>
          <p:cNvSpPr txBox="1">
            <a:spLocks/>
          </p:cNvSpPr>
          <p:nvPr/>
        </p:nvSpPr>
        <p:spPr>
          <a:xfrm>
            <a:off x="6271352" y="4407408"/>
            <a:ext cx="4951539" cy="20191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r>
              <a:rPr lang="en-US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Achievements</a:t>
            </a: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Listed 49 VAVE Ideas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Cost Savings of $7 have been identified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Competitor product Technical approach compared with the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Parker approach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Suggested different power topology approach to reduce costing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EoL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and Obsolescence check performed on the product Bill of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Material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Schematics modified with the proposed Cost Reduction changes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and submitted to Parker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Wingdings" pitchFamily="2" charset="2"/>
              <a:buChar char="§"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3DC9DC-1040-EF21-6EE0-9F8D5DA20524}"/>
              </a:ext>
            </a:extLst>
          </p:cNvPr>
          <p:cNvCxnSpPr>
            <a:cxnSpLocks/>
          </p:cNvCxnSpPr>
          <p:nvPr/>
        </p:nvCxnSpPr>
        <p:spPr>
          <a:xfrm>
            <a:off x="6391656" y="4135516"/>
            <a:ext cx="3977466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8A5E6-81D0-B46F-1004-14835833CC13}"/>
              </a:ext>
            </a:extLst>
          </p:cNvPr>
          <p:cNvCxnSpPr>
            <a:cxnSpLocks/>
          </p:cNvCxnSpPr>
          <p:nvPr/>
        </p:nvCxnSpPr>
        <p:spPr>
          <a:xfrm>
            <a:off x="981864" y="1659042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D4C401-3579-4E0B-110F-39E0FE75DF79}"/>
              </a:ext>
            </a:extLst>
          </p:cNvPr>
          <p:cNvCxnSpPr>
            <a:cxnSpLocks/>
          </p:cNvCxnSpPr>
          <p:nvPr/>
        </p:nvCxnSpPr>
        <p:spPr>
          <a:xfrm>
            <a:off x="1703859" y="4613022"/>
            <a:ext cx="3774838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15B35-2674-141D-B24E-B7002C09C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184" y="1045706"/>
            <a:ext cx="1762125" cy="123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D6577E-0538-E262-324F-98B56050E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154" y="1180526"/>
            <a:ext cx="1917700" cy="1364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0F62BC-754F-A248-205C-E4A2BACE2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042" y="2648879"/>
            <a:ext cx="1733550" cy="116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E60167-D9E6-BDED-3DAE-48DDC7017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184" y="2288243"/>
            <a:ext cx="1930400" cy="144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668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2025-10-10T05:33:33Z</dcterms:created>
  <dcterms:modified xsi:type="dcterms:W3CDTF">2025-10-10T05:35:36Z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2025-10-10T05:35:36Z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6f5cc289-cb0a-4c50-9a99-c1341550fe4b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