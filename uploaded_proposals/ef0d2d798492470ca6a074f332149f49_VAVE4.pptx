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9672-8BE4-94F4-54D5-438B1524C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FF99C-6F48-768A-11F1-7F036E379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963F7-0D3B-D276-5B44-F0BCB8B0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93C52-AC6C-EC71-25C2-AA6E2BD4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DDC8A-63E2-AC39-838B-88F4F130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3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127C-D8C1-1B54-DF4B-BB9B06DA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B77EE-323E-6455-1149-C55CB483F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5DC9-68B6-9DA2-FD50-EAF76F4A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ECAE4-1D78-65A8-AE81-42A5535E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12571-0BE3-CD4E-E0C1-FE95231F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D743-5AA4-915C-9ABA-271083057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3F057-D11A-E438-C538-DC5B05CB9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3BB3-7B49-CD37-1D46-0566C8D04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6643C-E8B6-642E-4031-0F10EE36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6477-62CA-C6FC-C218-D3F6E703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1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CCBD-E019-FF07-AC17-A6A7EEE0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63E4-41C7-EA2B-2398-EE50E1FC6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D6A28-39A9-D6BA-AB29-27D6FB6ED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A2E6A-8DA1-F715-3654-6AE3F939D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2AAB2-E392-1833-75BD-439C2DB1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50A97-945E-CA71-C9B1-BD3B7EED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2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3FF3-8FF5-9B93-9229-D50042736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7FD68-3CCD-9665-8699-4178C7556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3986A-D313-EC54-5E21-EC0A861DF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B28AA-44E4-927F-0711-765AC863A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149F7-359A-477A-B937-BC47A70FE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EE1B7-BCAB-CAB7-452D-0AB3608B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42749-C345-AB17-3C15-1BEA674B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E6CE7-4725-8D14-C11A-CD093A08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5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721C-2E7F-8412-6FFC-0503EA69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E65D2-6003-32DE-5871-FDAF17B0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1AE2D-D106-B710-652F-C4C26E11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B74D4-AFB9-7B95-42B1-44DF42A6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74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32F6B-B6B0-1348-0412-20146E36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455D2-CEDC-229C-55B5-B0955B809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B3996-98B9-59CC-E66D-A59BFC2F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9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0F51-B40C-98D3-433E-42649F3F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2F53-EFDD-A1B5-DB1C-0B6C885D8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B211A-9FFD-6AC6-5AC3-557A38627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84C1D-77AF-2A57-0248-F64E938E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EF2A0-67DF-95DC-882F-EE5606F7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507EF-0CD2-52DB-BF22-6F04C07D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5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36C2-A319-30D6-2D3C-F59E535E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DDB0A-C839-A44D-F003-4D749A8F5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65516-1745-D381-749B-E0DCE296E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1B6B1-32F3-3009-A7F5-B01546AD1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001CB-0909-6E50-8E8F-CBF9AB3C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0C0D9-5409-A9D6-02C7-BAD74394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9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52B9-38B1-E28F-752A-866BFC5B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DE09B-96AD-C6CD-0152-2020B4215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AD16A-271D-9401-BD0A-4E29155D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47FE7-B9AF-9573-C6D1-1D7B0C3A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ED2A-6D59-1F1C-5417-0F857A11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5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6021E-310F-1EF2-7A5F-F89F1E710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A7989-90E4-F736-CB65-DAA01D19B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076EB-6EBA-5B8C-1A2C-EDC688D1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9F1E8-38E8-7551-EE92-7D183BF4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D005E-F533-AB70-0217-A419DAC1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6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309C1-F6B3-95DB-D765-251506F3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74CED-9312-BD08-A745-00C57C596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35845-9BBD-1F10-D113-1F85F8023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33714-56C6-47CF-BC03-DD8E1F106FB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AD658-C096-4A7E-8DFF-A8145C865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596B-6975-7281-65DE-B3518497B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B5599-072D-4584-83DE-811F93171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0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CEE032-AFC1-E262-3DFC-DF6909EAFA62}"/>
              </a:ext>
            </a:extLst>
          </p:cNvPr>
          <p:cNvSpPr txBox="1"/>
          <p:nvPr/>
        </p:nvSpPr>
        <p:spPr>
          <a:xfrm>
            <a:off x="6200776" y="390525"/>
            <a:ext cx="4244975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itchFamily="34" charset="0"/>
              </a:rPr>
              <a:t>Achievements:</a:t>
            </a:r>
          </a:p>
          <a:p>
            <a:pPr marL="114300" algn="just">
              <a:buClr>
                <a:schemeClr val="tx2"/>
              </a:buClr>
              <a:defRPr/>
            </a:pPr>
            <a:endParaRPr lang="en-US" sz="1200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70C0"/>
                </a:solidFill>
                <a:latin typeface="Calibri" panose="020F0502020204030204" pitchFamily="34" charset="0"/>
              </a:rPr>
              <a:t>VAVE Ideas:</a:t>
            </a:r>
          </a:p>
          <a:p>
            <a:pPr marL="74295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Ideas Generated: 10</a:t>
            </a:r>
          </a:p>
          <a:p>
            <a:pPr marL="74295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Ideas Accepted: 5</a:t>
            </a:r>
          </a:p>
          <a:p>
            <a:pPr marL="571500" lvl="1" algn="just">
              <a:buClr>
                <a:schemeClr val="tx2"/>
              </a:buClr>
              <a:defRPr/>
            </a:pPr>
            <a:endParaRPr lang="en-US" sz="1400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70C0"/>
                </a:solidFill>
                <a:latin typeface="Calibri" panose="020F0502020204030204" pitchFamily="34" charset="0"/>
              </a:rPr>
              <a:t>Cost Reduction Opportunities:</a:t>
            </a:r>
          </a:p>
          <a:p>
            <a:pPr marL="74295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Electrical cost Reduction - 2.7%</a:t>
            </a:r>
          </a:p>
          <a:p>
            <a:pPr marL="74295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Provided high level Mechanical ideas which can reduce material weight by 67%</a:t>
            </a:r>
          </a:p>
          <a:p>
            <a:pPr marL="571500" lvl="1" algn="just">
              <a:buClr>
                <a:schemeClr val="tx2"/>
              </a:buClr>
              <a:defRPr/>
            </a:pPr>
            <a:endParaRPr lang="en-US" sz="1400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70C0"/>
                </a:solidFill>
                <a:latin typeface="Calibri" panose="020F0502020204030204" pitchFamily="34" charset="0"/>
              </a:rPr>
              <a:t>EoL Identification/Compliance Checks:</a:t>
            </a:r>
          </a:p>
          <a:p>
            <a:pPr marL="74295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Identified Obsolescence components in the Bill of Material and identified alternates for the same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7EA743-A906-2F7C-9997-64C4DE1BA5FC}"/>
              </a:ext>
            </a:extLst>
          </p:cNvPr>
          <p:cNvCxnSpPr/>
          <p:nvPr/>
        </p:nvCxnSpPr>
        <p:spPr>
          <a:xfrm>
            <a:off x="1717676" y="3581400"/>
            <a:ext cx="8728075" cy="0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36">
            <a:extLst>
              <a:ext uri="{FF2B5EF4-FFF2-40B4-BE49-F238E27FC236}">
                <a16:creationId xmlns:a16="http://schemas.microsoft.com/office/drawing/2014/main" id="{DC37155A-6255-64BB-5517-77EA2CB5C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1371600"/>
            <a:ext cx="434816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715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800" b="1" dirty="0">
                <a:latin typeface="Calibri" pitchFamily="34" charset="0"/>
              </a:rPr>
              <a:t>Scope:</a:t>
            </a:r>
          </a:p>
          <a:p>
            <a:pPr algn="just">
              <a:buClr>
                <a:schemeClr val="tx2"/>
              </a:buClr>
              <a:defRPr/>
            </a:pPr>
            <a:endParaRPr lang="en-US" altLang="en-US" sz="1400" b="1" dirty="0">
              <a:latin typeface="Calibri" pitchFamily="34" charset="0"/>
            </a:endParaRPr>
          </a:p>
          <a:p>
            <a:pPr algn="just">
              <a:buClr>
                <a:schemeClr val="tx2"/>
              </a:buClr>
              <a:defRPr/>
            </a:pPr>
            <a:r>
              <a:rPr lang="en-US" altLang="en-US" sz="1400" dirty="0">
                <a:latin typeface="Calibri" pitchFamily="34" charset="0"/>
              </a:rPr>
              <a:t>To perform VAVE Analysis on the LS60 Tilt Sensor product. The target was to achieve 20% Cost Reduction on the existing product cost. The project scope included the following:</a:t>
            </a:r>
          </a:p>
          <a:p>
            <a:pPr algn="just">
              <a:buClr>
                <a:schemeClr val="tx2"/>
              </a:buClr>
              <a:defRPr/>
            </a:pPr>
            <a:endParaRPr lang="en-US" altLang="en-US" sz="1400" dirty="0">
              <a:latin typeface="Calibri" pitchFamily="34" charset="0"/>
            </a:endParaRPr>
          </a:p>
          <a:p>
            <a:pPr marL="22860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Calibri" pitchFamily="34" charset="0"/>
              </a:rPr>
              <a:t>Electrical Cost Reduction</a:t>
            </a:r>
          </a:p>
          <a:p>
            <a:pPr marL="22860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Calibri" pitchFamily="34" charset="0"/>
              </a:rPr>
              <a:t>Mechanical Cost Reduction</a:t>
            </a:r>
            <a:endParaRPr lang="en-US" altLang="en-US" sz="1200" dirty="0">
              <a:latin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247A8-34D8-F2EE-BF72-7F2A443CB803}"/>
              </a:ext>
            </a:extLst>
          </p:cNvPr>
          <p:cNvSpPr txBox="1"/>
          <p:nvPr/>
        </p:nvSpPr>
        <p:spPr>
          <a:xfrm>
            <a:off x="1639888" y="3733800"/>
            <a:ext cx="4348162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anose="020F0502020204030204" pitchFamily="34" charset="0"/>
              </a:rPr>
              <a:t>Tools/Techniques used:</a:t>
            </a:r>
          </a:p>
          <a:p>
            <a:pPr marL="57150" algn="just">
              <a:buClr>
                <a:schemeClr val="tx2"/>
              </a:buClr>
              <a:defRPr/>
            </a:pPr>
            <a:endParaRPr lang="en-US" sz="1200" b="1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Silicon Expert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Q-STAR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Excel based calculations for material estimation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FBD Analysis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Pugh Matrix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Pareto Analysis</a:t>
            </a:r>
          </a:p>
        </p:txBody>
      </p:sp>
      <p:pic>
        <p:nvPicPr>
          <p:cNvPr id="8" name="Picture 18" descr="D:\Projects\Parker\VAVE - LS60\LS-60 snapshot.JPG">
            <a:extLst>
              <a:ext uri="{FF2B5EF4-FFF2-40B4-BE49-F238E27FC236}">
                <a16:creationId xmlns:a16="http://schemas.microsoft.com/office/drawing/2014/main" id="{8A3DFE96-13FC-9170-23A3-AD9BD92BD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1" y="3736975"/>
            <a:ext cx="19653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9">
            <a:extLst>
              <a:ext uri="{FF2B5EF4-FFF2-40B4-BE49-F238E27FC236}">
                <a16:creationId xmlns:a16="http://schemas.microsoft.com/office/drawing/2014/main" id="{A775ACD3-4B4B-F5D1-EA5E-DCF26B3F9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86200"/>
            <a:ext cx="20574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E75DDB-FA95-C910-0038-4DEA04CCB592}"/>
              </a:ext>
            </a:extLst>
          </p:cNvPr>
          <p:cNvCxnSpPr/>
          <p:nvPr/>
        </p:nvCxnSpPr>
        <p:spPr>
          <a:xfrm>
            <a:off x="6162675" y="3975100"/>
            <a:ext cx="0" cy="2484438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8170F7-4817-568D-B2BA-A9B60DB09D64}"/>
              </a:ext>
            </a:extLst>
          </p:cNvPr>
          <p:cNvCxnSpPr/>
          <p:nvPr/>
        </p:nvCxnSpPr>
        <p:spPr>
          <a:xfrm>
            <a:off x="6162675" y="236539"/>
            <a:ext cx="0" cy="3748087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57">
            <a:extLst>
              <a:ext uri="{FF2B5EF4-FFF2-40B4-BE49-F238E27FC236}">
                <a16:creationId xmlns:a16="http://schemas.microsoft.com/office/drawing/2014/main" id="{1141C5EC-90A3-D929-AFCC-A08EE895E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0" y="5087939"/>
            <a:ext cx="2954338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82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2025-10-14T07:14:36Z</dcterms:created>
  <dcterms:modified xsi:type="dcterms:W3CDTF">2025-10-14T07:15:23Z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2025-10-14T07:15:23Z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3b3c8c21-7f2e-41fc-8d10-fec502378c5a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