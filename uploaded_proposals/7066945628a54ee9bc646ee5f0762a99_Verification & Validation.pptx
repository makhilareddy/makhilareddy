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201D5-BBEF-314C-D6AD-D7835E424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19BDC-B828-E6DC-DA04-9402C9FA2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E9594-16B1-01B6-659D-F4BECC19B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B4BA-BA4A-4531-844A-CB15D4A53D7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11B50-C7CC-1CF8-9B58-1AD2C7D87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1E9A2-941D-D07C-07E2-188EE526D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E9F6-E4E7-4BB1-BAF2-1863213A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18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4FCC-752C-799C-FD60-C552F386B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291E2-D211-1F4C-C139-1886A0F9F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857F4-B3CF-205B-F20A-255FA3CD0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B4BA-BA4A-4531-844A-CB15D4A53D7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CC8EA-C718-E47D-00C5-D485A5943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3B783-CC9D-A6F7-CBE8-299AA0F2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E9F6-E4E7-4BB1-BAF2-1863213A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00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E64C-EA18-738F-3DF2-E6B1E5FEE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28E9A-B7D8-5A62-7B14-40C501000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287A5-6E69-2598-9D39-85FF5CCBD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B4BA-BA4A-4531-844A-CB15D4A53D7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FD02E-FDC3-835E-E754-373C6C444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A25C8-5CBA-1CD6-F230-1F496303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E9F6-E4E7-4BB1-BAF2-1863213A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02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73249-3454-4EE6-DF43-93A02354D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CAD0D-55E5-4674-8F0F-34EC492D9A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E870C-9B6E-CB06-FCFD-49F77E6FA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AE79E-3E12-0A07-B181-182A71C5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B4BA-BA4A-4531-844A-CB15D4A53D7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A724A-1B5F-BC6C-9FAD-FEF67D2AA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FB47B-A191-4CC8-B3E2-AADD9A581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E9F6-E4E7-4BB1-BAF2-1863213A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9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AEE98-C132-A40F-F2B5-5BDB7D63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811BB-65EA-890D-0850-81F4AD4C1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4236B-732C-A6E0-4835-D45B97A00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CA7174-6895-2B73-80AB-4DF5B51E4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DF5B5A-13E8-FACB-F4CF-1D7BE3B65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99BB7-778D-C51E-3087-CC087B5A1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B4BA-BA4A-4531-844A-CB15D4A53D7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57CDEC-F7F8-EB8B-B90B-254D65FB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43B66A-3417-E081-5BA0-0C4C98CEB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E9F6-E4E7-4BB1-BAF2-1863213A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09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DAA99-C52C-B82C-C2E4-378733C79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B22F27-4D13-D995-64EE-FC64A61B2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B4BA-BA4A-4531-844A-CB15D4A53D7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95C8C2-F67B-8A95-0AA7-02153EC47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BDC02-B33C-0AE9-8156-6E446C97F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E9F6-E4E7-4BB1-BAF2-1863213A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409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644F96-4042-43C6-E8B6-9E8209BA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B4BA-BA4A-4531-844A-CB15D4A53D7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7269D-9EC7-81BB-9231-A4178B33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26162-BB22-A5E8-EB27-D61AD129D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E9F6-E4E7-4BB1-BAF2-1863213A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56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3F16A-22EF-FF08-3F9A-E1017AAF0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62EC1-730E-03F8-3BA2-8A02CCD98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65FDD6-87C9-26F0-4C39-A4F9A40DA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521FE-2D86-5E2A-7B32-E7F4C7773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B4BA-BA4A-4531-844A-CB15D4A53D7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D9429-91CF-0DAA-7663-51A263D4F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6398D-8F36-83E3-7401-E61BC3E64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E9F6-E4E7-4BB1-BAF2-1863213A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6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D373B-8D81-4BD1-3F59-6683FEEA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14B5D7-FC74-A826-442C-C29A3C1045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0C1AB-9081-D9A4-0803-FB2B53B14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D6292-9F7B-A833-DC6D-BD4A7078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B4BA-BA4A-4531-844A-CB15D4A53D7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29136-3856-5E9F-D4A7-77A990D5E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BED07-EF49-C0A3-6C1C-4BDB8BFC3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E9F6-E4E7-4BB1-BAF2-1863213A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86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F6569-C414-8606-7622-0BE11AA54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02A5E-E2E8-A5C6-7775-03863805E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9064A-7FB8-26FD-46C0-6C60FCD16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B4BA-BA4A-4531-844A-CB15D4A53D7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8C8F0-2B65-92ED-FA86-667B0BB43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28201-E0D0-AEC5-FF18-A967223F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E9F6-E4E7-4BB1-BAF2-1863213A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7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FB6022-78C4-F986-5660-58319610D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C3D6D5-8544-7E1A-1D66-4F8842096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C4BC7-E72A-0BBD-B073-C7B0D8762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5B4BA-BA4A-4531-844A-CB15D4A53D7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F3BBC-22AD-9B88-04DC-D2F970E93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F4F38-63FE-70EE-E842-06234A2AE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E9F6-E4E7-4BB1-BAF2-1863213A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718354-BF87-0927-A83E-9BB6EAF36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A55A5-DFB8-01CB-B90F-0A4D0D6B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6ED6D-139E-B048-52FE-5759E7D629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C5B4BA-BA4A-4531-844A-CB15D4A53D7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D27F1-EA87-4C0D-4E68-0F3FE338A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FEEAC-41AF-CDF9-5543-35D22FD97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2FE9F6-E4E7-4BB1-BAF2-1863213A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81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5E509-4CDB-322D-0D3D-2F8202075A55}"/>
              </a:ext>
            </a:extLst>
          </p:cNvPr>
          <p:cNvSpPr txBox="1">
            <a:spLocks/>
          </p:cNvSpPr>
          <p:nvPr/>
        </p:nvSpPr>
        <p:spPr>
          <a:xfrm>
            <a:off x="817705" y="518046"/>
            <a:ext cx="10753114" cy="519716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2600">
                <a:solidFill>
                  <a:srgbClr val="4D4D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Parker Hannifin Controller – PHC1 CM5042 &amp; PHC1 CM3033</a:t>
            </a:r>
            <a:endParaRPr lang="en-IN" sz="2600" dirty="0">
              <a:solidFill>
                <a:srgbClr val="4D4D4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251484-09E9-C409-4AA1-8BA2CE1BB2C8}"/>
              </a:ext>
            </a:extLst>
          </p:cNvPr>
          <p:cNvSpPr/>
          <p:nvPr/>
        </p:nvSpPr>
        <p:spPr>
          <a:xfrm>
            <a:off x="766924" y="1261415"/>
            <a:ext cx="745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BDBE01-407F-1A2C-87F5-363C5434ED85}"/>
              </a:ext>
            </a:extLst>
          </p:cNvPr>
          <p:cNvSpPr/>
          <p:nvPr/>
        </p:nvSpPr>
        <p:spPr>
          <a:xfrm>
            <a:off x="766925" y="1749552"/>
            <a:ext cx="412105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81" indent="-38098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scope of the project was to perform Automation Testing (Verification &amp; Validation) of the Parker Hannifin Controllers CM5042 and CM3033</a:t>
            </a:r>
          </a:p>
          <a:p>
            <a:pPr marL="380981" indent="-38098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scope also includes Automation of the test cases. Perform regression testing using the Automation methods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4C4C48-05A1-0C88-D37E-2956F58617A8}"/>
              </a:ext>
            </a:extLst>
          </p:cNvPr>
          <p:cNvSpPr/>
          <p:nvPr/>
        </p:nvSpPr>
        <p:spPr>
          <a:xfrm>
            <a:off x="5207708" y="3449418"/>
            <a:ext cx="34441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C26B5-29DC-0640-F9EE-13172ACDFC5E}"/>
              </a:ext>
            </a:extLst>
          </p:cNvPr>
          <p:cNvSpPr/>
          <p:nvPr/>
        </p:nvSpPr>
        <p:spPr>
          <a:xfrm>
            <a:off x="5207710" y="3779505"/>
            <a:ext cx="6363110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5138" indent="-295275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Automation Framework Development for different kind of regression test</a:t>
            </a:r>
          </a:p>
          <a:p>
            <a:pPr marL="507974" indent="-507974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Automation and Reusability</a:t>
            </a:r>
          </a:p>
          <a:p>
            <a:pPr marL="507974" indent="-507974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1175" indent="-30797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Executing Performance test, Application testing(</a:t>
            </a:r>
            <a:r>
              <a:rPr lang="en-US" altLang="en-US" sz="1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Codesys</a:t>
            </a: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MATLAB)</a:t>
            </a:r>
          </a:p>
          <a:p>
            <a:pPr marL="511175" indent="-30797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 Automated test cases:  180 in CM5042 and 182 in CM3033</a:t>
            </a:r>
          </a:p>
          <a:p>
            <a:pPr marL="511175" indent="-30797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Percentage Automation ~ 71%</a:t>
            </a:r>
          </a:p>
          <a:p>
            <a:pPr marL="511175" indent="-30797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 saving due to Automation ~ 85%</a:t>
            </a:r>
          </a:p>
          <a:p>
            <a:pPr marL="511175" indent="-30797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Reusability of LabVIEW Modules ~ 60%</a:t>
            </a:r>
          </a:p>
          <a:p>
            <a:pPr marL="511175" indent="-30797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Parker custom tools like </a:t>
            </a:r>
            <a:r>
              <a:rPr lang="en-US" altLang="en-US" sz="1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CANSniff</a:t>
            </a: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Ftool</a:t>
            </a: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Jenkins and ECU Test are integrated with LabVIEW and TestStand through Python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F1AC8C-CF44-5B12-904B-CCA8352D83DE}"/>
              </a:ext>
            </a:extLst>
          </p:cNvPr>
          <p:cNvCxnSpPr>
            <a:cxnSpLocks/>
          </p:cNvCxnSpPr>
          <p:nvPr/>
        </p:nvCxnSpPr>
        <p:spPr>
          <a:xfrm flipV="1">
            <a:off x="766924" y="1705537"/>
            <a:ext cx="280416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C50261-3E11-7AFF-A9F1-4347C536E1A4}"/>
              </a:ext>
            </a:extLst>
          </p:cNvPr>
          <p:cNvCxnSpPr>
            <a:cxnSpLocks/>
          </p:cNvCxnSpPr>
          <p:nvPr/>
        </p:nvCxnSpPr>
        <p:spPr>
          <a:xfrm>
            <a:off x="5207709" y="3814516"/>
            <a:ext cx="3828372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EF9F989-BF05-6E06-A645-542A0E2A3227}"/>
              </a:ext>
            </a:extLst>
          </p:cNvPr>
          <p:cNvSpPr/>
          <p:nvPr/>
        </p:nvSpPr>
        <p:spPr>
          <a:xfrm>
            <a:off x="766924" y="4568303"/>
            <a:ext cx="1820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Business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Benefits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A99A79-5D59-032D-BE9D-0EF380C118EC}"/>
              </a:ext>
            </a:extLst>
          </p:cNvPr>
          <p:cNvSpPr/>
          <p:nvPr/>
        </p:nvSpPr>
        <p:spPr>
          <a:xfrm>
            <a:off x="766924" y="4999066"/>
            <a:ext cx="412105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81" lvl="2" indent="-38098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Cost per month saving due to automation of test cases - $4620</a:t>
            </a:r>
          </a:p>
          <a:p>
            <a:pPr marL="380981" lvl="2" indent="-38098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Hardware cost saving of ~$3K per test setup</a:t>
            </a:r>
          </a:p>
          <a:p>
            <a:pPr marL="380981" lvl="2" indent="-38098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Framework is reutilized between projects thus reducing the development time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B9A6C3-90E5-97AE-A0C0-D8B5490FCED6}"/>
              </a:ext>
            </a:extLst>
          </p:cNvPr>
          <p:cNvCxnSpPr>
            <a:cxnSpLocks/>
          </p:cNvCxnSpPr>
          <p:nvPr/>
        </p:nvCxnSpPr>
        <p:spPr>
          <a:xfrm flipV="1">
            <a:off x="766924" y="4955049"/>
            <a:ext cx="304800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9393211-7DA4-7E3E-D630-63754A7ADE1E}"/>
              </a:ext>
            </a:extLst>
          </p:cNvPr>
          <p:cNvSpPr/>
          <p:nvPr/>
        </p:nvSpPr>
        <p:spPr>
          <a:xfrm>
            <a:off x="766925" y="3424780"/>
            <a:ext cx="11958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B30D81-F56E-132E-E4EA-D899DE3741D1}"/>
              </a:ext>
            </a:extLst>
          </p:cNvPr>
          <p:cNvSpPr/>
          <p:nvPr/>
        </p:nvSpPr>
        <p:spPr>
          <a:xfrm>
            <a:off x="766924" y="3779505"/>
            <a:ext cx="408818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7974" indent="-507974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Execution of test cases at client location because of Latency issues</a:t>
            </a:r>
          </a:p>
          <a:p>
            <a:pPr marL="507974" indent="-507974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Developing test cases based onshore hardware  setup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29BB17-BA37-EEBF-79A5-9091D6D88D6A}"/>
              </a:ext>
            </a:extLst>
          </p:cNvPr>
          <p:cNvCxnSpPr>
            <a:cxnSpLocks/>
          </p:cNvCxnSpPr>
          <p:nvPr/>
        </p:nvCxnSpPr>
        <p:spPr>
          <a:xfrm flipV="1">
            <a:off x="766924" y="3797183"/>
            <a:ext cx="304800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256D09-9AF2-2B6B-21AF-1A0FE13E8CC1}"/>
              </a:ext>
            </a:extLst>
          </p:cNvPr>
          <p:cNvGrpSpPr/>
          <p:nvPr/>
        </p:nvGrpSpPr>
        <p:grpSpPr>
          <a:xfrm>
            <a:off x="8321825" y="1300129"/>
            <a:ext cx="2738857" cy="2080639"/>
            <a:chOff x="429827" y="676275"/>
            <a:chExt cx="6123373" cy="3236913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049FA4B-101F-FA8B-AE01-D2649C6F4B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534"/>
            <a:stretch>
              <a:fillRect/>
            </a:stretch>
          </p:blipFill>
          <p:spPr bwMode="auto">
            <a:xfrm>
              <a:off x="457200" y="676275"/>
              <a:ext cx="6096000" cy="32369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E4CAC3F-76D8-354E-7D30-3BE08FAD3E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8600" y="2733675"/>
              <a:ext cx="3606800" cy="11795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6">
              <a:extLst>
                <a:ext uri="{FF2B5EF4-FFF2-40B4-BE49-F238E27FC236}">
                  <a16:creationId xmlns:a16="http://schemas.microsoft.com/office/drawing/2014/main" id="{0D5CE18B-1E37-B1D9-1CF3-486403DBEE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9827" y="2390776"/>
              <a:ext cx="2011363" cy="15224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9" name="Picture 1">
            <a:extLst>
              <a:ext uri="{FF2B5EF4-FFF2-40B4-BE49-F238E27FC236}">
                <a16:creationId xmlns:a16="http://schemas.microsoft.com/office/drawing/2014/main" id="{4FE9E855-E967-39DC-7F1F-D725F799E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259" y="1290766"/>
            <a:ext cx="2726613" cy="214114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FFBCEB9-7215-2D6D-ABD0-F1835041E1EB}"/>
              </a:ext>
            </a:extLst>
          </p:cNvPr>
          <p:cNvSpPr txBox="1"/>
          <p:nvPr/>
        </p:nvSpPr>
        <p:spPr>
          <a:xfrm>
            <a:off x="9630004" y="133325"/>
            <a:ext cx="1940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dirty="0">
                <a:solidFill>
                  <a:srgbClr val="E51736"/>
                </a:solidFill>
                <a:ea typeface="+mj-ea"/>
                <a:cs typeface="+mj-cs"/>
              </a:rPr>
              <a:t>Division: ECD</a:t>
            </a:r>
          </a:p>
        </p:txBody>
      </p:sp>
    </p:spTree>
    <p:extLst>
      <p:ext uri="{BB962C8B-B14F-4D97-AF65-F5344CB8AC3E}">
        <p14:creationId xmlns:p14="http://schemas.microsoft.com/office/powerpoint/2010/main" val="4115615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183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2</cp:revision>
  <dcterms:created xsi:type="dcterms:W3CDTF">2025-10-09T06:39:23Z</dcterms:created>
  <dcterms:modified xsi:type="dcterms:W3CDTF">2025-10-10T05:40:40Z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2025-10-09T06:58:43Z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768d631f-4f61-464f-ad3a-eeb16959e978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