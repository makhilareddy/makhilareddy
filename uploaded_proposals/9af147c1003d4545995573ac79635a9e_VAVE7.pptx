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A14F-B812-6F23-CA51-2991F5D04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BD87F5-46A6-C37B-6D11-7FE2DAE88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3D61B-0625-62E1-2818-5C9A9595B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31752-A55D-B53E-F3CF-A854AAB4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C6920-ABFA-A0DE-005E-79AB765C9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41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8A2C9-E9DB-F5B5-0937-9CA7442B7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144F8-9252-D9F4-2736-2EE54D2C4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D8C0F-CAD9-223C-E098-21019FCC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26528-1B3F-1457-7F8B-184DDA301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9F21E-C480-0605-E171-D0915BEB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616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55C81-9004-2262-1716-84316B41F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97C25-374A-0152-0D50-79CF8D6E8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61C842-0A81-DBE0-37C6-7AB81FF40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85705-22ED-2DA7-7883-1A232C60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485B4-B724-345F-A292-0BD5C1459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89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B851-0E95-BC02-4B92-6078475F2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742F-0B9C-3166-D342-9392ACEDC0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0BD40-78B0-CBCF-29DE-B08614D15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08D979-C8B6-71B0-98BE-CD3AEB29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4EA64-468E-8494-605A-557DE8E4B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D14DD-FED1-488D-4940-8F5FF4892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767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4BA35-0B81-9D5C-0EE7-E3D5CF829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2E60B2-0A9E-A8DE-46C6-D8EEA7DE9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B306AE-18EE-F5A4-0872-FB30B4D26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AB640-15E8-7391-2E52-09F6DD854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B2CC3-42AA-CF05-75EA-0F9B9A767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DE972C-9D3A-17B1-AC31-9F9C1BCF2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2214F7-D096-43D5-0A3F-90D8924E1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DA987-69BF-0FA1-6BBA-23E969C3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86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99D1-3B38-61FA-8BCA-7135CC72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95477-4593-96FE-2A58-613479F2A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0C9C6-89D2-4CCD-BBB7-223DC83E5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B732B-BEBF-5AEF-B2B9-B46F1846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291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F2152D-30E6-928F-A6CA-A6B4F1D0C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6BAC98-F7F7-7ED0-57BF-A6EC59F35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C8316-599D-B3D5-4869-C1CAC28E5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07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353E-BAD9-859C-2554-F4A6F793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8A8E6-F521-F67B-5246-75F61A7A6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9135AD-BC37-A620-726E-01F55DE0A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6D34B-D400-1131-BC78-5FFCA6A0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0AE05-A5EF-FE4C-87E9-15D3C59BF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68F5A-7A59-3F97-F163-CCE082D8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3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1DFD-A0E7-C8DB-3F59-BB56C03F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588FD4-2984-FB47-958A-9BDA5724E6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F1216A-B9BA-E920-D3E4-F134628A6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16250-42E5-01D8-713D-922B4C097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E5028-66B1-AA3A-F21D-A15199AF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BBC71-FEE8-0ABD-2375-6476E9E8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8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DFDE1-3E2A-3022-D49C-06FFC9A59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64656-0651-FB5F-54B5-3724BA408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CB9B-2EBF-3D93-1F47-DE1E98914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CFFF8-3292-CF27-2170-40A71FF5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F357D-DE7B-DE10-3FE2-FB2BF4AFE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5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633E8C-2C13-CC24-57C6-C9384A177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1FD31-F340-065A-EF87-30FC6DBAC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4BE3C-1160-7B07-EA4E-1A9D33FD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12B86-A268-2EF7-A203-BE32C0FA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76609-1173-9C52-7D66-50E70739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77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90D54-0B88-62F6-6BF7-9DCAAD150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EC147-76C5-0D2D-E974-3058F9516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F1021-D15C-CAC6-CEA0-827666FE37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9B5FB-EA14-4E5F-BECA-843ACA18D6F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1056-EFC2-35F5-33E0-6BA54F16CC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79C3D-9CF4-2C4B-019E-B14473A63E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F4ED88-66C6-4399-A381-058693E15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17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6169D1CD-54DF-E0F8-009A-A193319B7906}"/>
              </a:ext>
            </a:extLst>
          </p:cNvPr>
          <p:cNvSpPr txBox="1"/>
          <p:nvPr/>
        </p:nvSpPr>
        <p:spPr>
          <a:xfrm>
            <a:off x="6713681" y="255587"/>
            <a:ext cx="4244975" cy="32624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itchFamily="34" charset="0"/>
              </a:rPr>
              <a:t>Achievements:</a:t>
            </a:r>
          </a:p>
          <a:p>
            <a:pPr marL="114300" algn="just">
              <a:buClr>
                <a:schemeClr val="tx2"/>
              </a:buClr>
              <a:defRPr/>
            </a:pPr>
            <a:endParaRPr lang="en-US" sz="1200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Listed 63 VAVE Ideas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Alternate Microcontroller identified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Cost Savings of $6.44 have been identified (0.5M USD savings per annum for 75K Quantity)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Plastic Mechanical prototype has been built and shipped to Parker 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Electrical tests conducted successfully on the new plastic enclosure. Mechanical tests under progress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Schedule and Costing for the Re-Design (including certification) Submitted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EoL and Obsolescence check performed on the product  Bill of Material</a:t>
            </a:r>
          </a:p>
        </p:txBody>
      </p:sp>
      <p:pic>
        <p:nvPicPr>
          <p:cNvPr id="5" name="table">
            <a:extLst>
              <a:ext uri="{FF2B5EF4-FFF2-40B4-BE49-F238E27FC236}">
                <a16:creationId xmlns:a16="http://schemas.microsoft.com/office/drawing/2014/main" id="{03FFE3A4-5BC3-0814-39EC-DB2C046FE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43" y="428625"/>
            <a:ext cx="5375561" cy="84772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35348B-7CD1-D835-5367-BBB9B9C74207}"/>
              </a:ext>
            </a:extLst>
          </p:cNvPr>
          <p:cNvCxnSpPr>
            <a:cxnSpLocks/>
          </p:cNvCxnSpPr>
          <p:nvPr/>
        </p:nvCxnSpPr>
        <p:spPr>
          <a:xfrm>
            <a:off x="1094796" y="3589337"/>
            <a:ext cx="109728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36">
            <a:extLst>
              <a:ext uri="{FF2B5EF4-FFF2-40B4-BE49-F238E27FC236}">
                <a16:creationId xmlns:a16="http://schemas.microsoft.com/office/drawing/2014/main" id="{E14D2CE7-4D14-59A1-CE65-C6CF5C70B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3344" y="1306512"/>
            <a:ext cx="5234276" cy="20005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5715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8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4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US" altLang="en-US" sz="1800" b="1" dirty="0">
                <a:latin typeface="Calibri" pitchFamily="34" charset="0"/>
              </a:rPr>
              <a:t>Scope:</a:t>
            </a:r>
          </a:p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endParaRPr lang="en-US" altLang="en-US" sz="1400" b="1" dirty="0">
              <a:latin typeface="Calibri" pitchFamily="34" charset="0"/>
            </a:endParaRPr>
          </a:p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The scope of the project is  VAVE Analysis and Re-Design  activity including:</a:t>
            </a:r>
          </a:p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171450" algn="just"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Alternate controller identification and Design Modification</a:t>
            </a:r>
          </a:p>
          <a:p>
            <a:pPr marL="285750" indent="-171450" algn="just"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Electrical/Mechanical Cost Reduction</a:t>
            </a:r>
          </a:p>
          <a:p>
            <a:pPr marL="285750" indent="-171450" algn="just"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Mechanical Enclosure Prototyping (Metal  to Plastic)</a:t>
            </a:r>
          </a:p>
          <a:p>
            <a:pPr marL="285750" indent="-171450" algn="just">
              <a:spcBef>
                <a:spcPct val="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Firmware Development</a:t>
            </a:r>
          </a:p>
        </p:txBody>
      </p:sp>
      <p:sp>
        <p:nvSpPr>
          <p:cNvPr id="8" name="TextBox 43">
            <a:extLst>
              <a:ext uri="{FF2B5EF4-FFF2-40B4-BE49-F238E27FC236}">
                <a16:creationId xmlns:a16="http://schemas.microsoft.com/office/drawing/2014/main" id="{D1E29C27-F338-3879-B320-EA79655EE464}"/>
              </a:ext>
            </a:extLst>
          </p:cNvPr>
          <p:cNvSpPr txBox="1"/>
          <p:nvPr/>
        </p:nvSpPr>
        <p:spPr>
          <a:xfrm>
            <a:off x="1238969" y="3714027"/>
            <a:ext cx="5234276" cy="283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57150" algn="just">
              <a:buClr>
                <a:schemeClr val="tx2"/>
              </a:buClr>
              <a:defRPr/>
            </a:pPr>
            <a:r>
              <a:rPr lang="en-US" b="1" dirty="0">
                <a:latin typeface="Calibri" panose="020F0502020204030204" pitchFamily="34" charset="0"/>
              </a:rPr>
              <a:t>Tools/Techniques used:</a:t>
            </a:r>
          </a:p>
          <a:p>
            <a:pPr marL="57150" algn="just">
              <a:buClr>
                <a:schemeClr val="tx2"/>
              </a:buClr>
              <a:defRPr/>
            </a:pPr>
            <a:endParaRPr lang="en-US" sz="1200" b="1" dirty="0">
              <a:latin typeface="Calibri" panose="020F0502020204030204" pitchFamily="34" charset="0"/>
            </a:endParaRP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Silicon Expert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Q-STAR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Pugh Matrix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Pareto Analysis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Autodesk Inventor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Allegro Tools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Manuscript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IAR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Collaborator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Parker Coding standards</a:t>
            </a:r>
          </a:p>
          <a:p>
            <a:pPr marL="285750" indent="-171450" algn="just">
              <a:buClr>
                <a:schemeClr val="tx2"/>
              </a:buClr>
              <a:buFont typeface="Arial" panose="020B0604020202020204" pitchFamily="34" charset="0"/>
              <a:buChar char="•"/>
              <a:defRPr/>
            </a:pPr>
            <a:endParaRPr lang="en-US" sz="1400" dirty="0">
              <a:latin typeface="Calibri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35DC5D-99EC-77AE-3697-5816A4550E6E}"/>
              </a:ext>
            </a:extLst>
          </p:cNvPr>
          <p:cNvCxnSpPr/>
          <p:nvPr/>
        </p:nvCxnSpPr>
        <p:spPr>
          <a:xfrm>
            <a:off x="6675580" y="3983037"/>
            <a:ext cx="0" cy="248443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4C6A37-F61A-5F01-9E2B-C139E46D0B25}"/>
              </a:ext>
            </a:extLst>
          </p:cNvPr>
          <p:cNvCxnSpPr/>
          <p:nvPr/>
        </p:nvCxnSpPr>
        <p:spPr>
          <a:xfrm>
            <a:off x="6675580" y="244476"/>
            <a:ext cx="0" cy="374808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E08EE1F-034F-A140-77D0-BCA7505BA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9918" y="3668712"/>
            <a:ext cx="17462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921D0B-FAFD-57FF-4918-90B6B824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4955" y="4938713"/>
            <a:ext cx="16637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860FE1-4B09-D199-5319-3480C2B64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7343" y="4908550"/>
            <a:ext cx="21907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CDDD2F-19AA-5D3F-0C98-285DEADD6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969" y="3668712"/>
            <a:ext cx="1944687" cy="119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6C29856C-913E-A86B-42C9-555C3748E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843" y="6324600"/>
            <a:ext cx="4348162" cy="27781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5715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3200"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8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4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Font typeface="Times" pitchFamily="18" charset="0"/>
              <a:buChar char="•"/>
              <a:defRPr sz="2000" kern="1200">
                <a:solidFill>
                  <a:schemeClr val="accent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0"/>
              </a:spcBef>
              <a:buClr>
                <a:schemeClr val="tx2"/>
              </a:buClr>
              <a:buFontTx/>
              <a:buNone/>
              <a:defRPr/>
            </a:pPr>
            <a:r>
              <a:rPr lang="en-US" altLang="en-US" sz="1800" b="1" dirty="0">
                <a:solidFill>
                  <a:schemeClr val="accent4"/>
                </a:solidFill>
                <a:latin typeface="Calibri" pitchFamily="34" charset="0"/>
              </a:rPr>
              <a:t>Application : Automotive Industry</a:t>
            </a:r>
            <a:endParaRPr lang="en-US" altLang="en-US" sz="1200" b="1" dirty="0">
              <a:solidFill>
                <a:schemeClr val="accent4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99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2025-10-14T10:44:02Z</dcterms:created>
  <dcterms:modified xsi:type="dcterms:W3CDTF">2025-10-14T10:45:26Z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2025-10-14T10:45:26Z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7ca90f96-9103-4c5c-bb53-34568f748618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