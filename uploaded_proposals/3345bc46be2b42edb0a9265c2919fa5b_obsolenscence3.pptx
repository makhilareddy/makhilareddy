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2F803-9817-80A9-C469-82A44243D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16BC95-97B6-B0D7-6239-D22BE6A769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F541E-6263-4ACF-3774-8F5C27D65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B279E-41F2-423F-AD24-272DCF88D82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635CA-493A-E221-CCD9-0866397E9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8EE5C-BE59-3FC6-8939-BFB322DF2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3669-AA44-464E-87BF-A7C10D4E2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269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0CD99-BE7F-E080-4464-E37029110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9C387-C139-41C5-4D3F-0E3F44257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90243-8E75-F20D-B5E9-495346DEF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B279E-41F2-423F-AD24-272DCF88D82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2BAB2-D475-F36D-9FB0-066E2E1D5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79E32-7A0E-63AA-07C6-DB14D32E5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3669-AA44-464E-87BF-A7C10D4E2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362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30D40-1F60-CD23-4916-FE4D8279A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CDA2BF-D56E-60FD-B657-F3887300C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0C845-5108-AA42-F34D-FFEF58C49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B279E-41F2-423F-AD24-272DCF88D82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261CB-773B-890E-CB3F-0224CAB62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90D61-4C02-4FFB-3F13-C5F24F9A3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3669-AA44-464E-87BF-A7C10D4E2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962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0B943-7FB6-CEB0-1068-DC3C8E78C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5B706-1596-5481-89FA-F8A06C9FFC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241252-2004-C7C7-2DD0-E59BC2E963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0FED0E-7FF3-EB31-199F-1B179A8A7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B279E-41F2-423F-AD24-272DCF88D82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EEE265-31DA-4497-3AEB-D8EE102B9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098F11-EE93-CC15-4792-F0548BA23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3669-AA44-464E-87BF-A7C10D4E2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69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F9EA1-4EA5-3727-56F5-464BDC846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71240F-E20B-100F-95BC-05A58A953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56218A-7DCE-46D2-4B2A-D90E2D1145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A9ACDC-C539-7E67-FCEE-96F5633EBC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15C95C-C91B-A1E0-219D-DE959204A7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06797C-64B8-C678-F12B-C5B9B50B4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B279E-41F2-423F-AD24-272DCF88D82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9E2B8D-1E84-2724-74A9-F5CE2930E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8A2C2-E26A-29F5-9DAC-F59C2E28A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3669-AA44-464E-87BF-A7C10D4E2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962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46324-8F73-CEC1-531D-39D8D7105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321320-C85C-D1CC-D0CA-454D0CE2B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B279E-41F2-423F-AD24-272DCF88D82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369541-3FEC-2423-0976-0DE27D2EB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444B0E-AAA0-369C-56AC-19581588B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3669-AA44-464E-87BF-A7C10D4E2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30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D63B36-BD9A-AB61-E1D0-D7069555F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B279E-41F2-423F-AD24-272DCF88D82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A53076-AC74-EE92-DA34-21E84920E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5FEC9-2C02-7570-0BB2-DAB2EA669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3669-AA44-464E-87BF-A7C10D4E2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289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A21C7-365C-2F75-FBAF-3A39F19F0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D44DE-D363-56A4-F9F0-F7F9392D5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AB51DD-A144-FB3C-5F9A-EFF57B5E8F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8B7150-52B9-58B9-5CC4-6ADF3F5EE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B279E-41F2-423F-AD24-272DCF88D82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AC9874-4A39-EF33-0B21-B956AD436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9674FA-7670-8256-EF1C-17F33A7C9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3669-AA44-464E-87BF-A7C10D4E2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786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C248C-27E7-55D9-7B63-BCFC14B1F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F665D1-25BB-69C2-D9C2-9058D8E558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9FB27B-113C-BE89-2E0D-0137F0E8F0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DCE676-58AB-4CDB-B007-736D61A5A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B279E-41F2-423F-AD24-272DCF88D82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182072-9349-B02A-5EBE-05FCA5736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935556-0AD0-3440-A5C7-F39762DFE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3669-AA44-464E-87BF-A7C10D4E2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385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E60F0-31B6-0FAB-E13D-E0ECB09EB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A936CD-5BAE-9B29-0938-47D83E98E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8C2AE-E468-193A-65D8-286398F9B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B279E-41F2-423F-AD24-272DCF88D82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55649-9FAE-0EA2-B1DC-FFC5458A3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950A5-5F11-B17F-BA86-1B9475009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3669-AA44-464E-87BF-A7C10D4E2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810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9D1FF8-954C-9031-667C-46440F0B3F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7BE149-0461-648A-9293-3EB68A9AB3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72DB1-3E7F-2CBC-F324-FCE33E5E6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B279E-41F2-423F-AD24-272DCF88D82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5E26D-511A-FD7B-2A17-630F7D1DC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BA374-92CC-1F5A-7B7C-1973AA43B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3669-AA44-464E-87BF-A7C10D4E2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741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88DEA9-7E29-F394-E4D0-25098FC5F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355140-92B4-69D8-A87D-60C06AAF36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63D6F-F02A-7DE0-2197-AAF8BD744D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DB279E-41F2-423F-AD24-272DCF88D82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8254A-9C48-397E-B3AD-A23C53C015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2509C-49D7-B0E3-9FD7-4F3A08FB1B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B13669-AA44-464E-87BF-A7C10D4E2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818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://www.google.co.in/url?sa=i&amp;rct=j&amp;q=&amp;esrc=s&amp;frm=1&amp;source=images&amp;cd=&amp;cad=rja&amp;uact=8&amp;docid=RAvwZ8GLSw0_6M&amp;tbnid=scQeqAlqTiTpIM:&amp;ved=0CAUQjRw&amp;url=http://en.wikipedia.org/wiki/Linear_induction_motor&amp;ei=qzRaU7rPNIyBrge5soGIDg&amp;bvm=bv.65397613,d.bmk&amp;psig=AFQjCNEohtEbKY9BpEYemUXW3ouqc-y02A&amp;ust=1398506737466213" TargetMode="External"/><Relationship Id="rId13" Type="http://schemas.openxmlformats.org/officeDocument/2006/relationships/image" Target="../media/image10.png"/><Relationship Id="rId18" Type="http://schemas.openxmlformats.org/officeDocument/2006/relationships/image" Target="../media/image15.jpg"/><Relationship Id="rId3" Type="http://schemas.openxmlformats.org/officeDocument/2006/relationships/image" Target="../media/image2.jpeg"/><Relationship Id="rId7" Type="http://schemas.openxmlformats.org/officeDocument/2006/relationships/image" Target="../media/image5.jpeg"/><Relationship Id="rId12" Type="http://schemas.openxmlformats.org/officeDocument/2006/relationships/image" Target="../media/image9.jpeg"/><Relationship Id="rId17" Type="http://schemas.openxmlformats.org/officeDocument/2006/relationships/image" Target="../media/image14.jpeg"/><Relationship Id="rId2" Type="http://schemas.openxmlformats.org/officeDocument/2006/relationships/image" Target="../media/image1.jpeg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jpeg"/><Relationship Id="rId5" Type="http://schemas.openxmlformats.org/officeDocument/2006/relationships/image" Target="../media/image3.jpeg"/><Relationship Id="rId15" Type="http://schemas.openxmlformats.org/officeDocument/2006/relationships/image" Target="../media/image12.png"/><Relationship Id="rId10" Type="http://schemas.openxmlformats.org/officeDocument/2006/relationships/image" Target="../media/image7.jpeg"/><Relationship Id="rId19" Type="http://schemas.openxmlformats.org/officeDocument/2006/relationships/image" Target="../media/image16.jpg"/><Relationship Id="rId4" Type="http://schemas.openxmlformats.org/officeDocument/2006/relationships/hyperlink" Target="http://www.google.co.in/url?sa=i&amp;rct=j&amp;q=&amp;esrc=s&amp;frm=1&amp;source=images&amp;cd=&amp;cad=rja&amp;uact=8&amp;docid=3eWKhIpnFhfKEM&amp;tbnid=ocgOoqn0ct51QM:&amp;ved=0CAUQjRw&amp;url=http://www.vigilant-components.com/services/supply-chain-management/obsolescence-management/&amp;ei=ITRaU7m8L8izrgeb7YBA&amp;bvm=bv.65397613,d.bmk&amp;psig=AFQjCNEohtEbKY9BpEYemUXW3ouqc-y02A&amp;ust=1398506737466213" TargetMode="External"/><Relationship Id="rId9" Type="http://schemas.openxmlformats.org/officeDocument/2006/relationships/image" Target="../media/image6.jpe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7B6C73D-874F-7152-94D8-DBA84F5206E9}"/>
              </a:ext>
            </a:extLst>
          </p:cNvPr>
          <p:cNvSpPr/>
          <p:nvPr/>
        </p:nvSpPr>
        <p:spPr>
          <a:xfrm>
            <a:off x="530207" y="1074648"/>
            <a:ext cx="1931189" cy="420335"/>
          </a:xfrm>
          <a:prstGeom prst="rect">
            <a:avLst/>
          </a:prstGeom>
        </p:spPr>
        <p:txBody>
          <a:bodyPr wrap="square" lIns="87086" tIns="43543" rIns="87086" bIns="4354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ctr" defTabSz="66673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Semicon equipment manufacturer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F897E7-9053-BAF5-8F8C-D2138420BEF2}"/>
              </a:ext>
            </a:extLst>
          </p:cNvPr>
          <p:cNvSpPr/>
          <p:nvPr/>
        </p:nvSpPr>
        <p:spPr>
          <a:xfrm>
            <a:off x="430347" y="1699247"/>
            <a:ext cx="2130910" cy="36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87086" tIns="43543" rIns="87086" bIns="43543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2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0250B2-211C-A37F-430A-8CC266039F39}"/>
              </a:ext>
            </a:extLst>
          </p:cNvPr>
          <p:cNvSpPr/>
          <p:nvPr/>
        </p:nvSpPr>
        <p:spPr>
          <a:xfrm>
            <a:off x="425637" y="974821"/>
            <a:ext cx="2156871" cy="59436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87086" tIns="43543" rIns="87086" bIns="43543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2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+mn-ea"/>
              <a:cs typeface="Arial" charset="0"/>
            </a:endParaRPr>
          </a:p>
          <a:p>
            <a:pPr marL="0" marR="0" lvl="0" indent="0" algn="ctr" defTabSz="912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Semicon equipment manufacturer</a:t>
            </a:r>
          </a:p>
          <a:p>
            <a:pPr marL="0" marR="0" lvl="0" indent="0" algn="ctr" defTabSz="912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3900D3-6D70-B611-14A4-088E3BBF12AF}"/>
              </a:ext>
            </a:extLst>
          </p:cNvPr>
          <p:cNvSpPr/>
          <p:nvPr/>
        </p:nvSpPr>
        <p:spPr>
          <a:xfrm>
            <a:off x="368399" y="1604819"/>
            <a:ext cx="2181066" cy="1980762"/>
          </a:xfrm>
          <a:prstGeom prst="rect">
            <a:avLst/>
          </a:prstGeom>
          <a:noFill/>
        </p:spPr>
        <p:txBody>
          <a:bodyPr wrap="square" lIns="87086" tIns="43543" rIns="87086" bIns="4354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51406" marR="0" lvl="0" indent="-51406" algn="l" defTabSz="666736" rtl="0" eaLnBrk="1" fontAlgn="auto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Developed and Maintaining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Automated Database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to handle component obsolescence</a:t>
            </a:r>
          </a:p>
          <a:p>
            <a:pPr marL="51406" marR="0" lvl="0" indent="-51406" algn="l" defTabSz="666736" rtl="0" eaLnBrk="1" fontAlgn="auto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Monitoring the status of each obsolete part &amp; tracking until implementation. </a:t>
            </a:r>
          </a:p>
          <a:p>
            <a:pPr marL="51406" marR="0" lvl="0" indent="-51406" algn="l" defTabSz="666736" rtl="0" eaLnBrk="1" fontAlgn="auto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10000 components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scrubbing and monitoring</a:t>
            </a:r>
          </a:p>
          <a:p>
            <a:pPr marL="51406" marR="0" lvl="0" indent="-51406" algn="l" defTabSz="666736" rtl="0" eaLnBrk="1" fontAlgn="auto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ECR processed to implement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1100 replacements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17E747-2984-4401-4BCE-07E139B9248C}"/>
              </a:ext>
            </a:extLst>
          </p:cNvPr>
          <p:cNvSpPr/>
          <p:nvPr/>
        </p:nvSpPr>
        <p:spPr>
          <a:xfrm>
            <a:off x="399881" y="5827016"/>
            <a:ext cx="2157984" cy="4940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87086" tIns="43543" rIns="87086" bIns="43543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7606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+mn-ea"/>
                <a:cs typeface="+mn-cs"/>
              </a:rPr>
              <a:t>Peak Team Size – 35+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0F6938-08A1-C6C9-4827-8A03ACE357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5637" y="4642240"/>
            <a:ext cx="1225203" cy="422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071A714-985F-95C3-6385-7F8CA6683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84064" y="5524840"/>
            <a:ext cx="1420499" cy="268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>
            <a:hlinkClick r:id="rId4"/>
            <a:extLst>
              <a:ext uri="{FF2B5EF4-FFF2-40B4-BE49-F238E27FC236}">
                <a16:creationId xmlns:a16="http://schemas.microsoft.com/office/drawing/2014/main" id="{FA458BA2-8A78-E756-BC5A-112EB6521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8901" y="5000146"/>
            <a:ext cx="1293153" cy="520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48DF7F0-42D0-96DC-879A-867B47A34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299447" y="4178607"/>
            <a:ext cx="1308132" cy="11255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3155CD5-E427-EE4E-A4BA-33325899F362}"/>
              </a:ext>
            </a:extLst>
          </p:cNvPr>
          <p:cNvSpPr/>
          <p:nvPr/>
        </p:nvSpPr>
        <p:spPr>
          <a:xfrm>
            <a:off x="2635708" y="974821"/>
            <a:ext cx="2122459" cy="59436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87086" tIns="43543" rIns="87086" bIns="43543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2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AD0732-1CC0-234D-4DCD-D3155DB9E034}"/>
              </a:ext>
            </a:extLst>
          </p:cNvPr>
          <p:cNvSpPr/>
          <p:nvPr/>
        </p:nvSpPr>
        <p:spPr>
          <a:xfrm>
            <a:off x="2724108" y="1090352"/>
            <a:ext cx="1880861" cy="420335"/>
          </a:xfrm>
          <a:prstGeom prst="rect">
            <a:avLst/>
          </a:prstGeom>
        </p:spPr>
        <p:txBody>
          <a:bodyPr wrap="square" lIns="87086" tIns="43543" rIns="87086" bIns="4354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ctr" defTabSz="66673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NA based Railway Transport Major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0442A7-05A3-AE75-4B0E-2B05436A5B94}"/>
              </a:ext>
            </a:extLst>
          </p:cNvPr>
          <p:cNvSpPr/>
          <p:nvPr/>
        </p:nvSpPr>
        <p:spPr>
          <a:xfrm>
            <a:off x="2637798" y="1699247"/>
            <a:ext cx="2118288" cy="36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87086" tIns="43543" rIns="87086" bIns="43543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2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E7C858-7733-EE0F-EA8D-8D7C8E6AFD91}"/>
              </a:ext>
            </a:extLst>
          </p:cNvPr>
          <p:cNvSpPr/>
          <p:nvPr/>
        </p:nvSpPr>
        <p:spPr>
          <a:xfrm>
            <a:off x="2641573" y="5835512"/>
            <a:ext cx="2119311" cy="4940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87086" tIns="43543" rIns="87086" bIns="43543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7606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+mn-ea"/>
                <a:cs typeface="+mn-cs"/>
              </a:rPr>
              <a:t>Peak Team Size – 10+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082706-E635-F3C2-5C8D-C8E42AA4BEEE}"/>
              </a:ext>
            </a:extLst>
          </p:cNvPr>
          <p:cNvSpPr/>
          <p:nvPr/>
        </p:nvSpPr>
        <p:spPr>
          <a:xfrm>
            <a:off x="2601566" y="1638877"/>
            <a:ext cx="2181066" cy="1494475"/>
          </a:xfrm>
          <a:prstGeom prst="rect">
            <a:avLst/>
          </a:prstGeom>
          <a:noFill/>
        </p:spPr>
        <p:txBody>
          <a:bodyPr wrap="square" lIns="87086" tIns="43543" rIns="87086" bIns="4354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114907" marR="0" lvl="0" indent="-114907" algn="l" defTabSz="666736" rtl="0" eaLnBrk="1" fontAlgn="auto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Provided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uniform solution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for affected assemblies with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quick turnaround for production issues</a:t>
            </a:r>
          </a:p>
          <a:p>
            <a:pPr marL="114907" marR="0" lvl="0" indent="-114907" algn="l" defTabSz="666736" rtl="0" eaLnBrk="1" fontAlgn="auto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Agile Database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monitors &amp; track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the status of each obsolete part until the implementation of the solution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C928A0C-92F7-6721-6706-02F359742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25327" y="4528469"/>
            <a:ext cx="1443813" cy="1051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hlinkClick r:id="rId8"/>
            <a:extLst>
              <a:ext uri="{FF2B5EF4-FFF2-40B4-BE49-F238E27FC236}">
                <a16:creationId xmlns:a16="http://schemas.microsoft.com/office/drawing/2014/main" id="{26F426FF-309E-46EC-ED95-0EEC6819EA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4738" y="3992521"/>
            <a:ext cx="1641201" cy="101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0919C46-C97E-D3A5-DF00-A93467240A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52458" y="5549772"/>
            <a:ext cx="1420499" cy="268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F64A95D-97C7-DCF5-E971-0E25019F8631}"/>
              </a:ext>
            </a:extLst>
          </p:cNvPr>
          <p:cNvSpPr/>
          <p:nvPr/>
        </p:nvSpPr>
        <p:spPr>
          <a:xfrm>
            <a:off x="7030583" y="974821"/>
            <a:ext cx="2106787" cy="59436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87086" tIns="43543" rIns="87086" bIns="43543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2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BD7679-4348-0E81-6488-AD8BDAC6A4EF}"/>
              </a:ext>
            </a:extLst>
          </p:cNvPr>
          <p:cNvSpPr/>
          <p:nvPr/>
        </p:nvSpPr>
        <p:spPr>
          <a:xfrm>
            <a:off x="7062321" y="1101747"/>
            <a:ext cx="2015884" cy="420335"/>
          </a:xfrm>
          <a:prstGeom prst="rect">
            <a:avLst/>
          </a:prstGeom>
        </p:spPr>
        <p:txBody>
          <a:bodyPr wrap="square" lIns="87086" tIns="43543" rIns="87086" bIns="4354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ctr" defTabSz="66673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Global Oil Field Equipment Manufacturer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0E775A3-41C9-2B75-3AEA-369A1C56EABD}"/>
              </a:ext>
            </a:extLst>
          </p:cNvPr>
          <p:cNvSpPr/>
          <p:nvPr/>
        </p:nvSpPr>
        <p:spPr>
          <a:xfrm>
            <a:off x="7030583" y="1699247"/>
            <a:ext cx="2106787" cy="36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87086" tIns="43543" rIns="87086" bIns="43543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2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D4A411-6375-1258-BC00-73DDD99C0C15}"/>
              </a:ext>
            </a:extLst>
          </p:cNvPr>
          <p:cNvSpPr/>
          <p:nvPr/>
        </p:nvSpPr>
        <p:spPr>
          <a:xfrm>
            <a:off x="7032282" y="5835512"/>
            <a:ext cx="2105088" cy="4940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87086" tIns="43543" rIns="87086" bIns="43543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7606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+mn-ea"/>
                <a:cs typeface="+mn-cs"/>
              </a:rPr>
              <a:t>Peak Team Size – 12+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A055E9-D424-30FF-5AD4-706125A5CA56}"/>
              </a:ext>
            </a:extLst>
          </p:cNvPr>
          <p:cNvSpPr/>
          <p:nvPr/>
        </p:nvSpPr>
        <p:spPr>
          <a:xfrm>
            <a:off x="6993012" y="1664158"/>
            <a:ext cx="2181066" cy="1814563"/>
          </a:xfrm>
          <a:prstGeom prst="rect">
            <a:avLst/>
          </a:prstGeom>
          <a:noFill/>
        </p:spPr>
        <p:txBody>
          <a:bodyPr wrap="square" lIns="87086" tIns="43543" rIns="87086" bIns="4354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114907" marR="0" lvl="0" indent="-114907" algn="l" defTabSz="666736" rtl="0" eaLnBrk="1" fontAlgn="auto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9+ years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of engagement</a:t>
            </a:r>
          </a:p>
          <a:p>
            <a:pPr marL="114907" indent="-114907" defTabSz="666736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10000+ components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scrubbing and monitoring</a:t>
            </a:r>
          </a:p>
          <a:p>
            <a:pPr marL="114907" marR="0" lvl="0" indent="-114907" algn="l" defTabSz="666736" rtl="0" eaLnBrk="1" fontAlgn="auto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Complete life cycle ownership – board redesign, FW upgrade, SW rewrite, prototyping, testing &amp; validation as per compliance requirements</a:t>
            </a:r>
          </a:p>
          <a:p>
            <a:pPr marL="114907" marR="0" lvl="0" indent="-114907" algn="l" defTabSz="666736" rtl="0" eaLnBrk="1" fontAlgn="auto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+mn-ea"/>
              <a:cs typeface="Arial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374A831-EA6B-7C3F-0812-4D0CFAB85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00871" y="3704544"/>
            <a:ext cx="1532368" cy="1234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7BCC94C-072B-DD73-5F87-DDE69B58E2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34601" y="5037662"/>
            <a:ext cx="798638" cy="6816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7B4776B-A32D-48DA-17EB-168191AB3C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175678" y="5090058"/>
            <a:ext cx="798638" cy="593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C7023143-4F32-162B-51BE-0AE93BB83D27}"/>
              </a:ext>
            </a:extLst>
          </p:cNvPr>
          <p:cNvSpPr/>
          <p:nvPr/>
        </p:nvSpPr>
        <p:spPr>
          <a:xfrm>
            <a:off x="4822306" y="974821"/>
            <a:ext cx="2103120" cy="59436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87086" tIns="43543" rIns="87086" bIns="43543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2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399CCA-030E-A6CD-107F-7053D0D92413}"/>
              </a:ext>
            </a:extLst>
          </p:cNvPr>
          <p:cNvSpPr/>
          <p:nvPr/>
        </p:nvSpPr>
        <p:spPr>
          <a:xfrm>
            <a:off x="4859572" y="1087731"/>
            <a:ext cx="2051637" cy="420335"/>
          </a:xfrm>
          <a:prstGeom prst="rect">
            <a:avLst/>
          </a:prstGeom>
        </p:spPr>
        <p:txBody>
          <a:bodyPr wrap="square" lIns="87086" tIns="43543" rIns="87086" bIns="4354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ctr" defTabSz="66673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Leading Fire and safety solution provider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4B7BD09-9CF4-EB26-1467-00D2B737C954}"/>
              </a:ext>
            </a:extLst>
          </p:cNvPr>
          <p:cNvSpPr/>
          <p:nvPr/>
        </p:nvSpPr>
        <p:spPr>
          <a:xfrm>
            <a:off x="4812856" y="1699247"/>
            <a:ext cx="2157289" cy="36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87086" tIns="43543" rIns="87086" bIns="43543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2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2015D37-0322-57B1-5CD5-992903580DB0}"/>
              </a:ext>
            </a:extLst>
          </p:cNvPr>
          <p:cNvSpPr/>
          <p:nvPr/>
        </p:nvSpPr>
        <p:spPr>
          <a:xfrm>
            <a:off x="4825340" y="5841529"/>
            <a:ext cx="2103120" cy="4940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87086" tIns="43543" rIns="87086" bIns="43543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7606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+mn-ea"/>
                <a:cs typeface="+mn-cs"/>
              </a:rPr>
              <a:t>Peak Team Size – 20+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429598D-B2BF-D933-07C4-25202C079796}"/>
              </a:ext>
            </a:extLst>
          </p:cNvPr>
          <p:cNvSpPr/>
          <p:nvPr/>
        </p:nvSpPr>
        <p:spPr>
          <a:xfrm>
            <a:off x="4801592" y="1629053"/>
            <a:ext cx="2181066" cy="1571419"/>
          </a:xfrm>
          <a:prstGeom prst="rect">
            <a:avLst/>
          </a:prstGeom>
          <a:noFill/>
        </p:spPr>
        <p:txBody>
          <a:bodyPr wrap="square" lIns="87086" tIns="43543" rIns="87086" bIns="4354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114907" marR="0" lvl="0" indent="-114907" algn="l" defTabSz="666736" rtl="0" eaLnBrk="1" fontAlgn="auto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Highly experienced Engineers integrated with product engineering team for design validation</a:t>
            </a:r>
          </a:p>
          <a:p>
            <a:pPr marL="114907" marR="0" lvl="0" indent="-114907" algn="l" defTabSz="666736" rtl="0" eaLnBrk="1" fontAlgn="auto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Obsolescence watch, quality checks, Duplicate Extraction </a:t>
            </a:r>
          </a:p>
          <a:p>
            <a:pPr marL="114907" marR="0" lvl="0" indent="-114907" algn="l" defTabSz="666736" rtl="0" eaLnBrk="1" fontAlgn="auto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Mature CE process to achieve high quality outputs in faster line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7BABD3D-2C99-224D-7770-B6BEB573E1D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91178" y="4446517"/>
            <a:ext cx="2103313" cy="1346661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63124972-C202-81D2-7BDD-96229A9D7F5A}"/>
              </a:ext>
            </a:extLst>
          </p:cNvPr>
          <p:cNvSpPr/>
          <p:nvPr/>
        </p:nvSpPr>
        <p:spPr>
          <a:xfrm>
            <a:off x="4902990" y="4216723"/>
            <a:ext cx="731850" cy="532174"/>
          </a:xfrm>
          <a:prstGeom prst="rect">
            <a:avLst/>
          </a:prstGeom>
          <a:blipFill>
            <a:blip r:embed="rId14" cstate="email"/>
            <a:stretch>
              <a:fillRect/>
            </a:stretch>
          </a:blipFill>
          <a:ln w="63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086" tIns="43543" rIns="87086" bIns="43543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83D6270-FEC1-F86A-D0BA-8AC87DD37897}"/>
              </a:ext>
            </a:extLst>
          </p:cNvPr>
          <p:cNvSpPr/>
          <p:nvPr/>
        </p:nvSpPr>
        <p:spPr>
          <a:xfrm>
            <a:off x="6238424" y="4698818"/>
            <a:ext cx="624025" cy="594838"/>
          </a:xfrm>
          <a:prstGeom prst="rect">
            <a:avLst/>
          </a:prstGeom>
          <a:blipFill>
            <a:blip r:embed="rId1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086" tIns="43543" rIns="87086" bIns="43543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22C2B43-88A1-38DB-95FF-D4A7CA5E45FA}"/>
              </a:ext>
            </a:extLst>
          </p:cNvPr>
          <p:cNvSpPr/>
          <p:nvPr/>
        </p:nvSpPr>
        <p:spPr>
          <a:xfrm>
            <a:off x="5758775" y="4019833"/>
            <a:ext cx="1023187" cy="580571"/>
          </a:xfrm>
          <a:prstGeom prst="rect">
            <a:avLst/>
          </a:prstGeom>
          <a:blipFill>
            <a:blip r:embed="rId1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-12537" b="-29273"/>
            </a:stretch>
          </a:blip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086" tIns="43543" rIns="87086" bIns="43543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1C696AD-13DB-83C1-2456-1D3D685AE784}"/>
              </a:ext>
            </a:extLst>
          </p:cNvPr>
          <p:cNvSpPr/>
          <p:nvPr/>
        </p:nvSpPr>
        <p:spPr>
          <a:xfrm>
            <a:off x="9210857" y="974821"/>
            <a:ext cx="2286000" cy="59436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87086" tIns="43543" rIns="87086" bIns="43543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2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4FDF895-AC06-339A-BB5C-35234C99E052}"/>
              </a:ext>
            </a:extLst>
          </p:cNvPr>
          <p:cNvSpPr/>
          <p:nvPr/>
        </p:nvSpPr>
        <p:spPr>
          <a:xfrm>
            <a:off x="9210781" y="1699247"/>
            <a:ext cx="2322441" cy="36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87086" tIns="43543" rIns="87086" bIns="43543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2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AE0DAFF-26D0-B83E-3A42-37C8925832EB}"/>
              </a:ext>
            </a:extLst>
          </p:cNvPr>
          <p:cNvSpPr/>
          <p:nvPr/>
        </p:nvSpPr>
        <p:spPr>
          <a:xfrm>
            <a:off x="9183000" y="1000836"/>
            <a:ext cx="2290546" cy="420335"/>
          </a:xfrm>
          <a:prstGeom prst="rect">
            <a:avLst/>
          </a:prstGeom>
        </p:spPr>
        <p:txBody>
          <a:bodyPr wrap="square" lIns="87086" tIns="43543" rIns="87086" bIns="4354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ctr" defTabSz="66673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US based conglomerate – commercial and consumer product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2FBDA7B-A55B-2E87-6DD4-30A15064BFB7}"/>
              </a:ext>
            </a:extLst>
          </p:cNvPr>
          <p:cNvSpPr/>
          <p:nvPr/>
        </p:nvSpPr>
        <p:spPr>
          <a:xfrm>
            <a:off x="9234518" y="5835512"/>
            <a:ext cx="2286000" cy="4940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87086" tIns="43543" rIns="87086" bIns="43543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7606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+mn-ea"/>
                <a:cs typeface="+mn-cs"/>
              </a:rPr>
              <a:t>Peak Team Size – 30+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A7EA4EE-51B3-B859-BB02-04894E08A0E1}"/>
              </a:ext>
            </a:extLst>
          </p:cNvPr>
          <p:cNvSpPr/>
          <p:nvPr/>
        </p:nvSpPr>
        <p:spPr>
          <a:xfrm>
            <a:off x="9234516" y="1633132"/>
            <a:ext cx="2181066" cy="1980762"/>
          </a:xfrm>
          <a:prstGeom prst="rect">
            <a:avLst/>
          </a:prstGeom>
          <a:noFill/>
        </p:spPr>
        <p:txBody>
          <a:bodyPr wrap="square" lIns="87086" tIns="43543" rIns="87086" bIns="4354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114907" marR="0" lvl="0" indent="-114907" algn="l" defTabSz="666736" rtl="0" eaLnBrk="1" fontAlgn="auto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7+ years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of engagement</a:t>
            </a:r>
          </a:p>
          <a:p>
            <a:pPr marL="114907" marR="0" lvl="0" indent="-114907" algn="l" defTabSz="666736" rtl="0" eaLnBrk="1" fontAlgn="auto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Complete life cycle ownership – board redesign, FW upgrade, SW rewrite, prototyping, testing &amp; validation as per compliance requirements</a:t>
            </a:r>
          </a:p>
          <a:p>
            <a:pPr marL="114907" marR="0" lvl="0" indent="-114907" algn="l" defTabSz="666736" rtl="0" eaLnBrk="1" fontAlgn="auto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Value engineering and Standardization</a:t>
            </a:r>
          </a:p>
          <a:p>
            <a:pPr marL="114907" marR="0" lvl="0" indent="-114907" algn="l" defTabSz="666736" rtl="0" eaLnBrk="1" fontAlgn="auto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Supplier sourcing support with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cost negotiation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+mn-ea"/>
                <a:cs typeface="Arial" charset="0"/>
              </a:rPr>
              <a:t>for best cost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75EEF2A-EB51-C4E7-90AF-EA15E8E44ED6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10781" y="5099134"/>
            <a:ext cx="2226462" cy="69061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A74A93E3-8CFB-5A50-BCA5-E5C3787F602B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574" y="4359121"/>
            <a:ext cx="993269" cy="77124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91333034-756F-2540-CC83-9D4E3D986F01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6328" y="4345775"/>
            <a:ext cx="1042364" cy="780767"/>
          </a:xfrm>
          <a:prstGeom prst="rect">
            <a:avLst/>
          </a:prstGeom>
        </p:spPr>
      </p:pic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138665F2-FACC-A42B-1699-FA54EEFB0A05}"/>
              </a:ext>
            </a:extLst>
          </p:cNvPr>
          <p:cNvSpPr txBox="1">
            <a:spLocks/>
          </p:cNvSpPr>
          <p:nvPr/>
        </p:nvSpPr>
        <p:spPr bwMode="auto">
          <a:xfrm>
            <a:off x="11649430" y="5950757"/>
            <a:ext cx="174171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r" defTabSz="119995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+mn-ea"/>
                <a:cs typeface="Arial" pitchFamily="34" charset="0"/>
              </a:rPr>
              <a:t>12</a:t>
            </a:r>
          </a:p>
        </p:txBody>
      </p:sp>
      <p:sp>
        <p:nvSpPr>
          <p:cNvPr id="47" name="Title 1">
            <a:extLst>
              <a:ext uri="{FF2B5EF4-FFF2-40B4-BE49-F238E27FC236}">
                <a16:creationId xmlns:a16="http://schemas.microsoft.com/office/drawing/2014/main" id="{715BE08C-1D84-4304-A098-5467E04B8E13}"/>
              </a:ext>
            </a:extLst>
          </p:cNvPr>
          <p:cNvSpPr txBox="1">
            <a:spLocks/>
          </p:cNvSpPr>
          <p:nvPr/>
        </p:nvSpPr>
        <p:spPr>
          <a:xfrm>
            <a:off x="702061" y="522374"/>
            <a:ext cx="8444195" cy="98488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lang="en-US" sz="3200" b="1" kern="120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Arial" charset="0"/>
                <a:ea typeface="+mn-ea"/>
                <a:cs typeface="Arial" charset="0"/>
              </a:defRPr>
            </a:lvl5pPr>
            <a:lvl6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Arial" charset="0"/>
                <a:ea typeface="+mn-ea"/>
                <a:cs typeface="Arial" charset="0"/>
              </a:defRPr>
            </a:lvl6pPr>
            <a:lvl7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Arial" charset="0"/>
                <a:ea typeface="+mn-ea"/>
                <a:cs typeface="Arial" charset="0"/>
              </a:defRPr>
            </a:lvl7pPr>
            <a:lvl8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Arial" charset="0"/>
                <a:ea typeface="+mn-ea"/>
                <a:cs typeface="Arial" charset="0"/>
              </a:defRPr>
            </a:lvl8pPr>
            <a:lvl9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US" sz="2000" dirty="0">
                <a:latin typeface="Arial" charset="0"/>
                <a:cs typeface="Arial" charset="0"/>
              </a:rPr>
              <a:t>Breadth of our expertise across industries</a:t>
            </a:r>
            <a:endParaRPr lang="en-IN" sz="20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8646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</Words>
  <Application>Microsoft Office PowerPoint</Application>
  <PresentationFormat>Widescreen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Narrow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1</cp:revision>
  <dcterms:created xsi:type="dcterms:W3CDTF">2025-10-14T07:50:05Z</dcterms:created>
  <dcterms:modified xsi:type="dcterms:W3CDTF">2025-10-14T07:50:59Z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2025-10-14T07:50:59Z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a0d8484e-cd6f-403e-8086-3fb863423171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