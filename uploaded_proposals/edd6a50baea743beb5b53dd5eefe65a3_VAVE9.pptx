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138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/>
              <a:t>Savings Distribution</a:t>
            </a:r>
          </a:p>
        </c:rich>
      </c:tx>
      <c:layout>
        <c:manualLayout>
          <c:xMode val="edge"/>
          <c:yMode val="edge"/>
          <c:x val="0.30644375885183206"/>
          <c:y val="5.9467117310300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9695238825669976E-2"/>
          <c:y val="0.23115262780680709"/>
          <c:w val="0.92949341009152242"/>
          <c:h val="0.69368320386993132"/>
        </c:manualLayout>
      </c:layout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Savings Distribution</c:v>
                </c:pt>
              </c:strCache>
            </c:strRef>
          </c:tx>
          <c:dPt>
            <c:idx val="0"/>
            <c:bubble3D val="0"/>
            <c:explosion val="23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CCF-4C02-8C7E-B16D8C40100A}"/>
              </c:ext>
            </c:extLst>
          </c:dPt>
          <c:dPt>
            <c:idx val="1"/>
            <c:bubble3D val="0"/>
            <c:explosion val="18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CCF-4C02-8C7E-B16D8C40100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CCF-4C02-8C7E-B16D8C40100A}"/>
              </c:ext>
            </c:extLst>
          </c:dPt>
          <c:dLbls>
            <c:dLbl>
              <c:idx val="0"/>
              <c:layout>
                <c:manualLayout>
                  <c:x val="0.15213807561947024"/>
                  <c:y val="1.254672392019861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CF-4C02-8C7E-B16D8C40100A}"/>
                </c:ext>
              </c:extLst>
            </c:dLbl>
            <c:dLbl>
              <c:idx val="1"/>
              <c:layout>
                <c:manualLayout>
                  <c:x val="3.0852952952974397E-2"/>
                  <c:y val="-5.391069926416180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CF-4C02-8C7E-B16D8C40100A}"/>
                </c:ext>
              </c:extLst>
            </c:dLbl>
            <c:dLbl>
              <c:idx val="2"/>
              <c:layout>
                <c:manualLayout>
                  <c:x val="-3.9579772901223588E-2"/>
                  <c:y val="-0.1158770122051895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CF-4C02-8C7E-B16D8C4010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Sheet1!$B$2:$B$4</c:f>
              <c:strCache>
                <c:ptCount val="3"/>
                <c:pt idx="0">
                  <c:v>Design Optimization</c:v>
                </c:pt>
                <c:pt idx="1">
                  <c:v>Alternate FFF parts</c:v>
                </c:pt>
                <c:pt idx="2">
                  <c:v>Low cost vendor quotes</c:v>
                </c:pt>
              </c:strCache>
            </c:strRef>
          </c:cat>
          <c:val>
            <c:numRef>
              <c:f>Sheet1!$A$2:$A$4</c:f>
              <c:numCache>
                <c:formatCode>0%</c:formatCode>
                <c:ptCount val="3"/>
                <c:pt idx="0">
                  <c:v>0.04</c:v>
                </c:pt>
                <c:pt idx="1">
                  <c:v>0.05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CF-4C02-8C7E-B16D8C40100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0883037667056085E-2"/>
          <c:y val="0.86643385317544885"/>
          <c:w val="0.89999997857671854"/>
          <c:h val="0.126227162654123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Product Cost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5576409453751325E-2"/>
          <c:y val="0.1234784139470205"/>
          <c:w val="0.90430227537217867"/>
          <c:h val="0.574926171255246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Sheet1!$I$27</c:f>
              <c:strCache>
                <c:ptCount val="1"/>
                <c:pt idx="0">
                  <c:v>Existing  Cost</c:v>
                </c:pt>
              </c:strCache>
            </c:strRef>
          </c:tx>
          <c:spPr>
            <a:solidFill>
              <a:srgbClr val="E31837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Sheet1!$H$28:$H$31</c:f>
              <c:strCache>
                <c:ptCount val="4"/>
                <c:pt idx="0">
                  <c:v>Electronic Components</c:v>
                </c:pt>
                <c:pt idx="1">
                  <c:v>Wire Harness</c:v>
                </c:pt>
                <c:pt idx="2">
                  <c:v>Mechanical Components</c:v>
                </c:pt>
                <c:pt idx="3">
                  <c:v>Overall Product Cost</c:v>
                </c:pt>
              </c:strCache>
            </c:strRef>
          </c:cat>
          <c:val>
            <c:numRef>
              <c:f>Sheet1!$I$28:$I$31</c:f>
              <c:numCache>
                <c:formatCode>0.00</c:formatCode>
                <c:ptCount val="4"/>
                <c:pt idx="0">
                  <c:v>84.842700000000008</c:v>
                </c:pt>
                <c:pt idx="1">
                  <c:v>42.57</c:v>
                </c:pt>
                <c:pt idx="2">
                  <c:v>29.6173</c:v>
                </c:pt>
                <c:pt idx="3">
                  <c:v>157.03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7A-4D0E-A029-B5A9D9DA963D}"/>
            </c:ext>
          </c:extLst>
        </c:ser>
        <c:ser>
          <c:idx val="1"/>
          <c:order val="1"/>
          <c:tx>
            <c:strRef>
              <c:f>Sheet1!$J$27</c:f>
              <c:strCache>
                <c:ptCount val="1"/>
                <c:pt idx="0">
                  <c:v>Proposed Cost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Sheet1!$H$28:$H$31</c:f>
              <c:strCache>
                <c:ptCount val="4"/>
                <c:pt idx="0">
                  <c:v>Electronic Components</c:v>
                </c:pt>
                <c:pt idx="1">
                  <c:v>Wire Harness</c:v>
                </c:pt>
                <c:pt idx="2">
                  <c:v>Mechanical Components</c:v>
                </c:pt>
                <c:pt idx="3">
                  <c:v>Overall Product Cost</c:v>
                </c:pt>
              </c:strCache>
            </c:strRef>
          </c:cat>
          <c:val>
            <c:numRef>
              <c:f>Sheet1!$J$28:$J$31</c:f>
              <c:numCache>
                <c:formatCode>0.00</c:formatCode>
                <c:ptCount val="4"/>
                <c:pt idx="0">
                  <c:v>74.492700000000013</c:v>
                </c:pt>
                <c:pt idx="1">
                  <c:v>20.330000000000002</c:v>
                </c:pt>
                <c:pt idx="2">
                  <c:v>22.3873</c:v>
                </c:pt>
                <c:pt idx="3">
                  <c:v>117.21000000000001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7A-4D0E-A029-B5A9D9DA96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1804861904"/>
        <c:axId val="-1804860816"/>
      </c:barChart>
      <c:catAx>
        <c:axId val="-180486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04860816"/>
        <c:crosses val="autoZero"/>
        <c:auto val="1"/>
        <c:lblAlgn val="ctr"/>
        <c:lblOffset val="100"/>
        <c:noMultiLvlLbl val="0"/>
      </c:catAx>
      <c:valAx>
        <c:axId val="-1804860816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804861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38746682337083"/>
          <c:y val="0.89680802171069807"/>
          <c:w val="0.6608315360985505"/>
          <c:h val="0.103191978289301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302A7-5385-4DED-9DCA-B8EC08C5F255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7640-C86C-451B-97BD-6D01ABF84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882C-5D63-485B-1C64-A79072856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D1E41-06D1-A84F-8C4C-1A2CC44CE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B7D9D-04CC-A661-778D-B7BAF741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CCEA0-9064-02EA-072F-FA4F539E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81858-3E29-1E00-B64C-345682F8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78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1D11-D838-D699-6F42-F582EC68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7EC7-2061-9F5A-C2F2-9EE58BC6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51F2-D9D8-924D-7DC9-472B8DC9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6D22-4993-2B09-D610-1474F905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EA04E-BDF2-195E-948B-DFA3E7C7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6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5C73B-B957-24B3-E8D7-69E7719B7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AC03B-1170-EE93-94C3-557EE1C23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EB0A1-3BCB-4484-E4A0-ABAC1958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EB27-AD0C-7D99-E10A-9A1E0D76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5D64-818B-8FBC-4553-55A1D3F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6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8841-DE39-9C16-67AC-B4D4BD39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1723-51AA-1B44-1CB8-5821B5E2A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AB4E2-0FD3-FC61-AE7C-749B1B431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962-0326-4C70-2419-96660EE4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7E36F-5E04-3439-58CC-DB1B882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0218F-BD67-A2A9-7FA9-AB55F29A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8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0A23-BC4A-8271-1059-A4DD001B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15B00-1B56-C940-3938-0486B4E67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90A75-CE2A-BCC1-238B-C4DFD3E4F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57807-24DA-19C7-27B0-0D7953668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EDD7F-A0EA-7179-099D-75B141B9C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072F6-8917-6017-2750-EC042554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86941-47FC-C4AB-D581-E64FE9E4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C0CFC-0E2A-F57E-8BEF-8D63D75E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9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4B5E-4C92-7CA3-0304-D6977710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B367F-8C7A-52B9-030A-12A31809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027E-2CDE-37AB-76C0-10F866C5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1B593-1635-FD23-EF39-BD3D4858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40882-1464-7FF2-40BF-23525650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25580-91D6-FC2B-3259-08915462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1D85C-87CD-AA50-B8DA-68515733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9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C7046-D472-7D3B-118C-FE9C3044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3059E-21FA-4960-11F9-9B314E43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FB596-9E31-C1AC-8687-331A1B0FA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B98F2-91EA-8111-2892-09F581F6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BED18-92A8-E9E9-AEA9-74BB0922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80B32-4D2A-3797-9863-A9A0302CC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8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92EC-D9FE-4C87-C14A-54573DDC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4580A-FCC4-9D72-A010-F64ACC2FA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C77FD-520B-B7E2-6D71-25764837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75602-D57D-F6E1-9A9F-89AED507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CECE6-FD75-ECE7-1607-FA3C593E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E5436-26A5-ED99-5F84-76813206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6D2B-8BCE-4593-8D4A-B1CAAD10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2DB35-6046-415C-272A-EFCC1B5D9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34382-2499-DAB6-3D3A-8981FD28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58F47-DE6D-2E78-4821-489A532D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3D186-86BC-F52D-56A0-18C6D184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4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5638C-BC1B-E7CD-C494-FEF29A9AC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64F04-F70D-59D3-1D8D-2113C82BF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03E70-08C1-6627-B885-D567AB9A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7D343-7654-404B-6021-4D8C47A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F1E53-F3DE-046B-66CF-1A88B1BC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85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flipH="1">
            <a:off x="-5" y="247653"/>
            <a:ext cx="10582280" cy="7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5969" y="377986"/>
            <a:ext cx="10440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60" y="968081"/>
            <a:ext cx="10566593" cy="232635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/>
          </p:nvPr>
        </p:nvSpPr>
        <p:spPr bwMode="gray">
          <a:xfrm>
            <a:off x="530183" y="393375"/>
            <a:ext cx="9823495" cy="430887"/>
          </a:xfr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>
            <a:lvl1pPr algn="l"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C96D009-BD9B-4C2A-8352-92EEEC286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11" y="484049"/>
            <a:ext cx="935991" cy="265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15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B862D-1387-0A17-BD72-CC94A83C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37DFE-3442-2EED-CD3B-6A6F28787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64D40-CD4F-1F69-0835-1EB384DF6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40529-730A-4147-A166-E76932E6E55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70513-7003-7CCE-A397-4BE82A65C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F2D2-3CF7-94B5-6574-97CC85FE7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B94C0-1AF8-44BB-A344-FEC6B3263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7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D0F7E4-53DF-3059-EDDD-3A73104093EF}"/>
              </a:ext>
            </a:extLst>
          </p:cNvPr>
          <p:cNvSpPr/>
          <p:nvPr/>
        </p:nvSpPr>
        <p:spPr>
          <a:xfrm>
            <a:off x="8159652" y="1981430"/>
            <a:ext cx="1650629" cy="10080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2671BD-EB54-C441-8478-4FB7008166FB}"/>
              </a:ext>
            </a:extLst>
          </p:cNvPr>
          <p:cNvSpPr>
            <a:spLocks noGrp="1"/>
          </p:cNvSpPr>
          <p:nvPr/>
        </p:nvSpPr>
        <p:spPr bwMode="gray">
          <a:xfrm>
            <a:off x="176581" y="390307"/>
            <a:ext cx="9823495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dirty="0"/>
              <a:t>Cost Optimization of Active Rectifier: 1/2     				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3E2296-7F14-7A08-F03D-A4DECC81F1B3}"/>
              </a:ext>
            </a:extLst>
          </p:cNvPr>
          <p:cNvSpPr>
            <a:spLocks noGrp="1"/>
          </p:cNvSpPr>
          <p:nvPr/>
        </p:nvSpPr>
        <p:spPr>
          <a:xfrm>
            <a:off x="176581" y="1245452"/>
            <a:ext cx="772668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90513" indent="-29051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099" lvl="1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To identify cost out ideas for active rectifier in below areas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Electronic Design review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Proposing low cost FFF alternate parts for the electronic components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To identify alternate supplier quotes for electronic manufacturing services and mechanical components from China and India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42644AD-AB1E-1693-E6E2-B3CFD435D270}"/>
              </a:ext>
            </a:extLst>
          </p:cNvPr>
          <p:cNvSpPr>
            <a:spLocks noGrp="1"/>
          </p:cNvSpPr>
          <p:nvPr/>
        </p:nvSpPr>
        <p:spPr>
          <a:xfrm>
            <a:off x="176581" y="2485607"/>
            <a:ext cx="7101840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90513" indent="-29051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099" lvl="1" algn="just">
              <a:buClr>
                <a:schemeClr val="tx2"/>
              </a:buClr>
            </a:pPr>
            <a:r>
              <a:rPr lang="en-US" sz="1200" dirty="0">
                <a:latin typeface="+mj-lt"/>
              </a:rPr>
              <a:t>Physical unit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200" dirty="0">
                <a:latin typeface="+mj-lt"/>
              </a:rPr>
              <a:t>Product Cost BOM, 2D drawings, 3D Models, assembly drawing and assembly instructions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200" dirty="0">
                <a:latin typeface="+mj-lt"/>
              </a:rPr>
              <a:t>Functional Block Diagram, schematics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200" dirty="0">
                <a:latin typeface="+mj-lt"/>
              </a:rPr>
              <a:t>Estimated annual usage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200" dirty="0">
                <a:latin typeface="+mj-lt"/>
              </a:rPr>
              <a:t>Manufacturing Location – China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2A45EA9-BA9D-9DEE-B7AE-A414DBC1F2D0}"/>
              </a:ext>
            </a:extLst>
          </p:cNvPr>
          <p:cNvSpPr>
            <a:spLocks noGrp="1"/>
          </p:cNvSpPr>
          <p:nvPr/>
        </p:nvSpPr>
        <p:spPr>
          <a:xfrm>
            <a:off x="176581" y="3941345"/>
            <a:ext cx="6673850" cy="113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90513" indent="-29051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099" lvl="1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Alternate electronic components with optimized specifications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Low cost alternate FFF (Form, Fit &amp; Function) parts with specification and cost comparison sheets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Low cost vendor quotes from India and China for below items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Custom made parts like PCB &amp; Cable harness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Mechanical components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200" dirty="0">
                <a:latin typeface="+mj-lt"/>
              </a:rPr>
              <a:t>Electronic Manufacturing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177E3A-4632-EA49-26A4-3471E7B55C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59651" y="888083"/>
            <a:ext cx="1650629" cy="10473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FB400AE-4B7F-C269-5921-7420CFF7FA07}"/>
              </a:ext>
            </a:extLst>
          </p:cNvPr>
          <p:cNvGrpSpPr/>
          <p:nvPr/>
        </p:nvGrpSpPr>
        <p:grpSpPr>
          <a:xfrm>
            <a:off x="9853982" y="870509"/>
            <a:ext cx="1801915" cy="2114133"/>
            <a:chOff x="9191874" y="924903"/>
            <a:chExt cx="2933952" cy="3141070"/>
          </a:xfrm>
        </p:grpSpPr>
        <p:pic>
          <p:nvPicPr>
            <p:cNvPr id="18" name="图片 4">
              <a:extLst>
                <a:ext uri="{FF2B5EF4-FFF2-40B4-BE49-F238E27FC236}">
                  <a16:creationId xmlns:a16="http://schemas.microsoft.com/office/drawing/2014/main" id="{A3BA5EDE-1699-9225-7C85-75878C5A7D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286" t="4724" b="8014"/>
            <a:stretch/>
          </p:blipFill>
          <p:spPr>
            <a:xfrm>
              <a:off x="9191874" y="1006630"/>
              <a:ext cx="2933952" cy="2866489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8F098BC-F03E-6A7A-C4E0-F69BCF9C0A65}"/>
                </a:ext>
              </a:extLst>
            </p:cNvPr>
            <p:cNvSpPr/>
            <p:nvPr/>
          </p:nvSpPr>
          <p:spPr>
            <a:xfrm>
              <a:off x="9206144" y="924903"/>
              <a:ext cx="2861294" cy="314107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+mj-lt"/>
              </a:endParaRPr>
            </a:p>
          </p:txBody>
        </p:sp>
      </p:grp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22A700D-A407-B27D-86E1-2E13B9F21AFC}"/>
              </a:ext>
            </a:extLst>
          </p:cNvPr>
          <p:cNvGraphicFramePr/>
          <p:nvPr/>
        </p:nvGraphicFramePr>
        <p:xfrm>
          <a:off x="7347601" y="4862974"/>
          <a:ext cx="4667819" cy="1604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72056B3-9234-D84A-BE76-B09AFE89A1AF}"/>
              </a:ext>
            </a:extLst>
          </p:cNvPr>
          <p:cNvGraphicFramePr>
            <a:graphicFrameLocks/>
          </p:cNvGraphicFramePr>
          <p:nvPr/>
        </p:nvGraphicFramePr>
        <p:xfrm>
          <a:off x="7347600" y="3039648"/>
          <a:ext cx="4667819" cy="1795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DEDE019-9CE2-AB91-A302-D3591BA3ACA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56"/>
          <a:stretch/>
        </p:blipFill>
        <p:spPr>
          <a:xfrm rot="10800000">
            <a:off x="8385278" y="1981430"/>
            <a:ext cx="1296233" cy="100806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57575E-19C2-E4FE-7F66-FCEEC2A37DB8}"/>
              </a:ext>
            </a:extLst>
          </p:cNvPr>
          <p:cNvSpPr/>
          <p:nvPr/>
        </p:nvSpPr>
        <p:spPr>
          <a:xfrm>
            <a:off x="291288" y="3574191"/>
            <a:ext cx="1665841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Major Deliverables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B2898-CF74-35EF-0A29-37428B5E7221}"/>
              </a:ext>
            </a:extLst>
          </p:cNvPr>
          <p:cNvSpPr/>
          <p:nvPr/>
        </p:nvSpPr>
        <p:spPr>
          <a:xfrm>
            <a:off x="291288" y="2115667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Inputs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224E9D-04E4-E2DC-2A3A-DAEECDABD8A4}"/>
              </a:ext>
            </a:extLst>
          </p:cNvPr>
          <p:cNvSpPr/>
          <p:nvPr/>
        </p:nvSpPr>
        <p:spPr>
          <a:xfrm>
            <a:off x="291288" y="924056"/>
            <a:ext cx="688009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Scope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EF496F-AAC4-189D-4C65-4701169319CB}"/>
              </a:ext>
            </a:extLst>
          </p:cNvPr>
          <p:cNvSpPr/>
          <p:nvPr/>
        </p:nvSpPr>
        <p:spPr>
          <a:xfrm>
            <a:off x="260808" y="5255833"/>
            <a:ext cx="1638590" cy="33855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Business Benefits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841A07-C715-62B4-2E1C-BF335A0EF1F3}"/>
              </a:ext>
            </a:extLst>
          </p:cNvPr>
          <p:cNvSpPr txBox="1"/>
          <p:nvPr/>
        </p:nvSpPr>
        <p:spPr>
          <a:xfrm>
            <a:off x="176580" y="5665332"/>
            <a:ext cx="5675581" cy="726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96AA268-1277-AA30-BECF-8CF76B8590AB}"/>
              </a:ext>
            </a:extLst>
          </p:cNvPr>
          <p:cNvSpPr>
            <a:spLocks noGrp="1"/>
          </p:cNvSpPr>
          <p:nvPr/>
        </p:nvSpPr>
        <p:spPr>
          <a:xfrm>
            <a:off x="147212" y="5503966"/>
            <a:ext cx="6732588" cy="1263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vert="horz" wrap="square" lIns="0" tIns="91440" rIns="0" bIns="91440" numCol="1" anchor="ctr" anchorCtr="0" compatLnSpc="1">
            <a:prstTxWarp prst="textNoShape">
              <a:avLst/>
            </a:prstTxWarp>
            <a:noAutofit/>
          </a:bodyPr>
          <a:lstStyle>
            <a:lvl1pPr marL="290513" indent="-290513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099" lvl="1" algn="just">
              <a:lnSpc>
                <a:spcPct val="100000"/>
              </a:lnSpc>
              <a:buClr>
                <a:schemeClr val="tx2"/>
              </a:buClr>
              <a:defRPr/>
            </a:pPr>
            <a:r>
              <a:rPr lang="en-US" sz="1050" dirty="0">
                <a:latin typeface="+mj-lt"/>
              </a:rPr>
              <a:t>Showcased </a:t>
            </a:r>
            <a:r>
              <a:rPr lang="en-US" sz="1050" b="1" dirty="0">
                <a:latin typeface="+mj-lt"/>
              </a:rPr>
              <a:t>25% savings </a:t>
            </a:r>
            <a:r>
              <a:rPr lang="en-US" sz="1050" dirty="0">
                <a:latin typeface="+mj-lt"/>
              </a:rPr>
              <a:t>on overall product cost</a:t>
            </a:r>
          </a:p>
          <a:p>
            <a:pPr marL="377099" lvl="1" algn="just">
              <a:lnSpc>
                <a:spcPct val="100000"/>
              </a:lnSpc>
              <a:buClr>
                <a:schemeClr val="tx2"/>
              </a:buClr>
              <a:defRPr/>
            </a:pPr>
            <a:r>
              <a:rPr lang="en-US" sz="1050" dirty="0">
                <a:latin typeface="+mj-lt"/>
              </a:rPr>
              <a:t>Optimized </a:t>
            </a:r>
            <a:r>
              <a:rPr lang="en-US" sz="1050" b="1" dirty="0">
                <a:latin typeface="+mj-lt"/>
              </a:rPr>
              <a:t>design in 4 </a:t>
            </a:r>
            <a:r>
              <a:rPr lang="en-US" sz="1050" dirty="0">
                <a:latin typeface="+mj-lt"/>
              </a:rPr>
              <a:t>areas (Microcontroller, MOSFET, Angle sensor and cable) </a:t>
            </a:r>
          </a:p>
          <a:p>
            <a:pPr marL="377099" lvl="1" algn="just">
              <a:lnSpc>
                <a:spcPct val="100000"/>
              </a:lnSpc>
              <a:buClr>
                <a:schemeClr val="tx2"/>
              </a:buClr>
              <a:defRPr/>
            </a:pPr>
            <a:r>
              <a:rPr lang="en-US" sz="1050" dirty="0">
                <a:latin typeface="+mj-lt"/>
              </a:rPr>
              <a:t>Identified low cost </a:t>
            </a:r>
            <a:r>
              <a:rPr lang="en-US" sz="1050" b="1" dirty="0">
                <a:latin typeface="+mj-lt"/>
              </a:rPr>
              <a:t>FFF alternates for 8 </a:t>
            </a:r>
            <a:r>
              <a:rPr lang="en-US" sz="1050" dirty="0">
                <a:latin typeface="+mj-lt"/>
              </a:rPr>
              <a:t>electronic components</a:t>
            </a:r>
          </a:p>
          <a:p>
            <a:pPr marL="377099" lvl="1" algn="just">
              <a:lnSpc>
                <a:spcPct val="100000"/>
              </a:lnSpc>
              <a:buClr>
                <a:schemeClr val="tx2"/>
              </a:buClr>
              <a:defRPr/>
            </a:pPr>
            <a:r>
              <a:rPr lang="en-US" sz="1050" dirty="0">
                <a:latin typeface="+mj-lt"/>
              </a:rPr>
              <a:t>Provided </a:t>
            </a:r>
            <a:r>
              <a:rPr lang="en-US" sz="1050" b="1" dirty="0">
                <a:latin typeface="+mj-lt"/>
              </a:rPr>
              <a:t>low cost vendor quotes for 6 </a:t>
            </a:r>
            <a:r>
              <a:rPr lang="en-US" sz="1050" dirty="0">
                <a:latin typeface="+mj-lt"/>
              </a:rPr>
              <a:t>parts</a:t>
            </a:r>
          </a:p>
          <a:p>
            <a:pPr marL="377099" lvl="1" algn="just">
              <a:lnSpc>
                <a:spcPct val="100000"/>
              </a:lnSpc>
              <a:buClr>
                <a:schemeClr val="tx2"/>
              </a:buClr>
              <a:defRPr/>
            </a:pPr>
            <a:r>
              <a:rPr lang="en-US" sz="1050" dirty="0">
                <a:latin typeface="+mj-lt"/>
              </a:rPr>
              <a:t>Provided </a:t>
            </a:r>
            <a:r>
              <a:rPr lang="en-US" sz="1050" b="1" dirty="0">
                <a:latin typeface="+mj-lt"/>
              </a:rPr>
              <a:t>9 new Vendor connects </a:t>
            </a:r>
            <a:r>
              <a:rPr lang="en-US" sz="1050" dirty="0">
                <a:latin typeface="+mj-lt"/>
              </a:rPr>
              <a:t>to customer from India and China </a:t>
            </a:r>
          </a:p>
        </p:txBody>
      </p:sp>
    </p:spTree>
    <p:extLst>
      <p:ext uri="{BB962C8B-B14F-4D97-AF65-F5344CB8AC3E}">
        <p14:creationId xmlns:p14="http://schemas.microsoft.com/office/powerpoint/2010/main" val="230122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21260" y="4311215"/>
            <a:ext cx="2685917" cy="225039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078821" y="3920181"/>
            <a:ext cx="8840991" cy="395127"/>
            <a:chOff x="3472056" y="3816578"/>
            <a:chExt cx="7758834" cy="395127"/>
          </a:xfrm>
        </p:grpSpPr>
        <p:sp>
          <p:nvSpPr>
            <p:cNvPr id="48" name="Rectangle 47"/>
            <p:cNvSpPr/>
            <p:nvPr/>
          </p:nvSpPr>
          <p:spPr>
            <a:xfrm>
              <a:off x="3472056" y="3820667"/>
              <a:ext cx="2126300" cy="39103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/>
              <a:r>
                <a:rPr lang="en-US" sz="1100" b="1" dirty="0">
                  <a:latin typeface="+mj-lt"/>
                </a:rPr>
                <a:t>Schematic Analysis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284087" y="3816578"/>
              <a:ext cx="1946803" cy="3910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lvl="0" algn="ctr"/>
              <a:r>
                <a:rPr lang="en-US" sz="1051" b="1" dirty="0">
                  <a:latin typeface="+mj-lt"/>
                  <a:cs typeface="Arial" panose="020B0604020202020204" pitchFamily="34" charset="0"/>
                </a:rPr>
                <a:t>Vendor  Quote Comparison</a:t>
              </a:r>
            </a:p>
          </p:txBody>
        </p:sp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941" y="4382940"/>
            <a:ext cx="2572991" cy="225916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6390" y="4688858"/>
            <a:ext cx="563631" cy="122371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721" y="4391818"/>
            <a:ext cx="2234371" cy="2125071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5603997" y="3920178"/>
            <a:ext cx="4028275" cy="3910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b="1" dirty="0">
                <a:latin typeface="+mj-lt"/>
              </a:rPr>
              <a:t>Low cost FFF alternates Specifications Comparison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547" y="5619810"/>
            <a:ext cx="4027807" cy="89707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840" y="4389745"/>
            <a:ext cx="4033433" cy="1221187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347893" y="3920178"/>
            <a:ext cx="2635155" cy="3910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sz="1100" b="1" dirty="0">
                <a:latin typeface="+mj-lt"/>
              </a:rPr>
              <a:t>Teardown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2021" y="4391819"/>
            <a:ext cx="2635155" cy="11405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7621" y="5620605"/>
            <a:ext cx="871593" cy="652736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56"/>
          <a:stretch/>
        </p:blipFill>
        <p:spPr>
          <a:xfrm>
            <a:off x="262061" y="5553539"/>
            <a:ext cx="946891" cy="1008067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317207" y="5504103"/>
            <a:ext cx="648901" cy="881907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0" y="970284"/>
            <a:ext cx="12192000" cy="2937813"/>
            <a:chOff x="0" y="744289"/>
            <a:chExt cx="12192000" cy="2937811"/>
          </a:xfrm>
        </p:grpSpPr>
        <p:sp>
          <p:nvSpPr>
            <p:cNvPr id="5" name="Rectangle 4"/>
            <p:cNvSpPr/>
            <p:nvPr/>
          </p:nvSpPr>
          <p:spPr>
            <a:xfrm>
              <a:off x="0" y="1683651"/>
              <a:ext cx="12192000" cy="75168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10024891" y="1172076"/>
              <a:ext cx="1161740" cy="1081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7926350" y="1172076"/>
              <a:ext cx="1161740" cy="1081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5578273" y="1173786"/>
              <a:ext cx="1161740" cy="1081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911535" y="1180948"/>
              <a:ext cx="1161740" cy="1081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3200951" y="1177827"/>
              <a:ext cx="1161740" cy="108117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002432" y="2050916"/>
              <a:ext cx="1184491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endParaRPr lang="en-US" sz="1000" b="1" dirty="0"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35507" y="2364204"/>
              <a:ext cx="1712859" cy="1015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IN" altLang="en-US" sz="1200" dirty="0">
                  <a:latin typeface="+mj-lt"/>
                  <a:cs typeface="Calibri" panose="020F0502020204030204" pitchFamily="34" charset="0"/>
                </a:rPr>
                <a:t>Product Study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IN" altLang="en-US" sz="1200" dirty="0">
                  <a:latin typeface="+mj-lt"/>
                  <a:cs typeface="Calibri" panose="020F0502020204030204" pitchFamily="34" charset="0"/>
                </a:rPr>
                <a:t>Understanding the functionality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IN" altLang="en-US" sz="1200" dirty="0">
                  <a:latin typeface="+mj-lt"/>
                  <a:cs typeface="Calibri" panose="020F0502020204030204" pitchFamily="34" charset="0"/>
                </a:rPr>
                <a:t>Teardown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IN" altLang="en-US" sz="1200" dirty="0">
                  <a:latin typeface="+mj-lt"/>
                  <a:cs typeface="Calibri" panose="020F0502020204030204" pitchFamily="34" charset="0"/>
                </a:rPr>
                <a:t>Study the schematic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057671" y="899281"/>
              <a:ext cx="146072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+mj-lt"/>
                  <a:cs typeface="Arial" panose="020B0604020202020204" pitchFamily="34" charset="0"/>
                </a:rPr>
                <a:t>Design Review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701016" y="784461"/>
              <a:ext cx="17415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latin typeface="+mj-lt"/>
                  <a:cs typeface="Arial" panose="020B0604020202020204" pitchFamily="34" charset="0"/>
                </a:rPr>
                <a:t>Identification of Low cost FFF alternates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991395" y="2343332"/>
              <a:ext cx="1753405" cy="1015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Identify areas for Cost optimization 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Schematic Analysis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Identify high cost components in BOM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7783543" y="2297106"/>
              <a:ext cx="1712859" cy="13849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Datasheet study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Prepare Comparison Sheets w.r.t. existing parts specs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Float RFQ to supplier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Verify cost competitiveness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5474743" y="884390"/>
              <a:ext cx="13591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latin typeface="+mj-lt"/>
                  <a:cs typeface="Arial" panose="020B0604020202020204" pitchFamily="34" charset="0"/>
                </a:rPr>
                <a:t>Idea Generation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814192" y="744289"/>
              <a:ext cx="158313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latin typeface="+mj-lt"/>
                  <a:cs typeface="Arial" panose="020B0604020202020204" pitchFamily="34" charset="0"/>
                </a:rPr>
                <a:t>Low Cost Alternate vendor Identification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9897049" y="2279958"/>
              <a:ext cx="1645203" cy="1200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Identify vendors for Mech parts &amp; EMS in China\India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Float RFQ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Quote analysis 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Quote Finalization</a:t>
              </a: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5424241" y="2280006"/>
              <a:ext cx="1686967" cy="1015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Brainstorming on idea generation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Check the feasibility for implementation</a:t>
              </a:r>
            </a:p>
            <a:p>
              <a:pPr marL="171446" indent="-171446">
                <a:buFont typeface="Wingdings" panose="05000000000000000000" pitchFamily="2" charset="2"/>
                <a:buChar char="Ø"/>
                <a:defRPr/>
              </a:pPr>
              <a:r>
                <a:rPr lang="en-US" altLang="en-US" sz="1200" dirty="0">
                  <a:latin typeface="+mj-lt"/>
                  <a:cs typeface="Calibri" panose="020F0502020204030204" pitchFamily="34" charset="0"/>
                </a:rPr>
                <a:t>Shortlist the ideas</a:t>
              </a:r>
            </a:p>
          </p:txBody>
        </p:sp>
        <p:pic>
          <p:nvPicPr>
            <p:cNvPr id="174" name="Picture 1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5670" y="1451547"/>
              <a:ext cx="863099" cy="539976"/>
            </a:xfrm>
            <a:prstGeom prst="rect">
              <a:avLst/>
            </a:prstGeom>
          </p:spPr>
        </p:pic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20369" y="1246447"/>
              <a:ext cx="1067947" cy="991956"/>
            </a:xfrm>
            <a:prstGeom prst="rect">
              <a:avLst/>
            </a:prstGeom>
          </p:spPr>
        </p:pic>
        <p:pic>
          <p:nvPicPr>
            <p:cNvPr id="188" name="Picture 187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55513" y="1257087"/>
              <a:ext cx="900496" cy="895915"/>
            </a:xfrm>
            <a:prstGeom prst="rect">
              <a:avLst/>
            </a:prstGeom>
          </p:spPr>
        </p:pic>
        <p:pic>
          <p:nvPicPr>
            <p:cNvPr id="168" name="Picture 167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626"/>
            <a:stretch/>
          </p:blipFill>
          <p:spPr>
            <a:xfrm>
              <a:off x="3373260" y="1350599"/>
              <a:ext cx="857404" cy="752063"/>
            </a:xfrm>
            <a:prstGeom prst="rect">
              <a:avLst/>
            </a:prstGeom>
          </p:spPr>
        </p:pic>
        <p:pic>
          <p:nvPicPr>
            <p:cNvPr id="1026" name="Picture 2" descr="Image result for product study icon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6523" y="1265965"/>
              <a:ext cx="929520" cy="929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44803" y="895833"/>
              <a:ext cx="204477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latin typeface="+mj-lt"/>
                  <a:cs typeface="Arial" panose="020B0604020202020204" pitchFamily="34" charset="0"/>
                </a:rPr>
                <a:t>Input Study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61985" y="451998"/>
            <a:ext cx="9621004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atin typeface="+mn-lt"/>
              </a:rPr>
              <a:t>Project Execution Approach: 2/2</a:t>
            </a:r>
            <a:r>
              <a:rPr lang="en-US" sz="2400" dirty="0">
                <a:cs typeface="Arial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82079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308</Words>
  <Application>Microsoft Office PowerPoint</Application>
  <PresentationFormat>Widescreen</PresentationFormat>
  <Paragraphs>58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2</cp:revision>
  <dcterms:created xsi:type="dcterms:W3CDTF">2025-10-14T11:34:31Z</dcterms:created>
  <dcterms:modified xsi:type="dcterms:W3CDTF">2025-10-14T11:39:11Z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2025-10-14T11:36:12Z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3f712b8e-f2c3-429b-ad09-0365b061e0fd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