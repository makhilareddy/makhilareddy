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98639-64B7-F6DF-4685-6781D3A96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3EADB-7721-79D9-2A00-0C8DA8CFA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C6ABB-0DF3-4FA4-4EB0-67EDB8B8D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A916A-F5DD-98FD-571E-CD11A3F1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C0376-4660-064F-CDE1-59119F4D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0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B89B-2E24-F5D6-FFD0-8D390578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9F6BB-659A-4377-D379-4460E2E85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DE995-4B2C-11B7-E66D-CB8BB497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F7735-40B3-5CE8-F103-A13E8D7E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5E72A-E127-BCED-23AD-2BA55D9B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9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3E6B-A8B4-1D33-993E-1BE72D59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B5F63-1368-621D-1227-C53E15930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57200-9659-98DE-15A7-85D81AA4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9AE66-49D5-C18D-A32A-DD0C248A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AFDC1-3647-FADC-F007-29931C89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2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D72E-6BAC-1D53-B090-CD9282E2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9358-30A6-8DD6-1F26-2C74C22F7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13B65-5AC9-78F3-1DA9-9EBB542E1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B1816-F8D3-35CE-6C25-A88D7CB4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4830E-CC96-1FCE-9848-DFC0F4B3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3D882-D61D-246B-7656-FEAEB2DC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26C9-C104-2716-4182-08E54ECC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114A6-94F6-7DDB-CAB6-74F65B74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5A722-6D0D-1F11-9E96-46F2DF37B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D17D5-FFC0-6576-1EB0-94CE6D5C8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AB7A7-03BB-721D-0E8A-822DCB1FE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6DA9FF-F5F9-B278-13AA-77056858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AB1EE6-495F-D065-AEC8-A077E0A7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492538-0E28-1C78-83FD-9C663B2F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46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94EE-B6D2-0BC9-F7C9-990A944C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3C891-C6A0-DE34-F286-8DF10883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20596-93FE-E3E8-2489-FD4BDB7C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21AD-FC52-5722-0080-2EECE885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9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F1822-64D1-0FDD-AE35-389E7231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6C39AB-23D7-9230-53A7-E66860BD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76134-3371-E07E-5CCF-444DC216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4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0528-3A0C-C0F7-9900-2470AB19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24B7F-8049-033D-80DE-09C28C30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43273-C413-82BF-D42C-1E765368B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D3A59-528B-834D-BD99-1C70231F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09002-D38F-85E2-3AB5-489029FB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E1AC6-C1A4-D534-F5CE-6DA70373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34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3AD34-F8AD-64BD-CDC9-17BC08AB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68EC44-4868-45BF-921A-2239CD854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A8A19-CF12-F0DE-29A8-18A3BBBA8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1552D-68DC-0164-E595-9420F0AA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8608F-E57B-A6C2-A97F-B10D4CB6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8BD72-787F-AC19-17F7-9F26A497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91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CC68-4027-3D5E-D7AA-7D8F6252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3566D-03CE-1BC0-53DF-5BB801A44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B1434-0331-C8FD-0D97-6E61848A6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83D88-B075-782A-0518-A32E3688B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2E0E2-4D9A-CBDB-47A7-EEC81CCC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3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FA64DC-8A45-0845-E810-81C443F55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788EA-0D04-DFA0-5F1E-67F794C96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E9B14-7E5B-5A5E-F720-DB700575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6CA83-9B58-39AA-41EF-D2AE3729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B7DDE-CCF5-1FE3-76A4-9F9CA7D9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6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DA8B26-DF86-8A1A-6281-8BC355076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57C55-8EAB-A360-7ACB-3CA628C78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6384-8BD2-465C-5773-3305D6EE8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C5157-77B5-4FA5-81E8-4B07E39B8DAD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C678E-8063-54E5-E2B4-7B858C74F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F3381-EBCB-1EFA-143F-CAFD5402D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AD03B-99F7-4C6D-B94C-933086867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6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Go Home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9C73BD1-7A46-054E-D86D-81748B2373A3}"/>
              </a:ext>
            </a:extLst>
          </p:cNvPr>
          <p:cNvSpPr/>
          <p:nvPr/>
        </p:nvSpPr>
        <p:spPr>
          <a:xfrm>
            <a:off x="11027391" y="355833"/>
            <a:ext cx="346904" cy="313898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BA325-BEFE-82A3-0690-236E68CFE33F}"/>
              </a:ext>
            </a:extLst>
          </p:cNvPr>
          <p:cNvSpPr txBox="1"/>
          <p:nvPr/>
        </p:nvSpPr>
        <p:spPr>
          <a:xfrm>
            <a:off x="6080549" y="913402"/>
            <a:ext cx="5360421" cy="307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itchFamily="34" charset="0"/>
              </a:rPr>
              <a:t>Achievements: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Common Controller Hardware and Firmware Platform built for different Motor Models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Low cost microcontroller identified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entire BoM cost was $5.8  for 10K Quantity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Second set of 50 prototypes built, tested and shipped to Parker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Parker Customer testing completed  - Production is in progress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Detailed Documentation provided.</a:t>
            </a:r>
          </a:p>
          <a:p>
            <a:pPr marL="857250" lvl="1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Product Requirements Specification (PRS)</a:t>
            </a:r>
          </a:p>
          <a:p>
            <a:pPr marL="857250" lvl="1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Hardware Design Document (HDD)</a:t>
            </a:r>
          </a:p>
          <a:p>
            <a:pPr marL="857250" lvl="1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Software Design Document (SDD)</a:t>
            </a:r>
          </a:p>
          <a:p>
            <a:pPr marL="857250" lvl="1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Operating Manual</a:t>
            </a:r>
          </a:p>
          <a:p>
            <a:pPr marL="400050" indent="-2857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board worked first pass for all the motor models and variants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E5E219-16D9-C502-CCC2-A771221DE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355167"/>
              </p:ext>
            </p:extLst>
          </p:nvPr>
        </p:nvGraphicFramePr>
        <p:xfrm>
          <a:off x="751030" y="1180380"/>
          <a:ext cx="4846203" cy="822872"/>
        </p:xfrm>
        <a:graphic>
          <a:graphicData uri="http://schemas.openxmlformats.org/drawingml/2006/table">
            <a:tbl>
              <a:tblPr/>
              <a:tblGrid>
                <a:gridCol w="1458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5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</a:t>
                      </a:r>
                      <a:endParaRPr lang="en-US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698" marB="45698" anchor="ctr">
                    <a:lnL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</a:t>
                      </a:r>
                    </a:p>
                  </a:txBody>
                  <a:tcPr marL="91453" marR="91453" marT="45698" marB="4569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Division</a:t>
                      </a:r>
                      <a:endParaRPr lang="en-US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698" marB="4569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91453" marR="91453" marT="45698" marB="45698" anchor="ctr">
                    <a:lnL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7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Schedule</a:t>
                      </a:r>
                    </a:p>
                  </a:txBody>
                  <a:tcPr marL="91453" marR="91453" marT="45698" marB="45698" anchor="ctr">
                    <a:lnL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 Months</a:t>
                      </a:r>
                    </a:p>
                  </a:txBody>
                  <a:tcPr marL="91453" marR="91453" marT="45698" marB="4569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</a:t>
                      </a:r>
                      <a:r>
                        <a:rPr lang="en-US" sz="1400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Size</a:t>
                      </a:r>
                      <a:endParaRPr lang="en-US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698" marB="4569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53" marR="91453" marT="45698" marB="45698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66A823-2948-5F8D-F746-D5A194A2C05B}"/>
              </a:ext>
            </a:extLst>
          </p:cNvPr>
          <p:cNvCxnSpPr>
            <a:cxnSpLocks/>
          </p:cNvCxnSpPr>
          <p:nvPr/>
        </p:nvCxnSpPr>
        <p:spPr>
          <a:xfrm>
            <a:off x="581891" y="4282545"/>
            <a:ext cx="10859079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36">
            <a:extLst>
              <a:ext uri="{FF2B5EF4-FFF2-40B4-BE49-F238E27FC236}">
                <a16:creationId xmlns:a16="http://schemas.microsoft.com/office/drawing/2014/main" id="{5DF19550-7264-240C-77A3-E9F032873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31" y="1948731"/>
            <a:ext cx="4704916" cy="2215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5715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just">
              <a:buClr>
                <a:schemeClr val="tx2"/>
              </a:buClr>
              <a:defRPr/>
            </a:pPr>
            <a:r>
              <a:rPr lang="en-US" altLang="en-US" sz="1800" b="1" dirty="0">
                <a:latin typeface="Calibri" pitchFamily="34" charset="0"/>
              </a:rPr>
              <a:t>Scope:</a:t>
            </a:r>
          </a:p>
          <a:p>
            <a:pPr algn="just">
              <a:buClr>
                <a:schemeClr val="tx2"/>
              </a:buClr>
              <a:defRPr/>
            </a:pPr>
            <a:endParaRPr lang="en-US" altLang="en-US" sz="1400" b="1" dirty="0">
              <a:latin typeface="Calibri" pitchFamily="34" charset="0"/>
            </a:endParaRPr>
          </a:p>
          <a:p>
            <a:pPr algn="just">
              <a:buClr>
                <a:schemeClr val="tx2"/>
              </a:buClr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Design and Develop of  a common Control board  platform for 33mm and 28mm BLDC Motors. The control board shall work with different variants of 6V, 12V, 24V motors. The project scope included the following:</a:t>
            </a:r>
          </a:p>
          <a:p>
            <a:pPr algn="just">
              <a:buClr>
                <a:schemeClr val="tx2"/>
              </a:buClr>
              <a:defRPr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Hardware Design</a:t>
            </a:r>
          </a:p>
          <a:p>
            <a:pPr marL="22860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Firmware Design</a:t>
            </a:r>
          </a:p>
          <a:p>
            <a:pPr marL="22860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Prototyping, 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9DBDF-02EB-49A2-EFC4-E81DCB14340B}"/>
              </a:ext>
            </a:extLst>
          </p:cNvPr>
          <p:cNvSpPr txBox="1"/>
          <p:nvPr/>
        </p:nvSpPr>
        <p:spPr>
          <a:xfrm>
            <a:off x="751030" y="4718918"/>
            <a:ext cx="473825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anose="020F0502020204030204" pitchFamily="34" charset="0"/>
              </a:rPr>
              <a:t>Tools/Techniques used:</a:t>
            </a:r>
          </a:p>
          <a:p>
            <a:pPr marL="57150" algn="just">
              <a:buClr>
                <a:schemeClr val="tx2"/>
              </a:buClr>
              <a:defRPr/>
            </a:pPr>
            <a:endParaRPr lang="en-US" sz="1200" b="1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Altium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MPLAB X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Gerber Viewer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Schematic Guidelines – Schematics and PCB Layout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17E08B-C18D-AA66-CEF0-76D07CBD5B9E}"/>
              </a:ext>
            </a:extLst>
          </p:cNvPr>
          <p:cNvCxnSpPr/>
          <p:nvPr/>
        </p:nvCxnSpPr>
        <p:spPr>
          <a:xfrm>
            <a:off x="5663907" y="4709392"/>
            <a:ext cx="0" cy="24844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49ED65-5B3C-FB12-5B5B-07408D55B56E}"/>
              </a:ext>
            </a:extLst>
          </p:cNvPr>
          <p:cNvCxnSpPr/>
          <p:nvPr/>
        </p:nvCxnSpPr>
        <p:spPr>
          <a:xfrm>
            <a:off x="5658534" y="730872"/>
            <a:ext cx="0" cy="374808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A628211C-5264-1D2C-5DC5-6EA939E42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568" y="5592929"/>
            <a:ext cx="1162050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521AF29-2645-1F96-5A04-60373AA08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357" y="4400369"/>
            <a:ext cx="1198562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5F0FF13B-88C1-2D3F-2A03-BECEC264D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89" y="4421447"/>
            <a:ext cx="11303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672903B5-1000-B64D-A3D2-A28E85CF9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357" y="5592929"/>
            <a:ext cx="1135062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2EBBF4D6-2AF6-4F18-BEE7-89C43747F398" descr="image1.jpeg">
            <a:extLst>
              <a:ext uri="{FF2B5EF4-FFF2-40B4-BE49-F238E27FC236}">
                <a16:creationId xmlns:a16="http://schemas.microsoft.com/office/drawing/2014/main" id="{71E22136-31BF-3C8F-0947-053081507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767" y="5592929"/>
            <a:ext cx="14605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 descr="D:\Projects\Parker\BLDC_Motor\WIP\Board test pads - 33mm - LDO change.JPG">
            <a:extLst>
              <a:ext uri="{FF2B5EF4-FFF2-40B4-BE49-F238E27FC236}">
                <a16:creationId xmlns:a16="http://schemas.microsoft.com/office/drawing/2014/main" id="{D271161C-3771-6F28-714E-31559CF42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767" y="4400369"/>
            <a:ext cx="1063625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5">
            <a:extLst>
              <a:ext uri="{FF2B5EF4-FFF2-40B4-BE49-F238E27FC236}">
                <a16:creationId xmlns:a16="http://schemas.microsoft.com/office/drawing/2014/main" id="{0ECF2D2F-F7B8-DBAB-EC77-1CC9BDD1B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845" y="6238155"/>
            <a:ext cx="4348162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57150">
              <a:spcBef>
                <a:spcPct val="20000"/>
              </a:spcBef>
              <a:buFont typeface="Times" pitchFamily="18" charset="0"/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Times" pitchFamily="18" charset="0"/>
              <a:buChar char="•"/>
              <a:defRPr sz="2800">
                <a:solidFill>
                  <a:schemeClr val="accent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accent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US" altLang="en-US" sz="1800" b="1" dirty="0">
                <a:solidFill>
                  <a:schemeClr val="accent4"/>
                </a:solidFill>
                <a:latin typeface="Calibri" pitchFamily="34" charset="0"/>
              </a:rPr>
              <a:t>Application : Medical Industry</a:t>
            </a:r>
            <a:endParaRPr lang="en-US" altLang="en-US" sz="1200" b="1" dirty="0">
              <a:solidFill>
                <a:schemeClr val="accent4"/>
              </a:solidFill>
              <a:latin typeface="Calibri" pitchFamily="34" charset="0"/>
            </a:endParaRPr>
          </a:p>
        </p:txBody>
      </p:sp>
      <p:sp>
        <p:nvSpPr>
          <p:cNvPr id="19" name="Text Placeholder 33">
            <a:extLst>
              <a:ext uri="{FF2B5EF4-FFF2-40B4-BE49-F238E27FC236}">
                <a16:creationId xmlns:a16="http://schemas.microsoft.com/office/drawing/2014/main" id="{483488E4-BA9A-111D-2669-061DAE2085CE}"/>
              </a:ext>
            </a:extLst>
          </p:cNvPr>
          <p:cNvSpPr txBox="1">
            <a:spLocks/>
          </p:cNvSpPr>
          <p:nvPr/>
        </p:nvSpPr>
        <p:spPr>
          <a:xfrm>
            <a:off x="884380" y="306035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>
                <a:latin typeface="Calibri" panose="020F0502020204030204" pitchFamily="34" charset="0"/>
              </a:rPr>
              <a:t>BLDC Motor Controller 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89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2025-10-14T11:01:16Z</dcterms:created>
  <dcterms:modified xsi:type="dcterms:W3CDTF">2025-10-14T11:02:42Z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2025-10-14T11:02:42Z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2f6c1edd-04aa-406e-98bb-126f9aba5650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