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55BEA0-6329-C738-B0BE-03AA097CDE0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B77C3D1-E762-BC33-8CE7-588162ED082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1046E3-147E-9E90-73FD-E706A5D598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7FE089-D06F-497C-AB9B-FC9A527E9C59}" type="datetimeFigureOut">
              <a:rPr lang="en-US" smtClean="0"/>
              <a:t>10/14/2025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6ACF-572E-6B1C-7053-F5517110F0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6CCB53-66D8-6729-384C-19642C6452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8DBA1B-3413-4D7C-AF74-20A47AA4AF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87723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97197F-6E8B-15EE-43FE-FFFD83FA48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97DBC6-046B-165B-83F9-D1A78B4C53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EEAC1C-03A8-25DC-E228-CEDB3D960B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7FE089-D06F-497C-AB9B-FC9A527E9C59}" type="datetimeFigureOut">
              <a:rPr lang="en-US" smtClean="0"/>
              <a:t>10/14/2025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E05D09-DBF6-2242-1B56-5ACC670E32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CEE612-542F-8FE3-5A5E-701D73F3F7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8DBA1B-3413-4D7C-AF74-20A47AA4AF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21832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03FE53-C279-B644-EF6F-681C4D8602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4A5CC9F-58E3-DC66-AB52-64B6BEDA2F8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E4CB10-8A9D-6BB6-2EBE-7F07707592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7FE089-D06F-497C-AB9B-FC9A527E9C59}" type="datetimeFigureOut">
              <a:rPr lang="en-US" smtClean="0"/>
              <a:t>10/14/2025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BD604A-7B4D-FE9B-1165-9B086261E3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DF4AA9-9D77-09BC-609C-F3D187CF7E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8DBA1B-3413-4D7C-AF74-20A47AA4AF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41236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67F444-83F4-FD34-4E7C-439AFF7B25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D21DC6-0271-8BB5-116D-1FA5D83291E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106C751-7B3F-FA9C-EC78-5427D0F2B9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3E1D476-6F05-04A5-DA5D-52AF539055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7FE089-D06F-497C-AB9B-FC9A527E9C59}" type="datetimeFigureOut">
              <a:rPr lang="en-US" smtClean="0"/>
              <a:t>10/14/2025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99E5CD-A542-606C-4D87-69962E2994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C8784AF-BB94-F0DC-6511-050A60C8DA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8DBA1B-3413-4D7C-AF74-20A47AA4AF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73557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D5B87F-9195-2A97-FF2D-0A59EF22A9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82199D5-6042-7567-0476-A9F2284AE2D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EAA9A66-E7B7-26EC-0D69-4F42206D8D8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E580B17-852B-93AA-372D-382CBD1D7BE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18550C2-B17D-C67D-4CB2-AEC5A07683A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A141FBB-BC25-E31E-97CE-E5F8628A27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7FE089-D06F-497C-AB9B-FC9A527E9C59}" type="datetimeFigureOut">
              <a:rPr lang="en-US" smtClean="0"/>
              <a:t>10/14/2025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4A3A378-B3C4-C5FF-2F7F-FE80876A82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EAEFAC7-AF5F-9FF0-293F-ADEF2D5919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8DBA1B-3413-4D7C-AF74-20A47AA4AF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26026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A28457-E5C2-4035-5D09-A75280C99D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19C1468-8362-C514-25AF-B05EDF4449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7FE089-D06F-497C-AB9B-FC9A527E9C59}" type="datetimeFigureOut">
              <a:rPr lang="en-US" smtClean="0"/>
              <a:t>10/14/2025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7003620-AAF2-6D96-9651-AE5A30F248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7EEDBA2-9363-01D9-2C0B-387758F0A7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8DBA1B-3413-4D7C-AF74-20A47AA4AF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72174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8D27D74-0928-5539-0052-99B38DC7F1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7FE089-D06F-497C-AB9B-FC9A527E9C59}" type="datetimeFigureOut">
              <a:rPr lang="en-US" smtClean="0"/>
              <a:t>10/14/2025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CEEA7FB-8C8D-29E1-F67B-0FDE6E2D3F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282C497-1CF3-481D-D4F2-2EDEEC901B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8DBA1B-3413-4D7C-AF74-20A47AA4AF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55817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446B8E-0D1D-F81D-D2FA-8E2005A7F7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666736-C58D-4D2D-DA92-922E4DFE59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9960571-ED64-C938-BD4E-1C139C09726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CF9F3C6-6B9A-8425-79AF-362E86D67B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7FE089-D06F-497C-AB9B-FC9A527E9C59}" type="datetimeFigureOut">
              <a:rPr lang="en-US" smtClean="0"/>
              <a:t>10/14/2025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DB7952F-131C-17AA-3CAB-78E0CE8ADD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8322CEE-3DE3-4F06-6A63-82281062A6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8DBA1B-3413-4D7C-AF74-20A47AA4AF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63752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9EDBA7-1B32-E3FA-0C57-484557B7B7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B3EE5ED-AB49-6CA2-5600-75C502B007A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31FA641-C6D4-9FE4-6F5F-86BA685E96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5FDFE8A-B076-F947-700C-898B8E876B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7FE089-D06F-497C-AB9B-FC9A527E9C59}" type="datetimeFigureOut">
              <a:rPr lang="en-US" smtClean="0"/>
              <a:t>10/14/2025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B5A37C1-36AE-4B3F-A2F3-757458B5B2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0B93A2F-8980-479D-0F22-36EB0DE18E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8DBA1B-3413-4D7C-AF74-20A47AA4AF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34117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1C941A-7D3C-32A3-8643-568D4D7BBB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BA2CA44-2747-C2C5-DA10-F401E8EF69E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5F614B-E4F7-44E0-FF12-C74218561B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7FE089-D06F-497C-AB9B-FC9A527E9C59}" type="datetimeFigureOut">
              <a:rPr lang="en-US" smtClean="0"/>
              <a:t>10/14/2025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5A69C4-E056-360A-5ABF-7689A4EE07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7C6AF8-776E-361A-4525-C8B265D2C1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8DBA1B-3413-4D7C-AF74-20A47AA4AF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92513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EFBDFD9-E4B1-EFB4-F6A5-A83C36E6CD4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F0CE16F-4D1A-5991-09D1-F07BDD8DE75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2BAE4F-A8C4-4721-C6AE-96282CFD66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7FE089-D06F-497C-AB9B-FC9A527E9C59}" type="datetimeFigureOut">
              <a:rPr lang="en-US" smtClean="0"/>
              <a:t>10/14/2025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993BD6-7E3B-4146-69D5-D8782518AA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AE7B2A-9FB2-8E36-3A7F-8229EA7C83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8DBA1B-3413-4D7C-AF74-20A47AA4AF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39965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E0E1A1E-1139-DAC4-D481-FD82D6723C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DFF8F2F-DE8C-17B5-6E78-6D29AC1734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78E27D-86C3-31AA-8E64-56494AE14E6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B7FE089-D06F-497C-AB9B-FC9A527E9C59}" type="datetimeFigureOut">
              <a:rPr lang="en-US" smtClean="0"/>
              <a:t>10/14/2025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0D2C22-F4DC-D500-887E-BB55DC8F63B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B21A8C-F65E-6132-4824-B6A03FFCED4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E8DBA1B-3413-4D7C-AF74-20A47AA4AF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57176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jpeg"/><Relationship Id="rId9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86CB8C79-2B94-EE05-209D-918A139BC215}"/>
              </a:ext>
            </a:extLst>
          </p:cNvPr>
          <p:cNvSpPr>
            <a:spLocks noGrp="1"/>
          </p:cNvSpPr>
          <p:nvPr/>
        </p:nvSpPr>
        <p:spPr>
          <a:xfrm>
            <a:off x="803363" y="243274"/>
            <a:ext cx="10556590" cy="6331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3600" b="0" i="0" kern="1200" baseline="0">
                <a:solidFill>
                  <a:srgbClr val="4D4D4F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LabVIEW and </a:t>
            </a:r>
            <a:r>
              <a:rPr lang="en-US" dirty="0" err="1"/>
              <a:t>TestStand</a:t>
            </a:r>
            <a:r>
              <a:rPr lang="en-US" dirty="0"/>
              <a:t> Expertise Overview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40D7A62-5E0A-D2B7-F4E4-DA4FA5EBE1BA}"/>
              </a:ext>
            </a:extLst>
          </p:cNvPr>
          <p:cNvSpPr/>
          <p:nvPr/>
        </p:nvSpPr>
        <p:spPr>
          <a:xfrm flipV="1">
            <a:off x="215153" y="5103959"/>
            <a:ext cx="11761695" cy="1496260"/>
          </a:xfrm>
          <a:prstGeom prst="rect">
            <a:avLst/>
          </a:prstGeom>
          <a:gradFill flip="none" rotWithShape="1">
            <a:gsLst>
              <a:gs pos="0">
                <a:schemeClr val="tx1">
                  <a:lumMod val="50000"/>
                  <a:lumOff val="50000"/>
                  <a:alpha val="57000"/>
                </a:schemeClr>
              </a:gs>
              <a:gs pos="38000">
                <a:schemeClr val="bg1">
                  <a:shade val="67500"/>
                  <a:satMod val="115000"/>
                </a:schemeClr>
              </a:gs>
              <a:gs pos="100000">
                <a:schemeClr val="bg1">
                  <a:shade val="100000"/>
                  <a:satMod val="115000"/>
                  <a:alpha val="67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endParaRPr lang="en-IN" sz="1800">
              <a:solidFill>
                <a:prstClr val="black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83594A2-6FFB-A9CC-6BE9-BC00EEAD9A0D}"/>
              </a:ext>
            </a:extLst>
          </p:cNvPr>
          <p:cNvSpPr/>
          <p:nvPr/>
        </p:nvSpPr>
        <p:spPr>
          <a:xfrm>
            <a:off x="215153" y="1070884"/>
            <a:ext cx="11618261" cy="5486146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endParaRPr lang="en-IN" sz="1800" dirty="0">
              <a:solidFill>
                <a:prstClr val="black"/>
              </a:solidFill>
            </a:endParaRPr>
          </a:p>
        </p:txBody>
      </p:sp>
      <p:sp>
        <p:nvSpPr>
          <p:cNvPr id="7" name="TextBox 5">
            <a:extLst>
              <a:ext uri="{FF2B5EF4-FFF2-40B4-BE49-F238E27FC236}">
                <a16:creationId xmlns:a16="http://schemas.microsoft.com/office/drawing/2014/main" id="{146D1620-62A1-0321-F83C-F10B7C6EE99C}"/>
              </a:ext>
            </a:extLst>
          </p:cNvPr>
          <p:cNvSpPr txBox="1"/>
          <p:nvPr/>
        </p:nvSpPr>
        <p:spPr>
          <a:xfrm>
            <a:off x="286035" y="1114073"/>
            <a:ext cx="7638277" cy="36704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base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>
                <a:srgbClr val="6D6E71"/>
              </a:buClr>
              <a:defRPr/>
            </a:pPr>
            <a:r>
              <a:rPr lang="en-IN" sz="1200" b="1" dirty="0">
                <a:solidFill>
                  <a:prstClr val="black"/>
                </a:solidFill>
                <a:latin typeface="+mn-lt"/>
                <a:cs typeface="Arial" pitchFamily="34" charset="0"/>
              </a:rPr>
              <a:t>LabVIEW and TestStand across SDLC and V &amp; V</a:t>
            </a:r>
          </a:p>
          <a:p>
            <a:pPr marL="171446" indent="-171446" fontAlgn="base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>
                <a:srgbClr val="6D6E71"/>
              </a:buClr>
              <a:buFont typeface="Arial" pitchFamily="34" charset="0"/>
              <a:buChar char="•"/>
              <a:defRPr/>
            </a:pPr>
            <a:r>
              <a:rPr lang="en-IN" sz="1200" b="1" i="1" dirty="0">
                <a:solidFill>
                  <a:prstClr val="black"/>
                </a:solidFill>
                <a:latin typeface="+mn-lt"/>
                <a:cs typeface="Arial" pitchFamily="34" charset="0"/>
              </a:rPr>
              <a:t>40+ Person Years </a:t>
            </a:r>
            <a:r>
              <a:rPr lang="en-IN" sz="1200" dirty="0">
                <a:solidFill>
                  <a:prstClr val="black"/>
                </a:solidFill>
                <a:latin typeface="+mn-lt"/>
                <a:cs typeface="Arial" pitchFamily="34" charset="0"/>
              </a:rPr>
              <a:t>of Experience with </a:t>
            </a:r>
            <a:r>
              <a:rPr lang="en-US" sz="1200" dirty="0">
                <a:solidFill>
                  <a:prstClr val="black"/>
                </a:solidFill>
                <a:latin typeface="+mn-lt"/>
                <a:cs typeface="Arial" pitchFamily="34" charset="0"/>
              </a:rPr>
              <a:t>National Instruments Software and Hardware</a:t>
            </a:r>
          </a:p>
          <a:p>
            <a:pPr marL="171446" indent="-171446" fontAlgn="base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>
                <a:srgbClr val="6D6E71"/>
              </a:buClr>
              <a:buFont typeface="Arial" pitchFamily="34" charset="0"/>
              <a:buChar char="•"/>
              <a:defRPr/>
            </a:pPr>
            <a:r>
              <a:rPr lang="en-US" sz="1200" dirty="0">
                <a:solidFill>
                  <a:prstClr val="black"/>
                </a:solidFill>
                <a:latin typeface="+mn-lt"/>
                <a:cs typeface="Arial" pitchFamily="34" charset="0"/>
              </a:rPr>
              <a:t>NI Certified LabVIEW Developers (CLD) : CLAD – 8, CLD – 10, CLA – 3, CTD – 2</a:t>
            </a:r>
          </a:p>
          <a:p>
            <a:pPr marL="171446" indent="-171446" fontAlgn="base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>
                <a:srgbClr val="6D6E71"/>
              </a:buClr>
              <a:buFont typeface="Arial" pitchFamily="34" charset="0"/>
              <a:buChar char="•"/>
              <a:defRPr/>
            </a:pPr>
            <a:r>
              <a:rPr lang="en-US" sz="1200" b="1" i="1" dirty="0">
                <a:solidFill>
                  <a:prstClr val="black"/>
                </a:solidFill>
                <a:latin typeface="+mn-lt"/>
                <a:cs typeface="Arial" pitchFamily="34" charset="0"/>
              </a:rPr>
              <a:t>5000+ Tickets </a:t>
            </a:r>
            <a:r>
              <a:rPr lang="en-US" sz="1200" dirty="0">
                <a:solidFill>
                  <a:prstClr val="black"/>
                </a:solidFill>
                <a:latin typeface="+mn-lt"/>
                <a:cs typeface="Arial" pitchFamily="34" charset="0"/>
              </a:rPr>
              <a:t>closed for various products</a:t>
            </a:r>
          </a:p>
          <a:p>
            <a:pPr marL="171446" indent="-171446" fontAlgn="base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>
                <a:srgbClr val="6D6E71"/>
              </a:buClr>
              <a:buFont typeface="Arial" pitchFamily="34" charset="0"/>
              <a:buChar char="•"/>
              <a:defRPr/>
            </a:pPr>
            <a:r>
              <a:rPr lang="en-US" sz="1200" b="1" i="1" dirty="0">
                <a:solidFill>
                  <a:prstClr val="black"/>
                </a:solidFill>
                <a:latin typeface="+mn-lt"/>
                <a:cs typeface="Arial" pitchFamily="34" charset="0"/>
              </a:rPr>
              <a:t>Adoption of Automation</a:t>
            </a:r>
            <a:r>
              <a:rPr lang="en-US" sz="1200" dirty="0">
                <a:solidFill>
                  <a:prstClr val="black"/>
                </a:solidFill>
                <a:latin typeface="+mn-lt"/>
                <a:cs typeface="Arial" pitchFamily="34" charset="0"/>
              </a:rPr>
              <a:t>: 60% of the tickets Automated </a:t>
            </a:r>
          </a:p>
          <a:p>
            <a:pPr marL="171446" indent="-171446" fontAlgn="base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>
                <a:srgbClr val="6D6E71"/>
              </a:buClr>
              <a:buFont typeface="Arial" pitchFamily="34" charset="0"/>
              <a:buChar char="•"/>
              <a:defRPr/>
            </a:pPr>
            <a:r>
              <a:rPr lang="en-US" sz="1200" b="1" i="1" dirty="0">
                <a:solidFill>
                  <a:prstClr val="black"/>
                </a:solidFill>
                <a:latin typeface="+mn-lt"/>
                <a:cs typeface="Arial" pitchFamily="34" charset="0"/>
              </a:rPr>
              <a:t>Soft UI, Load Box Development</a:t>
            </a:r>
            <a:r>
              <a:rPr lang="en-US" sz="1200" dirty="0">
                <a:solidFill>
                  <a:prstClr val="black"/>
                </a:solidFill>
                <a:latin typeface="+mn-lt"/>
                <a:cs typeface="Arial" pitchFamily="34" charset="0"/>
              </a:rPr>
              <a:t>: 50 UI Plugins developed, Developed soft load box for each program</a:t>
            </a:r>
          </a:p>
          <a:p>
            <a:pPr marL="171446" indent="-171446" fontAlgn="base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>
                <a:srgbClr val="6D6E71"/>
              </a:buClr>
              <a:buFont typeface="Arial" pitchFamily="34" charset="0"/>
              <a:buChar char="•"/>
              <a:defRPr/>
            </a:pPr>
            <a:r>
              <a:rPr lang="en-US" sz="1200" dirty="0">
                <a:solidFill>
                  <a:prstClr val="black"/>
                </a:solidFill>
                <a:latin typeface="+mn-lt"/>
                <a:cs typeface="Arial" pitchFamily="34" charset="0"/>
              </a:rPr>
              <a:t>Expertise in integrating different automation tools like MATLAB, Simulink, Coded UI, Python and Auto-IT</a:t>
            </a:r>
          </a:p>
          <a:p>
            <a:pPr marL="171446" indent="-171446" fontAlgn="base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>
                <a:srgbClr val="6D6E71"/>
              </a:buClr>
              <a:buFont typeface="Arial" pitchFamily="34" charset="0"/>
              <a:buChar char="•"/>
              <a:defRPr/>
            </a:pPr>
            <a:r>
              <a:rPr lang="en-US" sz="1200" dirty="0">
                <a:solidFill>
                  <a:prstClr val="black"/>
                </a:solidFill>
                <a:latin typeface="+mn-lt"/>
                <a:cs typeface="Arial" pitchFamily="34" charset="0"/>
              </a:rPr>
              <a:t>Specialized areas of expertise</a:t>
            </a:r>
          </a:p>
          <a:p>
            <a:pPr marL="837832" lvl="2" indent="-228594" fontAlgn="base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>
                <a:srgbClr val="6D6E71"/>
              </a:buClr>
              <a:buFont typeface="Arial" panose="020B0604020202020204" pitchFamily="34" charset="0"/>
              <a:buChar char="•"/>
              <a:defRPr/>
            </a:pPr>
            <a:r>
              <a:rPr lang="en-US" sz="1200" dirty="0">
                <a:solidFill>
                  <a:prstClr val="black"/>
                </a:solidFill>
                <a:latin typeface="+mn-lt"/>
                <a:cs typeface="Arial" pitchFamily="34" charset="0"/>
              </a:rPr>
              <a:t>Automotive Testing</a:t>
            </a:r>
          </a:p>
          <a:p>
            <a:pPr marL="837832" lvl="2" indent="-228594" fontAlgn="base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>
                <a:srgbClr val="6D6E71"/>
              </a:buClr>
              <a:buFont typeface="Arial" panose="020B0604020202020204" pitchFamily="34" charset="0"/>
              <a:buChar char="•"/>
              <a:defRPr/>
            </a:pPr>
            <a:r>
              <a:rPr lang="en-US" sz="1200" dirty="0">
                <a:solidFill>
                  <a:prstClr val="black"/>
                </a:solidFill>
                <a:latin typeface="+mn-lt"/>
                <a:cs typeface="Arial" pitchFamily="34" charset="0"/>
              </a:rPr>
              <a:t>Data Acquisition</a:t>
            </a:r>
          </a:p>
          <a:p>
            <a:pPr marL="837832" lvl="2" indent="-228594" fontAlgn="base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>
                <a:srgbClr val="6D6E71"/>
              </a:buClr>
              <a:buFont typeface="Arial" panose="020B0604020202020204" pitchFamily="34" charset="0"/>
              <a:buChar char="•"/>
              <a:defRPr/>
            </a:pPr>
            <a:r>
              <a:rPr lang="en-US" sz="1200" dirty="0">
                <a:solidFill>
                  <a:prstClr val="black"/>
                </a:solidFill>
                <a:latin typeface="+mn-lt"/>
                <a:cs typeface="Arial" pitchFamily="34" charset="0"/>
              </a:rPr>
              <a:t>Control Systems Testing</a:t>
            </a:r>
          </a:p>
          <a:p>
            <a:pPr marL="837832" lvl="2" indent="-228594" fontAlgn="base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>
                <a:srgbClr val="6D6E71"/>
              </a:buClr>
              <a:buFont typeface="Arial" panose="020B0604020202020204" pitchFamily="34" charset="0"/>
              <a:buChar char="•"/>
              <a:defRPr/>
            </a:pPr>
            <a:r>
              <a:rPr lang="en-US" sz="1200" dirty="0">
                <a:solidFill>
                  <a:prstClr val="black"/>
                </a:solidFill>
                <a:latin typeface="+mn-lt"/>
                <a:cs typeface="Arial" pitchFamily="34" charset="0"/>
              </a:rPr>
              <a:t>Simulation &amp; Vision Systems</a:t>
            </a:r>
          </a:p>
          <a:p>
            <a:pPr marL="837832" lvl="2" indent="-228594" fontAlgn="base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>
                <a:srgbClr val="6D6E71"/>
              </a:buClr>
              <a:buFont typeface="Arial" panose="020B0604020202020204" pitchFamily="34" charset="0"/>
              <a:buChar char="•"/>
              <a:defRPr/>
            </a:pPr>
            <a:r>
              <a:rPr lang="en-US" sz="1200" dirty="0">
                <a:solidFill>
                  <a:prstClr val="black"/>
                </a:solidFill>
                <a:latin typeface="+mn-lt"/>
                <a:cs typeface="Arial" pitchFamily="34" charset="0"/>
              </a:rPr>
              <a:t>Automated Test Equipment's (ATE)</a:t>
            </a:r>
          </a:p>
          <a:p>
            <a:pPr marL="837832" lvl="2" indent="-228594" fontAlgn="base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>
                <a:srgbClr val="6D6E71"/>
              </a:buClr>
              <a:buFont typeface="Arial" panose="020B0604020202020204" pitchFamily="34" charset="0"/>
              <a:buChar char="•"/>
              <a:defRPr/>
            </a:pPr>
            <a:r>
              <a:rPr lang="en-US" sz="1200" dirty="0">
                <a:solidFill>
                  <a:prstClr val="black"/>
                </a:solidFill>
                <a:latin typeface="+mn-lt"/>
                <a:cs typeface="Arial" pitchFamily="34" charset="0"/>
              </a:rPr>
              <a:t>Manual/ Automation/ Regression Testing</a:t>
            </a:r>
          </a:p>
          <a:p>
            <a:pPr marL="837832" lvl="2" indent="-228594" fontAlgn="base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>
                <a:srgbClr val="6D6E71"/>
              </a:buClr>
              <a:buFont typeface="Arial" panose="020B0604020202020204" pitchFamily="34" charset="0"/>
              <a:buChar char="•"/>
              <a:defRPr/>
            </a:pPr>
            <a:r>
              <a:rPr lang="en-US" sz="1200" dirty="0">
                <a:solidFill>
                  <a:prstClr val="black"/>
                </a:solidFill>
                <a:latin typeface="+mn-lt"/>
                <a:cs typeface="Arial" pitchFamily="34" charset="0"/>
              </a:rPr>
              <a:t>Hydraulic and Pneumatic Equipment Test Rigs</a:t>
            </a:r>
          </a:p>
          <a:p>
            <a:pPr marL="171446" indent="-171446" fontAlgn="base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>
                <a:srgbClr val="6D6E71"/>
              </a:buClr>
              <a:buFont typeface="Arial" pitchFamily="34" charset="0"/>
              <a:buChar char="•"/>
              <a:defRPr/>
            </a:pPr>
            <a:endParaRPr lang="en-US" sz="1200" dirty="0">
              <a:solidFill>
                <a:prstClr val="black"/>
              </a:solidFill>
              <a:latin typeface="+mn-lt"/>
              <a:cs typeface="Arial" pitchFamily="34" charset="0"/>
            </a:endParaRPr>
          </a:p>
        </p:txBody>
      </p:sp>
      <p:pic>
        <p:nvPicPr>
          <p:cNvPr id="8" name="Picture 7" descr="Image result for national instrument data acquisition">
            <a:extLst>
              <a:ext uri="{FF2B5EF4-FFF2-40B4-BE49-F238E27FC236}">
                <a16:creationId xmlns:a16="http://schemas.microsoft.com/office/drawing/2014/main" id="{4B1981C5-6084-B837-8F12-CD2CFED87EE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187690" y="5103959"/>
            <a:ext cx="1940434" cy="1453070"/>
          </a:xfrm>
          <a:prstGeom prst="rect">
            <a:avLst/>
          </a:prstGeom>
          <a:noFill/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7B1EDE0-E402-C1A5-5109-1791B918B4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88552" y="5145923"/>
            <a:ext cx="2770168" cy="12940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AD275C4D-DA50-7188-732C-2563878FBAC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0707" y="5158199"/>
            <a:ext cx="2689180" cy="134459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11" name="Group 10">
            <a:extLst>
              <a:ext uri="{FF2B5EF4-FFF2-40B4-BE49-F238E27FC236}">
                <a16:creationId xmlns:a16="http://schemas.microsoft.com/office/drawing/2014/main" id="{0D38606D-91F2-2814-E573-49F6C5FC525D}"/>
              </a:ext>
            </a:extLst>
          </p:cNvPr>
          <p:cNvGrpSpPr/>
          <p:nvPr/>
        </p:nvGrpSpPr>
        <p:grpSpPr>
          <a:xfrm>
            <a:off x="8214751" y="4354549"/>
            <a:ext cx="3512987" cy="2260180"/>
            <a:chOff x="6476045" y="1192258"/>
            <a:chExt cx="4422437" cy="2830987"/>
          </a:xfrm>
        </p:grpSpPr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CC3FA236-2FD6-DA24-5B25-5B19CD7B6AFF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/>
            <a:srcRect l="24204" t="19894" r="23956" b="6416"/>
            <a:stretch/>
          </p:blipFill>
          <p:spPr>
            <a:xfrm>
              <a:off x="8690910" y="2350842"/>
              <a:ext cx="2207572" cy="1672403"/>
            </a:xfrm>
            <a:prstGeom prst="rect">
              <a:avLst/>
            </a:prstGeom>
          </p:spPr>
        </p:pic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3CDC756A-05A1-68C1-44C8-D55BCA58499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9501039" y="1428068"/>
              <a:ext cx="975972" cy="993875"/>
            </a:xfrm>
            <a:prstGeom prst="rect">
              <a:avLst/>
            </a:prstGeom>
          </p:spPr>
        </p:pic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042E955A-CB08-0CF9-9FF3-8A5A1F61A2D4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7"/>
            <a:srcRect l="24203" t="19583" r="23873" b="6416"/>
            <a:stretch/>
          </p:blipFill>
          <p:spPr>
            <a:xfrm>
              <a:off x="6476045" y="2166603"/>
              <a:ext cx="2151831" cy="1634432"/>
            </a:xfrm>
            <a:prstGeom prst="rect">
              <a:avLst/>
            </a:prstGeom>
          </p:spPr>
        </p:pic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9B7FABA7-0957-C9B1-8571-1BF050F8CAE0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7009737" y="1192258"/>
              <a:ext cx="1029287" cy="1025917"/>
            </a:xfrm>
            <a:prstGeom prst="rect">
              <a:avLst/>
            </a:prstGeom>
          </p:spPr>
        </p:pic>
      </p:grpSp>
      <p:pic>
        <p:nvPicPr>
          <p:cNvPr id="12" name="Picture 11">
            <a:extLst>
              <a:ext uri="{FF2B5EF4-FFF2-40B4-BE49-F238E27FC236}">
                <a16:creationId xmlns:a16="http://schemas.microsoft.com/office/drawing/2014/main" id="{865FD1A8-BBDF-0A43-1ECA-FDC23349F1E2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843692" y="1070883"/>
            <a:ext cx="2989722" cy="32963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928082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135</Words>
  <Application>Microsoft Office PowerPoint</Application>
  <PresentationFormat>Widescreen</PresentationFormat>
  <Paragraphs>16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Maddikunta Akhila</dc:creator>
  <cp:lastModifiedBy>Maddikunta Akhila</cp:lastModifiedBy>
  <cp:revision>1</cp:revision>
  <dcterms:created xsi:type="dcterms:W3CDTF">2025-10-14T06:45:27Z</dcterms:created>
  <dcterms:modified xsi:type="dcterms:W3CDTF">2025-10-14T06:46:32Z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7331f486-f8b5-456b-a19a-dbe0d296c5fd_Enabled">
    <vt:lpwstr>true</vt:lpwstr>
  </property>
  <property fmtid="{D5CDD505-2E9C-101B-9397-08002B2CF9AE}" pid="3" name="MSIP_Label_7331f486-f8b5-456b-a19a-dbe0d296c5fd_SetDate">
    <vt:lpwstr>2025-10-14T06:46:32Z</vt:lpwstr>
  </property>
  <property fmtid="{D5CDD505-2E9C-101B-9397-08002B2CF9AE}" pid="4" name="MSIP_Label_7331f486-f8b5-456b-a19a-dbe0d296c5fd_Method">
    <vt:lpwstr>Privileged</vt:lpwstr>
  </property>
  <property fmtid="{D5CDD505-2E9C-101B-9397-08002B2CF9AE}" pid="5" name="MSIP_Label_7331f486-f8b5-456b-a19a-dbe0d296c5fd_Name">
    <vt:lpwstr>Company Confidential Internal Use</vt:lpwstr>
  </property>
  <property fmtid="{D5CDD505-2E9C-101B-9397-08002B2CF9AE}" pid="6" name="MSIP_Label_7331f486-f8b5-456b-a19a-dbe0d296c5fd_SiteId">
    <vt:lpwstr>edf442f5-b994-4c86-a131-b42b03a16c95</vt:lpwstr>
  </property>
  <property fmtid="{D5CDD505-2E9C-101B-9397-08002B2CF9AE}" pid="7" name="MSIP_Label_7331f486-f8b5-456b-a19a-dbe0d296c5fd_ActionId">
    <vt:lpwstr>02b4c144-95a2-4094-a1bf-d9926ad4f638</vt:lpwstr>
  </property>
  <property fmtid="{D5CDD505-2E9C-101B-9397-08002B2CF9AE}" pid="8" name="MSIP_Label_7331f486-f8b5-456b-a19a-dbe0d296c5fd_ContentBits">
    <vt:lpwstr>0</vt:lpwstr>
  </property>
  <property fmtid="{D5CDD505-2E9C-101B-9397-08002B2CF9AE}" pid="9" name="MSIP_Label_7331f486-f8b5-456b-a19a-dbe0d296c5fd_Tag">
    <vt:lpwstr>10, 0, 1, 1</vt:lpwstr>
  </property>
</Properties>
</file>