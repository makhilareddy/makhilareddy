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80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8058B-74AA-4A49-8B07-65013AA2E1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E8291-F63F-4333-8A91-D0DB6ECD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22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EAD8-B225-0208-0479-6CDAC380A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71596-EBFF-23FF-BE56-5E29924A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98D6-90B1-5EC6-1081-DAABD488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F1861-A7F7-7F4C-AC2C-1F62C6DA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93155-73C4-3116-D813-8EAEFBA7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0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0852-E24F-474B-0212-6B3E5456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42C83-09FD-E295-A6F4-579320A70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F8C25-76BA-CBF2-1AC7-8F1CF193F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A32CC-0A84-A1A8-8941-6042E062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427A-0C0B-A6A0-A920-47475D2B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4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495A-C29D-7301-945B-B19FFF93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FDE2C-2639-B16B-384C-3A052C92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A4DA9-4BE9-0CB9-7072-C57A5989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EF37A-FBC6-7D5E-A391-BB47F50A1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02AFA-6040-BDCD-10DB-70FBAB2A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7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6DE4-777B-BDD3-8C23-9DAEA2A8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29DA1-94C2-2E02-C5B6-E3BDEBF53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A951A-E433-8888-A851-948F3F800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0C541-CE22-05DE-A606-2DB1310E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317EA-DCBD-EAA5-9376-FD2092F0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C1430-45E9-9CAA-A83A-6ED8B95E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1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38D0-5F95-FEAA-4ED2-58D311E9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B6D63-3314-FBA9-B7E1-BEBC37028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371B0-72CA-37C1-4585-435CB550B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AC4E6-F71A-30A9-1F30-E98CBFF6E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2404A-17AF-FE86-DE59-D49F91D85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9E108-1555-4859-4CB4-F80C6959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45C0B-6D70-9553-56EC-3FFCFA85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AB97C-9A2F-A725-81B0-BD41A9D6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6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9860-E1E3-24D8-2D4A-264559C0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08939-23C0-C955-5E11-557A812F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9BD17-1516-B974-B94E-09BA7814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A1031-85CB-09EB-E62F-B2E244B2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9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6399-61FB-B4EF-8AB9-A1B948F9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49BB7-07D3-FBE5-6DB5-20BCB8EC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33E55-35ED-F0C6-8ECE-E6A47017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39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D8CB0-2575-BA6B-99E3-AC47446E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2B06C-805F-89A3-7F2C-C3B31EDA4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C074C-206B-CEEE-992B-DD7AE9FBE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F0224-AF4D-4BDA-DC2D-C36427012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9546D-B31C-ADA5-76A7-C7204503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F7630-D3C7-128B-E354-138A7C68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3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581F-F095-2553-F66F-BE0FDF4B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AB018-22DB-099F-1391-DF1FE9870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7C544-822C-BCD7-3B1B-791D1E772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46D5-4267-B26D-2584-1FD6E9A8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C5EA1-6013-4892-E382-86243789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53D8-2DC9-F7AA-A082-1B73E2B22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3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D5E0-FC96-7EEA-1896-177DB8B5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E3078-8A26-7C89-C985-D0D5AC388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B7A3-EC71-EB6D-23DB-447A041A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6303F-F9D6-2901-E0D8-AC806D28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59466-1E72-9768-5CC8-3D87F272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9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00FAA-F39D-8E14-8BE3-BD1688559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11720-C9B7-50A5-09F3-55207B9DC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EB527-3B9C-8266-4B16-3222CC68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0F38A-0815-B34E-7EB3-90686899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0472D-C191-A6F8-B4F4-3A59F5F8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41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 bwMode="auto">
          <a:xfrm>
            <a:off x="716278" y="229916"/>
            <a:ext cx="10949516" cy="613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336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B1B2D9-BDFC-9DA9-AAF6-CB733EF8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5352B-7DFB-292C-F547-034C77EC4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99532-1AFE-E622-3EBE-C4444D34E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9B893-FE88-4959-98E2-7816B64B056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C0A99-FDCE-5D20-8415-666E91F94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3388-6255-CC51-A17D-DF8E97F6C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0A941-E6F5-436A-AADB-4BB45700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2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TechM</a:t>
            </a:r>
            <a:r>
              <a:rPr lang="en-US" dirty="0"/>
              <a:t> as a Product Sustenance Partner</a:t>
            </a:r>
          </a:p>
        </p:txBody>
      </p:sp>
      <p:sp>
        <p:nvSpPr>
          <p:cNvPr id="19" name="Chevron 18"/>
          <p:cNvSpPr/>
          <p:nvPr/>
        </p:nvSpPr>
        <p:spPr>
          <a:xfrm>
            <a:off x="286115" y="1081776"/>
            <a:ext cx="1963619" cy="863896"/>
          </a:xfrm>
          <a:prstGeom prst="chevron">
            <a:avLst>
              <a:gd name="adj" fmla="val 20984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1" dirty="0">
                <a:solidFill>
                  <a:prstClr val="white"/>
                </a:solidFill>
                <a:latin typeface="Century Gothic" panose="020B0502020202020204" pitchFamily="34" charset="0"/>
              </a:rPr>
              <a:t>Product Sustenance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729718" y="2343723"/>
            <a:ext cx="10463751" cy="1354911"/>
            <a:chOff x="726094" y="2720780"/>
            <a:chExt cx="10466172" cy="1355225"/>
          </a:xfrm>
        </p:grpSpPr>
        <p:sp>
          <p:nvSpPr>
            <p:cNvPr id="21" name="Rounded Rectangle 20"/>
            <p:cNvSpPr/>
            <p:nvPr/>
          </p:nvSpPr>
          <p:spPr>
            <a:xfrm>
              <a:off x="5041246" y="3536879"/>
              <a:ext cx="1728927" cy="53644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17061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Cost Optimization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159477" y="3536879"/>
              <a:ext cx="1728927" cy="53644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17061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Warranty &amp; technical support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567813" y="2763726"/>
              <a:ext cx="1728927" cy="53644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17061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Verification &amp; validation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281346" y="2720780"/>
              <a:ext cx="1910920" cy="53644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17061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Product</a:t>
              </a:r>
            </a:p>
            <a:p>
              <a:pPr algn="ctr" defTabSz="117061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Documentation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409532" y="2737552"/>
              <a:ext cx="1728927" cy="53644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17061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Prototyping &amp; sourcing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882588" y="3534196"/>
              <a:ext cx="1728767" cy="541809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17061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End of Life Management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26094" y="2763726"/>
              <a:ext cx="1728927" cy="53644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17061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Product support &amp; enhancements</a:t>
              </a:r>
            </a:p>
          </p:txBody>
        </p:sp>
        <p:cxnSp>
          <p:nvCxnSpPr>
            <p:cNvPr id="28" name="Straight Connector 27"/>
            <p:cNvCxnSpPr>
              <a:stCxn id="27" idx="3"/>
            </p:cNvCxnSpPr>
            <p:nvPr/>
          </p:nvCxnSpPr>
          <p:spPr>
            <a:xfrm>
              <a:off x="2455021" y="3031948"/>
              <a:ext cx="1142887" cy="0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266645" y="2989002"/>
              <a:ext cx="1142887" cy="0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8138459" y="2989002"/>
              <a:ext cx="1142887" cy="0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612374" y="3805100"/>
              <a:ext cx="1382894" cy="0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770173" y="3809165"/>
              <a:ext cx="1382894" cy="0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223682" y="3288300"/>
              <a:ext cx="0" cy="569428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224011" y="3857728"/>
              <a:ext cx="645130" cy="0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0493187" y="3273996"/>
              <a:ext cx="0" cy="569428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9890831" y="3829977"/>
              <a:ext cx="586482" cy="0"/>
            </a:xfrm>
            <a:prstGeom prst="line">
              <a:avLst/>
            </a:prstGeom>
            <a:ln>
              <a:solidFill>
                <a:srgbClr val="E31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/>
          <p:cNvSpPr/>
          <p:nvPr/>
        </p:nvSpPr>
        <p:spPr>
          <a:xfrm>
            <a:off x="396310" y="4219568"/>
            <a:ext cx="2075381" cy="501093"/>
          </a:xfrm>
          <a:prstGeom prst="rect">
            <a:avLst/>
          </a:prstGeom>
          <a:solidFill>
            <a:srgbClr val="E31837"/>
          </a:solidFill>
          <a:ln w="25400" cap="flat" cmpd="sng" algn="ctr">
            <a:noFill/>
            <a:prstDash val="solid"/>
          </a:ln>
          <a:effectLst/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Product Support &amp; Enhancements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37950" y="4219568"/>
            <a:ext cx="2075381" cy="501093"/>
          </a:xfrm>
          <a:prstGeom prst="rect">
            <a:avLst/>
          </a:prstGeom>
          <a:solidFill>
            <a:srgbClr val="E31837"/>
          </a:solidFill>
          <a:ln w="25400" cap="flat" cmpd="sng" algn="ctr">
            <a:noFill/>
            <a:prstDash val="solid"/>
          </a:ln>
          <a:effectLst/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Product Validation &amp; Qualification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39255" y="4219568"/>
            <a:ext cx="2075381" cy="50109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Cost optimization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54006" y="4219568"/>
            <a:ext cx="2075381" cy="501093"/>
          </a:xfrm>
          <a:prstGeom prst="rect">
            <a:avLst/>
          </a:prstGeom>
          <a:solidFill>
            <a:srgbClr val="E31837"/>
          </a:solidFill>
          <a:ln w="25400" cap="flat" cmpd="sng" algn="ctr">
            <a:noFill/>
            <a:prstDash val="solid"/>
          </a:ln>
          <a:effectLst/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Product Documentation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72082" y="4219568"/>
            <a:ext cx="2075381" cy="501093"/>
          </a:xfrm>
          <a:prstGeom prst="rect">
            <a:avLst/>
          </a:prstGeom>
          <a:solidFill>
            <a:srgbClr val="E31837"/>
          </a:solidFill>
          <a:ln w="25400" cap="flat" cmpd="sng" algn="ctr">
            <a:noFill/>
            <a:prstDash val="solid"/>
          </a:ln>
          <a:effectLst/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Product End of Life Management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8952" y="4790347"/>
            <a:ext cx="2075381" cy="169466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67">
              <a:solidFill>
                <a:prstClr val="black"/>
              </a:solidFill>
              <a:latin typeface="Century Gothic" panose="020B0502020202020204" pitchFamily="34" charset="0"/>
              <a:cs typeface="Arial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737947" y="4790347"/>
            <a:ext cx="2075381" cy="169466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300">
              <a:solidFill>
                <a:prstClr val="black"/>
              </a:solidFill>
              <a:latin typeface="Century Gothic" panose="020B0502020202020204" pitchFamily="34" charset="0"/>
              <a:cs typeface="Arial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045890" y="4797133"/>
            <a:ext cx="2075381" cy="169466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300">
              <a:solidFill>
                <a:prstClr val="black"/>
              </a:solidFill>
              <a:latin typeface="Century Gothic" panose="020B0502020202020204" pitchFamily="34" charset="0"/>
              <a:cs typeface="Arial" pitchFamily="34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353834" y="4792187"/>
            <a:ext cx="2075381" cy="169466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300">
              <a:solidFill>
                <a:prstClr val="black"/>
              </a:solidFill>
              <a:latin typeface="Century Gothic" panose="020B0502020202020204" pitchFamily="34" charset="0"/>
              <a:cs typeface="Arial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675222" y="4792187"/>
            <a:ext cx="2075381" cy="169466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379" tIns="45691" rIns="91379" bIns="45691" rtlCol="0" anchor="ctr"/>
          <a:lstStyle/>
          <a:p>
            <a:pPr algn="ctr" defTabSz="11706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300">
              <a:solidFill>
                <a:prstClr val="black"/>
              </a:solidFill>
              <a:latin typeface="Century Gothic" panose="020B0502020202020204" pitchFamily="34" charset="0"/>
              <a:cs typeface="Arial" pitchFamily="3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68393" y="4905962"/>
            <a:ext cx="1681339" cy="151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Product Localization for regional regulatory and environment compliance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Product Enhancements  for additional features and communication interfaces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73024" y="4847242"/>
            <a:ext cx="1809261" cy="1576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Test Planning &amp; Lab Management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Testing – Manual &amp; Automated, Regression testing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Build &amp; Release Management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Configuration &amp; Change control management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0392" y="4905949"/>
            <a:ext cx="1797709" cy="1083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Product Support for  VAVE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Competitive bench marking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Alternate vendors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Target costing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88895" y="4887584"/>
            <a:ext cx="1818700" cy="1412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User Guides, Installation Guides, Readme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Documentation of code, design &amp; architecture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Knowledge Base &amp; Training Material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Engineering Change Notification /Releases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89907" y="4905951"/>
            <a:ext cx="1702567" cy="1412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Product Retirement planning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Full &amp; Limited sustenance support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Stakeholder communications</a:t>
            </a:r>
          </a:p>
          <a:p>
            <a:pPr marL="171333" indent="-171333" defTabSz="1170619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IN" sz="1067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cs typeface="Arial" pitchFamily="34" charset="0"/>
              </a:rPr>
              <a:t>Phased Product withdrawal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49733" y="854569"/>
            <a:ext cx="4263120" cy="1325075"/>
          </a:xfrm>
          <a:prstGeom prst="roundRect">
            <a:avLst>
              <a:gd name="adj" fmla="val 2899"/>
            </a:avLst>
          </a:prstGeom>
          <a:solidFill>
            <a:srgbClr val="E31837">
              <a:alpha val="74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91379" tIns="45691" rIns="91379" bIns="45691" rtlCol="0" anchor="ctr"/>
          <a:lstStyle/>
          <a:p>
            <a:pPr marL="365519" defTabSz="913813">
              <a:defRPr/>
            </a:pPr>
            <a:r>
              <a:rPr lang="en-US" sz="1900" kern="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Global Product Sustenance Center: </a:t>
            </a:r>
          </a:p>
          <a:p>
            <a:pPr marL="365519" defTabSz="913813">
              <a:defRPr/>
            </a:pPr>
            <a:r>
              <a:rPr lang="en-US" sz="1500" i="1" kern="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Build, Invest and Manage as a Center of Excellence for all the global product lines which reach maturity 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80120" y="854569"/>
            <a:ext cx="4263120" cy="1325075"/>
          </a:xfrm>
          <a:prstGeom prst="roundRect">
            <a:avLst>
              <a:gd name="adj" fmla="val 2899"/>
            </a:avLst>
          </a:prstGeom>
          <a:solidFill>
            <a:srgbClr val="E31837">
              <a:alpha val="74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91379" tIns="45691" rIns="91379" bIns="45691" rtlCol="0" anchor="ctr"/>
          <a:lstStyle/>
          <a:p>
            <a:pPr marL="651085" indent="-285566" defTabSz="913813">
              <a:buFont typeface="Wingdings" panose="05000000000000000000" pitchFamily="2" charset="2"/>
              <a:buChar char="§"/>
              <a:defRPr/>
            </a:pPr>
            <a:r>
              <a:rPr lang="en-US" sz="1500" i="1" kern="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Reduce the current engineering costs by </a:t>
            </a:r>
            <a:r>
              <a:rPr lang="en-US" sz="1500" b="1" i="1" kern="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20-25%</a:t>
            </a:r>
          </a:p>
          <a:p>
            <a:pPr marL="651085" indent="-285566" defTabSz="913813">
              <a:buFont typeface="Wingdings" panose="05000000000000000000" pitchFamily="2" charset="2"/>
              <a:buChar char="§"/>
              <a:defRPr/>
            </a:pPr>
            <a:r>
              <a:rPr lang="en-US" sz="1500" b="1" i="1" kern="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Improve</a:t>
            </a:r>
            <a:r>
              <a:rPr lang="en-US" sz="1500" i="1" kern="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 the current  </a:t>
            </a:r>
            <a:r>
              <a:rPr lang="en-US" sz="1500" b="1" i="1" kern="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cycle time </a:t>
            </a:r>
            <a:r>
              <a:rPr lang="en-US" sz="1500" i="1" kern="0" dirty="0">
                <a:solidFill>
                  <a:prstClr val="white"/>
                </a:solidFill>
                <a:latin typeface="Century Gothic" panose="020B0502020202020204" pitchFamily="34" charset="0"/>
                <a:cs typeface="Arial" pitchFamily="34" charset="0"/>
              </a:rPr>
              <a:t>through centralized teams and reusable frameworks</a:t>
            </a:r>
          </a:p>
        </p:txBody>
      </p:sp>
    </p:spTree>
    <p:extLst>
      <p:ext uri="{BB962C8B-B14F-4D97-AF65-F5344CB8AC3E}">
        <p14:creationId xmlns:p14="http://schemas.microsoft.com/office/powerpoint/2010/main" val="7205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Century Gothic</vt:lpstr>
      <vt:lpstr>Wingdings</vt:lpstr>
      <vt:lpstr>Office Theme</vt:lpstr>
      <vt:lpstr>TechM as a Product Sustenance Partner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2025-10-27T11:50:47Z</dcterms:created>
  <dcterms:modified xsi:type="dcterms:W3CDTF">2025-10-27T11:53:39Z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2025-10-27T11:53:39Z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c42abe3b-7995-4cfd-b2c3-7dab88a4a560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