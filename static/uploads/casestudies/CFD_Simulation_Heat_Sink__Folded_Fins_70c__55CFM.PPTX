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4"/>
  </p:sldMasterIdLst>
  <p:notesMasterIdLst>
    <p:notesMasterId r:id="rId12"/>
  </p:notesMasterIdLst>
  <p:handoutMasterIdLst>
    <p:handoutMasterId r:id="rId13"/>
  </p:handoutMasterIdLst>
  <p:sldIdLst>
    <p:sldId id="584" r:id="rId5"/>
    <p:sldId id="590" r:id="rId6"/>
    <p:sldId id="585" r:id="rId7"/>
    <p:sldId id="599" r:id="rId8"/>
    <p:sldId id="602" r:id="rId9"/>
    <p:sldId id="607" r:id="rId10"/>
    <p:sldId id="606" r:id="rId11"/>
  </p:sldIdLst>
  <p:sldSz cx="9144000" cy="6858000" type="screen4x3"/>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00"/>
    <a:srgbClr val="006666"/>
    <a:srgbClr val="E8CECE"/>
    <a:srgbClr val="A092B4"/>
    <a:srgbClr val="BE3A3A"/>
    <a:srgbClr val="625753"/>
    <a:srgbClr val="E6E3E2"/>
    <a:srgbClr val="F4E8E8"/>
    <a:srgbClr val="625756"/>
    <a:srgbClr val="968A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45" autoAdjust="0"/>
    <p:restoredTop sz="95424" autoAdjust="0"/>
  </p:normalViewPr>
  <p:slideViewPr>
    <p:cSldViewPr snapToGrid="0" showGuides="1">
      <p:cViewPr varScale="1">
        <p:scale>
          <a:sx n="101" d="100"/>
          <a:sy n="101" d="100"/>
        </p:scale>
        <p:origin x="-108" y="-270"/>
      </p:cViewPr>
      <p:guideLst>
        <p:guide orient="horz" pos="243"/>
        <p:guide orient="horz" pos="4013"/>
        <p:guide pos="5576"/>
        <p:guide pos="19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0" d="100"/>
        <a:sy n="60" d="100"/>
      </p:scale>
      <p:origin x="0" y="0"/>
    </p:cViewPr>
  </p:sorterViewPr>
  <p:notesViewPr>
    <p:cSldViewPr snapToGrid="0" showGuides="1">
      <p:cViewPr varScale="1">
        <p:scale>
          <a:sx n="53" d="100"/>
          <a:sy n="53" d="100"/>
        </p:scale>
        <p:origin x="-1794" y="-9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71800" cy="464820"/>
          </a:xfrm>
          <a:prstGeom prst="rect">
            <a:avLst/>
          </a:prstGeom>
        </p:spPr>
        <p:txBody>
          <a:bodyPr vert="horz" lIns="93031" tIns="46516" rIns="93031" bIns="46516" rtlCol="0"/>
          <a:lstStyle>
            <a:lvl1pPr algn="l">
              <a:defRPr sz="1200"/>
            </a:lvl1pPr>
          </a:lstStyle>
          <a:p>
            <a:endParaRPr lang="en-US" dirty="0"/>
          </a:p>
        </p:txBody>
      </p:sp>
      <p:sp>
        <p:nvSpPr>
          <p:cNvPr id="3" name="Date Placeholder 2"/>
          <p:cNvSpPr>
            <a:spLocks noGrp="1"/>
          </p:cNvSpPr>
          <p:nvPr>
            <p:ph type="dt" sz="quarter" idx="1"/>
          </p:nvPr>
        </p:nvSpPr>
        <p:spPr>
          <a:xfrm>
            <a:off x="3884614" y="1"/>
            <a:ext cx="2971800" cy="464820"/>
          </a:xfrm>
          <a:prstGeom prst="rect">
            <a:avLst/>
          </a:prstGeom>
        </p:spPr>
        <p:txBody>
          <a:bodyPr vert="horz" lIns="93031" tIns="46516" rIns="93031" bIns="46516" rtlCol="0"/>
          <a:lstStyle>
            <a:lvl1pPr algn="r">
              <a:defRPr sz="1200"/>
            </a:lvl1pPr>
          </a:lstStyle>
          <a:p>
            <a:fld id="{AE2A97B6-C2A1-4256-A47F-1DD0D79ECB0E}" type="datetimeFigureOut">
              <a:rPr lang="en-US" smtClean="0"/>
              <a:pPr/>
              <a:t>1/22/2015</a:t>
            </a:fld>
            <a:endParaRPr lang="en-US" dirty="0"/>
          </a:p>
        </p:txBody>
      </p:sp>
      <p:sp>
        <p:nvSpPr>
          <p:cNvPr id="4" name="Footer Placeholder 3"/>
          <p:cNvSpPr>
            <a:spLocks noGrp="1"/>
          </p:cNvSpPr>
          <p:nvPr>
            <p:ph type="ftr" sz="quarter" idx="2"/>
          </p:nvPr>
        </p:nvSpPr>
        <p:spPr>
          <a:xfrm>
            <a:off x="1" y="8829967"/>
            <a:ext cx="2971800" cy="464820"/>
          </a:xfrm>
          <a:prstGeom prst="rect">
            <a:avLst/>
          </a:prstGeom>
        </p:spPr>
        <p:txBody>
          <a:bodyPr vert="horz" lIns="93031" tIns="46516" rIns="93031" bIns="4651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4" y="8829967"/>
            <a:ext cx="2971800" cy="464820"/>
          </a:xfrm>
          <a:prstGeom prst="rect">
            <a:avLst/>
          </a:prstGeom>
        </p:spPr>
        <p:txBody>
          <a:bodyPr vert="horz" lIns="93031" tIns="46516" rIns="93031" bIns="46516" rtlCol="0" anchor="b"/>
          <a:lstStyle>
            <a:lvl1pPr algn="r">
              <a:defRPr sz="1200"/>
            </a:lvl1pPr>
          </a:lstStyle>
          <a:p>
            <a:fld id="{A42E3CEC-BBD4-4581-946E-8333F7E33DE7}" type="slidenum">
              <a:rPr lang="en-US" smtClean="0"/>
              <a:pPr/>
              <a:t>‹#›</a:t>
            </a:fld>
            <a:endParaRPr lang="en-US" dirty="0"/>
          </a:p>
        </p:txBody>
      </p:sp>
    </p:spTree>
    <p:extLst>
      <p:ext uri="{BB962C8B-B14F-4D97-AF65-F5344CB8AC3E}">
        <p14:creationId xmlns:p14="http://schemas.microsoft.com/office/powerpoint/2010/main" val="8067917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71800" cy="464820"/>
          </a:xfrm>
          <a:prstGeom prst="rect">
            <a:avLst/>
          </a:prstGeom>
        </p:spPr>
        <p:txBody>
          <a:bodyPr vert="horz" lIns="93031" tIns="46516" rIns="93031" bIns="46516" rtlCol="0"/>
          <a:lstStyle>
            <a:lvl1pPr algn="l">
              <a:defRPr sz="1200"/>
            </a:lvl1pPr>
          </a:lstStyle>
          <a:p>
            <a:endParaRPr lang="en-US" dirty="0"/>
          </a:p>
        </p:txBody>
      </p:sp>
      <p:sp>
        <p:nvSpPr>
          <p:cNvPr id="3" name="Date Placeholder 2"/>
          <p:cNvSpPr>
            <a:spLocks noGrp="1"/>
          </p:cNvSpPr>
          <p:nvPr>
            <p:ph type="dt" idx="1"/>
          </p:nvPr>
        </p:nvSpPr>
        <p:spPr>
          <a:xfrm>
            <a:off x="3884614" y="1"/>
            <a:ext cx="2971800" cy="464820"/>
          </a:xfrm>
          <a:prstGeom prst="rect">
            <a:avLst/>
          </a:prstGeom>
        </p:spPr>
        <p:txBody>
          <a:bodyPr vert="horz" lIns="93031" tIns="46516" rIns="93031" bIns="46516" rtlCol="0"/>
          <a:lstStyle>
            <a:lvl1pPr algn="r">
              <a:defRPr sz="1200"/>
            </a:lvl1pPr>
          </a:lstStyle>
          <a:p>
            <a:fld id="{2B83E211-F7A7-4317-892B-28769BDE5747}" type="datetimeFigureOut">
              <a:rPr lang="en-US" smtClean="0"/>
              <a:pPr/>
              <a:t>1/22/2015</a:t>
            </a:fld>
            <a:endParaRPr lang="en-US" dirty="0"/>
          </a:p>
        </p:txBody>
      </p:sp>
      <p:sp>
        <p:nvSpPr>
          <p:cNvPr id="4" name="Slide Image Placeholder 3"/>
          <p:cNvSpPr>
            <a:spLocks noGrp="1" noRot="1" noChangeAspect="1"/>
          </p:cNvSpPr>
          <p:nvPr>
            <p:ph type="sldImg" idx="2"/>
          </p:nvPr>
        </p:nvSpPr>
        <p:spPr>
          <a:xfrm>
            <a:off x="1104900" y="698500"/>
            <a:ext cx="4648200" cy="3486150"/>
          </a:xfrm>
          <a:prstGeom prst="rect">
            <a:avLst/>
          </a:prstGeom>
          <a:noFill/>
          <a:ln w="12700">
            <a:solidFill>
              <a:prstClr val="black"/>
            </a:solidFill>
          </a:ln>
        </p:spPr>
        <p:txBody>
          <a:bodyPr vert="horz" lIns="93031" tIns="46516" rIns="93031" bIns="46516" rtlCol="0" anchor="ctr"/>
          <a:lstStyle/>
          <a:p>
            <a:endParaRPr lang="en-US" dirty="0"/>
          </a:p>
        </p:txBody>
      </p:sp>
      <p:sp>
        <p:nvSpPr>
          <p:cNvPr id="5" name="Notes Placeholder 4"/>
          <p:cNvSpPr>
            <a:spLocks noGrp="1"/>
          </p:cNvSpPr>
          <p:nvPr>
            <p:ph type="body" sz="quarter" idx="3"/>
          </p:nvPr>
        </p:nvSpPr>
        <p:spPr>
          <a:xfrm>
            <a:off x="685800" y="4415791"/>
            <a:ext cx="5486400" cy="4183380"/>
          </a:xfrm>
          <a:prstGeom prst="rect">
            <a:avLst/>
          </a:prstGeom>
        </p:spPr>
        <p:txBody>
          <a:bodyPr vert="horz" lIns="93031" tIns="46516" rIns="93031" bIns="4651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8829967"/>
            <a:ext cx="2971800" cy="464820"/>
          </a:xfrm>
          <a:prstGeom prst="rect">
            <a:avLst/>
          </a:prstGeom>
        </p:spPr>
        <p:txBody>
          <a:bodyPr vert="horz" lIns="93031" tIns="46516" rIns="93031" bIns="4651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4" y="8829967"/>
            <a:ext cx="2971800" cy="464820"/>
          </a:xfrm>
          <a:prstGeom prst="rect">
            <a:avLst/>
          </a:prstGeom>
        </p:spPr>
        <p:txBody>
          <a:bodyPr vert="horz" lIns="93031" tIns="46516" rIns="93031" bIns="46516" rtlCol="0" anchor="b"/>
          <a:lstStyle>
            <a:lvl1pPr algn="r">
              <a:defRPr sz="1200"/>
            </a:lvl1pPr>
          </a:lstStyle>
          <a:p>
            <a:fld id="{063A218D-F311-4799-90C5-974E162849B4}" type="slidenum">
              <a:rPr lang="en-US" smtClean="0"/>
              <a:pPr/>
              <a:t>‹#›</a:t>
            </a:fld>
            <a:endParaRPr lang="en-US" dirty="0"/>
          </a:p>
        </p:txBody>
      </p:sp>
    </p:spTree>
    <p:extLst>
      <p:ext uri="{BB962C8B-B14F-4D97-AF65-F5344CB8AC3E}">
        <p14:creationId xmlns:p14="http://schemas.microsoft.com/office/powerpoint/2010/main" val="1008852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7" name="Picture 26" descr="ridge4.png"/>
          <p:cNvPicPr>
            <a:picLocks noChangeAspect="1"/>
          </p:cNvPicPr>
          <p:nvPr/>
        </p:nvPicPr>
        <p:blipFill>
          <a:blip r:embed="rId2"/>
          <a:stretch>
            <a:fillRect/>
          </a:stretch>
        </p:blipFill>
        <p:spPr bwMode="ltGray">
          <a:xfrm>
            <a:off x="802" y="0"/>
            <a:ext cx="3968824" cy="1443209"/>
          </a:xfrm>
          <a:prstGeom prst="rect">
            <a:avLst/>
          </a:prstGeom>
        </p:spPr>
      </p:pic>
      <p:sp>
        <p:nvSpPr>
          <p:cNvPr id="10" name="Slide Number Placeholder 5"/>
          <p:cNvSpPr txBox="1">
            <a:spLocks/>
          </p:cNvSpPr>
          <p:nvPr/>
        </p:nvSpPr>
        <p:spPr bwMode="auto">
          <a:xfrm>
            <a:off x="8822457" y="6614013"/>
            <a:ext cx="157094" cy="153888"/>
          </a:xfrm>
          <a:prstGeom prst="rect">
            <a:avLst/>
          </a:prstGeom>
          <a:noFill/>
          <a:ln w="9525">
            <a:noFill/>
            <a:miter lim="800000"/>
            <a:headEnd/>
            <a:tailEnd/>
          </a:ln>
        </p:spPr>
        <p:txBody>
          <a:bodyPr wrap="none" lIns="0" tIns="0" rIns="0" bIns="0" anchor="ctr">
            <a:spAutoFit/>
          </a:bodyPr>
          <a:lstStyle/>
          <a:p>
            <a:pPr marL="0" algn="r" defTabSz="914400" rtl="0" eaLnBrk="1" latinLnBrk="0" hangingPunct="1">
              <a:defRPr/>
            </a:pPr>
            <a:fld id="{6856ECDB-1CEE-4F69-ADCA-557460F2116E}" type="slidenum">
              <a:rPr lang="en-US" sz="1000" kern="1200" smtClean="0">
                <a:solidFill>
                  <a:schemeClr val="tx2"/>
                </a:solidFill>
                <a:latin typeface="Arial" pitchFamily="34" charset="0"/>
                <a:ea typeface="+mn-ea"/>
                <a:cs typeface="Arial" pitchFamily="34" charset="0"/>
              </a:rPr>
              <a:pPr marL="0" algn="r" defTabSz="914400" rtl="0" eaLnBrk="1" latinLnBrk="0" hangingPunct="1">
                <a:defRPr/>
              </a:pPr>
              <a:t>‹#›</a:t>
            </a:fld>
            <a:endParaRPr lang="en-US" sz="1000" kern="1200" dirty="0">
              <a:solidFill>
                <a:schemeClr val="tx2"/>
              </a:solidFill>
              <a:latin typeface="Arial" pitchFamily="34" charset="0"/>
              <a:ea typeface="+mn-ea"/>
              <a:cs typeface="Arial" pitchFamily="34" charset="0"/>
            </a:endParaRPr>
          </a:p>
        </p:txBody>
      </p:sp>
      <p:pic>
        <p:nvPicPr>
          <p:cNvPr id="7" name="Picture 6" descr="Mahindra Logo.png"/>
          <p:cNvPicPr>
            <a:picLocks noChangeAspect="1"/>
          </p:cNvPicPr>
          <p:nvPr/>
        </p:nvPicPr>
        <p:blipFill>
          <a:blip r:embed="rId3"/>
          <a:stretch>
            <a:fillRect/>
          </a:stretch>
        </p:blipFill>
        <p:spPr bwMode="gray">
          <a:xfrm>
            <a:off x="6329900" y="476643"/>
            <a:ext cx="2377538" cy="6565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27213" y="4053701"/>
            <a:ext cx="5511800" cy="276999"/>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27213" y="2184400"/>
            <a:ext cx="5511800" cy="1231106"/>
          </a:xfrm>
        </p:spPr>
        <p:txBody>
          <a:bodyPr wrap="square">
            <a:spAutoFit/>
          </a:bodyPr>
          <a:lstStyle>
            <a:lvl1pPr algn="l">
              <a:defRPr sz="4000" b="1">
                <a:solidFill>
                  <a:schemeClr val="bg2"/>
                </a:solidFill>
                <a:latin typeface="Arial" pitchFamily="34" charset="0"/>
                <a:cs typeface="Arial" pitchFamily="34" charset="0"/>
              </a:defRPr>
            </a:lvl1pPr>
          </a:lstStyle>
          <a:p>
            <a:r>
              <a:rPr lang="en-US" dirty="0" smtClean="0"/>
              <a:t>Click to Edit Master Title Style</a:t>
            </a:r>
            <a:endParaRPr lang="en-US" dirty="0"/>
          </a:p>
        </p:txBody>
      </p:sp>
      <p:pic>
        <p:nvPicPr>
          <p:cNvPr id="12" name="Picture 11" descr="ridge4.png"/>
          <p:cNvPicPr>
            <a:picLocks noChangeAspect="1"/>
          </p:cNvPicPr>
          <p:nvPr/>
        </p:nvPicPr>
        <p:blipFill>
          <a:blip r:embed="rId2"/>
          <a:stretch>
            <a:fillRect/>
          </a:stretch>
        </p:blipFill>
        <p:spPr bwMode="ltGray">
          <a:xfrm>
            <a:off x="802" y="0"/>
            <a:ext cx="3968824" cy="1443209"/>
          </a:xfrm>
          <a:prstGeom prst="rect">
            <a:avLst/>
          </a:prstGeom>
        </p:spPr>
      </p:pic>
      <p:pic>
        <p:nvPicPr>
          <p:cNvPr id="8" name="Picture 7" descr="Mahindra Logo.png"/>
          <p:cNvPicPr>
            <a:picLocks noChangeAspect="1"/>
          </p:cNvPicPr>
          <p:nvPr/>
        </p:nvPicPr>
        <p:blipFill>
          <a:blip r:embed="rId3"/>
          <a:stretch>
            <a:fillRect/>
          </a:stretch>
        </p:blipFill>
        <p:spPr bwMode="gray">
          <a:xfrm>
            <a:off x="6329900" y="476643"/>
            <a:ext cx="2377538" cy="65655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2" y="719138"/>
            <a:ext cx="822483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2" y="1971675"/>
            <a:ext cx="8224838"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2" y="719138"/>
            <a:ext cx="822483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2" y="1971675"/>
            <a:ext cx="8224838"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p:ph type="body" sz="quarter" idx="13"/>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4" name="Text Placeholder 4"/>
          <p:cNvSpPr>
            <a:spLocks noGrp="1"/>
          </p:cNvSpPr>
          <p:nvPr>
            <p:ph type="body" sz="quarter" idx="10" hasCustomPrompt="1"/>
          </p:nvPr>
        </p:nvSpPr>
        <p:spPr bwMode="gray">
          <a:xfrm>
            <a:off x="481012" y="1971675"/>
            <a:ext cx="8224838" cy="1846659"/>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481013" y="1971675"/>
            <a:ext cx="4078287" cy="4162425"/>
          </a:xfrm>
        </p:spPr>
        <p:txBody>
          <a:bodyPr>
            <a:noAutofit/>
          </a:bodyPr>
          <a:lstStyle>
            <a:lvl1pPr marL="0" indent="0">
              <a:buNone/>
              <a:defRPr>
                <a:latin typeface="Arial" pitchFamily="34" charset="0"/>
                <a:cs typeface="Arial" pitchFamily="34" charset="0"/>
              </a:defRPr>
            </a:lvl1pPr>
          </a:lstStyle>
          <a:p>
            <a:r>
              <a:rPr lang="en-US" smtClean="0"/>
              <a:t>Click icon to add picture</a:t>
            </a:r>
            <a:endParaRPr lang="en-US" dirty="0"/>
          </a:p>
        </p:txBody>
      </p:sp>
      <p:sp>
        <p:nvSpPr>
          <p:cNvPr id="18" name="Text Placeholder 4"/>
          <p:cNvSpPr>
            <a:spLocks noGrp="1"/>
          </p:cNvSpPr>
          <p:nvPr>
            <p:ph type="body" sz="quarter" idx="19" hasCustomPrompt="1"/>
          </p:nvPr>
        </p:nvSpPr>
        <p:spPr bwMode="gray">
          <a:xfrm>
            <a:off x="4838700" y="1971675"/>
            <a:ext cx="384651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39913" y="4067175"/>
            <a:ext cx="5524500"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39914" y="2200275"/>
            <a:ext cx="5524500" cy="1231106"/>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p:nvPicPr>
        <p:blipFill>
          <a:blip r:embed="rId2"/>
          <a:stretch>
            <a:fillRect/>
          </a:stretch>
        </p:blipFill>
        <p:spPr bwMode="ltGray">
          <a:xfrm>
            <a:off x="802" y="0"/>
            <a:ext cx="3968824" cy="1443209"/>
          </a:xfrm>
          <a:prstGeom prst="rect">
            <a:avLst/>
          </a:prstGeom>
        </p:spPr>
      </p:pic>
      <p:pic>
        <p:nvPicPr>
          <p:cNvPr id="6" name="Picture 5" descr="Mahindra Logo.png"/>
          <p:cNvPicPr>
            <a:picLocks noChangeAspect="1"/>
          </p:cNvPicPr>
          <p:nvPr/>
        </p:nvPicPr>
        <p:blipFill>
          <a:blip r:embed="rId3"/>
          <a:stretch>
            <a:fillRect/>
          </a:stretch>
        </p:blipFill>
        <p:spPr bwMode="gray">
          <a:xfrm>
            <a:off x="6329900" y="476643"/>
            <a:ext cx="2377538" cy="65655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481013" y="1971675"/>
            <a:ext cx="4102100" cy="4175125"/>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p>
        </p:txBody>
      </p:sp>
      <p:sp>
        <p:nvSpPr>
          <p:cNvPr id="22" name="Subtitle 2"/>
          <p:cNvSpPr>
            <a:spLocks noGrp="1"/>
          </p:cNvSpPr>
          <p:nvPr>
            <p:ph type="subTitle" idx="1" hasCustomPrompt="1"/>
          </p:nvPr>
        </p:nvSpPr>
        <p:spPr bwMode="gray">
          <a:xfrm>
            <a:off x="4926013" y="4295775"/>
            <a:ext cx="3781424"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3" name="Title 8"/>
          <p:cNvSpPr>
            <a:spLocks noGrp="1"/>
          </p:cNvSpPr>
          <p:nvPr>
            <p:ph type="title" hasCustomPrompt="1"/>
          </p:nvPr>
        </p:nvSpPr>
        <p:spPr bwMode="gray">
          <a:xfrm>
            <a:off x="4926014" y="1971675"/>
            <a:ext cx="3781424" cy="1846659"/>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p:nvPicPr>
        <p:blipFill>
          <a:blip r:embed="rId2"/>
          <a:stretch>
            <a:fillRect/>
          </a:stretch>
        </p:blipFill>
        <p:spPr bwMode="ltGray">
          <a:xfrm>
            <a:off x="802" y="0"/>
            <a:ext cx="3968824" cy="1443209"/>
          </a:xfrm>
          <a:prstGeom prst="rect">
            <a:avLst/>
          </a:prstGeom>
        </p:spPr>
      </p:pic>
      <p:pic>
        <p:nvPicPr>
          <p:cNvPr id="7" name="Picture 6" descr="Mahindra Logo.png"/>
          <p:cNvPicPr>
            <a:picLocks noChangeAspect="1"/>
          </p:cNvPicPr>
          <p:nvPr/>
        </p:nvPicPr>
        <p:blipFill>
          <a:blip r:embed="rId3"/>
          <a:stretch>
            <a:fillRect/>
          </a:stretch>
        </p:blipFill>
        <p:spPr bwMode="gray">
          <a:xfrm>
            <a:off x="6329900" y="476643"/>
            <a:ext cx="2377538" cy="65655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481013" y="246697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
          <p:cNvSpPr>
            <a:spLocks noGrp="1"/>
          </p:cNvSpPr>
          <p:nvPr>
            <p:ph type="body" sz="quarter" idx="11" hasCustomPrompt="1"/>
          </p:nvPr>
        </p:nvSpPr>
        <p:spPr bwMode="gray">
          <a:xfrm>
            <a:off x="4773613" y="246697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ext Placeholder 4"/>
          <p:cNvSpPr>
            <a:spLocks noGrp="1"/>
          </p:cNvSpPr>
          <p:nvPr>
            <p:ph type="body" sz="quarter" idx="12" hasCustomPrompt="1"/>
          </p:nvPr>
        </p:nvSpPr>
        <p:spPr bwMode="gray">
          <a:xfrm>
            <a:off x="481013" y="1971675"/>
            <a:ext cx="3933825"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bwMode="gray">
          <a:xfrm>
            <a:off x="4773613" y="1971675"/>
            <a:ext cx="3933825"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cxnSp>
        <p:nvCxnSpPr>
          <p:cNvPr id="8" name="Straight Connector 7"/>
          <p:cNvCxnSpPr/>
          <p:nvPr/>
        </p:nvCxnSpPr>
        <p:spPr bwMode="gray">
          <a:xfrm>
            <a:off x="481013" y="234473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a:off x="4773613" y="234473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15" name="Text Placeholder 41"/>
          <p:cNvSpPr>
            <a:spLocks noGrp="1"/>
          </p:cNvSpPr>
          <p:nvPr>
            <p:ph type="body" sz="quarter" idx="14"/>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17" name="Text Placeholder 4"/>
          <p:cNvSpPr>
            <a:spLocks noGrp="1"/>
          </p:cNvSpPr>
          <p:nvPr>
            <p:ph type="body" sz="quarter" idx="10" hasCustomPrompt="1"/>
          </p:nvPr>
        </p:nvSpPr>
        <p:spPr bwMode="gray">
          <a:xfrm>
            <a:off x="481013" y="246697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18" name="Text Placeholder 4"/>
          <p:cNvSpPr>
            <a:spLocks noGrp="1"/>
          </p:cNvSpPr>
          <p:nvPr>
            <p:ph type="body" sz="quarter" idx="11" hasCustomPrompt="1"/>
          </p:nvPr>
        </p:nvSpPr>
        <p:spPr bwMode="gray">
          <a:xfrm>
            <a:off x="4773613" y="246697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1" name="Text Placeholder 4"/>
          <p:cNvSpPr>
            <a:spLocks noGrp="1"/>
          </p:cNvSpPr>
          <p:nvPr>
            <p:ph type="body" sz="quarter" idx="12" hasCustomPrompt="1"/>
          </p:nvPr>
        </p:nvSpPr>
        <p:spPr bwMode="gray">
          <a:xfrm>
            <a:off x="481013" y="1971675"/>
            <a:ext cx="3933825"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32" name="Text Placeholder 4"/>
          <p:cNvSpPr>
            <a:spLocks noGrp="1"/>
          </p:cNvSpPr>
          <p:nvPr>
            <p:ph type="body" sz="quarter" idx="13" hasCustomPrompt="1"/>
          </p:nvPr>
        </p:nvSpPr>
        <p:spPr bwMode="gray">
          <a:xfrm>
            <a:off x="4773613" y="1971675"/>
            <a:ext cx="3933825" cy="286161"/>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cxnSp>
        <p:nvCxnSpPr>
          <p:cNvPr id="33" name="Straight Connector 32"/>
          <p:cNvCxnSpPr/>
          <p:nvPr/>
        </p:nvCxnSpPr>
        <p:spPr bwMode="gray">
          <a:xfrm>
            <a:off x="481013" y="234473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gray">
          <a:xfrm>
            <a:off x="4773613" y="234473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481013" y="470329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6" name="Text Placeholder 4"/>
          <p:cNvSpPr>
            <a:spLocks noGrp="1"/>
          </p:cNvSpPr>
          <p:nvPr>
            <p:ph type="body" sz="quarter" idx="16" hasCustomPrompt="1"/>
          </p:nvPr>
        </p:nvSpPr>
        <p:spPr bwMode="gray">
          <a:xfrm>
            <a:off x="4773613" y="470329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7" name="Text Placeholder 4"/>
          <p:cNvSpPr>
            <a:spLocks noGrp="1"/>
          </p:cNvSpPr>
          <p:nvPr>
            <p:ph type="body" sz="quarter" idx="17" hasCustomPrompt="1"/>
          </p:nvPr>
        </p:nvSpPr>
        <p:spPr bwMode="gray">
          <a:xfrm>
            <a:off x="481013" y="4207995"/>
            <a:ext cx="3933825" cy="286161"/>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smtClean="0"/>
              <a:t>Heading 3</a:t>
            </a:r>
          </a:p>
        </p:txBody>
      </p:sp>
      <p:sp>
        <p:nvSpPr>
          <p:cNvPr id="38" name="Text Placeholder 4"/>
          <p:cNvSpPr>
            <a:spLocks noGrp="1"/>
          </p:cNvSpPr>
          <p:nvPr>
            <p:ph type="body" sz="quarter" idx="18" hasCustomPrompt="1"/>
          </p:nvPr>
        </p:nvSpPr>
        <p:spPr bwMode="gray">
          <a:xfrm>
            <a:off x="4773613" y="4207995"/>
            <a:ext cx="3933825" cy="286161"/>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smtClean="0"/>
              <a:t>Heading 4</a:t>
            </a:r>
          </a:p>
        </p:txBody>
      </p:sp>
      <p:cxnSp>
        <p:nvCxnSpPr>
          <p:cNvPr id="39" name="Straight Connector 38"/>
          <p:cNvCxnSpPr/>
          <p:nvPr/>
        </p:nvCxnSpPr>
        <p:spPr bwMode="gray">
          <a:xfrm>
            <a:off x="481013" y="458105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a:off x="4773613" y="458105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2438399" y="1971675"/>
            <a:ext cx="2043113" cy="1508105"/>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1</a:t>
            </a:r>
          </a:p>
          <a:p>
            <a:pPr lvl="1"/>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16" name="Picture Placeholder 22"/>
          <p:cNvSpPr>
            <a:spLocks noGrp="1"/>
          </p:cNvSpPr>
          <p:nvPr>
            <p:ph type="pic" sz="quarter" idx="13"/>
          </p:nvPr>
        </p:nvSpPr>
        <p:spPr bwMode="gray">
          <a:xfrm>
            <a:off x="481013" y="1971675"/>
            <a:ext cx="1728787" cy="1892299"/>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endParaRPr lang="en-US" noProof="0" dirty="0" smtClean="0"/>
          </a:p>
        </p:txBody>
      </p:sp>
      <p:sp>
        <p:nvSpPr>
          <p:cNvPr id="20"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42" name="Text Placeholder 4"/>
          <p:cNvSpPr>
            <a:spLocks noGrp="1"/>
          </p:cNvSpPr>
          <p:nvPr>
            <p:ph type="body" sz="quarter" idx="19" hasCustomPrompt="1"/>
          </p:nvPr>
        </p:nvSpPr>
        <p:spPr bwMode="gray">
          <a:xfrm>
            <a:off x="6669087" y="1971675"/>
            <a:ext cx="2043113" cy="1508105"/>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2</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3" name="Picture Placeholder 22"/>
          <p:cNvSpPr>
            <a:spLocks noGrp="1"/>
          </p:cNvSpPr>
          <p:nvPr>
            <p:ph type="pic" sz="quarter" idx="20"/>
          </p:nvPr>
        </p:nvSpPr>
        <p:spPr bwMode="gray">
          <a:xfrm>
            <a:off x="4711701" y="1971675"/>
            <a:ext cx="1728787" cy="1892299"/>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endParaRPr lang="en-US" noProof="0" dirty="0" smtClean="0"/>
          </a:p>
        </p:txBody>
      </p:sp>
      <p:sp>
        <p:nvSpPr>
          <p:cNvPr id="45" name="Text Placeholder 4"/>
          <p:cNvSpPr>
            <a:spLocks noGrp="1"/>
          </p:cNvSpPr>
          <p:nvPr>
            <p:ph type="body" sz="quarter" idx="21" hasCustomPrompt="1"/>
          </p:nvPr>
        </p:nvSpPr>
        <p:spPr bwMode="gray">
          <a:xfrm>
            <a:off x="2438399" y="4241801"/>
            <a:ext cx="2043113" cy="1508105"/>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3</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6" name="Picture Placeholder 22"/>
          <p:cNvSpPr>
            <a:spLocks noGrp="1"/>
          </p:cNvSpPr>
          <p:nvPr>
            <p:ph type="pic" sz="quarter" idx="22"/>
          </p:nvPr>
        </p:nvSpPr>
        <p:spPr bwMode="gray">
          <a:xfrm>
            <a:off x="481013" y="4241801"/>
            <a:ext cx="1728787" cy="1892299"/>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endParaRPr lang="en-US" noProof="0" dirty="0" smtClean="0"/>
          </a:p>
        </p:txBody>
      </p:sp>
      <p:sp>
        <p:nvSpPr>
          <p:cNvPr id="48" name="Text Placeholder 4"/>
          <p:cNvSpPr>
            <a:spLocks noGrp="1"/>
          </p:cNvSpPr>
          <p:nvPr>
            <p:ph type="body" sz="quarter" idx="23" hasCustomPrompt="1"/>
          </p:nvPr>
        </p:nvSpPr>
        <p:spPr bwMode="gray">
          <a:xfrm>
            <a:off x="6669087" y="4241801"/>
            <a:ext cx="2043113" cy="1508105"/>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4</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9" name="Picture Placeholder 22"/>
          <p:cNvSpPr>
            <a:spLocks noGrp="1"/>
          </p:cNvSpPr>
          <p:nvPr>
            <p:ph type="pic" sz="quarter" idx="24"/>
          </p:nvPr>
        </p:nvSpPr>
        <p:spPr bwMode="gray">
          <a:xfrm>
            <a:off x="4711701" y="4241801"/>
            <a:ext cx="1728787" cy="1892299"/>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endParaRPr lang="en-US" noProof="0" dirty="0" smtClean="0"/>
          </a:p>
        </p:txBody>
      </p:sp>
      <p:sp>
        <p:nvSpPr>
          <p:cNvPr id="51" name="Text Placeholder 41"/>
          <p:cNvSpPr>
            <a:spLocks noGrp="1"/>
          </p:cNvSpPr>
          <p:nvPr>
            <p:ph type="body" sz="quarter" idx="25"/>
          </p:nvPr>
        </p:nvSpPr>
        <p:spPr bwMode="gray">
          <a:xfrm>
            <a:off x="481012" y="1270452"/>
            <a:ext cx="8224838"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smtClean="0"/>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481013" y="1971675"/>
            <a:ext cx="8226425" cy="4162426"/>
          </a:xfrm>
        </p:spPr>
        <p:txBody>
          <a:bodyPr>
            <a:noAutofit/>
          </a:bodyPr>
          <a:lstStyle>
            <a:lvl1pPr marL="0" indent="0">
              <a:buNone/>
              <a:defRPr>
                <a:latin typeface="Arial" pitchFamily="34" charset="0"/>
                <a:cs typeface="Arial" pitchFamily="34" charset="0"/>
              </a:defRPr>
            </a:lvl1pPr>
          </a:lstStyle>
          <a:p>
            <a:r>
              <a:rPr lang="en-US" smtClean="0"/>
              <a:t>Click icon to add table</a:t>
            </a:r>
            <a:endParaRPr lang="en-US" dirty="0"/>
          </a:p>
        </p:txBody>
      </p:sp>
      <p:sp>
        <p:nvSpPr>
          <p:cNvPr id="4"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8" name="Text Placeholder 41"/>
          <p:cNvSpPr>
            <a:spLocks noGrp="1"/>
          </p:cNvSpPr>
          <p:nvPr>
            <p:ph type="body" sz="quarter" idx="13"/>
          </p:nvPr>
        </p:nvSpPr>
        <p:spPr bwMode="gray">
          <a:xfrm>
            <a:off x="481012" y="1270452"/>
            <a:ext cx="8224838"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smtClean="0"/>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481013" y="1971675"/>
            <a:ext cx="8226425" cy="4162425"/>
          </a:xfrm>
        </p:spPr>
        <p:txBody>
          <a:bodyPr>
            <a:noAutofit/>
          </a:bodyPr>
          <a:lstStyle>
            <a:lvl1pPr marL="0" indent="0">
              <a:buNone/>
              <a:defRPr>
                <a:latin typeface="Arial" pitchFamily="34" charset="0"/>
                <a:cs typeface="Arial" pitchFamily="34" charset="0"/>
              </a:defRPr>
            </a:lvl1pPr>
          </a:lstStyle>
          <a:p>
            <a:r>
              <a:rPr lang="en-US" smtClean="0"/>
              <a:t>Click icon to add chart</a:t>
            </a:r>
            <a:endParaRPr lang="en-US" dirty="0"/>
          </a:p>
        </p:txBody>
      </p:sp>
      <p:sp>
        <p:nvSpPr>
          <p:cNvPr id="4"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366838" y="1527295"/>
            <a:ext cx="6729984"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smtClean="0"/>
              <a:t>Click to edit master title style</a:t>
            </a:r>
            <a:endParaRPr lang="en-US" dirty="0"/>
          </a:p>
        </p:txBody>
      </p:sp>
      <p:sp>
        <p:nvSpPr>
          <p:cNvPr id="9" name="TextBox 8"/>
          <p:cNvSpPr txBox="1">
            <a:spLocks noChangeArrowheads="1"/>
          </p:cNvSpPr>
          <p:nvPr/>
        </p:nvSpPr>
        <p:spPr bwMode="gray">
          <a:xfrm>
            <a:off x="1366839" y="3369513"/>
            <a:ext cx="6754811" cy="2446824"/>
          </a:xfrm>
          <a:prstGeom prst="rect">
            <a:avLst/>
          </a:prstGeom>
          <a:noFill/>
          <a:ln w="9525">
            <a:noFill/>
            <a:miter lim="800000"/>
            <a:headEnd/>
            <a:tailEnd/>
          </a:ln>
        </p:spPr>
        <p:txBody>
          <a:bodyPr wrap="square" lIns="0" tIns="0" rIns="0" bIns="0">
            <a:spAutoFit/>
          </a:bodyPr>
          <a:lstStyle/>
          <a:p>
            <a:pPr algn="just">
              <a:spcBef>
                <a:spcPts val="600"/>
              </a:spcBef>
            </a:pPr>
            <a:r>
              <a:rPr lang="en-US" sz="1000" b="1" dirty="0" smtClean="0">
                <a:solidFill>
                  <a:schemeClr val="tx2"/>
                </a:solidFill>
                <a:latin typeface="Arial" pitchFamily="34" charset="0"/>
                <a:cs typeface="Arial" pitchFamily="34" charset="0"/>
              </a:rPr>
              <a:t>Disclaimer </a:t>
            </a:r>
          </a:p>
          <a:p>
            <a:pPr algn="just">
              <a:spcBef>
                <a:spcPts val="600"/>
              </a:spcBef>
            </a:pPr>
            <a:r>
              <a:rPr lang="en-US" sz="900" dirty="0" smtClean="0">
                <a:solidFill>
                  <a:schemeClr val="tx2"/>
                </a:solidFill>
                <a:latin typeface="Arial" pitchFamily="34" charset="0"/>
                <a:cs typeface="Arial" pitchFamily="34" charset="0"/>
              </a:rPr>
              <a:t>Tech Mahindra Limited, herein referred to as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or its subsidiaries. Any unauthorized use, disclosure or public dissemination of information contained herein is prohibited. Unless specifically noted,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Information contained in a presentation hosted or promoted by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is provided “as is” without warranty of any kind, either expressed or implied, including any warranty of merchantability or fitness for a particular purpose. </a:t>
            </a:r>
            <a:r>
              <a:rPr lang="en-US" sz="900" dirty="0" err="1" smtClean="0">
                <a:solidFill>
                  <a:schemeClr val="tx2"/>
                </a:solidFill>
                <a:latin typeface="Arial" pitchFamily="34" charset="0"/>
                <a:cs typeface="Arial" pitchFamily="34" charset="0"/>
              </a:rPr>
              <a:t>TechM</a:t>
            </a:r>
            <a:r>
              <a:rPr lang="en-US" sz="900" baseline="0" dirty="0" smtClean="0">
                <a:solidFill>
                  <a:schemeClr val="tx2"/>
                </a:solidFill>
                <a:latin typeface="Arial" pitchFamily="34" charset="0"/>
                <a:cs typeface="Arial" pitchFamily="34" charset="0"/>
              </a:rPr>
              <a:t> </a:t>
            </a:r>
            <a:r>
              <a:rPr lang="en-US" sz="900" dirty="0" smtClean="0">
                <a:solidFill>
                  <a:schemeClr val="tx2"/>
                </a:solidFill>
                <a:latin typeface="Arial" pitchFamily="34" charset="0"/>
                <a:cs typeface="Arial" pitchFamily="34" charset="0"/>
              </a:rPr>
              <a:t>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366838" y="2140169"/>
            <a:ext cx="6734627"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smtClean="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Rectangle 2"/>
          <p:cNvSpPr/>
          <p:nvPr/>
        </p:nvSpPr>
        <p:spPr bwMode="gray">
          <a:xfrm>
            <a:off x="0" y="0"/>
            <a:ext cx="9144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 name="Picture 3" descr="Mahindra Logo.png"/>
          <p:cNvPicPr>
            <a:picLocks noChangeAspect="1"/>
          </p:cNvPicPr>
          <p:nvPr/>
        </p:nvPicPr>
        <p:blipFill>
          <a:blip r:embed="rId2"/>
          <a:stretch>
            <a:fillRect/>
          </a:stretch>
        </p:blipFill>
        <p:spPr bwMode="gray">
          <a:xfrm>
            <a:off x="1966217" y="2717226"/>
            <a:ext cx="5399349" cy="1491023"/>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1/22/2015</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pic>
        <p:nvPicPr>
          <p:cNvPr id="27" name="Picture 26" descr="ridge4.png"/>
          <p:cNvPicPr>
            <a:picLocks noChangeAspect="1"/>
          </p:cNvPicPr>
          <p:nvPr/>
        </p:nvPicPr>
        <p:blipFill>
          <a:blip r:embed="rId2"/>
          <a:stretch>
            <a:fillRect/>
          </a:stretch>
        </p:blipFill>
        <p:spPr bwMode="ltGray">
          <a:xfrm>
            <a:off x="802" y="0"/>
            <a:ext cx="3968824" cy="1443209"/>
          </a:xfrm>
          <a:prstGeom prst="rect">
            <a:avLst/>
          </a:prstGeom>
        </p:spPr>
      </p:pic>
      <p:sp>
        <p:nvSpPr>
          <p:cNvPr id="10" name="Slide Number Placeholder 5"/>
          <p:cNvSpPr txBox="1">
            <a:spLocks/>
          </p:cNvSpPr>
          <p:nvPr/>
        </p:nvSpPr>
        <p:spPr bwMode="auto">
          <a:xfrm>
            <a:off x="8822457" y="6614013"/>
            <a:ext cx="157094" cy="153888"/>
          </a:xfrm>
          <a:prstGeom prst="rect">
            <a:avLst/>
          </a:prstGeom>
          <a:noFill/>
          <a:ln w="9525">
            <a:noFill/>
            <a:miter lim="800000"/>
            <a:headEnd/>
            <a:tailEnd/>
          </a:ln>
        </p:spPr>
        <p:txBody>
          <a:bodyPr wrap="none" lIns="0" tIns="0" rIns="0" bIns="0" anchor="ctr">
            <a:spAutoFit/>
          </a:bodyPr>
          <a:lstStyle/>
          <a:p>
            <a:pPr marL="0" algn="r" defTabSz="914400" rtl="0" eaLnBrk="1" latinLnBrk="0" hangingPunct="1">
              <a:defRPr/>
            </a:pPr>
            <a:fld id="{6856ECDB-1CEE-4F69-ADCA-557460F2116E}" type="slidenum">
              <a:rPr lang="en-US" sz="1000" kern="1200" smtClean="0">
                <a:solidFill>
                  <a:schemeClr val="tx2"/>
                </a:solidFill>
                <a:latin typeface="Arial" pitchFamily="34" charset="0"/>
                <a:ea typeface="+mn-ea"/>
                <a:cs typeface="Arial" pitchFamily="34" charset="0"/>
              </a:rPr>
              <a:pPr marL="0" algn="r" defTabSz="914400" rtl="0" eaLnBrk="1" latinLnBrk="0" hangingPunct="1">
                <a:defRPr/>
              </a:pPr>
              <a:t>‹#›</a:t>
            </a:fld>
            <a:endParaRPr lang="en-US" sz="1000" kern="1200" dirty="0">
              <a:solidFill>
                <a:schemeClr val="tx2"/>
              </a:solidFill>
              <a:latin typeface="Arial" pitchFamily="34" charset="0"/>
              <a:ea typeface="+mn-ea"/>
              <a:cs typeface="Arial" pitchFamily="34" charset="0"/>
            </a:endParaRPr>
          </a:p>
        </p:txBody>
      </p:sp>
      <p:pic>
        <p:nvPicPr>
          <p:cNvPr id="7" name="Picture 6" descr="Mahindra Logo.png"/>
          <p:cNvPicPr>
            <a:picLocks noChangeAspect="1"/>
          </p:cNvPicPr>
          <p:nvPr/>
        </p:nvPicPr>
        <p:blipFill>
          <a:blip r:embed="rId3"/>
          <a:stretch>
            <a:fillRect/>
          </a:stretch>
        </p:blipFill>
        <p:spPr bwMode="gray">
          <a:xfrm>
            <a:off x="6329900" y="476643"/>
            <a:ext cx="2377538" cy="656554"/>
          </a:xfrm>
          <a:prstGeom prst="rect">
            <a:avLst/>
          </a:prstGeom>
        </p:spPr>
      </p:pic>
    </p:spTree>
    <p:extLst>
      <p:ext uri="{BB962C8B-B14F-4D97-AF65-F5344CB8AC3E}">
        <p14:creationId xmlns:p14="http://schemas.microsoft.com/office/powerpoint/2010/main" val="2049996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19"/>
          <a:stretch>
            <a:fillRect/>
          </a:stretch>
        </p:blipFill>
        <p:spPr bwMode="ltGray">
          <a:xfrm>
            <a:off x="459" y="0"/>
            <a:ext cx="2270124" cy="825500"/>
          </a:xfrm>
          <a:prstGeom prst="rect">
            <a:avLst/>
          </a:prstGeom>
        </p:spPr>
      </p:pic>
      <p:sp>
        <p:nvSpPr>
          <p:cNvPr id="2" name="Title Placeholder 1"/>
          <p:cNvSpPr>
            <a:spLocks noGrp="1"/>
          </p:cNvSpPr>
          <p:nvPr>
            <p:ph type="title"/>
          </p:nvPr>
        </p:nvSpPr>
        <p:spPr>
          <a:xfrm>
            <a:off x="468313" y="711200"/>
            <a:ext cx="8212137"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smtClean="0"/>
              <a:t>Click to edit Master title style</a:t>
            </a:r>
            <a:endParaRPr lang="en-US" dirty="0"/>
          </a:p>
        </p:txBody>
      </p:sp>
      <p:sp>
        <p:nvSpPr>
          <p:cNvPr id="3" name="Text Placeholder 2"/>
          <p:cNvSpPr>
            <a:spLocks noGrp="1"/>
          </p:cNvSpPr>
          <p:nvPr>
            <p:ph type="body" idx="1"/>
          </p:nvPr>
        </p:nvSpPr>
        <p:spPr>
          <a:xfrm>
            <a:off x="481013" y="1971675"/>
            <a:ext cx="8212137" cy="147732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marL="571500" marR="0" lvl="2" indent="-279400" algn="l" defTabSz="9144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smtClean="0"/>
              <a:t>First level</a:t>
            </a:r>
          </a:p>
          <a:p>
            <a:pPr lvl="3"/>
            <a:r>
              <a:rPr lang="en-US" dirty="0" smtClean="0"/>
              <a:t>Second level</a:t>
            </a:r>
          </a:p>
          <a:p>
            <a:pPr lvl="4"/>
            <a:r>
              <a:rPr lang="en-US" dirty="0" smtClean="0"/>
              <a:t>Third level</a:t>
            </a:r>
          </a:p>
          <a:p>
            <a:pPr lvl="5"/>
            <a:r>
              <a:rPr lang="en-US" dirty="0" smtClean="0"/>
              <a:t>Fifth level</a:t>
            </a:r>
            <a:endParaRPr lang="en-US" dirty="0"/>
          </a:p>
        </p:txBody>
      </p:sp>
      <p:sp>
        <p:nvSpPr>
          <p:cNvPr id="9" name="Slide Number Placeholder 5"/>
          <p:cNvSpPr txBox="1">
            <a:spLocks/>
          </p:cNvSpPr>
          <p:nvPr/>
        </p:nvSpPr>
        <p:spPr bwMode="auto">
          <a:xfrm>
            <a:off x="8822457" y="6614013"/>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smtClean="0">
                <a:solidFill>
                  <a:schemeClr val="tx2"/>
                </a:solidFill>
                <a:latin typeface="Arial" pitchFamily="34" charset="0"/>
                <a:cs typeface="Arial" pitchFamily="34" charset="0"/>
              </a:rPr>
              <a:pPr algn="r">
                <a:defRPr/>
              </a:pPr>
              <a:t>‹#›</a:t>
            </a:fld>
            <a:endParaRPr lang="en-US" sz="1000" dirty="0">
              <a:solidFill>
                <a:schemeClr val="tx2"/>
              </a:solidFill>
              <a:latin typeface="Arial" pitchFamily="34" charset="0"/>
              <a:cs typeface="Arial" pitchFamily="34" charset="0"/>
            </a:endParaRPr>
          </a:p>
        </p:txBody>
      </p:sp>
      <p:sp>
        <p:nvSpPr>
          <p:cNvPr id="7" name="TextBox 20"/>
          <p:cNvSpPr txBox="1">
            <a:spLocks noChangeArrowheads="1"/>
          </p:cNvSpPr>
          <p:nvPr/>
        </p:nvSpPr>
        <p:spPr bwMode="gray">
          <a:xfrm>
            <a:off x="481013" y="6629401"/>
            <a:ext cx="2431756" cy="123111"/>
          </a:xfrm>
          <a:prstGeom prst="rect">
            <a:avLst/>
          </a:prstGeom>
          <a:noFill/>
          <a:ln w="9525">
            <a:noFill/>
            <a:miter lim="800000"/>
            <a:headEnd/>
            <a:tailEnd/>
          </a:ln>
        </p:spPr>
        <p:txBody>
          <a:bodyPr wrap="none" lIns="0" tIns="0" rIns="0" bIns="0">
            <a:spAutoFit/>
          </a:bodyPr>
          <a:lstStyle/>
          <a:p>
            <a:pPr marL="0" algn="l" defTabSz="914400" rtl="0" eaLnBrk="1" latinLnBrk="0" hangingPunct="1">
              <a:defRPr/>
            </a:pPr>
            <a:r>
              <a:rPr lang="en-US" sz="800" kern="1200" dirty="0" smtClean="0">
                <a:solidFill>
                  <a:schemeClr val="tx2"/>
                </a:solidFill>
                <a:latin typeface="Arial" pitchFamily="34" charset="0"/>
                <a:ea typeface="+mn-ea"/>
                <a:cs typeface="Arial" pitchFamily="34" charset="0"/>
              </a:rPr>
              <a:t>Copyright © 2013 Tech Mahindra. All rights reserved.</a:t>
            </a:r>
            <a:endParaRPr lang="en-US" sz="800" kern="1200" dirty="0">
              <a:solidFill>
                <a:schemeClr val="tx2"/>
              </a:solidFill>
              <a:latin typeface="Arial" pitchFamily="34" charset="0"/>
              <a:ea typeface="+mn-ea"/>
              <a:cs typeface="Arial" pitchFamily="34" charset="0"/>
            </a:endParaRPr>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Lst>
  <p:txStyles>
    <p:titleStyle>
      <a:lvl1pPr algn="l" defTabSz="914400" rtl="0" eaLnBrk="1" latinLnBrk="0" hangingPunct="1">
        <a:spcBef>
          <a:spcPct val="0"/>
        </a:spcBef>
        <a:buNone/>
        <a:defRPr lang="en-US" sz="3200" b="1" kern="1200" dirty="0" smtClean="0">
          <a:solidFill>
            <a:schemeClr val="tx2"/>
          </a:solidFill>
          <a:latin typeface="Arial" pitchFamily="34" charset="0"/>
          <a:ea typeface="+mj-ea"/>
          <a:cs typeface="Arial" pitchFamily="34" charset="0"/>
        </a:defRPr>
      </a:lvl1pPr>
    </p:titleStyle>
    <p:bodyStyle>
      <a:lvl1pPr marL="290513" indent="-290513" algn="l" defTabSz="914400"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92072" y="2702257"/>
            <a:ext cx="7110905" cy="1477328"/>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buClr>
                <a:schemeClr val="tx2"/>
              </a:buClr>
            </a:pPr>
            <a:r>
              <a:rPr lang="en-ZA" sz="3200" dirty="0" smtClean="0">
                <a:solidFill>
                  <a:schemeClr val="bg2">
                    <a:lumMod val="50000"/>
                  </a:schemeClr>
                </a:solidFill>
                <a:latin typeface="+mj-lt"/>
              </a:rPr>
              <a:t>CFD Simulation</a:t>
            </a:r>
          </a:p>
          <a:p>
            <a:pPr algn="ctr" fontAlgn="base">
              <a:buClr>
                <a:schemeClr val="tx2"/>
              </a:buClr>
            </a:pPr>
            <a:r>
              <a:rPr lang="en-ZA" sz="3200" dirty="0" smtClean="0">
                <a:solidFill>
                  <a:schemeClr val="bg2">
                    <a:lumMod val="50000"/>
                  </a:schemeClr>
                </a:solidFill>
                <a:latin typeface="+mj-lt"/>
              </a:rPr>
              <a:t>Heat Sink with Folded Fins</a:t>
            </a:r>
            <a:endParaRPr lang="en-US" sz="3200" dirty="0">
              <a:solidFill>
                <a:schemeClr val="bg2">
                  <a:lumMod val="50000"/>
                </a:schemeClr>
              </a:solidFill>
              <a:latin typeface="+mj-lt"/>
            </a:endParaRPr>
          </a:p>
          <a:p>
            <a:pPr algn="ctr" fontAlgn="base">
              <a:buClr>
                <a:schemeClr val="tx2"/>
              </a:buClr>
            </a:pPr>
            <a:endParaRPr lang="en-US" sz="3200" dirty="0" smtClean="0">
              <a:solidFill>
                <a:schemeClr val="bg2">
                  <a:lumMod val="50000"/>
                </a:schemeClr>
              </a:solidFill>
              <a:latin typeface="+mj-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9545" y="1524716"/>
            <a:ext cx="1796326" cy="369332"/>
          </a:xfrm>
          <a:prstGeom prst="rect">
            <a:avLst/>
          </a:prstGeom>
        </p:spPr>
        <p:txBody>
          <a:bodyPr wrap="none">
            <a:spAutoFit/>
          </a:bodyPr>
          <a:lstStyle/>
          <a:p>
            <a:r>
              <a:rPr lang="en-ZA" b="1" u="sng" dirty="0" smtClean="0"/>
              <a:t>Scope of Work</a:t>
            </a:r>
            <a:endParaRPr lang="en-US" b="1" u="sng" dirty="0"/>
          </a:p>
        </p:txBody>
      </p:sp>
      <p:sp>
        <p:nvSpPr>
          <p:cNvPr id="5" name="Rectangle 4"/>
          <p:cNvSpPr/>
          <p:nvPr/>
        </p:nvSpPr>
        <p:spPr>
          <a:xfrm>
            <a:off x="477243" y="2002388"/>
            <a:ext cx="7875188" cy="646331"/>
          </a:xfrm>
          <a:prstGeom prst="rect">
            <a:avLst/>
          </a:prstGeom>
        </p:spPr>
        <p:txBody>
          <a:bodyPr wrap="square">
            <a:spAutoFit/>
          </a:bodyPr>
          <a:lstStyle/>
          <a:p>
            <a:r>
              <a:rPr lang="en-IN" dirty="0" smtClean="0"/>
              <a:t>To predict the Temperature distribution on the heat sink using CFD analysis with 6061-T6 material .</a:t>
            </a:r>
            <a:endParaRPr lang="en-US" dirty="0"/>
          </a:p>
        </p:txBody>
      </p:sp>
      <p:sp>
        <p:nvSpPr>
          <p:cNvPr id="6" name="Rectangle 5"/>
          <p:cNvSpPr/>
          <p:nvPr/>
        </p:nvSpPr>
        <p:spPr>
          <a:xfrm>
            <a:off x="405643" y="4538772"/>
            <a:ext cx="1544012" cy="369332"/>
          </a:xfrm>
          <a:prstGeom prst="rect">
            <a:avLst/>
          </a:prstGeom>
        </p:spPr>
        <p:txBody>
          <a:bodyPr wrap="none">
            <a:spAutoFit/>
          </a:bodyPr>
          <a:lstStyle/>
          <a:p>
            <a:r>
              <a:rPr lang="en-ZA" b="1" u="sng" dirty="0" smtClean="0"/>
              <a:t>Deliverables</a:t>
            </a:r>
            <a:endParaRPr lang="en-US" b="1" u="sng" dirty="0"/>
          </a:p>
        </p:txBody>
      </p:sp>
      <p:sp>
        <p:nvSpPr>
          <p:cNvPr id="1025" name="Rectangle 1"/>
          <p:cNvSpPr>
            <a:spLocks noChangeArrowheads="1"/>
          </p:cNvSpPr>
          <p:nvPr/>
        </p:nvSpPr>
        <p:spPr bwMode="auto">
          <a:xfrm>
            <a:off x="531424" y="5109774"/>
            <a:ext cx="645623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lang="en-ZA" dirty="0" smtClean="0"/>
              <a:t>Velocity &amp; Temperature Distribution in the heat sink Model.</a:t>
            </a:r>
          </a:p>
        </p:txBody>
      </p:sp>
      <p:sp>
        <p:nvSpPr>
          <p:cNvPr id="8" name="TextBox 7"/>
          <p:cNvSpPr txBox="1"/>
          <p:nvPr/>
        </p:nvSpPr>
        <p:spPr>
          <a:xfrm>
            <a:off x="402294" y="2702223"/>
            <a:ext cx="8141204" cy="1477328"/>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lnSpc>
                <a:spcPct val="150000"/>
              </a:lnSpc>
              <a:buClr>
                <a:schemeClr val="tx2"/>
              </a:buClr>
            </a:pPr>
            <a:r>
              <a:rPr lang="en-US" sz="1600" b="1" u="sng" dirty="0" smtClean="0">
                <a:latin typeface="+mj-lt"/>
              </a:rPr>
              <a:t>Assumptions</a:t>
            </a:r>
          </a:p>
          <a:p>
            <a:pPr fontAlgn="base">
              <a:lnSpc>
                <a:spcPct val="150000"/>
              </a:lnSpc>
              <a:buClr>
                <a:schemeClr val="tx2"/>
              </a:buClr>
              <a:buFont typeface="Arial" pitchFamily="34" charset="0"/>
              <a:buChar char="•"/>
            </a:pPr>
            <a:r>
              <a:rPr lang="en-US" sz="1600" dirty="0" smtClean="0">
                <a:latin typeface="+mj-lt"/>
              </a:rPr>
              <a:t>Flow is considered to be  Steady-state, Incompressible.</a:t>
            </a:r>
          </a:p>
          <a:p>
            <a:pPr fontAlgn="base">
              <a:lnSpc>
                <a:spcPct val="150000"/>
              </a:lnSpc>
              <a:buClr>
                <a:schemeClr val="tx2"/>
              </a:buClr>
              <a:buFont typeface="Arial" pitchFamily="34" charset="0"/>
              <a:buChar char="•"/>
            </a:pPr>
            <a:r>
              <a:rPr lang="en-US" sz="1600" dirty="0" smtClean="0">
                <a:latin typeface="+mj-lt"/>
              </a:rPr>
              <a:t>Blower is not considered in the model and the flow rate of </a:t>
            </a:r>
            <a:r>
              <a:rPr lang="en-US" sz="1600" dirty="0" smtClean="0">
                <a:latin typeface="+mj-lt"/>
              </a:rPr>
              <a:t>55 CFM </a:t>
            </a:r>
            <a:r>
              <a:rPr lang="en-US" sz="1600" dirty="0" smtClean="0">
                <a:latin typeface="+mj-lt"/>
              </a:rPr>
              <a:t>is considered at the inlet.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458279" y="5340876"/>
            <a:ext cx="8141204" cy="110799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lnSpc>
                <a:spcPct val="150000"/>
              </a:lnSpc>
              <a:buClr>
                <a:schemeClr val="tx2"/>
              </a:buClr>
            </a:pPr>
            <a:r>
              <a:rPr lang="en-US" sz="1600" b="1" u="sng" dirty="0" smtClean="0">
                <a:latin typeface="+mj-lt"/>
              </a:rPr>
              <a:t>Tools Used </a:t>
            </a:r>
          </a:p>
          <a:p>
            <a:pPr fontAlgn="base">
              <a:lnSpc>
                <a:spcPct val="150000"/>
              </a:lnSpc>
              <a:buClr>
                <a:schemeClr val="tx2"/>
              </a:buClr>
            </a:pPr>
            <a:r>
              <a:rPr lang="en-US" sz="1600" b="1" dirty="0" smtClean="0"/>
              <a:t>Mesh Generation </a:t>
            </a:r>
            <a:r>
              <a:rPr lang="en-US" sz="1600" dirty="0" smtClean="0"/>
              <a:t>-</a:t>
            </a:r>
            <a:r>
              <a:rPr lang="en-US" sz="1600" dirty="0" smtClean="0">
                <a:latin typeface="+mj-lt"/>
              </a:rPr>
              <a:t>ICEM CFD.</a:t>
            </a:r>
          </a:p>
          <a:p>
            <a:pPr fontAlgn="base">
              <a:lnSpc>
                <a:spcPct val="150000"/>
              </a:lnSpc>
              <a:buClr>
                <a:schemeClr val="tx2"/>
              </a:buClr>
            </a:pPr>
            <a:r>
              <a:rPr lang="en-US" sz="1600" b="1" dirty="0" smtClean="0">
                <a:latin typeface="+mj-lt"/>
              </a:rPr>
              <a:t>Solver</a:t>
            </a:r>
            <a:r>
              <a:rPr lang="en-US" sz="1600" dirty="0" smtClean="0">
                <a:latin typeface="+mj-lt"/>
              </a:rPr>
              <a:t>  - </a:t>
            </a:r>
            <a:r>
              <a:rPr lang="en-US" sz="1600" dirty="0" smtClean="0"/>
              <a:t>FLUENT 14.0 </a:t>
            </a:r>
            <a:endParaRPr lang="en-US" sz="1600" dirty="0" smtClean="0">
              <a:latin typeface="+mj-lt"/>
            </a:endParaRPr>
          </a:p>
        </p:txBody>
      </p:sp>
      <p:sp>
        <p:nvSpPr>
          <p:cNvPr id="5" name="Rectangle 4"/>
          <p:cNvSpPr/>
          <p:nvPr/>
        </p:nvSpPr>
        <p:spPr>
          <a:xfrm>
            <a:off x="307347" y="1596515"/>
            <a:ext cx="877163" cy="369332"/>
          </a:xfrm>
          <a:prstGeom prst="rect">
            <a:avLst/>
          </a:prstGeom>
        </p:spPr>
        <p:txBody>
          <a:bodyPr wrap="none">
            <a:spAutoFit/>
          </a:bodyPr>
          <a:lstStyle/>
          <a:p>
            <a:r>
              <a:rPr lang="en-ZA" b="1" u="sng" dirty="0" smtClean="0"/>
              <a:t>Inputs</a:t>
            </a:r>
            <a:endParaRPr lang="en-US" b="1" u="sng" dirty="0"/>
          </a:p>
        </p:txBody>
      </p:sp>
      <p:sp>
        <p:nvSpPr>
          <p:cNvPr id="6" name="Rectangle 5"/>
          <p:cNvSpPr/>
          <p:nvPr/>
        </p:nvSpPr>
        <p:spPr>
          <a:xfrm>
            <a:off x="458279" y="2051720"/>
            <a:ext cx="6229124" cy="923330"/>
          </a:xfrm>
          <a:prstGeom prst="rect">
            <a:avLst/>
          </a:prstGeom>
        </p:spPr>
        <p:txBody>
          <a:bodyPr wrap="square">
            <a:spAutoFit/>
          </a:bodyPr>
          <a:lstStyle/>
          <a:p>
            <a:pPr>
              <a:lnSpc>
                <a:spcPct val="150000"/>
              </a:lnSpc>
              <a:buFont typeface="Arial" pitchFamily="34" charset="0"/>
              <a:buChar char="•"/>
            </a:pPr>
            <a:r>
              <a:rPr lang="en-IN" dirty="0" smtClean="0"/>
              <a:t>CAD Data of the Model.</a:t>
            </a:r>
          </a:p>
          <a:p>
            <a:pPr>
              <a:lnSpc>
                <a:spcPct val="150000"/>
              </a:lnSpc>
              <a:buFont typeface="Arial" pitchFamily="34" charset="0"/>
              <a:buChar char="•"/>
            </a:pPr>
            <a:r>
              <a:rPr lang="en-IN" dirty="0" smtClean="0"/>
              <a:t>Wattages of the IGBT.</a:t>
            </a:r>
            <a:endParaRPr lang="en-US" dirty="0"/>
          </a:p>
        </p:txBody>
      </p:sp>
      <p:sp>
        <p:nvSpPr>
          <p:cNvPr id="7" name="TextBox 6"/>
          <p:cNvSpPr txBox="1"/>
          <p:nvPr/>
        </p:nvSpPr>
        <p:spPr>
          <a:xfrm>
            <a:off x="458279" y="3177573"/>
            <a:ext cx="8141204" cy="1477328"/>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lnSpc>
                <a:spcPct val="150000"/>
              </a:lnSpc>
              <a:buClr>
                <a:schemeClr val="tx2"/>
              </a:buClr>
            </a:pPr>
            <a:r>
              <a:rPr lang="en-US" sz="1600" b="1" u="sng" dirty="0" smtClean="0">
                <a:latin typeface="+mj-lt"/>
              </a:rPr>
              <a:t>Boundary Conditions</a:t>
            </a:r>
          </a:p>
          <a:p>
            <a:pPr fontAlgn="base">
              <a:lnSpc>
                <a:spcPct val="150000"/>
              </a:lnSpc>
              <a:buClr>
                <a:schemeClr val="tx2"/>
              </a:buClr>
              <a:buFont typeface="Arial" pitchFamily="34" charset="0"/>
              <a:buChar char="•"/>
            </a:pPr>
            <a:r>
              <a:rPr lang="en-US" sz="1600" dirty="0" smtClean="0">
                <a:latin typeface="+mj-lt"/>
              </a:rPr>
              <a:t>Inlet Flow Rate  55 CFM</a:t>
            </a:r>
          </a:p>
          <a:p>
            <a:pPr fontAlgn="base">
              <a:lnSpc>
                <a:spcPct val="150000"/>
              </a:lnSpc>
              <a:buClr>
                <a:schemeClr val="tx2"/>
              </a:buClr>
              <a:buFont typeface="Arial" pitchFamily="34" charset="0"/>
              <a:buChar char="•"/>
            </a:pPr>
            <a:r>
              <a:rPr lang="en-US" sz="1600" dirty="0" smtClean="0">
                <a:latin typeface="+mj-lt"/>
              </a:rPr>
              <a:t>Inlet </a:t>
            </a:r>
            <a:r>
              <a:rPr lang="en-US" sz="1600" dirty="0" smtClean="0">
                <a:latin typeface="+mj-lt"/>
              </a:rPr>
              <a:t>Air Temperature : 70</a:t>
            </a:r>
            <a:r>
              <a:rPr lang="en-US" sz="1600" baseline="30000" dirty="0" smtClean="0">
                <a:latin typeface="+mj-lt"/>
              </a:rPr>
              <a:t>0</a:t>
            </a:r>
            <a:r>
              <a:rPr lang="en-US" sz="1600" dirty="0" smtClean="0">
                <a:latin typeface="+mj-lt"/>
              </a:rPr>
              <a:t>C</a:t>
            </a:r>
          </a:p>
          <a:p>
            <a:pPr fontAlgn="base">
              <a:lnSpc>
                <a:spcPct val="150000"/>
              </a:lnSpc>
              <a:buClr>
                <a:schemeClr val="tx2"/>
              </a:buClr>
              <a:buFont typeface="Arial" pitchFamily="34" charset="0"/>
              <a:buChar char="•"/>
            </a:pPr>
            <a:r>
              <a:rPr lang="en-US" sz="1600" dirty="0" smtClean="0">
                <a:latin typeface="+mj-lt"/>
              </a:rPr>
              <a:t>Material considered for Heat sink is 6061-T6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524011" y="3818692"/>
            <a:ext cx="2578100" cy="369332"/>
          </a:xfrm>
          <a:prstGeom prst="rect">
            <a:avLst/>
          </a:prstGeom>
          <a:noFill/>
        </p:spPr>
        <p:txBody>
          <a:bodyPr wrap="square" rtlCol="0">
            <a:spAutoFit/>
          </a:bodyPr>
          <a:lstStyle/>
          <a:p>
            <a:r>
              <a:rPr lang="en-US" dirty="0" smtClean="0"/>
              <a:t>20watts</a:t>
            </a:r>
            <a:r>
              <a:rPr lang="en-US" sz="1200" dirty="0" smtClean="0"/>
              <a:t>(Component in other side)</a:t>
            </a:r>
            <a:endParaRPr lang="en-US" sz="1200"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086" t="20138" r="39092" b="13889"/>
          <a:stretch/>
        </p:blipFill>
        <p:spPr bwMode="auto">
          <a:xfrm rot="10800000" flipH="1">
            <a:off x="514290" y="1981199"/>
            <a:ext cx="5035543"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Arrow Connector 5"/>
          <p:cNvCxnSpPr/>
          <p:nvPr/>
        </p:nvCxnSpPr>
        <p:spPr>
          <a:xfrm rot="10800000" flipH="1" flipV="1">
            <a:off x="2737064" y="5615450"/>
            <a:ext cx="3786948" cy="233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rot="10800000" flipH="1">
            <a:off x="2572414" y="4916904"/>
            <a:ext cx="395159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flipH="1">
            <a:off x="2901714" y="4483767"/>
            <a:ext cx="362229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flipH="1">
            <a:off x="2720599" y="3659115"/>
            <a:ext cx="363876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0800000" flipH="1" flipV="1">
            <a:off x="2901714" y="3199641"/>
            <a:ext cx="3622298" cy="569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0800000" flipH="1">
            <a:off x="2737064" y="2534652"/>
            <a:ext cx="378694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29" idx="3"/>
          </p:cNvCxnSpPr>
          <p:nvPr/>
        </p:nvCxnSpPr>
        <p:spPr>
          <a:xfrm rot="10800000" flipH="1" flipV="1">
            <a:off x="4548213" y="5261609"/>
            <a:ext cx="1975799" cy="162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flipH="1">
            <a:off x="4424725" y="2823408"/>
            <a:ext cx="2099286"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flipH="1">
            <a:off x="6606336" y="5463852"/>
            <a:ext cx="2305099" cy="369332"/>
          </a:xfrm>
          <a:prstGeom prst="rect">
            <a:avLst/>
          </a:prstGeom>
          <a:noFill/>
        </p:spPr>
        <p:txBody>
          <a:bodyPr wrap="square" rtlCol="0">
            <a:spAutoFit/>
          </a:bodyPr>
          <a:lstStyle/>
          <a:p>
            <a:r>
              <a:rPr lang="en-US" dirty="0" smtClean="0"/>
              <a:t>45 watts</a:t>
            </a:r>
            <a:endParaRPr lang="en-US" dirty="0"/>
          </a:p>
        </p:txBody>
      </p:sp>
      <p:sp>
        <p:nvSpPr>
          <p:cNvPr id="15" name="TextBox 14"/>
          <p:cNvSpPr txBox="1"/>
          <p:nvPr/>
        </p:nvSpPr>
        <p:spPr>
          <a:xfrm flipH="1">
            <a:off x="6606336" y="4741958"/>
            <a:ext cx="2305099" cy="369332"/>
          </a:xfrm>
          <a:prstGeom prst="rect">
            <a:avLst/>
          </a:prstGeom>
          <a:noFill/>
        </p:spPr>
        <p:txBody>
          <a:bodyPr wrap="square" rtlCol="0">
            <a:spAutoFit/>
          </a:bodyPr>
          <a:lstStyle/>
          <a:p>
            <a:r>
              <a:rPr lang="en-US" dirty="0" smtClean="0"/>
              <a:t>45 watts</a:t>
            </a:r>
            <a:endParaRPr lang="en-US" dirty="0"/>
          </a:p>
        </p:txBody>
      </p:sp>
      <p:sp>
        <p:nvSpPr>
          <p:cNvPr id="16" name="TextBox 15"/>
          <p:cNvSpPr txBox="1"/>
          <p:nvPr/>
        </p:nvSpPr>
        <p:spPr>
          <a:xfrm flipH="1">
            <a:off x="6620057" y="3081600"/>
            <a:ext cx="2305099" cy="369332"/>
          </a:xfrm>
          <a:prstGeom prst="rect">
            <a:avLst/>
          </a:prstGeom>
          <a:noFill/>
        </p:spPr>
        <p:txBody>
          <a:bodyPr wrap="square" rtlCol="0">
            <a:spAutoFit/>
          </a:bodyPr>
          <a:lstStyle/>
          <a:p>
            <a:r>
              <a:rPr lang="en-US" dirty="0" smtClean="0"/>
              <a:t>45 watts</a:t>
            </a:r>
            <a:endParaRPr lang="en-US" dirty="0"/>
          </a:p>
        </p:txBody>
      </p:sp>
      <p:sp>
        <p:nvSpPr>
          <p:cNvPr id="17" name="TextBox 16"/>
          <p:cNvSpPr txBox="1"/>
          <p:nvPr/>
        </p:nvSpPr>
        <p:spPr>
          <a:xfrm flipH="1">
            <a:off x="6620057" y="2359705"/>
            <a:ext cx="2305099" cy="369332"/>
          </a:xfrm>
          <a:prstGeom prst="rect">
            <a:avLst/>
          </a:prstGeom>
          <a:noFill/>
        </p:spPr>
        <p:txBody>
          <a:bodyPr wrap="square" rtlCol="0">
            <a:spAutoFit/>
          </a:bodyPr>
          <a:lstStyle/>
          <a:p>
            <a:r>
              <a:rPr lang="en-US" dirty="0" smtClean="0"/>
              <a:t>45 watts</a:t>
            </a:r>
            <a:endParaRPr lang="en-US" dirty="0"/>
          </a:p>
        </p:txBody>
      </p:sp>
      <p:sp>
        <p:nvSpPr>
          <p:cNvPr id="18" name="TextBox 17"/>
          <p:cNvSpPr txBox="1"/>
          <p:nvPr/>
        </p:nvSpPr>
        <p:spPr>
          <a:xfrm flipH="1">
            <a:off x="6620057" y="4308821"/>
            <a:ext cx="2305099" cy="369332"/>
          </a:xfrm>
          <a:prstGeom prst="rect">
            <a:avLst/>
          </a:prstGeom>
          <a:noFill/>
        </p:spPr>
        <p:txBody>
          <a:bodyPr wrap="square" rtlCol="0">
            <a:spAutoFit/>
          </a:bodyPr>
          <a:lstStyle/>
          <a:p>
            <a:r>
              <a:rPr lang="en-US" dirty="0" smtClean="0"/>
              <a:t>30 watts</a:t>
            </a:r>
            <a:endParaRPr lang="en-US" dirty="0"/>
          </a:p>
        </p:txBody>
      </p:sp>
      <p:sp>
        <p:nvSpPr>
          <p:cNvPr id="19" name="TextBox 18"/>
          <p:cNvSpPr txBox="1"/>
          <p:nvPr/>
        </p:nvSpPr>
        <p:spPr>
          <a:xfrm flipH="1">
            <a:off x="6551453" y="3437998"/>
            <a:ext cx="2305099" cy="369332"/>
          </a:xfrm>
          <a:prstGeom prst="rect">
            <a:avLst/>
          </a:prstGeom>
          <a:noFill/>
        </p:spPr>
        <p:txBody>
          <a:bodyPr wrap="square" rtlCol="0">
            <a:spAutoFit/>
          </a:bodyPr>
          <a:lstStyle/>
          <a:p>
            <a:r>
              <a:rPr lang="en-US" dirty="0" smtClean="0"/>
              <a:t>30watts</a:t>
            </a:r>
            <a:endParaRPr lang="en-US" dirty="0"/>
          </a:p>
        </p:txBody>
      </p:sp>
      <p:sp>
        <p:nvSpPr>
          <p:cNvPr id="20" name="TextBox 19"/>
          <p:cNvSpPr txBox="1"/>
          <p:nvPr/>
        </p:nvSpPr>
        <p:spPr>
          <a:xfrm flipH="1">
            <a:off x="6620057" y="2692040"/>
            <a:ext cx="2305099" cy="369332"/>
          </a:xfrm>
          <a:prstGeom prst="rect">
            <a:avLst/>
          </a:prstGeom>
          <a:noFill/>
        </p:spPr>
        <p:txBody>
          <a:bodyPr wrap="square" rtlCol="0">
            <a:spAutoFit/>
          </a:bodyPr>
          <a:lstStyle/>
          <a:p>
            <a:r>
              <a:rPr lang="en-US" dirty="0" smtClean="0"/>
              <a:t>3 watts</a:t>
            </a:r>
            <a:endParaRPr lang="en-US" dirty="0"/>
          </a:p>
        </p:txBody>
      </p:sp>
      <p:cxnSp>
        <p:nvCxnSpPr>
          <p:cNvPr id="21" name="Straight Arrow Connector 20"/>
          <p:cNvCxnSpPr/>
          <p:nvPr/>
        </p:nvCxnSpPr>
        <p:spPr>
          <a:xfrm rot="10800000" flipH="1">
            <a:off x="5426346" y="3984946"/>
            <a:ext cx="119371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flipH="1">
            <a:off x="6551453" y="5113959"/>
            <a:ext cx="2305099" cy="369332"/>
          </a:xfrm>
          <a:prstGeom prst="rect">
            <a:avLst/>
          </a:prstGeom>
          <a:noFill/>
        </p:spPr>
        <p:txBody>
          <a:bodyPr wrap="square" rtlCol="0">
            <a:spAutoFit/>
          </a:bodyPr>
          <a:lstStyle/>
          <a:p>
            <a:r>
              <a:rPr lang="en-US" dirty="0" smtClean="0"/>
              <a:t>45 watts</a:t>
            </a:r>
            <a:endParaRPr lang="en-US" dirty="0"/>
          </a:p>
        </p:txBody>
      </p:sp>
      <p:sp>
        <p:nvSpPr>
          <p:cNvPr id="23" name="Rectangle 22"/>
          <p:cNvSpPr/>
          <p:nvPr/>
        </p:nvSpPr>
        <p:spPr>
          <a:xfrm rot="10800000" flipH="1">
            <a:off x="4038670" y="3545304"/>
            <a:ext cx="1387676" cy="79408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p:cNvSpPr/>
          <p:nvPr/>
        </p:nvSpPr>
        <p:spPr>
          <a:xfrm rot="10800000" flipH="1">
            <a:off x="1255215" y="2245894"/>
            <a:ext cx="1481849" cy="577516"/>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p:cNvSpPr/>
          <p:nvPr/>
        </p:nvSpPr>
        <p:spPr>
          <a:xfrm rot="10800000" flipH="1">
            <a:off x="1255215" y="2967788"/>
            <a:ext cx="1646499" cy="463705"/>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p:cNvSpPr/>
          <p:nvPr/>
        </p:nvSpPr>
        <p:spPr>
          <a:xfrm rot="10800000" flipH="1">
            <a:off x="1749164" y="4308821"/>
            <a:ext cx="1152549" cy="428588"/>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p:cNvSpPr/>
          <p:nvPr/>
        </p:nvSpPr>
        <p:spPr>
          <a:xfrm rot="10800000" flipH="1">
            <a:off x="1131727" y="4707555"/>
            <a:ext cx="1481849" cy="498107"/>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p:cNvSpPr/>
          <p:nvPr/>
        </p:nvSpPr>
        <p:spPr>
          <a:xfrm rot="10800000" flipH="1">
            <a:off x="1238750" y="5303343"/>
            <a:ext cx="1481849" cy="577516"/>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p:cNvSpPr/>
          <p:nvPr/>
        </p:nvSpPr>
        <p:spPr>
          <a:xfrm rot="10800000" flipH="1">
            <a:off x="2942876" y="4956608"/>
            <a:ext cx="1605337" cy="610001"/>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p:cNvSpPr/>
          <p:nvPr/>
        </p:nvSpPr>
        <p:spPr>
          <a:xfrm rot="10800000" flipH="1">
            <a:off x="3587755" y="2101515"/>
            <a:ext cx="836970" cy="1336483"/>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p:cNvSpPr/>
          <p:nvPr/>
        </p:nvSpPr>
        <p:spPr>
          <a:xfrm rot="5400000" flipH="1">
            <a:off x="1828195" y="3446985"/>
            <a:ext cx="1010653" cy="774155"/>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itle 1"/>
          <p:cNvSpPr txBox="1">
            <a:spLocks/>
          </p:cNvSpPr>
          <p:nvPr/>
        </p:nvSpPr>
        <p:spPr>
          <a:xfrm>
            <a:off x="576625" y="838200"/>
            <a:ext cx="6858000" cy="77152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u="sng" dirty="0" smtClean="0"/>
              <a:t>VFMD Details-Power Board Components Power Dissipation</a:t>
            </a:r>
            <a:endParaRPr lang="en-US" sz="2800" u="sng" dirty="0"/>
          </a:p>
        </p:txBody>
      </p:sp>
    </p:spTree>
    <p:extLst>
      <p:ext uri="{BB962C8B-B14F-4D97-AF65-F5344CB8AC3E}">
        <p14:creationId xmlns:p14="http://schemas.microsoft.com/office/powerpoint/2010/main" val="36126548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7468" y="3205114"/>
            <a:ext cx="4166647" cy="369332"/>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buClr>
                <a:schemeClr val="tx2"/>
              </a:buClr>
            </a:pPr>
            <a:r>
              <a:rPr lang="en-US" sz="2400" dirty="0" smtClean="0">
                <a:latin typeface="+mj-lt"/>
              </a:rPr>
              <a:t>Inlet Air Flow Rate is 55 CFM</a:t>
            </a:r>
            <a:endParaRPr lang="en-IN" sz="2400" dirty="0" smtClean="0">
              <a:latin typeface="+mj-lt"/>
            </a:endParaRPr>
          </a:p>
        </p:txBody>
      </p:sp>
    </p:spTree>
    <p:extLst>
      <p:ext uri="{BB962C8B-B14F-4D97-AF65-F5344CB8AC3E}">
        <p14:creationId xmlns:p14="http://schemas.microsoft.com/office/powerpoint/2010/main" val="26498582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14369" y="5591467"/>
            <a:ext cx="3057100" cy="21544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buClr>
                <a:schemeClr val="tx2"/>
              </a:buClr>
            </a:pPr>
            <a:r>
              <a:rPr lang="en-US" sz="1400" b="1" dirty="0" smtClean="0">
                <a:latin typeface="+mj-lt"/>
              </a:rPr>
              <a:t>Total Pressure Drop is 466 Pa</a:t>
            </a:r>
            <a:endParaRPr lang="en-IN" sz="1400" b="1" dirty="0" smtClean="0">
              <a:latin typeface="+mj-lt"/>
            </a:endParaRPr>
          </a:p>
        </p:txBody>
      </p:sp>
      <p:sp>
        <p:nvSpPr>
          <p:cNvPr id="3" name="TextBox 2"/>
          <p:cNvSpPr txBox="1"/>
          <p:nvPr/>
        </p:nvSpPr>
        <p:spPr>
          <a:xfrm>
            <a:off x="2115403" y="354841"/>
            <a:ext cx="5963367" cy="369332"/>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buClr>
                <a:schemeClr val="tx2"/>
              </a:buClr>
            </a:pPr>
            <a:r>
              <a:rPr lang="en-US" sz="2400" b="1" dirty="0" smtClean="0">
                <a:latin typeface="+mj-lt"/>
              </a:rPr>
              <a:t>Temperature &amp; Pressure  Distribution</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8561" y="1480007"/>
            <a:ext cx="4342908" cy="3871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14" y="1480006"/>
            <a:ext cx="4337528" cy="3871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03159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28800" y="300250"/>
            <a:ext cx="6741993" cy="369332"/>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buClr>
                <a:schemeClr val="tx2"/>
              </a:buClr>
            </a:pPr>
            <a:r>
              <a:rPr lang="en-US" sz="2400" b="1" dirty="0" smtClean="0">
                <a:latin typeface="+mj-lt"/>
              </a:rPr>
              <a:t>Temperature Distribution on Heat Sink</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3824" y="820901"/>
            <a:ext cx="5533022" cy="497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110845" y="5986021"/>
            <a:ext cx="4685122"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buClr>
                <a:schemeClr val="tx2"/>
              </a:buClr>
            </a:pPr>
            <a:r>
              <a:rPr lang="en-US" sz="1200" b="1" dirty="0" smtClean="0">
                <a:latin typeface="+mj-lt"/>
              </a:rPr>
              <a:t>Maximum Temperature on the IGBTs are less than 100</a:t>
            </a:r>
            <a:r>
              <a:rPr lang="en-US" sz="1200" b="1" baseline="30000" dirty="0" smtClean="0">
                <a:latin typeface="+mj-lt"/>
              </a:rPr>
              <a:t>0</a:t>
            </a:r>
            <a:r>
              <a:rPr lang="en-US" sz="1200" b="1" dirty="0" smtClean="0">
                <a:latin typeface="+mj-lt"/>
              </a:rPr>
              <a:t>C</a:t>
            </a:r>
            <a:endParaRPr lang="en-IN" sz="1200" b="1" dirty="0" smtClean="0">
              <a:latin typeface="+mj-lt"/>
            </a:endParaRPr>
          </a:p>
        </p:txBody>
      </p:sp>
    </p:spTree>
    <p:extLst>
      <p:ext uri="{BB962C8B-B14F-4D97-AF65-F5344CB8AC3E}">
        <p14:creationId xmlns:p14="http://schemas.microsoft.com/office/powerpoint/2010/main" val="2302694913"/>
      </p:ext>
    </p:extLst>
  </p:cSld>
  <p:clrMapOvr>
    <a:masterClrMapping/>
  </p:clrMapOvr>
  <p:timing>
    <p:tnLst>
      <p:par>
        <p:cTn id="1" dur="indefinite" restart="never" nodeType="tmRoot"/>
      </p:par>
    </p:tnLst>
  </p:timing>
</p:sld>
</file>

<file path=ppt/theme/theme1.xml><?xml version="1.0" encoding="utf-8"?>
<a:theme xmlns:a="http://schemas.openxmlformats.org/drawingml/2006/main" name="B2B Template (Arial)">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88715D36CCD664C92487F0B78E69BFE" ma:contentTypeVersion="0" ma:contentTypeDescription="Create a new document." ma:contentTypeScope="" ma:versionID="68ba96136a3f689d73eda38406cf5090">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C745C364-CC8C-4BB5-A6B4-50053F8DF331}">
  <ds:schemaRefs>
    <ds:schemaRef ds:uri="http://schemas.microsoft.com/sharepoint/v3/contenttype/forms"/>
  </ds:schemaRefs>
</ds:datastoreItem>
</file>

<file path=customXml/itemProps2.xml><?xml version="1.0" encoding="utf-8"?>
<ds:datastoreItem xmlns:ds="http://schemas.openxmlformats.org/officeDocument/2006/customXml" ds:itemID="{16FD0560-CBEE-498C-8884-72515059B7FB}">
  <ds:schemaRefs>
    <ds:schemaRef ds:uri="http://purl.org/dc/dcmitype/"/>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http://purl.org/dc/elements/1.1/"/>
    <ds:schemaRef ds:uri="http://purl.org/dc/terms/"/>
  </ds:schemaRefs>
</ds:datastoreItem>
</file>

<file path=customXml/itemProps3.xml><?xml version="1.0" encoding="utf-8"?>
<ds:datastoreItem xmlns:ds="http://schemas.openxmlformats.org/officeDocument/2006/customXml" ds:itemID="{0242C922-48A9-448B-9D31-86F592EABA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
  <TotalTime>24771</TotalTime>
  <Words>167</Words>
  <Application>Microsoft Office PowerPoint</Application>
  <PresentationFormat>On-screen Show (4:3)</PresentationFormat>
  <Paragraphs>34</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B2B Template (Arial)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SCSL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Mechanical Safety Stay for cab tilting mechanism</dc:title>
  <dc:creator>MB95315</dc:creator>
  <cp:lastModifiedBy>Podili Ravi</cp:lastModifiedBy>
  <cp:revision>2637</cp:revision>
  <dcterms:created xsi:type="dcterms:W3CDTF">2009-11-26T11:48:42Z</dcterms:created>
  <dcterms:modified xsi:type="dcterms:W3CDTF">2015-01-22T12:52:55Z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0x010100288715D36CCD664C92487F0B78E69BFE</vt:lpwstr>
  </property>
</Properties>
</file>