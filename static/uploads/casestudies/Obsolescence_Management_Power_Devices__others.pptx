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1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8130-0BF5-9C11-0260-F310CD9FA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76AC7-6C47-EC31-DFDE-5DF22422F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BC431-C531-295A-8CA3-12D17C42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E92C2-99A5-8C6D-2727-28CC6AF0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2960A-176D-D266-581B-01291EB9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D977-E4A9-9C7F-6AD2-0E66DC99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49CDF-499E-0E61-B5D9-BECA6056A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433-D456-012E-151F-B5929333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5A93-608C-2E12-420A-AC5777BB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DF0A2-4688-7052-EC28-5E429364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8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6932-4641-9A4B-CC74-8F3076A1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E58C-983B-04B6-56B8-D07994277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5E24-0127-E0E2-224B-92F00F20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7929-A229-BFE7-8881-48430FB5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1F8A2-143E-8DD4-10BA-D43AF3E2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3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8DAF-EF10-F74C-7629-2111EA5A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AC39-6B34-3DC4-92AC-459744B16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C3020-93E2-7B75-88A7-3AFF5C414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12A8-BAE7-C667-39C4-79E9A103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4E635-7B2D-D62C-1957-C3AFCDC3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FE5DE-803B-5124-834F-EBE755FF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93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1DBE-4AF5-5A4E-5F60-B2F37C03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F06EE-F9F1-E95F-48CB-2E7111712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0A601-3BED-31E7-3638-370C65BA1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FE3AE-0527-B8F1-3FF6-4A4CA4C7F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2D04A-0CBE-951D-DA47-928213AEC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8AAAF-CE38-2DE5-60DD-F932DF3D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423C8-2715-DB9A-2E96-34676B3F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A714F-6AD8-E2AF-ADCC-C2D1F6B3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6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742F-44B0-5A74-B8B5-3BF6A7A4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DFF8A-6232-A7B9-D582-95219010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0AB0D-8BA5-EF7B-1E96-938F7ED1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8A965-22AB-A948-5ECD-FFA5865A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0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4A014-1C9C-8B7A-A69D-E6E52F84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6097F-5C89-596B-FA5C-746CFA00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F2EE-4F9C-FB87-4279-E5D3F817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1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7D35-15CE-67F9-9DA8-CDF79CCC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9E0F-B81B-70DE-645A-8F4B348D1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B2665-E259-1B1D-A210-93FFB3DE2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95961-72E7-F085-93F4-0BDB3ABA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89981-B28D-F3CB-D237-83FD5274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2F550-5243-A8E7-F63E-3EF7F0A5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9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17A9-0A67-4FC8-0C20-816133F70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D4C21-19B0-6E3D-1905-854E73FCE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27325-EB29-85A7-9B97-A62E4811D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C43B-1A25-B905-C9E9-4E9C74EA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026D8-4E4B-3C48-1C13-DBED246E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32A9-928F-A034-36CC-7E5F72D4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5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9BB0-8170-5968-043A-860752E1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EA6C7-A97E-756A-3587-7FEB27E38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D86EA-62E3-2099-BF1D-F6594421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5BE8-4628-974C-A81F-5B5BD79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9D518-1C5B-F0DB-5F84-547D9C90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9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D5CD2-38B6-5136-DF0D-7CDE87BBA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F4B59-3B49-F538-9608-3273B13C5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89BA-E0A7-3127-0962-245C91C6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4234F-F631-B66A-0941-399C83FC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60614-B778-F19E-9883-733E76D2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25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s.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715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F5D1E-654D-EA1F-1FBD-323A4549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7F0D5-5E2B-A57C-3CF1-4D6BB4C4C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0058-5046-E776-4033-1EC7FEF23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993B-92C8-4AF1-92ED-6181B8C5087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140B-F464-AEAB-3103-548FE3AAF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C6CB9-81D1-93CB-6AE4-AAD8E844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079F7-9A3B-4420-B83E-FF712A7EF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997528"/>
            <a:ext cx="12192000" cy="5296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Obsolescence Management – Power Devices &amp; others</a:t>
            </a:r>
          </a:p>
        </p:txBody>
      </p:sp>
      <p:sp>
        <p:nvSpPr>
          <p:cNvPr id="13" name="TextBox 36"/>
          <p:cNvSpPr txBox="1">
            <a:spLocks noChangeArrowheads="1"/>
          </p:cNvSpPr>
          <p:nvPr/>
        </p:nvSpPr>
        <p:spPr bwMode="auto">
          <a:xfrm>
            <a:off x="604563" y="1129971"/>
            <a:ext cx="5797551" cy="222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467" b="1" dirty="0">
                <a:solidFill>
                  <a:schemeClr val="bg2"/>
                </a:solidFill>
                <a:latin typeface="Century Gothic" panose="020B0502020202020204" pitchFamily="34" charset="0"/>
              </a:rPr>
              <a:t>Scope:</a:t>
            </a:r>
          </a:p>
          <a:p>
            <a:pPr marL="95996" algn="just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sz="1200" dirty="0">
                <a:latin typeface="Century Gothic" panose="020B0502020202020204" pitchFamily="34" charset="0"/>
              </a:rPr>
              <a:t>Complete Ownership of product obsolescence activities for components in VFDs: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Requirement analysis based on PCN / </a:t>
            </a:r>
            <a:r>
              <a:rPr lang="en-US" sz="1200" dirty="0" err="1">
                <a:latin typeface="Century Gothic" panose="020B0502020202020204" pitchFamily="34" charset="0"/>
              </a:rPr>
              <a:t>EoL</a:t>
            </a:r>
            <a:r>
              <a:rPr lang="en-US" sz="1200" dirty="0">
                <a:latin typeface="Century Gothic" panose="020B0502020202020204" pitchFamily="34" charset="0"/>
              </a:rPr>
              <a:t> notification from suppliers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Component usage in products, BoM affected by change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Assess impact on UL file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Search alternate components, generate technical comparison and propose commercial strategy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Procure samples, validate and generate test reports</a:t>
            </a:r>
          </a:p>
          <a:p>
            <a:pPr marL="335984" indent="-239989" algn="just">
              <a:spcBef>
                <a:spcPts val="200"/>
              </a:spcBef>
              <a:spcAft>
                <a:spcPts val="200"/>
              </a:spcAft>
              <a:buFont typeface="Times" panose="02020603050405020304" pitchFamily="18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Raise ECN and update design documents (BoM, schematics, layouts, </a:t>
            </a:r>
            <a:r>
              <a:rPr lang="en-US" sz="1200" dirty="0" err="1">
                <a:latin typeface="Century Gothic" panose="020B0502020202020204" pitchFamily="34" charset="0"/>
              </a:rPr>
              <a:t>etc</a:t>
            </a:r>
            <a:r>
              <a:rPr lang="en-US" sz="1200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563" y="3576033"/>
            <a:ext cx="5294792" cy="2406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76197" algn="just">
              <a:buClr>
                <a:schemeClr val="tx2"/>
              </a:buClr>
              <a:defRPr/>
            </a:pPr>
            <a:r>
              <a:rPr lang="en-US" sz="1467" b="1" dirty="0">
                <a:solidFill>
                  <a:schemeClr val="bg2"/>
                </a:solidFill>
                <a:latin typeface="Century Gothic" panose="020B0502020202020204" pitchFamily="34" charset="0"/>
              </a:rPr>
              <a:t>CIB modules and IGBTs: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Characteristic comparison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Gate resistance assessment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Power Loss calculation and assess changes required in product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Procure samples and validate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Switching characteristics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Temperature rise test</a:t>
            </a:r>
          </a:p>
          <a:p>
            <a:pPr marL="945568" lvl="1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Overload behavior</a:t>
            </a:r>
          </a:p>
          <a:p>
            <a:pPr marL="335984" indent="-228589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Century Gothic" panose="020B0502020202020204" pitchFamily="34" charset="0"/>
              </a:rPr>
              <a:t>BoM, schematic and PCB layout update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617" y="1425965"/>
            <a:ext cx="2155647" cy="1695548"/>
          </a:xfrm>
          <a:prstGeom prst="rect">
            <a:avLst/>
          </a:prstGeom>
        </p:spPr>
      </p:pic>
      <p:pic>
        <p:nvPicPr>
          <p:cNvPr id="12294" name="Picture 6" descr="Image result for CIB modu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203" y="1425964"/>
            <a:ext cx="2286000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36"/>
          <p:cNvSpPr txBox="1">
            <a:spLocks noChangeArrowheads="1"/>
          </p:cNvSpPr>
          <p:nvPr/>
        </p:nvSpPr>
        <p:spPr bwMode="auto">
          <a:xfrm>
            <a:off x="8121672" y="5106705"/>
            <a:ext cx="2378817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067" b="1" dirty="0">
                <a:solidFill>
                  <a:schemeClr val="bg2"/>
                </a:solidFill>
                <a:latin typeface="Century Gothic" panose="020B0502020202020204" pitchFamily="34" charset="0"/>
              </a:rPr>
              <a:t>Regenerative test set-up in PE lab</a:t>
            </a:r>
            <a:endParaRPr lang="en-US" sz="1067" dirty="0">
              <a:latin typeface="Century Gothic" panose="020B0502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r="67325"/>
          <a:stretch/>
        </p:blipFill>
        <p:spPr>
          <a:xfrm>
            <a:off x="8057160" y="3240745"/>
            <a:ext cx="24433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8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Times</vt:lpstr>
      <vt:lpstr>Office Theme</vt:lpstr>
      <vt:lpstr>Obsolescence Management – Power Devices &amp; 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2025-10-27T11:56:01Z</dcterms:created>
  <dcterms:modified xsi:type="dcterms:W3CDTF">2025-10-27T11:56:19Z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2025-10-27T11:56:19Z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f6c1ab61-64f0-4acd-a64b-3981ef21a3ba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