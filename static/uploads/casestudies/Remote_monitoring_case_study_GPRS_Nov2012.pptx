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docProps/custom.xml" ContentType="application/vnd.openxmlformats-officedocument.custom-properties+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
  </p:notesMasterIdLst>
  <p:sldIdLst>
    <p:sldId id="263" r:id="rId5"/>
    <p:sldId id="266"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FFC000"/>
    <a:srgbClr val="BE3A3A"/>
    <a:srgbClr val="625753"/>
    <a:srgbClr val="A092B4"/>
    <a:srgbClr val="E6E3E2"/>
    <a:srgbClr val="968A86"/>
    <a:srgbClr val="B4ABA8"/>
    <a:srgbClr val="615753"/>
    <a:srgbClr val="62575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p:restoredLeft sz="14992" autoAdjust="0"/>
    <p:restoredTop sz="89065" autoAdjust="0"/>
  </p:normalViewPr>
  <p:slideViewPr>
    <p:cSldViewPr snapToGrid="0" showGuides="1">
      <p:cViewPr>
        <p:scale>
          <a:sx n="80" d="100"/>
          <a:sy n="80" d="100"/>
        </p:scale>
        <p:origin x="-1380" y="-60"/>
      </p:cViewPr>
      <p:guideLst>
        <p:guide orient="horz" pos="243"/>
        <p:guide orient="horz" pos="4013"/>
        <p:guide pos="5576"/>
        <p:guide pos="199"/>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showGuides="1">
      <p:cViewPr varScale="1">
        <p:scale>
          <a:sx n="60" d="100"/>
          <a:sy n="60" d="100"/>
        </p:scale>
        <p:origin x="-1638" y="-96"/>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3E211-F7A7-4317-892B-28769BDE5747}" type="datetimeFigureOut">
              <a:rPr lang="en-US" smtClean="0"/>
              <a:pPr/>
              <a:t>11/6/2012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3A218D-F311-4799-90C5-974E162849B4}"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6" name="Rectangle 5"/>
          <p:cNvSpPr/>
          <p:nvPr userDrawn="1"/>
        </p:nvSpPr>
        <p:spPr>
          <a:xfrm>
            <a:off x="0" y="6675120"/>
            <a:ext cx="7315200" cy="182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3" name="Subtitle 2"/>
          <p:cNvSpPr>
            <a:spLocks noGrp="1"/>
          </p:cNvSpPr>
          <p:nvPr>
            <p:ph type="subTitle" idx="1" hasCustomPrompt="1"/>
          </p:nvPr>
        </p:nvSpPr>
        <p:spPr>
          <a:xfrm>
            <a:off x="1366839" y="4580751"/>
            <a:ext cx="5341936" cy="276999"/>
          </a:xfrm>
        </p:spPr>
        <p:txBody>
          <a:bodyPr anchor="b" anchorCtr="0">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a:xfrm>
            <a:off x="1366839" y="2214563"/>
            <a:ext cx="5341936" cy="1231106"/>
          </a:xfrm>
        </p:spPr>
        <p:txBody>
          <a:bodyPr wrap="square">
            <a:spAutoFit/>
          </a:bodyPr>
          <a:lstStyle>
            <a:lvl1pPr algn="l">
              <a:defRPr sz="4000">
                <a:solidFill>
                  <a:schemeClr val="tx2"/>
                </a:solidFill>
              </a:defRPr>
            </a:lvl1pPr>
          </a:lstStyle>
          <a:p>
            <a:r>
              <a:rPr lang="en-US" dirty="0" smtClean="0"/>
              <a:t>Click to Edit Master Title Style</a:t>
            </a:r>
            <a:endParaRPr lang="en-US" dirty="0"/>
          </a:p>
        </p:txBody>
      </p:sp>
      <p:sp>
        <p:nvSpPr>
          <p:cNvPr id="7" name="TextBox 20"/>
          <p:cNvSpPr txBox="1">
            <a:spLocks noChangeArrowheads="1"/>
          </p:cNvSpPr>
          <p:nvPr userDrawn="1"/>
        </p:nvSpPr>
        <p:spPr bwMode="auto">
          <a:xfrm>
            <a:off x="304799" y="6516993"/>
            <a:ext cx="1412489" cy="123111"/>
          </a:xfrm>
          <a:prstGeom prst="rect">
            <a:avLst/>
          </a:prstGeom>
          <a:noFill/>
          <a:ln w="9525">
            <a:noFill/>
            <a:miter lim="800000"/>
            <a:headEnd/>
            <a:tailEnd/>
          </a:ln>
        </p:spPr>
        <p:txBody>
          <a:bodyPr wrap="square" lIns="0" tIns="0" rIns="0" bIns="0">
            <a:spAutoFit/>
          </a:bodyPr>
          <a:lstStyle/>
          <a:p>
            <a:pPr marL="0" algn="l" defTabSz="914400" rtl="0" eaLnBrk="1" latinLnBrk="0" hangingPunct="1">
              <a:defRPr/>
            </a:pPr>
            <a:r>
              <a:rPr lang="en-US" sz="800" kern="1200" dirty="0">
                <a:solidFill>
                  <a:schemeClr val="accent3"/>
                </a:solidFill>
                <a:latin typeface="+mn-lt"/>
                <a:ea typeface="+mn-ea"/>
                <a:cs typeface="+mn-cs"/>
              </a:rPr>
              <a:t>© </a:t>
            </a:r>
            <a:r>
              <a:rPr lang="en-US" sz="800" kern="1200" dirty="0" smtClean="0">
                <a:solidFill>
                  <a:schemeClr val="accent3"/>
                </a:solidFill>
                <a:latin typeface="+mn-lt"/>
                <a:ea typeface="+mn-ea"/>
                <a:cs typeface="+mn-cs"/>
              </a:rPr>
              <a:t>Mahindra Satyam 2011</a:t>
            </a:r>
            <a:endParaRPr lang="en-US" sz="800" kern="1200" dirty="0">
              <a:solidFill>
                <a:schemeClr val="accent3"/>
              </a:solidFill>
              <a:latin typeface="+mn-lt"/>
              <a:ea typeface="+mn-ea"/>
              <a:cs typeface="+mn-cs"/>
            </a:endParaRPr>
          </a:p>
        </p:txBody>
      </p:sp>
      <p:pic>
        <p:nvPicPr>
          <p:cNvPr id="8" name="Picture 7" descr="small.png"/>
          <p:cNvPicPr>
            <a:picLocks noChangeAspect="1"/>
          </p:cNvPicPr>
          <p:nvPr userDrawn="1"/>
        </p:nvPicPr>
        <p:blipFill>
          <a:blip r:embed="rId2"/>
          <a:stretch>
            <a:fillRect/>
          </a:stretch>
        </p:blipFill>
        <p:spPr>
          <a:xfrm>
            <a:off x="5498630" y="404815"/>
            <a:ext cx="3048000" cy="2464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2"/>
                </a:solidFill>
              </a:defRPr>
            </a:lvl1pPr>
          </a:lstStyle>
          <a:p>
            <a:r>
              <a:rPr lang="en-US" dirty="0" smtClean="0"/>
              <a:t>Click to edit Master title style</a:t>
            </a:r>
            <a:endParaRPr lang="en-US" dirty="0"/>
          </a:p>
        </p:txBody>
      </p:sp>
      <p:sp>
        <p:nvSpPr>
          <p:cNvPr id="3" name="Text Placeholder 4"/>
          <p:cNvSpPr>
            <a:spLocks noGrp="1"/>
          </p:cNvSpPr>
          <p:nvPr>
            <p:ph type="body" sz="quarter" idx="10" hasCustomPrompt="1"/>
          </p:nvPr>
        </p:nvSpPr>
        <p:spPr>
          <a:xfrm>
            <a:off x="302931" y="1465507"/>
            <a:ext cx="8544207" cy="1938992"/>
          </a:xfrm>
        </p:spPr>
        <p:txBody>
          <a:bodyPr wrap="square">
            <a:sp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435100" indent="-285750">
              <a:spcBef>
                <a:spcPts val="0"/>
              </a:spcBef>
              <a:spcAft>
                <a:spcPts val="0"/>
              </a:spcAft>
              <a:buClr>
                <a:schemeClr val="tx2"/>
              </a:buClr>
              <a:buSzPct val="70000"/>
              <a:buFont typeface="Wingdings" pitchFamily="2" charset="2"/>
              <a:buChar char="§"/>
              <a:defRPr sz="1800">
                <a:latin typeface="Arial" pitchFamily="34" charset="0"/>
                <a:cs typeface="Arial" pitchFamily="34" charset="0"/>
              </a:defRPr>
            </a:lvl6pPr>
            <a:lvl7pPr marL="1714500" indent="-273050">
              <a:spcBef>
                <a:spcPts val="0"/>
              </a:spcBef>
              <a:spcAft>
                <a:spcPts val="0"/>
              </a:spcAft>
              <a:buClr>
                <a:srgbClr val="C00000"/>
              </a:buClr>
              <a:buSzPct val="70000"/>
              <a:buFont typeface="Arial" pitchFamily="34" charset="0"/>
              <a:buChar char="–"/>
              <a:defRPr sz="1800" baseline="0">
                <a:latin typeface="Arial" pitchFamily="34" charset="0"/>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a:p>
            <a:pPr lvl="5"/>
            <a:r>
              <a:rPr lang="en-US" dirty="0" smtClean="0"/>
              <a:t>Sixth level</a:t>
            </a:r>
          </a:p>
          <a:p>
            <a:pPr lvl="6"/>
            <a:r>
              <a:rPr lang="en-US" dirty="0" smtClean="0"/>
              <a:t>Seventh level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1366839" y="4580751"/>
            <a:ext cx="5341936" cy="276999"/>
          </a:xfrm>
        </p:spPr>
        <p:txBody>
          <a:bodyPr anchor="b" anchorCtr="0">
            <a:noAutofit/>
          </a:bodyPr>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a:xfrm>
            <a:off x="1366839" y="2214563"/>
            <a:ext cx="5341936" cy="1231106"/>
          </a:xfrm>
        </p:spPr>
        <p:txBody>
          <a:bodyPr wrap="square">
            <a:spAutoFit/>
          </a:bodyPr>
          <a:lstStyle>
            <a:lvl1pPr algn="l">
              <a:defRPr sz="4000">
                <a:solidFill>
                  <a:schemeClr val="tx2"/>
                </a:solidFill>
              </a:defRPr>
            </a:lvl1pPr>
          </a:lstStyle>
          <a:p>
            <a:r>
              <a:rPr lang="en-US" dirty="0" smtClean="0"/>
              <a:t>Click to Edit Master Title Style</a:t>
            </a:r>
            <a:endParaRPr lang="en-US" dirty="0"/>
          </a:p>
        </p:txBody>
      </p:sp>
      <p:sp>
        <p:nvSpPr>
          <p:cNvPr id="5" name="Rectangle 4"/>
          <p:cNvSpPr/>
          <p:nvPr userDrawn="1"/>
        </p:nvSpPr>
        <p:spPr>
          <a:xfrm>
            <a:off x="0" y="6675120"/>
            <a:ext cx="7315200" cy="182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pic>
        <p:nvPicPr>
          <p:cNvPr id="7" name="Picture 6" descr="PPT.jpg"/>
          <p:cNvPicPr>
            <a:picLocks noChangeAspect="1"/>
          </p:cNvPicPr>
          <p:nvPr userDrawn="1"/>
        </p:nvPicPr>
        <p:blipFill>
          <a:blip r:embed="rId2" cstate="screen"/>
          <a:srcRect b="89034"/>
          <a:stretch>
            <a:fillRect/>
          </a:stretch>
        </p:blipFill>
        <p:spPr>
          <a:xfrm>
            <a:off x="0" y="0"/>
            <a:ext cx="9144000" cy="752030"/>
          </a:xfrm>
          <a:prstGeom prst="rect">
            <a:avLst/>
          </a:prstGeom>
        </p:spPr>
      </p:pic>
      <p:sp>
        <p:nvSpPr>
          <p:cNvPr id="8" name="TextBox 20"/>
          <p:cNvSpPr txBox="1">
            <a:spLocks noChangeArrowheads="1"/>
          </p:cNvSpPr>
          <p:nvPr userDrawn="1"/>
        </p:nvSpPr>
        <p:spPr bwMode="auto">
          <a:xfrm>
            <a:off x="304799" y="6516993"/>
            <a:ext cx="1412489" cy="123111"/>
          </a:xfrm>
          <a:prstGeom prst="rect">
            <a:avLst/>
          </a:prstGeom>
          <a:noFill/>
          <a:ln w="9525">
            <a:noFill/>
            <a:miter lim="800000"/>
            <a:headEnd/>
            <a:tailEnd/>
          </a:ln>
        </p:spPr>
        <p:txBody>
          <a:bodyPr wrap="square" lIns="0" tIns="0" rIns="0" bIns="0">
            <a:spAutoFit/>
          </a:bodyPr>
          <a:lstStyle/>
          <a:p>
            <a:pPr marL="0" algn="l" defTabSz="914400" rtl="0" eaLnBrk="1" latinLnBrk="0" hangingPunct="1">
              <a:defRPr/>
            </a:pPr>
            <a:r>
              <a:rPr lang="en-US" sz="800" kern="1200" dirty="0">
                <a:solidFill>
                  <a:schemeClr val="accent3"/>
                </a:solidFill>
                <a:latin typeface="+mn-lt"/>
                <a:ea typeface="+mn-ea"/>
                <a:cs typeface="+mn-cs"/>
              </a:rPr>
              <a:t>© </a:t>
            </a:r>
            <a:r>
              <a:rPr lang="en-US" sz="800" kern="1200" dirty="0" smtClean="0">
                <a:solidFill>
                  <a:schemeClr val="accent3"/>
                </a:solidFill>
                <a:latin typeface="+mn-lt"/>
                <a:ea typeface="+mn-ea"/>
                <a:cs typeface="+mn-cs"/>
              </a:rPr>
              <a:t>Mahindra Satyam 2011</a:t>
            </a:r>
            <a:endParaRPr lang="en-US" sz="800" kern="1200" dirty="0">
              <a:solidFill>
                <a:schemeClr val="accent3"/>
              </a:solidFill>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smtClean="0"/>
              <a:t>Click to edit Master title style</a:t>
            </a:r>
            <a:endParaRPr lang="en-US" dirty="0"/>
          </a:p>
        </p:txBody>
      </p:sp>
      <p:sp>
        <p:nvSpPr>
          <p:cNvPr id="3" name="Text Placeholder 4"/>
          <p:cNvSpPr>
            <a:spLocks noGrp="1"/>
          </p:cNvSpPr>
          <p:nvPr>
            <p:ph type="body" sz="quarter" idx="10" hasCustomPrompt="1"/>
          </p:nvPr>
        </p:nvSpPr>
        <p:spPr>
          <a:xfrm>
            <a:off x="302931" y="960438"/>
            <a:ext cx="4170595" cy="5303838"/>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 name="Text Placeholder 4"/>
          <p:cNvSpPr>
            <a:spLocks noGrp="1"/>
          </p:cNvSpPr>
          <p:nvPr>
            <p:ph type="body" sz="quarter" idx="11" hasCustomPrompt="1"/>
          </p:nvPr>
        </p:nvSpPr>
        <p:spPr>
          <a:xfrm>
            <a:off x="4648200" y="960438"/>
            <a:ext cx="4170595" cy="5303838"/>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5" name="Text Placeholder 4"/>
          <p:cNvSpPr>
            <a:spLocks noGrp="1"/>
          </p:cNvSpPr>
          <p:nvPr>
            <p:ph type="body" sz="quarter" idx="12" hasCustomPrompt="1"/>
          </p:nvPr>
        </p:nvSpPr>
        <p:spPr>
          <a:xfrm>
            <a:off x="302931" y="960437"/>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a:xfrm>
            <a:off x="4648200" y="960437"/>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9" name="Title 1"/>
          <p:cNvSpPr>
            <a:spLocks noGrp="1"/>
          </p:cNvSpPr>
          <p:nvPr>
            <p:ph type="title"/>
          </p:nvPr>
        </p:nvSpPr>
        <p:spPr>
          <a:xfrm>
            <a:off x="304799" y="469484"/>
            <a:ext cx="8539163" cy="338554"/>
          </a:xfrm>
        </p:spPr>
        <p:txBody>
          <a:bodyPr/>
          <a:lstStyle>
            <a:lvl1pPr algn="l">
              <a:defRPr/>
            </a:lvl1pPr>
          </a:lstStyle>
          <a:p>
            <a:r>
              <a:rPr lang="en-US" dirty="0" smtClean="0"/>
              <a:t>Click to edit Master title style</a:t>
            </a:r>
            <a:endParaRPr lang="en-US" dirty="0"/>
          </a:p>
        </p:txBody>
      </p:sp>
      <p:sp>
        <p:nvSpPr>
          <p:cNvPr id="11" name="Text Placeholder 4"/>
          <p:cNvSpPr>
            <a:spLocks noGrp="1"/>
          </p:cNvSpPr>
          <p:nvPr>
            <p:ph type="body" sz="quarter" idx="10" hasCustomPrompt="1"/>
          </p:nvPr>
        </p:nvSpPr>
        <p:spPr>
          <a:xfrm>
            <a:off x="302931" y="961415"/>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2" name="Text Placeholder 4"/>
          <p:cNvSpPr>
            <a:spLocks noGrp="1"/>
          </p:cNvSpPr>
          <p:nvPr>
            <p:ph type="body" sz="quarter" idx="11" hasCustomPrompt="1"/>
          </p:nvPr>
        </p:nvSpPr>
        <p:spPr>
          <a:xfrm>
            <a:off x="4648200" y="961415"/>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3" name="Text Placeholder 4"/>
          <p:cNvSpPr>
            <a:spLocks noGrp="1"/>
          </p:cNvSpPr>
          <p:nvPr>
            <p:ph type="body" sz="quarter" idx="12" hasCustomPrompt="1"/>
          </p:nvPr>
        </p:nvSpPr>
        <p:spPr>
          <a:xfrm>
            <a:off x="302931" y="961415"/>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14" name="Text Placeholder 4"/>
          <p:cNvSpPr>
            <a:spLocks noGrp="1"/>
          </p:cNvSpPr>
          <p:nvPr>
            <p:ph type="body" sz="quarter" idx="13" hasCustomPrompt="1"/>
          </p:nvPr>
        </p:nvSpPr>
        <p:spPr>
          <a:xfrm>
            <a:off x="4648200" y="961415"/>
            <a:ext cx="4170595" cy="461665"/>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sp>
        <p:nvSpPr>
          <p:cNvPr id="15" name="Text Placeholder 4"/>
          <p:cNvSpPr>
            <a:spLocks noGrp="1"/>
          </p:cNvSpPr>
          <p:nvPr>
            <p:ph type="body" sz="quarter" idx="14" hasCustomPrompt="1"/>
          </p:nvPr>
        </p:nvSpPr>
        <p:spPr>
          <a:xfrm>
            <a:off x="302931" y="3702856"/>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 name="Text Placeholder 4"/>
          <p:cNvSpPr>
            <a:spLocks noGrp="1"/>
          </p:cNvSpPr>
          <p:nvPr>
            <p:ph type="body" sz="quarter" idx="15" hasCustomPrompt="1"/>
          </p:nvPr>
        </p:nvSpPr>
        <p:spPr>
          <a:xfrm>
            <a:off x="4648200" y="3702856"/>
            <a:ext cx="4170595" cy="2561419"/>
          </a:xfrm>
          <a:ln>
            <a:solidFill>
              <a:schemeClr val="bg2"/>
            </a:solidFill>
          </a:ln>
        </p:spPr>
        <p:txBody>
          <a:bodyPr wrap="square" lIns="91440" tIns="548640" rIns="91440" bIns="91440">
            <a:noAutofit/>
          </a:bodyPr>
          <a:lstStyle>
            <a:lvl1pPr>
              <a:spcBef>
                <a:spcPts val="0"/>
              </a:spcBef>
              <a:spcAft>
                <a:spcPts val="0"/>
              </a:spcAft>
              <a:defRPr sz="1800">
                <a:latin typeface="Arial" pitchFamily="34" charset="0"/>
                <a:cs typeface="Arial" pitchFamily="34" charset="0"/>
              </a:defRPr>
            </a:lvl1pPr>
            <a:lvl2pPr>
              <a:spcBef>
                <a:spcPts val="0"/>
              </a:spcBef>
              <a:spcAft>
                <a:spcPts val="0"/>
              </a:spcAft>
              <a:defRPr sz="1800">
                <a:latin typeface="Arial" pitchFamily="34" charset="0"/>
                <a:cs typeface="Arial" pitchFamily="34" charset="0"/>
              </a:defRPr>
            </a:lvl2pPr>
            <a:lvl3pPr>
              <a:spcBef>
                <a:spcPts val="0"/>
              </a:spcBef>
              <a:spcAft>
                <a:spcPts val="0"/>
              </a:spcAft>
              <a:defRPr sz="1800">
                <a:latin typeface="Arial" pitchFamily="34" charset="0"/>
                <a:cs typeface="Arial" pitchFamily="34" charset="0"/>
              </a:defRPr>
            </a:lvl3pPr>
            <a:lvl4pPr>
              <a:spcBef>
                <a:spcPts val="0"/>
              </a:spcBef>
              <a:spcAft>
                <a:spcPts val="0"/>
              </a:spcAft>
              <a:defRPr sz="1800">
                <a:latin typeface="Arial" pitchFamily="34" charset="0"/>
                <a:cs typeface="Arial" pitchFamily="34" charset="0"/>
              </a:defRPr>
            </a:lvl4pPr>
            <a:lvl5pPr>
              <a:spcBef>
                <a:spcPts val="0"/>
              </a:spcBef>
              <a:spcAft>
                <a:spcPts val="0"/>
              </a:spcAft>
              <a:defRPr sz="18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7" name="Text Placeholder 4"/>
          <p:cNvSpPr>
            <a:spLocks noGrp="1"/>
          </p:cNvSpPr>
          <p:nvPr>
            <p:ph type="body" sz="quarter" idx="16" hasCustomPrompt="1"/>
          </p:nvPr>
        </p:nvSpPr>
        <p:spPr>
          <a:xfrm>
            <a:off x="302931" y="3702856"/>
            <a:ext cx="4170595" cy="471520"/>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3</a:t>
            </a:r>
          </a:p>
        </p:txBody>
      </p:sp>
      <p:sp>
        <p:nvSpPr>
          <p:cNvPr id="18" name="Text Placeholder 4"/>
          <p:cNvSpPr>
            <a:spLocks noGrp="1"/>
          </p:cNvSpPr>
          <p:nvPr>
            <p:ph type="body" sz="quarter" idx="17" hasCustomPrompt="1"/>
          </p:nvPr>
        </p:nvSpPr>
        <p:spPr>
          <a:xfrm>
            <a:off x="4648200" y="3702856"/>
            <a:ext cx="4170595" cy="471520"/>
          </a:xfrm>
          <a:solidFill>
            <a:schemeClr val="bg2"/>
          </a:solidFill>
          <a:ln>
            <a:noFill/>
          </a:ln>
        </p:spPr>
        <p:txBody>
          <a:bodyPr wrap="square" lIns="91440" tIns="91440" rIns="91440" bIns="91440">
            <a:spAutoFit/>
          </a:bodyPr>
          <a:lstStyle>
            <a:lvl1pPr>
              <a:spcBef>
                <a:spcPts val="0"/>
              </a:spcBef>
              <a:spcAft>
                <a:spcPts val="0"/>
              </a:spcAft>
              <a:defRPr sz="1800" b="1">
                <a:solidFill>
                  <a:schemeClr val="bg1"/>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4</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66838" y="1367641"/>
            <a:ext cx="6729984" cy="338554"/>
          </a:xfrm>
        </p:spPr>
        <p:txBody>
          <a:bodyPr/>
          <a:lstStyle>
            <a:lvl1pPr algn="l">
              <a:defRPr/>
            </a:lvl1pPr>
          </a:lstStyle>
          <a:p>
            <a:r>
              <a:rPr lang="en-US" dirty="0" smtClean="0"/>
              <a:t>Click to edit master title style</a:t>
            </a:r>
            <a:endParaRPr lang="en-US" dirty="0"/>
          </a:p>
        </p:txBody>
      </p:sp>
      <p:sp>
        <p:nvSpPr>
          <p:cNvPr id="8" name="TextBox 7"/>
          <p:cNvSpPr txBox="1">
            <a:spLocks noChangeArrowheads="1"/>
          </p:cNvSpPr>
          <p:nvPr userDrawn="1"/>
        </p:nvSpPr>
        <p:spPr bwMode="gray">
          <a:xfrm>
            <a:off x="1366839" y="3517604"/>
            <a:ext cx="2244204" cy="276999"/>
          </a:xfrm>
          <a:prstGeom prst="rect">
            <a:avLst/>
          </a:prstGeom>
          <a:noFill/>
          <a:ln w="9525">
            <a:noFill/>
            <a:miter lim="800000"/>
            <a:headEnd/>
            <a:tailEnd/>
          </a:ln>
        </p:spPr>
        <p:txBody>
          <a:bodyPr wrap="none" lIns="0" tIns="0" rIns="0" bIns="0" anchor="b" anchorCtr="0">
            <a:spAutoFit/>
          </a:bodyPr>
          <a:lstStyle/>
          <a:p>
            <a:pPr algn="l"/>
            <a:r>
              <a:rPr lang="en-US" b="1" dirty="0" smtClean="0">
                <a:solidFill>
                  <a:schemeClr val="bg2"/>
                </a:solidFill>
                <a:latin typeface="Arial" pitchFamily="34" charset="0"/>
                <a:cs typeface="Arial" pitchFamily="34" charset="0"/>
              </a:rPr>
              <a:t>mahindrasatyam.net</a:t>
            </a:r>
            <a:endParaRPr lang="en-US" b="1" dirty="0">
              <a:solidFill>
                <a:schemeClr val="bg2"/>
              </a:solidFill>
              <a:latin typeface="Arial" pitchFamily="34" charset="0"/>
              <a:cs typeface="Arial" pitchFamily="34" charset="0"/>
            </a:endParaRPr>
          </a:p>
        </p:txBody>
      </p:sp>
      <p:sp>
        <p:nvSpPr>
          <p:cNvPr id="9" name="TextBox 8"/>
          <p:cNvSpPr txBox="1">
            <a:spLocks noChangeArrowheads="1"/>
          </p:cNvSpPr>
          <p:nvPr userDrawn="1"/>
        </p:nvSpPr>
        <p:spPr bwMode="gray">
          <a:xfrm>
            <a:off x="1366839" y="4233113"/>
            <a:ext cx="6729412" cy="1184940"/>
          </a:xfrm>
          <a:prstGeom prst="rect">
            <a:avLst/>
          </a:prstGeom>
          <a:noFill/>
          <a:ln w="9525">
            <a:noFill/>
            <a:miter lim="800000"/>
            <a:headEnd/>
            <a:tailEnd/>
          </a:ln>
        </p:spPr>
        <p:txBody>
          <a:bodyPr wrap="square" lIns="0" tIns="0" rIns="0" bIns="0">
            <a:spAutoFit/>
          </a:bodyPr>
          <a:lstStyle/>
          <a:p>
            <a:pPr algn="just">
              <a:spcBef>
                <a:spcPts val="600"/>
              </a:spcBef>
            </a:pPr>
            <a:r>
              <a:rPr lang="en-US" sz="900" b="1" dirty="0" smtClean="0">
                <a:solidFill>
                  <a:schemeClr val="bg2"/>
                </a:solidFill>
              </a:rPr>
              <a:t>Safe Harbor</a:t>
            </a:r>
          </a:p>
          <a:p>
            <a:pPr algn="just">
              <a:spcBef>
                <a:spcPts val="600"/>
              </a:spcBef>
            </a:pPr>
            <a:r>
              <a:rPr lang="en-US" sz="900" dirty="0" smtClean="0">
                <a:solidFill>
                  <a:schemeClr val="bg2"/>
                </a:solidFill>
              </a:rPr>
              <a:t>This document contains forward-looking statements within the meaning of section 27A of Securities Act of 1933, as amended, and section 21E of the Securities Exchange Act of 1934, as amended. The forward-looking statements contained herein are subject to certain risks and uncertainties that could cause actual results to differ materially from those reflected in the forward-looking statements. Satyam undertakes no duty to update any forward-looking statements. For a discussion of the risks associated with our business, please see the discussions under the heading “Risk Factors” in our report on Form 6-K concerning the quarter ended September 30, 2008, furnished to the Securities and Exchange Commission on 07 November, 2008, and the other reports filed with the Securities and Exchange Commission from time to time. These filings are available at http://www.sec.gov</a:t>
            </a:r>
            <a:endParaRPr lang="en-US" sz="900" b="1" dirty="0">
              <a:solidFill>
                <a:schemeClr val="bg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small.png"/>
          <p:cNvPicPr>
            <a:picLocks noChangeAspect="1"/>
          </p:cNvPicPr>
          <p:nvPr userDrawn="1"/>
        </p:nvPicPr>
        <p:blipFill>
          <a:blip r:embed="rId8"/>
          <a:stretch>
            <a:fillRect/>
          </a:stretch>
        </p:blipFill>
        <p:spPr>
          <a:xfrm>
            <a:off x="6749430" y="153990"/>
            <a:ext cx="2061195" cy="166685"/>
          </a:xfrm>
          <a:prstGeom prst="rect">
            <a:avLst/>
          </a:prstGeom>
        </p:spPr>
      </p:pic>
      <p:sp>
        <p:nvSpPr>
          <p:cNvPr id="9" name="Rectangle 8"/>
          <p:cNvSpPr/>
          <p:nvPr userDrawn="1"/>
        </p:nvSpPr>
        <p:spPr>
          <a:xfrm>
            <a:off x="0" y="6675120"/>
            <a:ext cx="7315200" cy="1828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Placeholder 1"/>
          <p:cNvSpPr>
            <a:spLocks noGrp="1"/>
          </p:cNvSpPr>
          <p:nvPr>
            <p:ph type="title"/>
          </p:nvPr>
        </p:nvSpPr>
        <p:spPr>
          <a:xfrm>
            <a:off x="304799" y="469484"/>
            <a:ext cx="8539163" cy="33855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dirty="0" smtClean="0"/>
              <a:t>Click to edit master title style</a:t>
            </a:r>
            <a:endParaRPr lang="en-US" dirty="0"/>
          </a:p>
        </p:txBody>
      </p:sp>
      <p:sp>
        <p:nvSpPr>
          <p:cNvPr id="3" name="Text Placeholder 2"/>
          <p:cNvSpPr>
            <a:spLocks noGrp="1"/>
          </p:cNvSpPr>
          <p:nvPr>
            <p:ph type="body" idx="1"/>
          </p:nvPr>
        </p:nvSpPr>
        <p:spPr>
          <a:xfrm>
            <a:off x="304799" y="1262568"/>
            <a:ext cx="8539164" cy="138499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lvl="1"/>
            <a:r>
              <a:rPr lang="en-US" dirty="0" smtClean="0"/>
              <a:t>First level</a:t>
            </a:r>
          </a:p>
          <a:p>
            <a:pPr lvl="2"/>
            <a:r>
              <a:rPr lang="en-US" dirty="0" smtClean="0"/>
              <a:t>Second level</a:t>
            </a:r>
          </a:p>
          <a:p>
            <a:pPr lvl="3"/>
            <a:r>
              <a:rPr lang="en-US" dirty="0" smtClean="0"/>
              <a:t>Third level</a:t>
            </a:r>
          </a:p>
          <a:p>
            <a:pPr lvl="4"/>
            <a:r>
              <a:rPr lang="en-US" dirty="0" smtClean="0"/>
              <a:t>Fifth level</a:t>
            </a:r>
            <a:endParaRPr lang="en-US" dirty="0"/>
          </a:p>
        </p:txBody>
      </p:sp>
      <p:sp>
        <p:nvSpPr>
          <p:cNvPr id="10" name="Slide Number Placeholder 5"/>
          <p:cNvSpPr txBox="1">
            <a:spLocks/>
          </p:cNvSpPr>
          <p:nvPr userDrawn="1"/>
        </p:nvSpPr>
        <p:spPr bwMode="auto">
          <a:xfrm>
            <a:off x="8718928" y="6705005"/>
            <a:ext cx="125034" cy="123111"/>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800">
                <a:solidFill>
                  <a:schemeClr val="accent3"/>
                </a:solidFill>
              </a:rPr>
              <a:pPr algn="r">
                <a:defRPr/>
              </a:pPr>
              <a:t>‹#›</a:t>
            </a:fld>
            <a:endParaRPr lang="en-US" sz="800" dirty="0">
              <a:solidFill>
                <a:schemeClr val="accent3"/>
              </a:solidFill>
            </a:endParaRPr>
          </a:p>
        </p:txBody>
      </p:sp>
      <p:sp>
        <p:nvSpPr>
          <p:cNvPr id="8" name="TextBox 20"/>
          <p:cNvSpPr txBox="1">
            <a:spLocks noChangeArrowheads="1"/>
          </p:cNvSpPr>
          <p:nvPr userDrawn="1"/>
        </p:nvSpPr>
        <p:spPr bwMode="auto">
          <a:xfrm>
            <a:off x="304799" y="6516993"/>
            <a:ext cx="1412489" cy="123111"/>
          </a:xfrm>
          <a:prstGeom prst="rect">
            <a:avLst/>
          </a:prstGeom>
          <a:noFill/>
          <a:ln w="9525">
            <a:noFill/>
            <a:miter lim="800000"/>
            <a:headEnd/>
            <a:tailEnd/>
          </a:ln>
        </p:spPr>
        <p:txBody>
          <a:bodyPr wrap="square" lIns="0" tIns="0" rIns="0" bIns="0">
            <a:spAutoFit/>
          </a:bodyPr>
          <a:lstStyle/>
          <a:p>
            <a:pPr marL="0" algn="l" defTabSz="914400" rtl="0" eaLnBrk="1" latinLnBrk="0" hangingPunct="1">
              <a:defRPr/>
            </a:pPr>
            <a:r>
              <a:rPr lang="en-US" sz="800" kern="1200" dirty="0">
                <a:solidFill>
                  <a:schemeClr val="accent3"/>
                </a:solidFill>
                <a:latin typeface="+mn-lt"/>
                <a:ea typeface="+mn-ea"/>
                <a:cs typeface="+mn-cs"/>
              </a:rPr>
              <a:t>© </a:t>
            </a:r>
            <a:r>
              <a:rPr lang="en-US" sz="800" kern="1200" dirty="0" smtClean="0">
                <a:solidFill>
                  <a:schemeClr val="accent3"/>
                </a:solidFill>
                <a:latin typeface="+mn-lt"/>
                <a:ea typeface="+mn-ea"/>
                <a:cs typeface="+mn-cs"/>
              </a:rPr>
              <a:t>Mahindra Satyam 2011</a:t>
            </a:r>
            <a:endParaRPr lang="en-US" sz="800" kern="1200" dirty="0">
              <a:solidFill>
                <a:schemeClr val="accent3"/>
              </a:solidFill>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7" r:id="rId2"/>
    <p:sldLayoutId id="2147483651" r:id="rId3"/>
    <p:sldLayoutId id="2147483658" r:id="rId4"/>
    <p:sldLayoutId id="2147483650" r:id="rId5"/>
    <p:sldLayoutId id="2147483656" r:id="rId6"/>
  </p:sldLayoutIdLst>
  <p:txStyles>
    <p:titleStyle>
      <a:lvl1pPr algn="l" defTabSz="914400" rtl="0" eaLnBrk="1" latinLnBrk="0" hangingPunct="1">
        <a:spcBef>
          <a:spcPct val="0"/>
        </a:spcBef>
        <a:buNone/>
        <a:defRPr lang="en-US" sz="2200" b="1" kern="1200" dirty="0" smtClean="0">
          <a:solidFill>
            <a:schemeClr val="tx2"/>
          </a:solidFill>
          <a:latin typeface="Arial" pitchFamily="34" charset="0"/>
          <a:ea typeface="+mj-ea"/>
          <a:cs typeface="+mj-cs"/>
        </a:defRPr>
      </a:lvl1pPr>
    </p:titleStyle>
    <p:bodyStyle>
      <a:lvl1pPr marL="0" indent="0" algn="l" defTabSz="914400" rtl="0" eaLnBrk="1" fontAlgn="base" latinLnBrk="0" hangingPunct="1">
        <a:spcBef>
          <a:spcPts val="0"/>
        </a:spcBef>
        <a:spcAft>
          <a:spcPct val="0"/>
        </a:spcAft>
        <a:buFont typeface="Arial" pitchFamily="34" charset="0"/>
        <a:buNone/>
        <a:defRPr lang="en-US" sz="1800" b="0" kern="1200" baseline="0" dirty="0" smtClean="0">
          <a:solidFill>
            <a:schemeClr val="tx1"/>
          </a:solidFill>
          <a:latin typeface="Arial" pitchFamily="34" charset="0"/>
          <a:ea typeface="+mn-ea"/>
          <a:cs typeface="+mn-cs"/>
        </a:defRPr>
      </a:lvl1pPr>
      <a:lvl2pPr marL="285750" indent="-285750" algn="l" defTabSz="914400" rtl="0" eaLnBrk="1" fontAlgn="base" latinLnBrk="0" hangingPunct="1">
        <a:spcBef>
          <a:spcPts val="0"/>
        </a:spcBef>
        <a:spcAft>
          <a:spcPct val="0"/>
        </a:spcAft>
        <a:buClr>
          <a:schemeClr val="tx2"/>
        </a:buClr>
        <a:buSzPct val="120000"/>
        <a:buFont typeface="Wingdings" pitchFamily="2" charset="2"/>
        <a:buChar char="§"/>
        <a:defRPr lang="en-US" sz="1800" b="0" kern="1200" baseline="0" dirty="0" smtClean="0">
          <a:solidFill>
            <a:schemeClr val="tx1"/>
          </a:solidFill>
          <a:latin typeface="Arial" pitchFamily="34" charset="0"/>
          <a:ea typeface="+mn-ea"/>
          <a:cs typeface="+mn-cs"/>
        </a:defRPr>
      </a:lvl2pPr>
      <a:lvl3pPr marL="571500" indent="-279400" algn="l" defTabSz="914400" rtl="0" eaLnBrk="1" fontAlgn="base" latinLnBrk="0" hangingPunct="1">
        <a:spcBef>
          <a:spcPts val="0"/>
        </a:spcBef>
        <a:spcAft>
          <a:spcPct val="0"/>
        </a:spcAft>
        <a:buClr>
          <a:schemeClr val="tx2"/>
        </a:buClr>
        <a:buSzPct val="110000"/>
        <a:buFont typeface="Arial" pitchFamily="34" charset="0"/>
        <a:buChar char="–"/>
        <a:defRPr lang="en-US" sz="1800" b="0" kern="1200" baseline="0" dirty="0" smtClean="0">
          <a:solidFill>
            <a:schemeClr val="tx1"/>
          </a:solidFill>
          <a:latin typeface="Arial" pitchFamily="34" charset="0"/>
          <a:ea typeface="+mn-ea"/>
          <a:cs typeface="+mn-cs"/>
        </a:defRPr>
      </a:lvl3pPr>
      <a:lvl4pPr marL="850900" indent="-279400" algn="l" defTabSz="914400" rtl="0" eaLnBrk="1" fontAlgn="base" latinLnBrk="0" hangingPunct="1">
        <a:spcBef>
          <a:spcPts val="0"/>
        </a:spcBef>
        <a:spcAft>
          <a:spcPct val="0"/>
        </a:spcAft>
        <a:buClr>
          <a:schemeClr val="tx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tx2"/>
        </a:buClr>
        <a:buSzPct val="80000"/>
        <a:buFont typeface="Arial" pitchFamily="34" charset="0"/>
        <a:buChar char="–"/>
        <a:defRPr lang="en-US" sz="1800" b="0" kern="1200" baseline="0" dirty="0" smtClean="0">
          <a:solidFill>
            <a:schemeClr val="tx1"/>
          </a:solidFill>
          <a:latin typeface="Arial"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1" descr="image001"/>
          <p:cNvPicPr>
            <a:picLocks noChangeAspect="1" noChangeArrowheads="1"/>
          </p:cNvPicPr>
          <p:nvPr/>
        </p:nvPicPr>
        <p:blipFill>
          <a:blip r:embed="rId2"/>
          <a:srcRect/>
          <a:stretch>
            <a:fillRect/>
          </a:stretch>
        </p:blipFill>
        <p:spPr bwMode="auto">
          <a:xfrm>
            <a:off x="4667692" y="2582051"/>
            <a:ext cx="4137341" cy="2447149"/>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Remote Monitoring System</a:t>
            </a:r>
            <a:endParaRPr lang="en-US" dirty="0"/>
          </a:p>
        </p:txBody>
      </p:sp>
      <p:sp>
        <p:nvSpPr>
          <p:cNvPr id="4" name="Text Placeholder 3"/>
          <p:cNvSpPr>
            <a:spLocks noGrp="1"/>
          </p:cNvSpPr>
          <p:nvPr>
            <p:ph type="body" sz="quarter" idx="11"/>
          </p:nvPr>
        </p:nvSpPr>
        <p:spPr>
          <a:xfrm>
            <a:off x="4648200" y="961415"/>
            <a:ext cx="4170595" cy="5306035"/>
          </a:xfrm>
        </p:spPr>
        <p:txBody>
          <a:bodyPr/>
          <a:lstStyle/>
          <a:p>
            <a:pPr lvl="1">
              <a:buFont typeface="Arial" pitchFamily="34" charset="0"/>
              <a:buChar char="•"/>
            </a:pPr>
            <a:r>
              <a:rPr lang="en-US" sz="1000" dirty="0" smtClean="0"/>
              <a:t>Remote monitoring and control of Generator thru Internet.</a:t>
            </a:r>
            <a:endParaRPr lang="en-US" sz="1000" dirty="0" smtClean="0">
              <a:latin typeface="+mj-lt"/>
            </a:endParaRPr>
          </a:p>
          <a:p>
            <a:pPr lvl="1">
              <a:buFont typeface="Arial" pitchFamily="34" charset="0"/>
              <a:buChar char="•"/>
            </a:pPr>
            <a:r>
              <a:rPr lang="en-US" sz="1000" dirty="0" smtClean="0">
                <a:latin typeface="+mj-lt"/>
              </a:rPr>
              <a:t>Bridge to interface the generator to outside world. Automatic configuration of the Bridge. No User configuration required.</a:t>
            </a:r>
          </a:p>
          <a:p>
            <a:pPr lvl="1">
              <a:buFont typeface="Arial" pitchFamily="34" charset="0"/>
              <a:buChar char="•"/>
            </a:pPr>
            <a:r>
              <a:rPr lang="en-US" sz="1000" dirty="0" smtClean="0"/>
              <a:t>Cost effective, as no Static IP/domain is required </a:t>
            </a:r>
          </a:p>
          <a:p>
            <a:pPr lvl="1">
              <a:buFont typeface="Arial" pitchFamily="34" charset="0"/>
              <a:buChar char="•"/>
            </a:pPr>
            <a:r>
              <a:rPr lang="en-US" sz="1000" dirty="0" smtClean="0"/>
              <a:t>Health of the generator shown in graphical and tabular format</a:t>
            </a:r>
          </a:p>
          <a:p>
            <a:pPr lvl="1">
              <a:buFont typeface="Arial" pitchFamily="34" charset="0"/>
              <a:buChar char="•"/>
            </a:pPr>
            <a:r>
              <a:rPr lang="en-US" sz="1000" dirty="0" smtClean="0"/>
              <a:t>Schedule (Generator) maintenance activities through the tool itself</a:t>
            </a:r>
          </a:p>
          <a:p>
            <a:pPr lvl="1">
              <a:buFont typeface="Arial" pitchFamily="34" charset="0"/>
              <a:buChar char="•"/>
            </a:pPr>
            <a:r>
              <a:rPr lang="en-US" sz="1000" dirty="0" smtClean="0"/>
              <a:t>Schedule periodic exercise for generator.</a:t>
            </a:r>
          </a:p>
          <a:p>
            <a:pPr lvl="1">
              <a:buFont typeface="Arial" pitchFamily="34" charset="0"/>
              <a:buChar char="•"/>
            </a:pPr>
            <a:r>
              <a:rPr lang="en-US" sz="1000" dirty="0" smtClean="0"/>
              <a:t>Remote start / stop of the Generator.</a:t>
            </a:r>
            <a:endParaRPr lang="en-US" sz="1000" dirty="0" smtClean="0">
              <a:latin typeface="+mj-lt"/>
            </a:endParaRPr>
          </a:p>
          <a:p>
            <a:pPr lvl="1">
              <a:buFont typeface="Arial" pitchFamily="34" charset="0"/>
              <a:buChar char="•"/>
            </a:pPr>
            <a:r>
              <a:rPr lang="en-US" sz="1000" dirty="0" smtClean="0">
                <a:latin typeface="+mj-lt"/>
              </a:rPr>
              <a:t>Communication of Alerts to Smart phones (dealer and end-user) through email/SMS.</a:t>
            </a:r>
          </a:p>
          <a:p>
            <a:pPr lvl="1">
              <a:buFont typeface="Arial" pitchFamily="34" charset="0"/>
              <a:buChar char="•"/>
            </a:pPr>
            <a:endParaRPr lang="en-US" sz="1000" dirty="0" smtClean="0">
              <a:latin typeface="+mj-lt"/>
            </a:endParaRPr>
          </a:p>
        </p:txBody>
      </p:sp>
      <p:sp>
        <p:nvSpPr>
          <p:cNvPr id="5" name="Text Placeholder 4"/>
          <p:cNvSpPr>
            <a:spLocks noGrp="1"/>
          </p:cNvSpPr>
          <p:nvPr>
            <p:ph type="body" sz="quarter" idx="12"/>
          </p:nvPr>
        </p:nvSpPr>
        <p:spPr>
          <a:xfrm>
            <a:off x="361507" y="897620"/>
            <a:ext cx="4175815" cy="369332"/>
          </a:xfrm>
          <a:solidFill>
            <a:schemeClr val="tx2">
              <a:lumMod val="75000"/>
            </a:schemeClr>
          </a:solidFill>
        </p:spPr>
        <p:txBody>
          <a:bodyPr/>
          <a:lstStyle/>
          <a:p>
            <a:r>
              <a:rPr lang="en-US" sz="1200" dirty="0" smtClean="0"/>
              <a:t>Scope</a:t>
            </a:r>
            <a:endParaRPr lang="en-US" sz="1200" dirty="0"/>
          </a:p>
        </p:txBody>
      </p:sp>
      <p:sp>
        <p:nvSpPr>
          <p:cNvPr id="6" name="Text Placeholder 5"/>
          <p:cNvSpPr>
            <a:spLocks noGrp="1"/>
          </p:cNvSpPr>
          <p:nvPr>
            <p:ph type="body" sz="quarter" idx="13"/>
          </p:nvPr>
        </p:nvSpPr>
        <p:spPr>
          <a:xfrm>
            <a:off x="4648200" y="886987"/>
            <a:ext cx="4170595" cy="369332"/>
          </a:xfrm>
          <a:solidFill>
            <a:schemeClr val="tx2">
              <a:lumMod val="75000"/>
            </a:schemeClr>
          </a:solidFill>
        </p:spPr>
        <p:txBody>
          <a:bodyPr/>
          <a:lstStyle/>
          <a:p>
            <a:r>
              <a:rPr lang="en-US" sz="1200" dirty="0" smtClean="0"/>
              <a:t>Highlights</a:t>
            </a:r>
            <a:endParaRPr lang="en-US" sz="1200" dirty="0"/>
          </a:p>
        </p:txBody>
      </p:sp>
      <p:sp>
        <p:nvSpPr>
          <p:cNvPr id="12" name="Text Placeholder 2"/>
          <p:cNvSpPr txBox="1">
            <a:spLocks/>
          </p:cNvSpPr>
          <p:nvPr/>
        </p:nvSpPr>
        <p:spPr>
          <a:xfrm>
            <a:off x="324196" y="2551814"/>
            <a:ext cx="4173376" cy="2360428"/>
          </a:xfrm>
          <a:prstGeom prst="rect">
            <a:avLst/>
          </a:prstGeom>
          <a:noFill/>
          <a:ln w="9525">
            <a:solidFill>
              <a:schemeClr val="bg2"/>
            </a:solidFill>
            <a:miter lim="800000"/>
            <a:headEnd/>
            <a:tailEnd/>
          </a:ln>
        </p:spPr>
        <p:txBody>
          <a:bodyPr vert="horz" wrap="square" lIns="91440" tIns="548640" rIns="91440" bIns="91440" numCol="1" anchor="t" anchorCtr="0" compatLnSpc="1">
            <a:prstTxWarp prst="textNoShape">
              <a:avLst/>
            </a:prstTxWarp>
            <a:noAutofit/>
          </a:bodyPr>
          <a:lstStyle/>
          <a:p>
            <a:pPr marL="285750" lvl="1" indent="-285750" fontAlgn="base">
              <a:buClr>
                <a:schemeClr val="tx2"/>
              </a:buClr>
              <a:buSzPct val="120000"/>
            </a:pPr>
            <a:r>
              <a:rPr lang="en-US" sz="1000" b="1" dirty="0" smtClean="0">
                <a:latin typeface="+mj-lt"/>
                <a:cs typeface="Arial" pitchFamily="34" charset="0"/>
              </a:rPr>
              <a:t>End User</a:t>
            </a:r>
          </a:p>
          <a:p>
            <a:pPr marL="285750" lvl="1" indent="-285750" fontAlgn="base">
              <a:buClr>
                <a:schemeClr val="tx2"/>
              </a:buClr>
              <a:buSzPct val="120000"/>
              <a:buFont typeface="Arial" pitchFamily="34" charset="0"/>
              <a:buChar char="•"/>
            </a:pPr>
            <a:r>
              <a:rPr lang="en-US" sz="1000" dirty="0" smtClean="0">
                <a:latin typeface="+mj-lt"/>
                <a:cs typeface="Arial" pitchFamily="34" charset="0"/>
              </a:rPr>
              <a:t>Ability to view the status of generator anytime, anywhere</a:t>
            </a:r>
          </a:p>
          <a:p>
            <a:pPr marL="285750" lvl="1" indent="-285750" fontAlgn="base">
              <a:buClr>
                <a:schemeClr val="tx2"/>
              </a:buClr>
              <a:buSzPct val="120000"/>
              <a:buFont typeface="Arial" pitchFamily="34" charset="0"/>
              <a:buChar char="•"/>
            </a:pPr>
            <a:r>
              <a:rPr lang="en-US" sz="1000" dirty="0" smtClean="0">
                <a:latin typeface="+mj-lt"/>
                <a:cs typeface="Arial" pitchFamily="34" charset="0"/>
              </a:rPr>
              <a:t>Improved Generator life and performance due to periodic Exercise</a:t>
            </a:r>
          </a:p>
          <a:p>
            <a:pPr marL="285750" lvl="1" indent="-285750" fontAlgn="base">
              <a:buClr>
                <a:schemeClr val="tx2"/>
              </a:buClr>
              <a:buSzPct val="120000"/>
              <a:buFont typeface="Arial" pitchFamily="34" charset="0"/>
              <a:buChar char="•"/>
            </a:pPr>
            <a:r>
              <a:rPr lang="en-US" sz="1000" dirty="0" smtClean="0">
                <a:latin typeface="+mj-lt"/>
                <a:cs typeface="Arial" pitchFamily="34" charset="0"/>
              </a:rPr>
              <a:t>Faster service response from dealer</a:t>
            </a:r>
          </a:p>
          <a:p>
            <a:pPr marL="285750" lvl="1" indent="-285750" fontAlgn="base">
              <a:buClr>
                <a:schemeClr val="tx2"/>
              </a:buClr>
              <a:buSzPct val="120000"/>
              <a:buFont typeface="Arial" pitchFamily="34" charset="0"/>
              <a:buChar char="•"/>
            </a:pPr>
            <a:r>
              <a:rPr lang="en-US" sz="1000" dirty="0" smtClean="0">
                <a:latin typeface="+mj-lt"/>
              </a:rPr>
              <a:t>Convenience of ordering maintenance items online </a:t>
            </a:r>
          </a:p>
          <a:p>
            <a:pPr marL="285750" lvl="1" indent="-285750" fontAlgn="base">
              <a:buClr>
                <a:schemeClr val="tx2"/>
              </a:buClr>
              <a:buSzPct val="120000"/>
            </a:pPr>
            <a:r>
              <a:rPr lang="en-US" sz="1000" b="1" dirty="0" smtClean="0">
                <a:latin typeface="+mj-lt"/>
                <a:cs typeface="Arial" pitchFamily="34" charset="0"/>
              </a:rPr>
              <a:t>Manufacturer</a:t>
            </a:r>
          </a:p>
          <a:p>
            <a:pPr marL="285750" lvl="1" indent="-285750" fontAlgn="base">
              <a:buClr>
                <a:schemeClr val="tx2"/>
              </a:buClr>
              <a:buSzPct val="120000"/>
              <a:buFont typeface="Arial" pitchFamily="34" charset="0"/>
              <a:buChar char="•"/>
            </a:pPr>
            <a:r>
              <a:rPr lang="en-US" sz="1000" dirty="0" smtClean="0">
                <a:latin typeface="+mj-lt"/>
                <a:cs typeface="Arial" pitchFamily="34" charset="0"/>
              </a:rPr>
              <a:t>Ability to view the entire population of connected products to gather marketing data and product trends </a:t>
            </a:r>
          </a:p>
          <a:p>
            <a:pPr marL="285750" lvl="1" indent="-285750" fontAlgn="base">
              <a:buClr>
                <a:schemeClr val="tx2"/>
              </a:buClr>
              <a:buSzPct val="120000"/>
              <a:buFont typeface="Arial" pitchFamily="34" charset="0"/>
              <a:buChar char="•"/>
            </a:pPr>
            <a:r>
              <a:rPr lang="en-US" sz="1000" dirty="0" smtClean="0">
                <a:latin typeface="+mj-lt"/>
              </a:rPr>
              <a:t>Incremental revenue per unit through subscription </a:t>
            </a:r>
            <a:endParaRPr lang="en-US" sz="1000" dirty="0" smtClean="0">
              <a:latin typeface="+mj-lt"/>
              <a:cs typeface="Arial" pitchFamily="34" charset="0"/>
            </a:endParaRPr>
          </a:p>
          <a:p>
            <a:pPr marL="285750" lvl="1" indent="-285750" fontAlgn="base">
              <a:buClr>
                <a:schemeClr val="tx2"/>
              </a:buClr>
              <a:buSzPct val="120000"/>
              <a:buFont typeface="Arial" pitchFamily="34" charset="0"/>
              <a:buChar char="•"/>
            </a:pPr>
            <a:r>
              <a:rPr lang="en-US" sz="1000" dirty="0" smtClean="0">
                <a:latin typeface="+mj-lt"/>
              </a:rPr>
              <a:t>Increased trouble shooting ability </a:t>
            </a:r>
            <a:r>
              <a:rPr lang="en-US" sz="1000" smtClean="0">
                <a:latin typeface="+mj-lt"/>
              </a:rPr>
              <a:t>for Manufacturer’s </a:t>
            </a:r>
            <a:r>
              <a:rPr lang="en-US" sz="1000" dirty="0" smtClean="0">
                <a:latin typeface="+mj-lt"/>
              </a:rPr>
              <a:t>tech support</a:t>
            </a:r>
          </a:p>
          <a:p>
            <a:pPr marL="285750" lvl="1" indent="-285750" fontAlgn="base">
              <a:buClr>
                <a:schemeClr val="tx2"/>
              </a:buClr>
              <a:buSzPct val="120000"/>
              <a:buFont typeface="Arial" pitchFamily="34" charset="0"/>
              <a:buChar char="•"/>
            </a:pPr>
            <a:r>
              <a:rPr lang="en-US" sz="1000" dirty="0" smtClean="0">
                <a:latin typeface="+mj-lt"/>
              </a:rPr>
              <a:t>Better end-user satisfaction</a:t>
            </a:r>
          </a:p>
          <a:p>
            <a:pPr marL="285750" lvl="1" indent="-285750" fontAlgn="base">
              <a:buClr>
                <a:schemeClr val="tx2"/>
              </a:buClr>
              <a:buSzPct val="120000"/>
              <a:buFont typeface="Arial" pitchFamily="34" charset="0"/>
              <a:buChar char="•"/>
            </a:pPr>
            <a:r>
              <a:rPr lang="en-US" sz="1000" dirty="0" smtClean="0">
                <a:latin typeface="+mj-lt"/>
              </a:rPr>
              <a:t>Provides ability to “push” software updates &amp; advertisements.</a:t>
            </a:r>
            <a:endParaRPr lang="en-US" sz="1000" dirty="0">
              <a:latin typeface="+mj-lt"/>
              <a:cs typeface="Arial" pitchFamily="34" charset="0"/>
            </a:endParaRPr>
          </a:p>
        </p:txBody>
      </p:sp>
      <p:sp>
        <p:nvSpPr>
          <p:cNvPr id="13" name="Text Placeholder 4"/>
          <p:cNvSpPr txBox="1">
            <a:spLocks/>
          </p:cNvSpPr>
          <p:nvPr/>
        </p:nvSpPr>
        <p:spPr>
          <a:xfrm>
            <a:off x="324197" y="2557850"/>
            <a:ext cx="4170595" cy="369332"/>
          </a:xfrm>
          <a:prstGeom prst="rect">
            <a:avLst/>
          </a:prstGeom>
          <a:solidFill>
            <a:schemeClr val="tx2">
              <a:lumMod val="75000"/>
            </a:schemeClr>
          </a:solidFill>
          <a:ln w="9525">
            <a:noFill/>
            <a:miter lim="800000"/>
            <a:headEnd/>
            <a:tailEnd/>
          </a:ln>
        </p:spPr>
        <p:txBody>
          <a:bodyPr vert="horz" wrap="square" lIns="91440" tIns="91440" rIns="91440" bIns="91440" numCol="1" anchor="t" anchorCtr="0" compatLnSpc="1">
            <a:prstTxWarp prst="textNoShape">
              <a:avLst/>
            </a:prstTxWarp>
            <a:spAutoFit/>
          </a:bodyPr>
          <a:lstStyle/>
          <a:p>
            <a:pPr marL="0" marR="0" lvl="0" indent="0" algn="l" defTabSz="914400" rtl="0" eaLnBrk="1" fontAlgn="base" latinLnBrk="0" hangingPunct="1">
              <a:lnSpc>
                <a:spcPct val="100000"/>
              </a:lnSpc>
              <a:spcBef>
                <a:spcPts val="0"/>
              </a:spcBef>
              <a:spcAft>
                <a:spcPts val="0"/>
              </a:spcAft>
              <a:buClrTx/>
              <a:buSzTx/>
              <a:buFont typeface="Arial" pitchFamily="34" charset="0"/>
              <a:buNone/>
              <a:tabLst/>
              <a:defRPr/>
            </a:pPr>
            <a:r>
              <a:rPr kumimoji="0" lang="en-US" sz="1200" b="1" i="0" u="none" strike="noStrike" kern="1200" cap="none" spc="0" normalizeH="0" baseline="0" noProof="0" dirty="0" smtClean="0">
                <a:ln>
                  <a:noFill/>
                </a:ln>
                <a:solidFill>
                  <a:schemeClr val="bg1"/>
                </a:solidFill>
                <a:effectLst/>
                <a:uLnTx/>
                <a:uFillTx/>
                <a:latin typeface="Arial" pitchFamily="34" charset="0"/>
                <a:ea typeface="+mn-ea"/>
                <a:cs typeface="Arial" pitchFamily="34" charset="0"/>
              </a:rPr>
              <a:t>Key Benefits</a:t>
            </a:r>
            <a:endParaRPr kumimoji="0" lang="en-US" sz="1200" b="1"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7" name="Text Placeholder 4"/>
          <p:cNvSpPr txBox="1">
            <a:spLocks/>
          </p:cNvSpPr>
          <p:nvPr/>
        </p:nvSpPr>
        <p:spPr>
          <a:xfrm>
            <a:off x="302931" y="4970554"/>
            <a:ext cx="4170595" cy="369332"/>
          </a:xfrm>
          <a:prstGeom prst="rect">
            <a:avLst/>
          </a:prstGeom>
          <a:solidFill>
            <a:schemeClr val="tx2">
              <a:lumMod val="75000"/>
            </a:schemeClr>
          </a:solidFill>
          <a:ln w="9525">
            <a:noFill/>
            <a:miter lim="800000"/>
            <a:headEnd/>
            <a:tailEnd/>
          </a:ln>
        </p:spPr>
        <p:txBody>
          <a:bodyPr vert="horz" wrap="square" lIns="91440" tIns="91440" rIns="91440" bIns="91440" numCol="1" anchor="t" anchorCtr="0" compatLnSpc="1">
            <a:prstTxWarp prst="textNoShape">
              <a:avLst/>
            </a:prstTxWarp>
            <a:spAutoFit/>
          </a:bodyPr>
          <a:lstStyle/>
          <a:p>
            <a:pPr marL="0" marR="0" lvl="0" indent="0" algn="l" defTabSz="914400" rtl="0" eaLnBrk="1" fontAlgn="base" latinLnBrk="0" hangingPunct="1">
              <a:lnSpc>
                <a:spcPct val="100000"/>
              </a:lnSpc>
              <a:spcBef>
                <a:spcPts val="0"/>
              </a:spcBef>
              <a:spcAft>
                <a:spcPts val="0"/>
              </a:spcAft>
              <a:buClrTx/>
              <a:buSzTx/>
              <a:buFont typeface="Arial" pitchFamily="34" charset="0"/>
              <a:buNone/>
              <a:tabLst/>
              <a:defRPr/>
            </a:pPr>
            <a:r>
              <a:rPr kumimoji="0" lang="en-US" sz="1200" b="1" i="0" u="none" strike="noStrike" kern="1200" cap="none" spc="0" normalizeH="0" baseline="0" noProof="0" dirty="0" smtClean="0">
                <a:ln>
                  <a:noFill/>
                </a:ln>
                <a:solidFill>
                  <a:schemeClr val="bg1"/>
                </a:solidFill>
                <a:effectLst/>
                <a:uLnTx/>
                <a:uFillTx/>
                <a:latin typeface="Arial" pitchFamily="34" charset="0"/>
                <a:ea typeface="+mn-ea"/>
                <a:cs typeface="Arial" pitchFamily="34" charset="0"/>
              </a:rPr>
              <a:t>Project Environment</a:t>
            </a:r>
            <a:endParaRPr kumimoji="0" lang="en-US" sz="1200" b="1"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8" name="Text Placeholder 2"/>
          <p:cNvSpPr txBox="1">
            <a:spLocks/>
          </p:cNvSpPr>
          <p:nvPr/>
        </p:nvSpPr>
        <p:spPr>
          <a:xfrm>
            <a:off x="293406" y="4965406"/>
            <a:ext cx="4170595" cy="1286540"/>
          </a:xfrm>
          <a:prstGeom prst="rect">
            <a:avLst/>
          </a:prstGeom>
          <a:noFill/>
          <a:ln w="9525">
            <a:solidFill>
              <a:schemeClr val="bg2"/>
            </a:solidFill>
            <a:miter lim="800000"/>
            <a:headEnd/>
            <a:tailEnd/>
          </a:ln>
        </p:spPr>
        <p:txBody>
          <a:bodyPr vert="horz" wrap="square" lIns="91440" tIns="548640" rIns="91440" bIns="91440" numCol="1" anchor="t" anchorCtr="0" compatLnSpc="1">
            <a:prstTxWarp prst="textNoShape">
              <a:avLst/>
            </a:prstTxWarp>
            <a:noAutofit/>
          </a:bodyPr>
          <a:lstStyle/>
          <a:p>
            <a:pPr marL="285750" lvl="1" indent="-285750" fontAlgn="base">
              <a:buClr>
                <a:schemeClr val="tx2"/>
              </a:buClr>
              <a:buSzPct val="120000"/>
              <a:buFont typeface="Arial" pitchFamily="34" charset="0"/>
              <a:buChar char="•"/>
            </a:pPr>
            <a:r>
              <a:rPr lang="en-US" sz="1000" dirty="0" smtClean="0">
                <a:latin typeface="+mj-lt"/>
                <a:cs typeface="Arial" pitchFamily="34" charset="0"/>
              </a:rPr>
              <a:t>.NET 2.0, Sql Server 2005</a:t>
            </a:r>
          </a:p>
          <a:p>
            <a:pPr marL="285750" lvl="1" indent="-285750" fontAlgn="base">
              <a:spcBef>
                <a:spcPct val="20000"/>
              </a:spcBef>
              <a:spcAft>
                <a:spcPct val="0"/>
              </a:spcAft>
              <a:buClr>
                <a:schemeClr val="tx2"/>
              </a:buClr>
              <a:buSzPct val="120000"/>
              <a:buFont typeface="Arial" pitchFamily="34" charset="0"/>
              <a:buChar char="•"/>
              <a:defRPr/>
            </a:pPr>
            <a:r>
              <a:rPr lang="en-US" altLang="ja-JP" sz="1000" dirty="0" smtClean="0">
                <a:latin typeface="+mj-lt"/>
                <a:cs typeface="Arial" pitchFamily="34" charset="0"/>
              </a:rPr>
              <a:t>IIS Web Server, Apache Web Server, Device Drivers, </a:t>
            </a:r>
          </a:p>
          <a:p>
            <a:pPr marL="285750" lvl="1" indent="-285750" fontAlgn="base">
              <a:spcBef>
                <a:spcPct val="20000"/>
              </a:spcBef>
              <a:spcAft>
                <a:spcPct val="0"/>
              </a:spcAft>
              <a:buClr>
                <a:schemeClr val="tx2"/>
              </a:buClr>
              <a:buSzPct val="120000"/>
              <a:buFont typeface="Arial" pitchFamily="34" charset="0"/>
              <a:buChar char="•"/>
              <a:defRPr/>
            </a:pPr>
            <a:r>
              <a:rPr lang="en-US" altLang="ja-JP" sz="1000" dirty="0" smtClean="0">
                <a:latin typeface="+mj-lt"/>
                <a:cs typeface="Arial" pitchFamily="34" charset="0"/>
              </a:rPr>
              <a:t>Client Server Applications Netbeans, Requisite Pro, Eclipse</a:t>
            </a:r>
          </a:p>
          <a:p>
            <a:pPr marL="285750" lvl="1" indent="-285750" fontAlgn="base">
              <a:spcBef>
                <a:spcPct val="20000"/>
              </a:spcBef>
              <a:spcAft>
                <a:spcPct val="0"/>
              </a:spcAft>
              <a:buClr>
                <a:schemeClr val="tx2"/>
              </a:buClr>
              <a:buSzPct val="120000"/>
              <a:buFont typeface="Arial" pitchFamily="34" charset="0"/>
              <a:buChar char="•"/>
              <a:defRPr/>
            </a:pPr>
            <a:r>
              <a:rPr lang="en-US" sz="1000" dirty="0" smtClean="0">
                <a:latin typeface="+mj-lt"/>
                <a:cs typeface="Arial" pitchFamily="34" charset="0"/>
              </a:rPr>
              <a:t>C, C++, Java, Swing, AWT, HTML, DHTML</a:t>
            </a:r>
            <a:r>
              <a:rPr lang="en-US" altLang="ja-JP" sz="1000" dirty="0" smtClean="0">
                <a:latin typeface="+mj-lt"/>
                <a:cs typeface="Arial" pitchFamily="34" charset="0"/>
              </a:rPr>
              <a:t> </a:t>
            </a:r>
          </a:p>
          <a:p>
            <a:pPr marL="285750" lvl="1" indent="-285750" fontAlgn="base">
              <a:buClr>
                <a:schemeClr val="tx2"/>
              </a:buClr>
              <a:buSzPct val="120000"/>
            </a:pPr>
            <a:endParaRPr lang="en-US" sz="1000" dirty="0" smtClean="0">
              <a:latin typeface="+mj-lt"/>
              <a:cs typeface="Arial" pitchFamily="34" charset="0"/>
            </a:endParaRPr>
          </a:p>
          <a:p>
            <a:pPr marL="285750" lvl="1" indent="-285750" fontAlgn="base">
              <a:buClr>
                <a:schemeClr val="tx2"/>
              </a:buClr>
              <a:buSzPct val="120000"/>
            </a:pPr>
            <a:endParaRPr lang="en-US" sz="1000" dirty="0">
              <a:latin typeface="+mj-lt"/>
              <a:cs typeface="Arial" pitchFamily="34" charset="0"/>
            </a:endParaRPr>
          </a:p>
        </p:txBody>
      </p:sp>
      <p:sp>
        <p:nvSpPr>
          <p:cNvPr id="24" name="Down Arrow 23"/>
          <p:cNvSpPr/>
          <p:nvPr/>
        </p:nvSpPr>
        <p:spPr>
          <a:xfrm>
            <a:off x="5411973" y="3939141"/>
            <a:ext cx="45719" cy="2926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5" name="Picture 24" descr="Bridge Photo.JPG"/>
          <p:cNvPicPr>
            <a:picLocks noChangeAspect="1"/>
          </p:cNvPicPr>
          <p:nvPr/>
        </p:nvPicPr>
        <p:blipFill>
          <a:blip r:embed="rId3"/>
          <a:stretch>
            <a:fillRect/>
          </a:stretch>
        </p:blipFill>
        <p:spPr>
          <a:xfrm>
            <a:off x="4709368" y="4762500"/>
            <a:ext cx="1972418" cy="1300162"/>
          </a:xfrm>
          <a:prstGeom prst="rect">
            <a:avLst/>
          </a:prstGeom>
        </p:spPr>
      </p:pic>
      <p:sp>
        <p:nvSpPr>
          <p:cNvPr id="32" name="Text Placeholder 2"/>
          <p:cNvSpPr txBox="1">
            <a:spLocks/>
          </p:cNvSpPr>
          <p:nvPr/>
        </p:nvSpPr>
        <p:spPr>
          <a:xfrm>
            <a:off x="349006" y="882501"/>
            <a:ext cx="4173376" cy="1679945"/>
          </a:xfrm>
          <a:prstGeom prst="rect">
            <a:avLst/>
          </a:prstGeom>
          <a:noFill/>
          <a:ln w="9525">
            <a:solidFill>
              <a:schemeClr val="bg2"/>
            </a:solidFill>
            <a:miter lim="800000"/>
            <a:headEnd/>
            <a:tailEnd/>
          </a:ln>
        </p:spPr>
        <p:txBody>
          <a:bodyPr vert="horz" wrap="square" lIns="91440" tIns="548640" rIns="91440" bIns="91440" numCol="1" anchor="t" anchorCtr="0" compatLnSpc="1">
            <a:prstTxWarp prst="textNoShape">
              <a:avLst/>
            </a:prstTxWarp>
            <a:noAutofit/>
          </a:bodyPr>
          <a:lstStyle/>
          <a:p>
            <a:pPr marL="285750" lvl="1" indent="-285750" fontAlgn="base">
              <a:buClr>
                <a:schemeClr val="tx2"/>
              </a:buClr>
              <a:buSzPct val="120000"/>
              <a:buFont typeface="Arial" pitchFamily="34" charset="0"/>
              <a:buChar char="•"/>
            </a:pPr>
            <a:r>
              <a:rPr lang="en-US" sz="1000" dirty="0" smtClean="0">
                <a:latin typeface="+mj-lt"/>
                <a:cs typeface="Arial" pitchFamily="34" charset="0"/>
              </a:rPr>
              <a:t>Remote Monitoring</a:t>
            </a:r>
            <a:r>
              <a:rPr lang="en-US" altLang="ja-JP" sz="1000" dirty="0" smtClean="0">
                <a:cs typeface="Arial" pitchFamily="34" charset="0"/>
              </a:rPr>
              <a:t> of the Power generators thru Internet</a:t>
            </a:r>
            <a:r>
              <a:rPr lang="en-US" sz="1000" dirty="0" smtClean="0">
                <a:latin typeface="+mj-lt"/>
                <a:cs typeface="Arial" pitchFamily="34" charset="0"/>
              </a:rPr>
              <a:t> </a:t>
            </a:r>
          </a:p>
          <a:p>
            <a:pPr marL="742950" lvl="2" indent="-285750" fontAlgn="base">
              <a:buClr>
                <a:schemeClr val="tx2"/>
              </a:buClr>
              <a:buSzPct val="120000"/>
              <a:buFont typeface="Arial" pitchFamily="34" charset="0"/>
              <a:buChar char="•"/>
            </a:pPr>
            <a:r>
              <a:rPr lang="en-US" altLang="ja-JP" sz="1000" dirty="0" smtClean="0">
                <a:cs typeface="Arial" pitchFamily="34" charset="0"/>
              </a:rPr>
              <a:t>Design bridge hardware a to extract required parameters from generator and transfer to server through Ethernet (Internet) using Modem / Routers.</a:t>
            </a:r>
          </a:p>
          <a:p>
            <a:pPr marL="742950" lvl="2" indent="-285750" fontAlgn="base">
              <a:buClr>
                <a:schemeClr val="tx2"/>
              </a:buClr>
              <a:buSzPct val="120000"/>
              <a:buFont typeface="Arial" pitchFamily="34" charset="0"/>
              <a:buChar char="•"/>
            </a:pPr>
            <a:r>
              <a:rPr lang="en-US" altLang="ja-JP" sz="1000" dirty="0" smtClean="0">
                <a:cs typeface="Arial" pitchFamily="34" charset="0"/>
              </a:rPr>
              <a:t>Develop server application with GUI for data analysis, Alert generation and notification to different user levels.</a:t>
            </a:r>
          </a:p>
          <a:p>
            <a:pPr marL="742950" lvl="2" indent="-285750" fontAlgn="base">
              <a:buClr>
                <a:schemeClr val="tx2"/>
              </a:buClr>
              <a:buSzPct val="120000"/>
              <a:buFont typeface="Arial" pitchFamily="34" charset="0"/>
              <a:buChar char="•"/>
            </a:pPr>
            <a:endParaRPr lang="en-US" altLang="ja-JP" sz="1000" dirty="0" smtClean="0">
              <a:cs typeface="Arial" pitchFamily="34" charset="0"/>
            </a:endParaRPr>
          </a:p>
          <a:p>
            <a:pPr marL="742950" lvl="2" indent="-285750" fontAlgn="base">
              <a:buClr>
                <a:schemeClr val="tx2"/>
              </a:buClr>
              <a:buSzPct val="120000"/>
              <a:buFont typeface="Arial" pitchFamily="34" charset="0"/>
              <a:buChar char="•"/>
            </a:pPr>
            <a:endParaRPr lang="en-US" sz="1000" dirty="0" smtClean="0">
              <a:latin typeface="+mj-lt"/>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Remote Monitoring System</a:t>
            </a:r>
            <a:endParaRPr lang="en-US" dirty="0"/>
          </a:p>
        </p:txBody>
      </p:sp>
      <p:sp>
        <p:nvSpPr>
          <p:cNvPr id="4" name="Text Placeholder 3"/>
          <p:cNvSpPr>
            <a:spLocks noGrp="1"/>
          </p:cNvSpPr>
          <p:nvPr>
            <p:ph type="body" sz="quarter" idx="11"/>
          </p:nvPr>
        </p:nvSpPr>
        <p:spPr>
          <a:xfrm>
            <a:off x="4648200" y="961415"/>
            <a:ext cx="4170595" cy="5306035"/>
          </a:xfrm>
        </p:spPr>
        <p:txBody>
          <a:bodyPr/>
          <a:lstStyle/>
          <a:p>
            <a:pPr lvl="1">
              <a:buFont typeface="Arial" pitchFamily="34" charset="0"/>
              <a:buChar char="•"/>
              <a:defRPr/>
            </a:pPr>
            <a:r>
              <a:rPr lang="en-US" sz="1000" dirty="0" smtClean="0"/>
              <a:t>Remote </a:t>
            </a:r>
            <a:r>
              <a:rPr lang="en-US" sz="1000" dirty="0" smtClean="0"/>
              <a:t>monitoring and control of Generator even where wired network infrastructure is not available.</a:t>
            </a:r>
          </a:p>
          <a:p>
            <a:pPr lvl="1">
              <a:buFont typeface="Arial" pitchFamily="34" charset="0"/>
              <a:buChar char="•"/>
              <a:defRPr/>
            </a:pPr>
            <a:r>
              <a:rPr lang="en-US" sz="1000" dirty="0" smtClean="0"/>
              <a:t>Dashboard shows the health of the generator (Engine RPM, Battery voltage, Generator voltage, Engine status, etc.) in graphical or tabular format</a:t>
            </a:r>
          </a:p>
          <a:p>
            <a:pPr lvl="1">
              <a:buFont typeface="Arial" pitchFamily="34" charset="0"/>
              <a:buChar char="•"/>
              <a:defRPr/>
            </a:pPr>
            <a:r>
              <a:rPr lang="en-US" sz="1000" dirty="0" smtClean="0"/>
              <a:t>Display of Fault status like, Low battery, High coolant temperature, RPM Sensor fault, etc. </a:t>
            </a:r>
            <a:endParaRPr lang="en-US" sz="1000" dirty="0" smtClean="0"/>
          </a:p>
          <a:p>
            <a:pPr lvl="1">
              <a:buFont typeface="Arial" pitchFamily="34" charset="0"/>
              <a:buChar char="•"/>
              <a:defRPr/>
            </a:pPr>
            <a:r>
              <a:rPr lang="en-US" sz="1000" dirty="0" smtClean="0"/>
              <a:t>Monitor Fuel level and usage</a:t>
            </a:r>
          </a:p>
          <a:p>
            <a:pPr lvl="1">
              <a:buFont typeface="Arial" pitchFamily="34" charset="0"/>
              <a:buChar char="•"/>
              <a:defRPr/>
            </a:pPr>
            <a:r>
              <a:rPr lang="en-US" sz="1000" dirty="0" smtClean="0"/>
              <a:t>Monitor additional Digital inputs</a:t>
            </a:r>
          </a:p>
          <a:p>
            <a:pPr lvl="1">
              <a:buFont typeface="Arial" pitchFamily="34" charset="0"/>
              <a:buChar char="•"/>
              <a:defRPr/>
            </a:pPr>
            <a:r>
              <a:rPr lang="en-US" sz="1000" dirty="0" smtClean="0"/>
              <a:t>Report Generation covers DG Run hours, Alarm status, EB Fail hours, etc. </a:t>
            </a:r>
          </a:p>
          <a:p>
            <a:pPr lvl="1">
              <a:buFont typeface="Arial" pitchFamily="34" charset="0"/>
              <a:buChar char="•"/>
              <a:defRPr/>
            </a:pPr>
            <a:r>
              <a:rPr lang="en-US" sz="1000" dirty="0" smtClean="0"/>
              <a:t>Map display –useful for Administrator and users with multiple </a:t>
            </a:r>
            <a:r>
              <a:rPr lang="en-US" sz="1000" dirty="0" err="1" smtClean="0"/>
              <a:t>Gensets</a:t>
            </a:r>
            <a:endParaRPr lang="en-US" sz="1000" dirty="0" smtClean="0"/>
          </a:p>
          <a:p>
            <a:pPr lvl="1">
              <a:buFont typeface="Arial" pitchFamily="34" charset="0"/>
              <a:buChar char="•"/>
              <a:defRPr/>
            </a:pPr>
            <a:r>
              <a:rPr lang="en-US" sz="1000" dirty="0" smtClean="0"/>
              <a:t>OTA Firmware upgrade</a:t>
            </a:r>
          </a:p>
          <a:p>
            <a:pPr lvl="1">
              <a:buFont typeface="Arial" pitchFamily="34" charset="0"/>
              <a:buChar char="•"/>
            </a:pPr>
            <a:endParaRPr lang="en-US" sz="1000" dirty="0" smtClean="0">
              <a:latin typeface="+mj-lt"/>
            </a:endParaRPr>
          </a:p>
          <a:p>
            <a:pPr lvl="1">
              <a:buFont typeface="Arial" pitchFamily="34" charset="0"/>
              <a:buChar char="•"/>
            </a:pPr>
            <a:endParaRPr lang="en-US" sz="1000" dirty="0" smtClean="0">
              <a:latin typeface="+mj-lt"/>
            </a:endParaRPr>
          </a:p>
        </p:txBody>
      </p:sp>
      <p:sp>
        <p:nvSpPr>
          <p:cNvPr id="5" name="Text Placeholder 4"/>
          <p:cNvSpPr>
            <a:spLocks noGrp="1"/>
          </p:cNvSpPr>
          <p:nvPr>
            <p:ph type="body" sz="quarter" idx="12"/>
          </p:nvPr>
        </p:nvSpPr>
        <p:spPr>
          <a:xfrm>
            <a:off x="361507" y="897620"/>
            <a:ext cx="4175815" cy="369332"/>
          </a:xfrm>
          <a:solidFill>
            <a:schemeClr val="tx2">
              <a:lumMod val="75000"/>
            </a:schemeClr>
          </a:solidFill>
        </p:spPr>
        <p:txBody>
          <a:bodyPr/>
          <a:lstStyle/>
          <a:p>
            <a:r>
              <a:rPr lang="en-US" sz="1200" dirty="0" smtClean="0"/>
              <a:t>Scope</a:t>
            </a:r>
            <a:endParaRPr lang="en-US" sz="1200" dirty="0"/>
          </a:p>
        </p:txBody>
      </p:sp>
      <p:sp>
        <p:nvSpPr>
          <p:cNvPr id="6" name="Text Placeholder 5"/>
          <p:cNvSpPr>
            <a:spLocks noGrp="1"/>
          </p:cNvSpPr>
          <p:nvPr>
            <p:ph type="body" sz="quarter" idx="13"/>
          </p:nvPr>
        </p:nvSpPr>
        <p:spPr>
          <a:xfrm>
            <a:off x="4648200" y="886987"/>
            <a:ext cx="4170595" cy="369332"/>
          </a:xfrm>
          <a:solidFill>
            <a:schemeClr val="tx2">
              <a:lumMod val="75000"/>
            </a:schemeClr>
          </a:solidFill>
        </p:spPr>
        <p:txBody>
          <a:bodyPr/>
          <a:lstStyle/>
          <a:p>
            <a:r>
              <a:rPr lang="en-US" sz="1200" dirty="0" smtClean="0"/>
              <a:t>Highlights</a:t>
            </a:r>
            <a:endParaRPr lang="en-US" sz="1200" dirty="0"/>
          </a:p>
        </p:txBody>
      </p:sp>
      <p:sp>
        <p:nvSpPr>
          <p:cNvPr id="12" name="Text Placeholder 2"/>
          <p:cNvSpPr txBox="1">
            <a:spLocks/>
          </p:cNvSpPr>
          <p:nvPr/>
        </p:nvSpPr>
        <p:spPr>
          <a:xfrm>
            <a:off x="324196" y="2551814"/>
            <a:ext cx="4173376" cy="2360428"/>
          </a:xfrm>
          <a:prstGeom prst="rect">
            <a:avLst/>
          </a:prstGeom>
          <a:noFill/>
          <a:ln w="9525">
            <a:solidFill>
              <a:schemeClr val="bg2"/>
            </a:solidFill>
            <a:miter lim="800000"/>
            <a:headEnd/>
            <a:tailEnd/>
          </a:ln>
        </p:spPr>
        <p:txBody>
          <a:bodyPr vert="horz" wrap="square" lIns="91440" tIns="548640" rIns="91440" bIns="91440" numCol="1" anchor="t" anchorCtr="0" compatLnSpc="1">
            <a:prstTxWarp prst="textNoShape">
              <a:avLst/>
            </a:prstTxWarp>
            <a:noAutofit/>
          </a:bodyPr>
          <a:lstStyle/>
          <a:p>
            <a:pPr marL="285750" lvl="1" indent="-285750" fontAlgn="base">
              <a:buClr>
                <a:schemeClr val="tx2"/>
              </a:buClr>
              <a:buSzPct val="120000"/>
            </a:pPr>
            <a:r>
              <a:rPr lang="en-US" sz="1000" b="1" dirty="0" smtClean="0">
                <a:latin typeface="+mj-lt"/>
                <a:cs typeface="Arial" pitchFamily="34" charset="0"/>
              </a:rPr>
              <a:t>End User</a:t>
            </a:r>
          </a:p>
          <a:p>
            <a:pPr marL="285750" lvl="1" indent="-285750" fontAlgn="base">
              <a:buClr>
                <a:schemeClr val="tx2"/>
              </a:buClr>
              <a:buSzPct val="120000"/>
              <a:buFont typeface="Arial" pitchFamily="34" charset="0"/>
              <a:buChar char="•"/>
            </a:pPr>
            <a:r>
              <a:rPr lang="en-US" sz="1000" dirty="0" smtClean="0">
                <a:latin typeface="+mj-lt"/>
                <a:cs typeface="Arial" pitchFamily="34" charset="0"/>
              </a:rPr>
              <a:t>Ability to view the status of generator anytime, anywhere</a:t>
            </a:r>
          </a:p>
          <a:p>
            <a:pPr marL="285750" lvl="1" indent="-285750" fontAlgn="base">
              <a:buClr>
                <a:schemeClr val="tx2"/>
              </a:buClr>
              <a:buSzPct val="120000"/>
              <a:buFont typeface="Arial" pitchFamily="34" charset="0"/>
              <a:buChar char="•"/>
            </a:pPr>
            <a:r>
              <a:rPr lang="en-US" sz="1000" dirty="0" smtClean="0">
                <a:latin typeface="+mj-lt"/>
                <a:cs typeface="Arial" pitchFamily="34" charset="0"/>
              </a:rPr>
              <a:t>Improved Generator life and performance due to periodic Exercise</a:t>
            </a:r>
          </a:p>
          <a:p>
            <a:pPr marL="285750" lvl="1" indent="-285750" fontAlgn="base">
              <a:buClr>
                <a:schemeClr val="tx2"/>
              </a:buClr>
              <a:buSzPct val="120000"/>
              <a:buFont typeface="Arial" pitchFamily="34" charset="0"/>
              <a:buChar char="•"/>
            </a:pPr>
            <a:r>
              <a:rPr lang="en-US" sz="1000" dirty="0" smtClean="0">
                <a:latin typeface="+mj-lt"/>
                <a:cs typeface="Arial" pitchFamily="34" charset="0"/>
              </a:rPr>
              <a:t>Faster service response from dealer</a:t>
            </a:r>
          </a:p>
          <a:p>
            <a:pPr marL="285750" lvl="1" indent="-285750" fontAlgn="base">
              <a:buClr>
                <a:schemeClr val="tx2"/>
              </a:buClr>
              <a:buSzPct val="120000"/>
              <a:buFont typeface="Arial" pitchFamily="34" charset="0"/>
              <a:buChar char="•"/>
            </a:pPr>
            <a:r>
              <a:rPr lang="en-US" sz="1000" dirty="0" smtClean="0">
                <a:latin typeface="+mj-lt"/>
              </a:rPr>
              <a:t>Convenience of ordering maintenance items online </a:t>
            </a:r>
          </a:p>
          <a:p>
            <a:pPr marL="285750" lvl="1" indent="-285750" fontAlgn="base">
              <a:buClr>
                <a:schemeClr val="tx2"/>
              </a:buClr>
              <a:buSzPct val="120000"/>
            </a:pPr>
            <a:r>
              <a:rPr lang="en-US" sz="1000" b="1" dirty="0" smtClean="0">
                <a:latin typeface="+mj-lt"/>
                <a:cs typeface="Arial" pitchFamily="34" charset="0"/>
              </a:rPr>
              <a:t>Manufacturer</a:t>
            </a:r>
          </a:p>
          <a:p>
            <a:pPr marL="285750" lvl="1" indent="-285750" fontAlgn="base">
              <a:buClr>
                <a:schemeClr val="tx2"/>
              </a:buClr>
              <a:buSzPct val="120000"/>
              <a:buFont typeface="Arial" pitchFamily="34" charset="0"/>
              <a:buChar char="•"/>
            </a:pPr>
            <a:r>
              <a:rPr lang="en-US" sz="1000" dirty="0" smtClean="0">
                <a:latin typeface="+mj-lt"/>
                <a:cs typeface="Arial" pitchFamily="34" charset="0"/>
              </a:rPr>
              <a:t>Ability to view the entire population of connected products to gather marketing data and product trends </a:t>
            </a:r>
          </a:p>
          <a:p>
            <a:pPr marL="285750" lvl="1" indent="-285750" fontAlgn="base">
              <a:buClr>
                <a:schemeClr val="tx2"/>
              </a:buClr>
              <a:buSzPct val="120000"/>
              <a:buFont typeface="Arial" pitchFamily="34" charset="0"/>
              <a:buChar char="•"/>
            </a:pPr>
            <a:r>
              <a:rPr lang="en-US" sz="1000" dirty="0" smtClean="0">
                <a:latin typeface="+mj-lt"/>
              </a:rPr>
              <a:t>Incremental revenue per unit through subscription </a:t>
            </a:r>
            <a:endParaRPr lang="en-US" sz="1000" dirty="0" smtClean="0">
              <a:latin typeface="+mj-lt"/>
              <a:cs typeface="Arial" pitchFamily="34" charset="0"/>
            </a:endParaRPr>
          </a:p>
          <a:p>
            <a:pPr marL="285750" lvl="1" indent="-285750" fontAlgn="base">
              <a:buClr>
                <a:schemeClr val="tx2"/>
              </a:buClr>
              <a:buSzPct val="120000"/>
              <a:buFont typeface="Arial" pitchFamily="34" charset="0"/>
              <a:buChar char="•"/>
            </a:pPr>
            <a:r>
              <a:rPr lang="en-US" sz="1000" dirty="0" smtClean="0">
                <a:latin typeface="+mj-lt"/>
              </a:rPr>
              <a:t>Increased trouble shooting ability for Manufacturer’s tech support</a:t>
            </a:r>
          </a:p>
          <a:p>
            <a:pPr marL="285750" lvl="1" indent="-285750" fontAlgn="base">
              <a:buClr>
                <a:schemeClr val="tx2"/>
              </a:buClr>
              <a:buSzPct val="120000"/>
              <a:buFont typeface="Arial" pitchFamily="34" charset="0"/>
              <a:buChar char="•"/>
            </a:pPr>
            <a:r>
              <a:rPr lang="en-US" sz="1000" dirty="0" smtClean="0">
                <a:latin typeface="+mj-lt"/>
              </a:rPr>
              <a:t>Better end-user satisfaction</a:t>
            </a:r>
          </a:p>
          <a:p>
            <a:pPr marL="285750" lvl="1" indent="-285750" fontAlgn="base">
              <a:buClr>
                <a:schemeClr val="tx2"/>
              </a:buClr>
              <a:buSzPct val="120000"/>
              <a:buFont typeface="Arial" pitchFamily="34" charset="0"/>
              <a:buChar char="•"/>
            </a:pPr>
            <a:r>
              <a:rPr lang="en-US" sz="1000" dirty="0" smtClean="0">
                <a:latin typeface="+mj-lt"/>
              </a:rPr>
              <a:t>Provides ability to “push” software updates &amp; advertisements.</a:t>
            </a:r>
            <a:endParaRPr lang="en-US" sz="1000" dirty="0">
              <a:latin typeface="+mj-lt"/>
              <a:cs typeface="Arial" pitchFamily="34" charset="0"/>
            </a:endParaRPr>
          </a:p>
        </p:txBody>
      </p:sp>
      <p:sp>
        <p:nvSpPr>
          <p:cNvPr id="13" name="Text Placeholder 4"/>
          <p:cNvSpPr txBox="1">
            <a:spLocks/>
          </p:cNvSpPr>
          <p:nvPr/>
        </p:nvSpPr>
        <p:spPr>
          <a:xfrm>
            <a:off x="324197" y="2557850"/>
            <a:ext cx="4170595" cy="369332"/>
          </a:xfrm>
          <a:prstGeom prst="rect">
            <a:avLst/>
          </a:prstGeom>
          <a:solidFill>
            <a:schemeClr val="tx2">
              <a:lumMod val="75000"/>
            </a:schemeClr>
          </a:solidFill>
          <a:ln w="9525">
            <a:noFill/>
            <a:miter lim="800000"/>
            <a:headEnd/>
            <a:tailEnd/>
          </a:ln>
        </p:spPr>
        <p:txBody>
          <a:bodyPr vert="horz" wrap="square" lIns="91440" tIns="91440" rIns="91440" bIns="91440" numCol="1" anchor="t" anchorCtr="0" compatLnSpc="1">
            <a:prstTxWarp prst="textNoShape">
              <a:avLst/>
            </a:prstTxWarp>
            <a:spAutoFit/>
          </a:bodyPr>
          <a:lstStyle/>
          <a:p>
            <a:pPr marL="0" marR="0" lvl="0" indent="0" algn="l" defTabSz="914400" rtl="0" eaLnBrk="1" fontAlgn="base" latinLnBrk="0" hangingPunct="1">
              <a:lnSpc>
                <a:spcPct val="100000"/>
              </a:lnSpc>
              <a:spcBef>
                <a:spcPts val="0"/>
              </a:spcBef>
              <a:spcAft>
                <a:spcPts val="0"/>
              </a:spcAft>
              <a:buClrTx/>
              <a:buSzTx/>
              <a:buFont typeface="Arial" pitchFamily="34" charset="0"/>
              <a:buNone/>
              <a:tabLst/>
              <a:defRPr/>
            </a:pPr>
            <a:r>
              <a:rPr kumimoji="0" lang="en-US" sz="1200" b="1" i="0" u="none" strike="noStrike" kern="1200" cap="none" spc="0" normalizeH="0" baseline="0" noProof="0" dirty="0" smtClean="0">
                <a:ln>
                  <a:noFill/>
                </a:ln>
                <a:solidFill>
                  <a:schemeClr val="bg1"/>
                </a:solidFill>
                <a:effectLst/>
                <a:uLnTx/>
                <a:uFillTx/>
                <a:latin typeface="Arial" pitchFamily="34" charset="0"/>
                <a:ea typeface="+mn-ea"/>
                <a:cs typeface="Arial" pitchFamily="34" charset="0"/>
              </a:rPr>
              <a:t>Key Benefits</a:t>
            </a:r>
            <a:endParaRPr kumimoji="0" lang="en-US" sz="1200" b="1"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7" name="Text Placeholder 4"/>
          <p:cNvSpPr txBox="1">
            <a:spLocks/>
          </p:cNvSpPr>
          <p:nvPr/>
        </p:nvSpPr>
        <p:spPr>
          <a:xfrm>
            <a:off x="302931" y="4970554"/>
            <a:ext cx="4170595" cy="369332"/>
          </a:xfrm>
          <a:prstGeom prst="rect">
            <a:avLst/>
          </a:prstGeom>
          <a:solidFill>
            <a:schemeClr val="tx2">
              <a:lumMod val="75000"/>
            </a:schemeClr>
          </a:solidFill>
          <a:ln w="9525">
            <a:noFill/>
            <a:miter lim="800000"/>
            <a:headEnd/>
            <a:tailEnd/>
          </a:ln>
        </p:spPr>
        <p:txBody>
          <a:bodyPr vert="horz" wrap="square" lIns="91440" tIns="91440" rIns="91440" bIns="91440" numCol="1" anchor="t" anchorCtr="0" compatLnSpc="1">
            <a:prstTxWarp prst="textNoShape">
              <a:avLst/>
            </a:prstTxWarp>
            <a:spAutoFit/>
          </a:bodyPr>
          <a:lstStyle/>
          <a:p>
            <a:pPr marL="0" marR="0" lvl="0" indent="0" algn="l" defTabSz="914400" rtl="0" eaLnBrk="1" fontAlgn="base" latinLnBrk="0" hangingPunct="1">
              <a:lnSpc>
                <a:spcPct val="100000"/>
              </a:lnSpc>
              <a:spcBef>
                <a:spcPts val="0"/>
              </a:spcBef>
              <a:spcAft>
                <a:spcPts val="0"/>
              </a:spcAft>
              <a:buClrTx/>
              <a:buSzTx/>
              <a:buFont typeface="Arial" pitchFamily="34" charset="0"/>
              <a:buNone/>
              <a:tabLst/>
              <a:defRPr/>
            </a:pPr>
            <a:r>
              <a:rPr kumimoji="0" lang="en-US" sz="1200" b="1" i="0" u="none" strike="noStrike" kern="1200" cap="none" spc="0" normalizeH="0" baseline="0" noProof="0" dirty="0" smtClean="0">
                <a:ln>
                  <a:noFill/>
                </a:ln>
                <a:solidFill>
                  <a:schemeClr val="bg1"/>
                </a:solidFill>
                <a:effectLst/>
                <a:uLnTx/>
                <a:uFillTx/>
                <a:latin typeface="Arial" pitchFamily="34" charset="0"/>
                <a:ea typeface="+mn-ea"/>
                <a:cs typeface="Arial" pitchFamily="34" charset="0"/>
              </a:rPr>
              <a:t>Project Environment</a:t>
            </a:r>
            <a:endParaRPr kumimoji="0" lang="en-US" sz="1200" b="1" i="0" u="none" strike="noStrike" kern="1200" cap="none" spc="0" normalizeH="0" baseline="0" noProof="0" dirty="0">
              <a:ln>
                <a:noFill/>
              </a:ln>
              <a:solidFill>
                <a:schemeClr val="bg1"/>
              </a:solidFill>
              <a:effectLst/>
              <a:uLnTx/>
              <a:uFillTx/>
              <a:latin typeface="Arial" pitchFamily="34" charset="0"/>
              <a:ea typeface="+mn-ea"/>
              <a:cs typeface="Arial" pitchFamily="34" charset="0"/>
            </a:endParaRPr>
          </a:p>
        </p:txBody>
      </p:sp>
      <p:sp>
        <p:nvSpPr>
          <p:cNvPr id="18" name="Text Placeholder 2"/>
          <p:cNvSpPr txBox="1">
            <a:spLocks/>
          </p:cNvSpPr>
          <p:nvPr/>
        </p:nvSpPr>
        <p:spPr>
          <a:xfrm>
            <a:off x="293406" y="4965406"/>
            <a:ext cx="4170595" cy="1286540"/>
          </a:xfrm>
          <a:prstGeom prst="rect">
            <a:avLst/>
          </a:prstGeom>
          <a:noFill/>
          <a:ln w="9525">
            <a:solidFill>
              <a:schemeClr val="bg2"/>
            </a:solidFill>
            <a:miter lim="800000"/>
            <a:headEnd/>
            <a:tailEnd/>
          </a:ln>
        </p:spPr>
        <p:txBody>
          <a:bodyPr vert="horz" wrap="square" lIns="91440" tIns="548640" rIns="91440" bIns="91440" numCol="1" anchor="t" anchorCtr="0" compatLnSpc="1">
            <a:prstTxWarp prst="textNoShape">
              <a:avLst/>
            </a:prstTxWarp>
            <a:noAutofit/>
          </a:bodyPr>
          <a:lstStyle/>
          <a:p>
            <a:pPr marL="285750" lvl="1" indent="-285750" fontAlgn="base">
              <a:buClr>
                <a:schemeClr val="tx2"/>
              </a:buClr>
              <a:buSzPct val="120000"/>
              <a:buFont typeface="Arial" pitchFamily="34" charset="0"/>
              <a:buChar char="•"/>
            </a:pPr>
            <a:r>
              <a:rPr lang="en-US" sz="1000" dirty="0" smtClean="0">
                <a:latin typeface="+mj-lt"/>
                <a:cs typeface="Arial" pitchFamily="34" charset="0"/>
              </a:rPr>
              <a:t>.NET 2.0, Sql Server 2005</a:t>
            </a:r>
          </a:p>
          <a:p>
            <a:pPr marL="285750" lvl="1" indent="-285750" fontAlgn="base">
              <a:spcBef>
                <a:spcPct val="20000"/>
              </a:spcBef>
              <a:spcAft>
                <a:spcPct val="0"/>
              </a:spcAft>
              <a:buClr>
                <a:schemeClr val="tx2"/>
              </a:buClr>
              <a:buSzPct val="120000"/>
              <a:buFont typeface="Arial" pitchFamily="34" charset="0"/>
              <a:buChar char="•"/>
              <a:defRPr/>
            </a:pPr>
            <a:r>
              <a:rPr lang="en-US" altLang="ja-JP" sz="1000" dirty="0" smtClean="0">
                <a:latin typeface="+mj-lt"/>
                <a:cs typeface="Arial" pitchFamily="34" charset="0"/>
              </a:rPr>
              <a:t>IIS Web Server, Apache Web Server, Device Drivers, </a:t>
            </a:r>
          </a:p>
          <a:p>
            <a:pPr marL="285750" lvl="1" indent="-285750" fontAlgn="base">
              <a:spcBef>
                <a:spcPct val="20000"/>
              </a:spcBef>
              <a:spcAft>
                <a:spcPct val="0"/>
              </a:spcAft>
              <a:buClr>
                <a:schemeClr val="tx2"/>
              </a:buClr>
              <a:buSzPct val="120000"/>
              <a:buFont typeface="Arial" pitchFamily="34" charset="0"/>
              <a:buChar char="•"/>
              <a:defRPr/>
            </a:pPr>
            <a:r>
              <a:rPr lang="en-US" altLang="ja-JP" sz="1000" dirty="0" smtClean="0">
                <a:latin typeface="+mj-lt"/>
                <a:cs typeface="Arial" pitchFamily="34" charset="0"/>
              </a:rPr>
              <a:t>Client Server Applications Netbeans, Requisite Pro, Eclipse</a:t>
            </a:r>
          </a:p>
          <a:p>
            <a:pPr marL="285750" lvl="1" indent="-285750" fontAlgn="base">
              <a:spcBef>
                <a:spcPct val="20000"/>
              </a:spcBef>
              <a:spcAft>
                <a:spcPct val="0"/>
              </a:spcAft>
              <a:buClr>
                <a:schemeClr val="tx2"/>
              </a:buClr>
              <a:buSzPct val="120000"/>
              <a:buFont typeface="Arial" pitchFamily="34" charset="0"/>
              <a:buChar char="•"/>
              <a:defRPr/>
            </a:pPr>
            <a:r>
              <a:rPr lang="en-US" sz="1000" dirty="0" smtClean="0">
                <a:latin typeface="+mj-lt"/>
                <a:cs typeface="Arial" pitchFamily="34" charset="0"/>
              </a:rPr>
              <a:t>C, C++, Java, Swing, AWT, HTML, DHTML</a:t>
            </a:r>
            <a:r>
              <a:rPr lang="en-US" altLang="ja-JP" sz="1000" dirty="0" smtClean="0">
                <a:latin typeface="+mj-lt"/>
                <a:cs typeface="Arial" pitchFamily="34" charset="0"/>
              </a:rPr>
              <a:t> </a:t>
            </a:r>
          </a:p>
          <a:p>
            <a:pPr marL="285750" lvl="1" indent="-285750" fontAlgn="base">
              <a:buClr>
                <a:schemeClr val="tx2"/>
              </a:buClr>
              <a:buSzPct val="120000"/>
            </a:pPr>
            <a:endParaRPr lang="en-US" sz="1000" dirty="0" smtClean="0">
              <a:latin typeface="+mj-lt"/>
              <a:cs typeface="Arial" pitchFamily="34" charset="0"/>
            </a:endParaRPr>
          </a:p>
          <a:p>
            <a:pPr marL="285750" lvl="1" indent="-285750" fontAlgn="base">
              <a:buClr>
                <a:schemeClr val="tx2"/>
              </a:buClr>
              <a:buSzPct val="120000"/>
            </a:pPr>
            <a:endParaRPr lang="en-US" sz="1000" dirty="0">
              <a:latin typeface="+mj-lt"/>
              <a:cs typeface="Arial" pitchFamily="34" charset="0"/>
            </a:endParaRPr>
          </a:p>
        </p:txBody>
      </p:sp>
      <p:sp>
        <p:nvSpPr>
          <p:cNvPr id="32" name="Text Placeholder 2"/>
          <p:cNvSpPr txBox="1">
            <a:spLocks/>
          </p:cNvSpPr>
          <p:nvPr/>
        </p:nvSpPr>
        <p:spPr>
          <a:xfrm>
            <a:off x="349006" y="882501"/>
            <a:ext cx="4173376" cy="1679945"/>
          </a:xfrm>
          <a:prstGeom prst="rect">
            <a:avLst/>
          </a:prstGeom>
          <a:noFill/>
          <a:ln w="9525">
            <a:solidFill>
              <a:schemeClr val="bg2"/>
            </a:solidFill>
            <a:miter lim="800000"/>
            <a:headEnd/>
            <a:tailEnd/>
          </a:ln>
        </p:spPr>
        <p:txBody>
          <a:bodyPr vert="horz" wrap="square" lIns="91440" tIns="548640" rIns="91440" bIns="91440" numCol="1" anchor="t" anchorCtr="0" compatLnSpc="1">
            <a:prstTxWarp prst="textNoShape">
              <a:avLst/>
            </a:prstTxWarp>
            <a:noAutofit/>
          </a:bodyPr>
          <a:lstStyle/>
          <a:p>
            <a:pPr marL="285750" lvl="1" indent="-285750" fontAlgn="base">
              <a:buClr>
                <a:schemeClr val="tx2"/>
              </a:buClr>
              <a:buSzPct val="120000"/>
              <a:buFont typeface="Arial" pitchFamily="34" charset="0"/>
              <a:buChar char="•"/>
            </a:pPr>
            <a:r>
              <a:rPr lang="en-US" sz="1000" dirty="0" smtClean="0">
                <a:latin typeface="+mj-lt"/>
                <a:cs typeface="Arial" pitchFamily="34" charset="0"/>
              </a:rPr>
              <a:t>Remote Monitoring</a:t>
            </a:r>
            <a:r>
              <a:rPr lang="en-US" altLang="ja-JP" sz="1000" dirty="0" smtClean="0">
                <a:cs typeface="Arial" pitchFamily="34" charset="0"/>
              </a:rPr>
              <a:t> of the Power generators thru Internet</a:t>
            </a:r>
            <a:r>
              <a:rPr lang="en-US" sz="1000" dirty="0" smtClean="0">
                <a:latin typeface="+mj-lt"/>
                <a:cs typeface="Arial" pitchFamily="34" charset="0"/>
              </a:rPr>
              <a:t> </a:t>
            </a:r>
          </a:p>
          <a:p>
            <a:pPr marL="742950" lvl="2" indent="-285750" fontAlgn="base">
              <a:buClr>
                <a:schemeClr val="tx2"/>
              </a:buClr>
              <a:buSzPct val="120000"/>
              <a:buFont typeface="Arial" pitchFamily="34" charset="0"/>
              <a:buChar char="•"/>
            </a:pPr>
            <a:r>
              <a:rPr lang="en-US" altLang="ja-JP" sz="1000" dirty="0" smtClean="0">
                <a:cs typeface="Arial" pitchFamily="34" charset="0"/>
              </a:rPr>
              <a:t>Design bridge hardware a to extract required parameters from generator and transfer to server through Ethernet (Internet) using Modem / </a:t>
            </a:r>
            <a:r>
              <a:rPr lang="en-US" altLang="ja-JP" sz="1000" dirty="0" smtClean="0">
                <a:cs typeface="Arial" pitchFamily="34" charset="0"/>
              </a:rPr>
              <a:t>Routers and thru GSM/GPRS</a:t>
            </a:r>
            <a:endParaRPr lang="en-US" altLang="ja-JP" sz="1000" dirty="0" smtClean="0">
              <a:cs typeface="Arial" pitchFamily="34" charset="0"/>
            </a:endParaRPr>
          </a:p>
          <a:p>
            <a:pPr marL="742950" lvl="2" indent="-285750" fontAlgn="base">
              <a:buClr>
                <a:schemeClr val="tx2"/>
              </a:buClr>
              <a:buSzPct val="120000"/>
              <a:buFont typeface="Arial" pitchFamily="34" charset="0"/>
              <a:buChar char="•"/>
            </a:pPr>
            <a:r>
              <a:rPr lang="en-US" altLang="ja-JP" sz="1000" dirty="0" smtClean="0">
                <a:cs typeface="Arial" pitchFamily="34" charset="0"/>
              </a:rPr>
              <a:t>Develop server application with GUI for data analysis, Alert generation and notification to different user levels.</a:t>
            </a:r>
          </a:p>
          <a:p>
            <a:pPr marL="742950" lvl="2" indent="-285750" fontAlgn="base">
              <a:buClr>
                <a:schemeClr val="tx2"/>
              </a:buClr>
              <a:buSzPct val="120000"/>
              <a:buFont typeface="Arial" pitchFamily="34" charset="0"/>
              <a:buChar char="•"/>
            </a:pPr>
            <a:endParaRPr lang="en-US" altLang="ja-JP" sz="1000" dirty="0" smtClean="0">
              <a:cs typeface="Arial" pitchFamily="34" charset="0"/>
            </a:endParaRPr>
          </a:p>
          <a:p>
            <a:pPr marL="742950" lvl="2" indent="-285750" fontAlgn="base">
              <a:buClr>
                <a:schemeClr val="tx2"/>
              </a:buClr>
              <a:buSzPct val="120000"/>
              <a:buFont typeface="Arial" pitchFamily="34" charset="0"/>
              <a:buChar char="•"/>
            </a:pPr>
            <a:endParaRPr lang="en-US" sz="1000" dirty="0" smtClean="0">
              <a:latin typeface="+mj-lt"/>
              <a:cs typeface="Arial" pitchFamily="34" charset="0"/>
            </a:endParaRPr>
          </a:p>
        </p:txBody>
      </p:sp>
      <p:pic>
        <p:nvPicPr>
          <p:cNvPr id="14" name="Picture 41"/>
          <p:cNvPicPr>
            <a:picLocks noChangeAspect="1" noChangeArrowheads="1"/>
          </p:cNvPicPr>
          <p:nvPr/>
        </p:nvPicPr>
        <p:blipFill>
          <a:blip r:embed="rId2"/>
          <a:srcRect/>
          <a:stretch>
            <a:fillRect/>
          </a:stretch>
        </p:blipFill>
        <p:spPr bwMode="auto">
          <a:xfrm>
            <a:off x="4742801" y="3724467"/>
            <a:ext cx="3914312" cy="226069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Mahindra Satyam Corporate Template">
  <a:themeElements>
    <a:clrScheme name="Satyam_New_Template_2009">
      <a:dk1>
        <a:sysClr val="windowText" lastClr="000000"/>
      </a:dk1>
      <a:lt1>
        <a:sysClr val="window" lastClr="FFFFFF"/>
      </a:lt1>
      <a:dk2>
        <a:srgbClr val="C0504D"/>
      </a:dk2>
      <a:lt2>
        <a:srgbClr val="625756"/>
      </a:lt2>
      <a:accent1>
        <a:srgbClr val="E6E3E2"/>
      </a:accent1>
      <a:accent2>
        <a:srgbClr val="A092B4"/>
      </a:accent2>
      <a:accent3>
        <a:srgbClr val="625753"/>
      </a:accent3>
      <a:accent4>
        <a:srgbClr val="BE3A3A"/>
      </a:accent4>
      <a:accent5>
        <a:srgbClr val="FFC000"/>
      </a:accent5>
      <a:accent6>
        <a:srgbClr val="00B050"/>
      </a:accent6>
      <a:hlink>
        <a:srgbClr val="625753"/>
      </a:hlink>
      <a:folHlink>
        <a:srgbClr val="BE3A3A"/>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w="9525">
          <a:noFill/>
          <a:miter lim="800000"/>
          <a:headEnd/>
          <a:tailEnd/>
        </a:ln>
      </a:spPr>
      <a:bodyPr vert="horz" wrap="square" lIns="0" tIns="0" rIns="0" bIns="0" numCol="1" anchor="t" anchorCtr="0" compatLnSpc="1">
        <a:prstTxWarp prst="textNoShape">
          <a:avLst/>
        </a:prstTxWarp>
        <a:spAutoFit/>
      </a:bodyPr>
      <a:lstStyle>
        <a:defPPr fontAlgn="base">
          <a:buFont typeface="Arial" pitchFamily="34" charset="0"/>
          <a:defRPr dirty="0" smtClean="0">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8715D36CCD664C92487F0B78E69BFE" ma:contentTypeVersion="0" ma:contentTypeDescription="Create a new document." ma:contentTypeScope="" ma:versionID="68ba96136a3f689d73eda38406cf5090">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0242C922-48A9-448B-9D31-86F592EABA9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C745C364-CC8C-4BB5-A6B4-50053F8DF331}">
  <ds:schemaRefs>
    <ds:schemaRef ds:uri="http://schemas.microsoft.com/sharepoint/v3/contenttype/forms"/>
  </ds:schemaRefs>
</ds:datastoreItem>
</file>

<file path=customXml/itemProps3.xml><?xml version="1.0" encoding="utf-8"?>
<ds:datastoreItem xmlns:ds="http://schemas.openxmlformats.org/officeDocument/2006/customXml" ds:itemID="{16FD0560-CBEE-498C-8884-72515059B7FB}">
  <ds:schemaRefs>
    <ds:schemaRef ds:uri="http://schemas.microsoft.com/office/2006/documentManagement/types"/>
    <ds:schemaRef ds:uri="http://purl.org/dc/elements/1.1/"/>
    <ds:schemaRef ds:uri="http://purl.org/dc/terms/"/>
    <ds:schemaRef ds:uri="http://purl.org/dc/dcmitype/"/>
    <ds:schemaRef ds:uri="http://www.w3.org/XML/1998/namespace"/>
    <ds:schemaRef ds:uri="http://schemas.microsoft.com/office/2006/metadata/propertie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3736</TotalTime>
  <Words>540</Words>
  <Application>Microsoft Office PowerPoint</Application>
  <PresentationFormat>On-screen Show (4:3)</PresentationFormat>
  <Paragraphs>62</Paragraphs>
  <Slides>2</Slides>
  <Notes>0</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Mahindra Satyam Corporate Template</vt:lpstr>
      <vt:lpstr>Remote Monitoring System</vt:lpstr>
      <vt:lpstr>Remote Monitoring System</vt:lpstr>
    </vt:vector>
  </TitlesOfParts>
  <Company>Mahindra Satyam</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Mahindra Satyam Powerpoint Template</dc:title>
  <dc:creator/>
  <cp:lastModifiedBy>Sekar</cp:lastModifiedBy>
  <cp:revision>453</cp:revision>
  <dcterms:created xsi:type="dcterms:W3CDTF">2008-12-11T11:38:48Z</dcterms:created>
  <dcterms:modified xsi:type="dcterms:W3CDTF">2012-11-06T11:27:12Z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0x010100288715D36CCD664C92487F0B78E69BFE</vt:lpwstr>
  </property>
</Properties>
</file>