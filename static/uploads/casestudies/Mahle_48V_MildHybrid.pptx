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23" r:id="rId4"/>
  </p:sldMasterIdLst>
  <p:notesMasterIdLst>
    <p:notesMasterId r:id="rId11"/>
  </p:notesMasterIdLst>
  <p:handoutMasterIdLst>
    <p:handoutMasterId r:id="rId12"/>
  </p:handoutMasterIdLst>
  <p:sldIdLst>
    <p:sldId id="427" r:id="rId5"/>
    <p:sldId id="431" r:id="rId6"/>
    <p:sldId id="421" r:id="rId7"/>
    <p:sldId id="433" r:id="rId8"/>
    <p:sldId id="436" r:id="rId9"/>
    <p:sldId id="443" r:id="rId1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orient="horz" pos="6">
          <p15:clr>
            <a:srgbClr val="A4A3A4"/>
          </p15:clr>
        </p15:guide>
        <p15:guide id="3" orient="horz" pos="2772">
          <p15:clr>
            <a:srgbClr val="A4A3A4"/>
          </p15:clr>
        </p15:guide>
        <p15:guide id="4" pos="5500">
          <p15:clr>
            <a:srgbClr val="A4A3A4"/>
          </p15:clr>
        </p15:guide>
        <p15:guide id="5" pos="296">
          <p15:clr>
            <a:srgbClr val="A4A3A4"/>
          </p15:clr>
        </p15:guide>
        <p15:guide id="6" orient="horz" pos="3239">
          <p15:clr>
            <a:srgbClr val="A4A3A4"/>
          </p15:clr>
        </p15:guide>
        <p15:guide id="7" pos="3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E1FF"/>
    <a:srgbClr val="B3CDD5"/>
    <a:srgbClr val="FFCCCC"/>
    <a:srgbClr val="FFCC99"/>
    <a:srgbClr val="BDBDFF"/>
    <a:srgbClr val="7DE1DF"/>
    <a:srgbClr val="FFCCFF"/>
    <a:srgbClr val="FED598"/>
    <a:srgbClr val="71DAFF"/>
    <a:srgbClr val="F5A1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8579" autoAdjust="0"/>
  </p:normalViewPr>
  <p:slideViewPr>
    <p:cSldViewPr snapToGrid="0" showGuides="1">
      <p:cViewPr varScale="1">
        <p:scale>
          <a:sx n="98" d="100"/>
          <a:sy n="98" d="100"/>
        </p:scale>
        <p:origin x="588" y="78"/>
      </p:cViewPr>
      <p:guideLst>
        <p:guide orient="horz"/>
        <p:guide orient="horz" pos="6"/>
        <p:guide orient="horz" pos="2772"/>
        <p:guide pos="5500"/>
        <p:guide pos="296"/>
        <p:guide orient="horz" pos="3239"/>
        <p:guide pos="30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snapToGrid="0" showGuides="1">
      <p:cViewPr varScale="1">
        <p:scale>
          <a:sx n="53" d="100"/>
          <a:sy n="53" d="100"/>
        </p:scale>
        <p:origin x="-286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497A77E-3099-4376-AF1E-3DB3B64FF05E}" type="datetimeFigureOut">
              <a:rPr lang="en-IN" smtClean="0"/>
              <a:t>24-07-2019</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95393FC-7572-4134-9B44-EE6BC5751DC4}" type="slidenum">
              <a:rPr lang="en-IN" smtClean="0"/>
              <a:t>‹#›</a:t>
            </a:fld>
            <a:endParaRPr lang="en-IN"/>
          </a:p>
        </p:txBody>
      </p:sp>
    </p:spTree>
    <p:extLst>
      <p:ext uri="{BB962C8B-B14F-4D97-AF65-F5344CB8AC3E}">
        <p14:creationId xmlns:p14="http://schemas.microsoft.com/office/powerpoint/2010/main" val="5945273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3E211-F7A7-4317-892B-28769BDE5747}" type="datetimeFigureOut">
              <a:rPr lang="en-US" smtClean="0"/>
              <a:pPr/>
              <a:t>7/24/2019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3A218D-F311-4799-90C5-974E162849B4}" type="slidenum">
              <a:rPr lang="en-US" smtClean="0"/>
              <a:pPr/>
              <a:t>‹#›</a:t>
            </a:fld>
            <a:endParaRPr lang="en-US" dirty="0"/>
          </a:p>
        </p:txBody>
      </p:sp>
    </p:spTree>
    <p:extLst>
      <p:ext uri="{BB962C8B-B14F-4D97-AF65-F5344CB8AC3E}">
        <p14:creationId xmlns:p14="http://schemas.microsoft.com/office/powerpoint/2010/main" val="982170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8104" cy="5164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2"/>
          <p:cNvSpPr/>
          <p:nvPr userDrawn="1"/>
        </p:nvSpPr>
        <p:spPr>
          <a:xfrm>
            <a:off x="1" y="616527"/>
            <a:ext cx="9143999" cy="4526973"/>
          </a:xfrm>
          <a:custGeom>
            <a:avLst/>
            <a:gdLst>
              <a:gd name="connsiteX0" fmla="*/ 0 w 12176125"/>
              <a:gd name="connsiteY0" fmla="*/ 0 h 3721099"/>
              <a:gd name="connsiteX1" fmla="*/ 12176125 w 12176125"/>
              <a:gd name="connsiteY1" fmla="*/ 0 h 3721099"/>
              <a:gd name="connsiteX2" fmla="*/ 12176125 w 12176125"/>
              <a:gd name="connsiteY2" fmla="*/ 3721099 h 3721099"/>
              <a:gd name="connsiteX3" fmla="*/ 0 w 12176125"/>
              <a:gd name="connsiteY3" fmla="*/ 3721099 h 3721099"/>
              <a:gd name="connsiteX4" fmla="*/ 0 w 12176125"/>
              <a:gd name="connsiteY4" fmla="*/ 0 h 3721099"/>
              <a:gd name="connsiteX0" fmla="*/ 0 w 12176125"/>
              <a:gd name="connsiteY0" fmla="*/ 1553028 h 5274127"/>
              <a:gd name="connsiteX1" fmla="*/ 12176125 w 12176125"/>
              <a:gd name="connsiteY1" fmla="*/ 0 h 5274127"/>
              <a:gd name="connsiteX2" fmla="*/ 12176125 w 12176125"/>
              <a:gd name="connsiteY2" fmla="*/ 5274127 h 5274127"/>
              <a:gd name="connsiteX3" fmla="*/ 0 w 12176125"/>
              <a:gd name="connsiteY3" fmla="*/ 5274127 h 5274127"/>
              <a:gd name="connsiteX4" fmla="*/ 0 w 12176125"/>
              <a:gd name="connsiteY4" fmla="*/ 1553028 h 5274127"/>
              <a:gd name="connsiteX0" fmla="*/ 0 w 12176125"/>
              <a:gd name="connsiteY0" fmla="*/ 2062789 h 5783888"/>
              <a:gd name="connsiteX1" fmla="*/ 12176125 w 12176125"/>
              <a:gd name="connsiteY1" fmla="*/ 509761 h 5783888"/>
              <a:gd name="connsiteX2" fmla="*/ 12176125 w 12176125"/>
              <a:gd name="connsiteY2" fmla="*/ 5783888 h 5783888"/>
              <a:gd name="connsiteX3" fmla="*/ 0 w 12176125"/>
              <a:gd name="connsiteY3" fmla="*/ 5783888 h 5783888"/>
              <a:gd name="connsiteX4" fmla="*/ 0 w 12176125"/>
              <a:gd name="connsiteY4" fmla="*/ 2062789 h 5783888"/>
              <a:gd name="connsiteX0" fmla="*/ 0 w 12176125"/>
              <a:gd name="connsiteY0" fmla="*/ 2309516 h 6030615"/>
              <a:gd name="connsiteX1" fmla="*/ 12176125 w 12176125"/>
              <a:gd name="connsiteY1" fmla="*/ 756488 h 6030615"/>
              <a:gd name="connsiteX2" fmla="*/ 12176125 w 12176125"/>
              <a:gd name="connsiteY2" fmla="*/ 6030615 h 6030615"/>
              <a:gd name="connsiteX3" fmla="*/ 0 w 12176125"/>
              <a:gd name="connsiteY3" fmla="*/ 6030615 h 6030615"/>
              <a:gd name="connsiteX4" fmla="*/ 0 w 12176125"/>
              <a:gd name="connsiteY4" fmla="*/ 2309516 h 6030615"/>
              <a:gd name="connsiteX0" fmla="*/ 0 w 12176125"/>
              <a:gd name="connsiteY0" fmla="*/ 2277268 h 5998367"/>
              <a:gd name="connsiteX1" fmla="*/ 12176125 w 12176125"/>
              <a:gd name="connsiteY1" fmla="*/ 724240 h 5998367"/>
              <a:gd name="connsiteX2" fmla="*/ 12176125 w 12176125"/>
              <a:gd name="connsiteY2" fmla="*/ 5998367 h 5998367"/>
              <a:gd name="connsiteX3" fmla="*/ 0 w 12176125"/>
              <a:gd name="connsiteY3" fmla="*/ 5998367 h 5998367"/>
              <a:gd name="connsiteX4" fmla="*/ 0 w 12176125"/>
              <a:gd name="connsiteY4" fmla="*/ 2277268 h 5998367"/>
              <a:gd name="connsiteX0" fmla="*/ 0 w 12176125"/>
              <a:gd name="connsiteY0" fmla="*/ 2315966 h 6037065"/>
              <a:gd name="connsiteX1" fmla="*/ 12176125 w 12176125"/>
              <a:gd name="connsiteY1" fmla="*/ 762938 h 6037065"/>
              <a:gd name="connsiteX2" fmla="*/ 12176125 w 12176125"/>
              <a:gd name="connsiteY2" fmla="*/ 6037065 h 6037065"/>
              <a:gd name="connsiteX3" fmla="*/ 0 w 12176125"/>
              <a:gd name="connsiteY3" fmla="*/ 6037065 h 6037065"/>
              <a:gd name="connsiteX4" fmla="*/ 0 w 12176125"/>
              <a:gd name="connsiteY4" fmla="*/ 2315966 h 6037065"/>
              <a:gd name="connsiteX0" fmla="*/ 0 w 12176125"/>
              <a:gd name="connsiteY0" fmla="*/ 2283717 h 6004816"/>
              <a:gd name="connsiteX1" fmla="*/ 12176125 w 12176125"/>
              <a:gd name="connsiteY1" fmla="*/ 730689 h 6004816"/>
              <a:gd name="connsiteX2" fmla="*/ 12176125 w 12176125"/>
              <a:gd name="connsiteY2" fmla="*/ 6004816 h 6004816"/>
              <a:gd name="connsiteX3" fmla="*/ 0 w 12176125"/>
              <a:gd name="connsiteY3" fmla="*/ 6004816 h 6004816"/>
              <a:gd name="connsiteX4" fmla="*/ 0 w 12176125"/>
              <a:gd name="connsiteY4" fmla="*/ 2283717 h 6004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76125" h="6004816">
                <a:moveTo>
                  <a:pt x="0" y="2283717"/>
                </a:moveTo>
                <a:cubicBezTo>
                  <a:pt x="2723393" y="271069"/>
                  <a:pt x="7652960" y="-812664"/>
                  <a:pt x="12176125" y="730689"/>
                </a:cubicBezTo>
                <a:lnTo>
                  <a:pt x="12176125" y="6004816"/>
                </a:lnTo>
                <a:lnTo>
                  <a:pt x="0" y="6004816"/>
                </a:lnTo>
                <a:lnTo>
                  <a:pt x="0" y="2283717"/>
                </a:lnTo>
                <a:close/>
              </a:path>
            </a:pathLst>
          </a:custGeom>
          <a:solidFill>
            <a:schemeClr val="tx1">
              <a:alpha val="70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Slide Number Placeholder 5"/>
          <p:cNvSpPr txBox="1">
            <a:spLocks/>
          </p:cNvSpPr>
          <p:nvPr/>
        </p:nvSpPr>
        <p:spPr bwMode="auto">
          <a:xfrm>
            <a:off x="8822457" y="4941274"/>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smtClean="0">
                <a:solidFill>
                  <a:srgbClr val="6D6E71"/>
                </a:solidFill>
                <a:cs typeface="Arial" pitchFamily="34" charset="0"/>
              </a:rPr>
              <a:pPr algn="r">
                <a:defRPr/>
              </a:pPr>
              <a:t>‹#›</a:t>
            </a:fld>
            <a:endParaRPr lang="en-US" sz="1000" dirty="0">
              <a:solidFill>
                <a:srgbClr val="6D6E71"/>
              </a:solidFill>
              <a:cs typeface="Arial" pitchFamily="34" charset="0"/>
            </a:endParaRPr>
          </a:p>
        </p:txBody>
      </p:sp>
      <p:pic>
        <p:nvPicPr>
          <p:cNvPr id="8" name="Picture 7" descr="ridge4.png"/>
          <p:cNvPicPr>
            <a:picLocks noChangeAspect="1"/>
          </p:cNvPicPr>
          <p:nvPr userDrawn="1"/>
        </p:nvPicPr>
        <p:blipFill>
          <a:blip r:embed="rId3"/>
          <a:stretch>
            <a:fillRect/>
          </a:stretch>
        </p:blipFill>
        <p:spPr bwMode="ltGray">
          <a:xfrm>
            <a:off x="802" y="0"/>
            <a:ext cx="3390901" cy="1233055"/>
          </a:xfrm>
          <a:prstGeom prst="rect">
            <a:avLst/>
          </a:prstGeom>
        </p:spPr>
      </p:pic>
      <p:pic>
        <p:nvPicPr>
          <p:cNvPr id="9" name="Picture 8" descr="Mahindra Logo.png"/>
          <p:cNvPicPr>
            <a:picLocks noChangeAspect="1"/>
          </p:cNvPicPr>
          <p:nvPr userDrawn="1"/>
        </p:nvPicPr>
        <p:blipFill>
          <a:blip r:embed="rId4">
            <a:biLevel thresh="25000"/>
          </a:blip>
          <a:stretch>
            <a:fillRect/>
          </a:stretch>
        </p:blipFill>
        <p:spPr bwMode="gray">
          <a:xfrm>
            <a:off x="7024254" y="476643"/>
            <a:ext cx="1683183" cy="464809"/>
          </a:xfrm>
          <a:prstGeom prst="rect">
            <a:avLst/>
          </a:prstGeom>
        </p:spPr>
      </p:pic>
    </p:spTree>
    <p:extLst>
      <p:ext uri="{BB962C8B-B14F-4D97-AF65-F5344CB8AC3E}">
        <p14:creationId xmlns:p14="http://schemas.microsoft.com/office/powerpoint/2010/main" val="39159912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13" y="3040276"/>
            <a:ext cx="5511800" cy="207749"/>
          </a:xfrm>
        </p:spPr>
        <p:txBody>
          <a:bodyPr anchor="b" anchorCtr="0">
            <a:noAutofit/>
          </a:bodyPr>
          <a:lstStyle>
            <a:lvl1pPr marL="0" indent="0" algn="l">
              <a:buNone/>
              <a:defRPr b="1">
                <a:solidFill>
                  <a:schemeClr val="tx2"/>
                </a:solidFill>
                <a:latin typeface="Century Gothic"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27213" y="1638300"/>
            <a:ext cx="5511800" cy="1231106"/>
          </a:xfrm>
        </p:spPr>
        <p:txBody>
          <a:bodyPr wrap="square">
            <a:spAutoFit/>
          </a:bodyPr>
          <a:lstStyle>
            <a:lvl1pPr algn="l">
              <a:defRPr sz="4000" b="1">
                <a:solidFill>
                  <a:schemeClr val="bg2"/>
                </a:solidFill>
                <a:latin typeface="Century Gothic" pitchFamily="34" charset="0"/>
                <a:cs typeface="Arial" pitchFamily="34" charset="0"/>
              </a:defRPr>
            </a:lvl1pPr>
          </a:lstStyle>
          <a:p>
            <a:r>
              <a:rPr lang="en-US" dirty="0" smtClean="0"/>
              <a:t>Click to Edit Master Title Style</a:t>
            </a:r>
            <a:endParaRPr lang="en-US" dirty="0"/>
          </a:p>
        </p:txBody>
      </p:sp>
      <p:pic>
        <p:nvPicPr>
          <p:cNvPr id="6" name="Picture 5" descr="ridge4.png"/>
          <p:cNvPicPr>
            <a:picLocks noChangeAspect="1"/>
          </p:cNvPicPr>
          <p:nvPr userDrawn="1"/>
        </p:nvPicPr>
        <p:blipFill>
          <a:blip r:embed="rId2"/>
          <a:stretch>
            <a:fillRect/>
          </a:stretch>
        </p:blipFill>
        <p:spPr bwMode="ltGray">
          <a:xfrm>
            <a:off x="802" y="0"/>
            <a:ext cx="3390901" cy="1233055"/>
          </a:xfrm>
          <a:prstGeom prst="rect">
            <a:avLst/>
          </a:prstGeom>
        </p:spPr>
      </p:pic>
      <p:pic>
        <p:nvPicPr>
          <p:cNvPr id="7" name="Picture 6" descr="Mahindra Logo.png"/>
          <p:cNvPicPr>
            <a:picLocks noChangeAspect="1"/>
          </p:cNvPicPr>
          <p:nvPr userDrawn="1"/>
        </p:nvPicPr>
        <p:blipFill>
          <a:blip r:embed="rId3"/>
          <a:stretch>
            <a:fillRect/>
          </a:stretch>
        </p:blipFill>
        <p:spPr bwMode="gray">
          <a:xfrm>
            <a:off x="7024254" y="476643"/>
            <a:ext cx="1683183" cy="464809"/>
          </a:xfrm>
          <a:prstGeom prst="rect">
            <a:avLst/>
          </a:prstGeom>
        </p:spPr>
      </p:pic>
    </p:spTree>
    <p:extLst>
      <p:ext uri="{BB962C8B-B14F-4D97-AF65-F5344CB8AC3E}">
        <p14:creationId xmlns:p14="http://schemas.microsoft.com/office/powerpoint/2010/main" val="20611354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with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81013" y="539353"/>
            <a:ext cx="8224837"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
        <p:nvSpPr>
          <p:cNvPr id="3" name="Text Placeholder 4"/>
          <p:cNvSpPr>
            <a:spLocks noGrp="1"/>
          </p:cNvSpPr>
          <p:nvPr>
            <p:ph type="body" sz="quarter" idx="10" hasCustomPrompt="1"/>
          </p:nvPr>
        </p:nvSpPr>
        <p:spPr bwMode="gray">
          <a:xfrm>
            <a:off x="481012" y="1478757"/>
            <a:ext cx="8224838"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Century Gothic"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Century Gothic"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Century Gothic"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p:ph type="body" sz="quarter" idx="13" hasCustomPrompt="1"/>
          </p:nvPr>
        </p:nvSpPr>
        <p:spPr bwMode="gray">
          <a:xfrm>
            <a:off x="481012" y="859318"/>
            <a:ext cx="8224838" cy="246221"/>
          </a:xfrm>
        </p:spPr>
        <p:txBody>
          <a:bodyPr/>
          <a:lstStyle>
            <a:lvl1pPr marL="0" indent="0">
              <a:buNone/>
              <a:defRPr sz="1600" b="0">
                <a:solidFill>
                  <a:schemeClr val="bg2"/>
                </a:solidFill>
                <a:latin typeface="Century Gothic" pitchFamily="34" charset="0"/>
                <a:cs typeface="Arial"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6876349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arge audience">
    <p:spTree>
      <p:nvGrpSpPr>
        <p:cNvPr id="1" name=""/>
        <p:cNvGrpSpPr/>
        <p:nvPr/>
      </p:nvGrpSpPr>
      <p:grpSpPr>
        <a:xfrm>
          <a:off x="0" y="0"/>
          <a:ext cx="0" cy="0"/>
          <a:chOff x="0" y="0"/>
          <a:chExt cx="0" cy="0"/>
        </a:xfrm>
      </p:grpSpPr>
      <p:sp>
        <p:nvSpPr>
          <p:cNvPr id="3" name="Title 1"/>
          <p:cNvSpPr>
            <a:spLocks noGrp="1"/>
          </p:cNvSpPr>
          <p:nvPr>
            <p:ph type="title" hasCustomPrompt="1"/>
          </p:nvPr>
        </p:nvSpPr>
        <p:spPr bwMode="gray">
          <a:xfrm>
            <a:off x="481013" y="545306"/>
            <a:ext cx="8226425" cy="276999"/>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1800" b="0" kern="1200" dirty="0">
                <a:solidFill>
                  <a:schemeClr val="tx2"/>
                </a:solidFill>
                <a:latin typeface="Century Gothic"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
        <p:nvSpPr>
          <p:cNvPr id="4" name="Text Placeholder 4"/>
          <p:cNvSpPr>
            <a:spLocks noGrp="1"/>
          </p:cNvSpPr>
          <p:nvPr>
            <p:ph type="body" sz="quarter" idx="10" hasCustomPrompt="1"/>
          </p:nvPr>
        </p:nvSpPr>
        <p:spPr bwMode="gray">
          <a:xfrm>
            <a:off x="481012" y="1478757"/>
            <a:ext cx="8224838" cy="1538883"/>
          </a:xfrm>
        </p:spPr>
        <p:txBody>
          <a:bodyPr wrap="square">
            <a:spAutoFit/>
          </a:bodyPr>
          <a:lstStyle>
            <a:lvl1pPr>
              <a:spcBef>
                <a:spcPts val="0"/>
              </a:spcBef>
              <a:spcAft>
                <a:spcPts val="0"/>
              </a:spcAft>
              <a:defRPr lang="en-US" sz="2000" b="0" kern="1200" baseline="0" dirty="0" smtClean="0">
                <a:solidFill>
                  <a:schemeClr val="tx1"/>
                </a:solidFill>
                <a:latin typeface="Century Gothic"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000" b="0" kern="1200" baseline="0" dirty="0" smtClean="0">
                <a:solidFill>
                  <a:schemeClr val="tx1"/>
                </a:solidFill>
                <a:latin typeface="Century Gothic" pitchFamily="34" charset="0"/>
                <a:ea typeface="+mn-ea"/>
                <a:cs typeface="Arial" pitchFamily="34" charset="0"/>
              </a:defRPr>
            </a:lvl3pPr>
            <a:lvl4pPr>
              <a:spcBef>
                <a:spcPts val="0"/>
              </a:spcBef>
              <a:spcAft>
                <a:spcPts val="0"/>
              </a:spcAft>
              <a:buClr>
                <a:schemeClr val="bg2"/>
              </a:buClr>
              <a:defRPr lang="en-US" sz="2000" b="0" kern="1200" baseline="0" dirty="0" smtClean="0">
                <a:solidFill>
                  <a:schemeClr val="tx1"/>
                </a:solidFill>
                <a:latin typeface="Century Gothic" pitchFamily="34" charset="0"/>
                <a:ea typeface="+mn-ea"/>
                <a:cs typeface="Arial" pitchFamily="34" charset="0"/>
              </a:defRPr>
            </a:lvl4pPr>
            <a:lvl5pPr>
              <a:spcBef>
                <a:spcPts val="0"/>
              </a:spcBef>
              <a:spcAft>
                <a:spcPts val="0"/>
              </a:spcAft>
              <a:buClr>
                <a:schemeClr val="bg2"/>
              </a:buClr>
              <a:defRPr lang="en-US" sz="2000" b="0" kern="1200" baseline="0" dirty="0" smtClean="0">
                <a:solidFill>
                  <a:schemeClr val="tx1"/>
                </a:solidFill>
                <a:latin typeface="Century Gothic"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000" kern="1200" dirty="0" smtClean="0">
                <a:solidFill>
                  <a:schemeClr val="tx1"/>
                </a:solidFill>
                <a:latin typeface="Century Gothic"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extLst>
      <p:ext uri="{BB962C8B-B14F-4D97-AF65-F5344CB8AC3E}">
        <p14:creationId xmlns:p14="http://schemas.microsoft.com/office/powerpoint/2010/main" val="40898106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366838" y="1145471"/>
            <a:ext cx="6729984" cy="369332"/>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2400" b="1" kern="1200" dirty="0">
                <a:solidFill>
                  <a:schemeClr val="tx2"/>
                </a:solidFill>
                <a:latin typeface="Century Gothic"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smtClean="0"/>
              <a:t>Thank you.</a:t>
            </a:r>
            <a:endParaRPr lang="en-US" dirty="0"/>
          </a:p>
        </p:txBody>
      </p:sp>
      <p:sp>
        <p:nvSpPr>
          <p:cNvPr id="9" name="TextBox 8"/>
          <p:cNvSpPr txBox="1">
            <a:spLocks noChangeArrowheads="1"/>
          </p:cNvSpPr>
          <p:nvPr/>
        </p:nvSpPr>
        <p:spPr bwMode="gray">
          <a:xfrm>
            <a:off x="1366840" y="2069920"/>
            <a:ext cx="6754811" cy="2723823"/>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smtClean="0">
                <a:solidFill>
                  <a:srgbClr val="6D6E71"/>
                </a:solidFill>
                <a:latin typeface="Century Gothic" pitchFamily="34" charset="0"/>
                <a:cs typeface="Arial" pitchFamily="34" charset="0"/>
              </a:rPr>
              <a:t>Disclaimer </a:t>
            </a:r>
          </a:p>
          <a:p>
            <a:pPr algn="just">
              <a:spcBef>
                <a:spcPts val="600"/>
              </a:spcBef>
            </a:pPr>
            <a:r>
              <a:rPr lang="en-US" sz="900" dirty="0" smtClean="0">
                <a:solidFill>
                  <a:srgbClr val="6D6E71"/>
                </a:solidFill>
                <a:latin typeface="Century Gothic" pitchFamily="34" charset="0"/>
                <a:cs typeface="Arial" pitchFamily="34" charset="0"/>
              </a:rPr>
              <a:t>Tech Mahindra Limited, herein referred to as </a:t>
            </a:r>
            <a:r>
              <a:rPr lang="en-US" sz="900" dirty="0" err="1" smtClean="0">
                <a:solidFill>
                  <a:srgbClr val="6D6E71"/>
                </a:solidFill>
                <a:latin typeface="Century Gothic" pitchFamily="34" charset="0"/>
                <a:cs typeface="Arial" pitchFamily="34" charset="0"/>
              </a:rPr>
              <a:t>TechM</a:t>
            </a:r>
            <a:r>
              <a:rPr lang="en-US" sz="900" dirty="0" smtClean="0">
                <a:solidFill>
                  <a:srgbClr val="6D6E71"/>
                </a:solidFill>
                <a:latin typeface="Century Gothic" pitchFamily="34" charset="0"/>
                <a:cs typeface="Arial" pitchFamily="34" charset="0"/>
              </a:rPr>
              <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US" sz="900" dirty="0" err="1" smtClean="0">
                <a:solidFill>
                  <a:srgbClr val="6D6E71"/>
                </a:solidFill>
                <a:latin typeface="Century Gothic" pitchFamily="34" charset="0"/>
                <a:cs typeface="Arial" pitchFamily="34" charset="0"/>
              </a:rPr>
              <a:t>TechM</a:t>
            </a:r>
            <a:r>
              <a:rPr lang="en-US" sz="900" dirty="0" smtClean="0">
                <a:solidFill>
                  <a:srgbClr val="6D6E71"/>
                </a:solidFill>
                <a:latin typeface="Century Gothic" pitchFamily="34" charset="0"/>
                <a:cs typeface="Arial" pitchFamily="34" charset="0"/>
              </a:rPr>
              <a:t> or its subsidiaries. Any unauthorized use, disclosure or public dissemination of information contained herein is prohibited. Unless specifically noted, </a:t>
            </a:r>
            <a:r>
              <a:rPr lang="en-US" sz="900" dirty="0" err="1" smtClean="0">
                <a:solidFill>
                  <a:srgbClr val="6D6E71"/>
                </a:solidFill>
                <a:latin typeface="Century Gothic" pitchFamily="34" charset="0"/>
                <a:cs typeface="Arial" pitchFamily="34" charset="0"/>
              </a:rPr>
              <a:t>TechM</a:t>
            </a:r>
            <a:r>
              <a:rPr lang="en-US" sz="900" dirty="0" smtClean="0">
                <a:solidFill>
                  <a:srgbClr val="6D6E71"/>
                </a:solidFill>
                <a:latin typeface="Century Gothic" pitchFamily="34" charset="0"/>
                <a:cs typeface="Arial" pitchFamily="34" charset="0"/>
              </a:rPr>
              <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US" sz="900" dirty="0" err="1" smtClean="0">
                <a:solidFill>
                  <a:srgbClr val="6D6E71"/>
                </a:solidFill>
                <a:latin typeface="Century Gothic" pitchFamily="34" charset="0"/>
                <a:cs typeface="Arial" pitchFamily="34" charset="0"/>
              </a:rPr>
              <a:t>TechM</a:t>
            </a:r>
            <a:r>
              <a:rPr lang="en-US" sz="900" dirty="0" smtClean="0">
                <a:solidFill>
                  <a:srgbClr val="6D6E71"/>
                </a:solidFill>
                <a:latin typeface="Century Gothic" pitchFamily="34" charset="0"/>
                <a:cs typeface="Arial" pitchFamily="34" charset="0"/>
              </a:rPr>
              <a:t>. Information contained in a presentation hosted or promoted by </a:t>
            </a:r>
            <a:r>
              <a:rPr lang="en-US" sz="900" dirty="0" err="1" smtClean="0">
                <a:solidFill>
                  <a:srgbClr val="6D6E71"/>
                </a:solidFill>
                <a:latin typeface="Century Gothic" pitchFamily="34" charset="0"/>
                <a:cs typeface="Arial" pitchFamily="34" charset="0"/>
              </a:rPr>
              <a:t>TechM</a:t>
            </a:r>
            <a:r>
              <a:rPr lang="en-US" sz="900" dirty="0" smtClean="0">
                <a:solidFill>
                  <a:srgbClr val="6D6E71"/>
                </a:solidFill>
                <a:latin typeface="Century Gothic" pitchFamily="34" charset="0"/>
                <a:cs typeface="Arial" pitchFamily="34" charset="0"/>
              </a:rPr>
              <a:t> is provided “as is” without warranty of any kind, either expressed or implied, including any warranty of merchantability or fitness for a particular purpose. </a:t>
            </a:r>
            <a:r>
              <a:rPr lang="en-US" sz="900" dirty="0" err="1" smtClean="0">
                <a:solidFill>
                  <a:srgbClr val="6D6E71"/>
                </a:solidFill>
                <a:latin typeface="Century Gothic" pitchFamily="34" charset="0"/>
                <a:cs typeface="Arial" pitchFamily="34" charset="0"/>
              </a:rPr>
              <a:t>TechM</a:t>
            </a:r>
            <a:r>
              <a:rPr lang="en-US" sz="900" dirty="0" smtClean="0">
                <a:solidFill>
                  <a:srgbClr val="6D6E71"/>
                </a:solidFill>
                <a:latin typeface="Century Gothic" pitchFamily="34" charset="0"/>
                <a:cs typeface="Arial" pitchFamily="34" charset="0"/>
              </a:rPr>
              <a:t> 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hasCustomPrompt="1"/>
          </p:nvPr>
        </p:nvSpPr>
        <p:spPr bwMode="gray">
          <a:xfrm>
            <a:off x="1366839" y="1470041"/>
            <a:ext cx="6734627"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Century Gothic" pitchFamily="34" charset="0"/>
                <a:ea typeface="+mn-ea"/>
                <a:cs typeface="Arial" pitchFamily="34" charset="0"/>
              </a:defRPr>
            </a:lvl1pPr>
          </a:lstStyle>
          <a:p>
            <a:pPr lvl="0"/>
            <a:r>
              <a:rPr lang="en-US" dirty="0" smtClean="0"/>
              <a:t>www.techmahindra.com</a:t>
            </a:r>
          </a:p>
        </p:txBody>
      </p:sp>
    </p:spTree>
    <p:extLst>
      <p:ext uri="{BB962C8B-B14F-4D97-AF65-F5344CB8AC3E}">
        <p14:creationId xmlns:p14="http://schemas.microsoft.com/office/powerpoint/2010/main" val="2604283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Ridge.pdf"/>
          <p:cNvPicPr>
            <a:picLocks noChangeAspect="1"/>
          </p:cNvPicPr>
          <p:nvPr userDrawn="1"/>
        </p:nvPicPr>
        <p:blipFill>
          <a:blip r:embed="rId7"/>
          <a:stretch>
            <a:fillRect/>
          </a:stretch>
        </p:blipFill>
        <p:spPr bwMode="ltGray">
          <a:xfrm>
            <a:off x="459" y="0"/>
            <a:ext cx="1994596" cy="725308"/>
          </a:xfrm>
          <a:prstGeom prst="rect">
            <a:avLst/>
          </a:prstGeom>
        </p:spPr>
      </p:pic>
      <p:sp>
        <p:nvSpPr>
          <p:cNvPr id="2" name="Title Placeholder 1"/>
          <p:cNvSpPr>
            <a:spLocks noGrp="1"/>
          </p:cNvSpPr>
          <p:nvPr>
            <p:ph type="title"/>
          </p:nvPr>
        </p:nvSpPr>
        <p:spPr>
          <a:xfrm>
            <a:off x="468314" y="557150"/>
            <a:ext cx="8212137"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dirty="0" smtClean="0"/>
              <a:t>CLICK TO EDIT MASTER TITLE STYLE</a:t>
            </a:r>
            <a:endParaRPr lang="en-US" dirty="0"/>
          </a:p>
        </p:txBody>
      </p:sp>
      <p:sp>
        <p:nvSpPr>
          <p:cNvPr id="3" name="Text Placeholder 2"/>
          <p:cNvSpPr>
            <a:spLocks noGrp="1"/>
          </p:cNvSpPr>
          <p:nvPr>
            <p:ph type="body" idx="1"/>
          </p:nvPr>
        </p:nvSpPr>
        <p:spPr>
          <a:xfrm>
            <a:off x="481014" y="1478756"/>
            <a:ext cx="8212137"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marL="571500" marR="0" lvl="2" indent="-279400" algn="l" defTabSz="9144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smtClean="0"/>
              <a:t>First level</a:t>
            </a:r>
          </a:p>
          <a:p>
            <a:pPr lvl="3"/>
            <a:r>
              <a:rPr lang="en-US" dirty="0" smtClean="0"/>
              <a:t>Second level</a:t>
            </a:r>
          </a:p>
          <a:p>
            <a:pPr lvl="4"/>
            <a:r>
              <a:rPr lang="en-US" dirty="0" smtClean="0"/>
              <a:t>Third level</a:t>
            </a:r>
          </a:p>
          <a:p>
            <a:pPr lvl="5"/>
            <a:r>
              <a:rPr lang="en-US" dirty="0" smtClean="0"/>
              <a:t>Fifth level</a:t>
            </a:r>
            <a:endParaRPr lang="en-US" dirty="0"/>
          </a:p>
        </p:txBody>
      </p:sp>
      <p:sp>
        <p:nvSpPr>
          <p:cNvPr id="9" name="Slide Number Placeholder 5"/>
          <p:cNvSpPr txBox="1">
            <a:spLocks/>
          </p:cNvSpPr>
          <p:nvPr/>
        </p:nvSpPr>
        <p:spPr bwMode="auto">
          <a:xfrm>
            <a:off x="8822457" y="4941274"/>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smtClean="0">
                <a:solidFill>
                  <a:srgbClr val="6D6E71"/>
                </a:solidFill>
                <a:latin typeface="Century Gothic" pitchFamily="34" charset="0"/>
                <a:cs typeface="Arial" pitchFamily="34" charset="0"/>
              </a:rPr>
              <a:pPr algn="r">
                <a:defRPr/>
              </a:pPr>
              <a:t>‹#›</a:t>
            </a:fld>
            <a:endParaRPr lang="en-US" sz="1000" dirty="0">
              <a:solidFill>
                <a:srgbClr val="6D6E71"/>
              </a:solidFill>
              <a:latin typeface="Century Gothic" pitchFamily="34" charset="0"/>
              <a:cs typeface="Arial" pitchFamily="34" charset="0"/>
            </a:endParaRPr>
          </a:p>
        </p:txBody>
      </p:sp>
      <p:sp>
        <p:nvSpPr>
          <p:cNvPr id="7" name="TextBox 20"/>
          <p:cNvSpPr txBox="1">
            <a:spLocks noChangeArrowheads="1"/>
          </p:cNvSpPr>
          <p:nvPr/>
        </p:nvSpPr>
        <p:spPr bwMode="gray">
          <a:xfrm>
            <a:off x="481013" y="4972051"/>
            <a:ext cx="2580835" cy="123111"/>
          </a:xfrm>
          <a:prstGeom prst="rect">
            <a:avLst/>
          </a:prstGeom>
          <a:noFill/>
          <a:ln w="9525">
            <a:noFill/>
            <a:miter lim="800000"/>
            <a:headEnd/>
            <a:tailEnd/>
          </a:ln>
        </p:spPr>
        <p:txBody>
          <a:bodyPr wrap="none" lIns="0" tIns="0" rIns="0" bIns="0">
            <a:spAutoFit/>
          </a:bodyPr>
          <a:lstStyle/>
          <a:p>
            <a:pPr>
              <a:defRPr/>
            </a:pPr>
            <a:r>
              <a:rPr lang="en-US" sz="800" dirty="0" smtClean="0">
                <a:solidFill>
                  <a:srgbClr val="6D6E71"/>
                </a:solidFill>
                <a:latin typeface="Century Gothic" pitchFamily="34" charset="0"/>
                <a:cs typeface="Arial" pitchFamily="34" charset="0"/>
              </a:rPr>
              <a:t>Copyright © 2017 Tech Mahindra. All rights reserved.</a:t>
            </a:r>
            <a:endParaRPr lang="en-US" sz="800" dirty="0">
              <a:solidFill>
                <a:srgbClr val="6D6E71"/>
              </a:solidFill>
              <a:latin typeface="Century Gothic" pitchFamily="34" charset="0"/>
              <a:cs typeface="Arial" pitchFamily="34" charset="0"/>
            </a:endParaRPr>
          </a:p>
        </p:txBody>
      </p:sp>
    </p:spTree>
    <p:extLst>
      <p:ext uri="{BB962C8B-B14F-4D97-AF65-F5344CB8AC3E}">
        <p14:creationId xmlns:p14="http://schemas.microsoft.com/office/powerpoint/2010/main" val="1455783860"/>
      </p:ext>
    </p:extLst>
  </p:cSld>
  <p:clrMap bg1="lt1" tx1="dk1" bg2="lt2" tx2="dk2" accent1="accent1" accent2="accent2" accent3="accent3" accent4="accent4" accent5="accent5" accent6="accent6" hlink="hlink" folHlink="folHlink"/>
  <p:sldLayoutIdLst>
    <p:sldLayoutId id="2147484024" r:id="rId1"/>
    <p:sldLayoutId id="2147484025" r:id="rId2"/>
    <p:sldLayoutId id="2147484027" r:id="rId3"/>
    <p:sldLayoutId id="2147484028" r:id="rId4"/>
    <p:sldLayoutId id="2147484037" r:id="rId5"/>
  </p:sldLayoutIdLst>
  <mc:AlternateContent xmlns:mc="http://schemas.openxmlformats.org/markup-compatibility/2006" xmlns:p14="http://schemas.microsoft.com/office/powerpoint/2010/main">
    <mc:Choice Requires="p14">
      <p:transition p14:dur="0"/>
    </mc:Choice>
    <mc:Fallback xmlns="">
      <p:transition/>
    </mc:Fallback>
  </mc:AlternateContent>
  <p:txStyles>
    <p:titleStyle>
      <a:lvl1pPr algn="l" defTabSz="914400" rtl="0" eaLnBrk="1" latinLnBrk="0" hangingPunct="1">
        <a:spcBef>
          <a:spcPct val="0"/>
        </a:spcBef>
        <a:buNone/>
        <a:defRPr lang="en-US" sz="1800" b="0" kern="1200" dirty="0" smtClean="0">
          <a:solidFill>
            <a:schemeClr val="tx2"/>
          </a:solidFill>
          <a:latin typeface="Century Gothic" pitchFamily="34" charset="0"/>
          <a:ea typeface="+mj-ea"/>
          <a:cs typeface="Arial" pitchFamily="34" charset="0"/>
        </a:defRPr>
      </a:lvl1pPr>
    </p:titleStyle>
    <p:bodyStyle>
      <a:lvl1pPr marL="290513" indent="-290513" algn="l" defTabSz="91440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Century Gothic"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Century Gothic"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Century Gothic"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Century Gothic"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Century Gothic"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957262" y="4643850"/>
            <a:ext cx="810844" cy="184666"/>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p>
            <a:pPr marL="0" marR="0" lvl="0" indent="0" algn="ctr" defTabSz="914400" rtl="0" eaLnBrk="1" fontAlgn="base" latinLnBrk="0" hangingPunct="1">
              <a:lnSpc>
                <a:spcPct val="100000"/>
              </a:lnSpc>
              <a:spcBef>
                <a:spcPts val="0"/>
              </a:spcBef>
              <a:spcAft>
                <a:spcPts val="0"/>
              </a:spcAft>
              <a:buClr>
                <a:srgbClr val="6D6E71"/>
              </a:buClr>
              <a:buSzTx/>
              <a:buFontTx/>
              <a:buNone/>
              <a:tabLst/>
              <a:defRPr/>
            </a:pPr>
            <a:r>
              <a:rPr kumimoji="0" lang="en-US" sz="1200" b="0" i="0" u="none" strike="noStrike" kern="1200" cap="none" spc="0" normalizeH="0" baseline="0" noProof="0" dirty="0" smtClean="0">
                <a:ln>
                  <a:noFill/>
                </a:ln>
                <a:solidFill>
                  <a:prstClr val="white"/>
                </a:solidFill>
                <a:effectLst/>
                <a:uLnTx/>
                <a:uFillTx/>
                <a:latin typeface="Century Gothic" pitchFamily="34" charset="0"/>
                <a:ea typeface="+mn-ea"/>
                <a:cs typeface="+mn-cs"/>
              </a:rPr>
              <a:t>2018</a:t>
            </a:r>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r="41900"/>
          <a:stretch/>
        </p:blipFill>
        <p:spPr>
          <a:xfrm>
            <a:off x="3592684" y="2621700"/>
            <a:ext cx="5551316" cy="1247776"/>
          </a:xfrm>
          <a:prstGeom prst="rect">
            <a:avLst/>
          </a:prstGeom>
        </p:spPr>
      </p:pic>
      <p:sp>
        <p:nvSpPr>
          <p:cNvPr id="10" name="Rectangle 9"/>
          <p:cNvSpPr/>
          <p:nvPr/>
        </p:nvSpPr>
        <p:spPr>
          <a:xfrm>
            <a:off x="3592684" y="2096827"/>
            <a:ext cx="5551316" cy="1177636"/>
          </a:xfrm>
          <a:prstGeom prst="rect">
            <a:avLst/>
          </a:prstGeom>
          <a:solidFill>
            <a:schemeClr val="tx2">
              <a:lumMod val="75000"/>
              <a:alpha val="50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Rectangle 10"/>
          <p:cNvSpPr/>
          <p:nvPr/>
        </p:nvSpPr>
        <p:spPr>
          <a:xfrm>
            <a:off x="3487620" y="2096827"/>
            <a:ext cx="73631" cy="1177636"/>
          </a:xfrm>
          <a:prstGeom prst="rect">
            <a:avLst/>
          </a:prstGeom>
          <a:solidFill>
            <a:schemeClr val="bg2">
              <a:alpha val="95000"/>
            </a:schemeClr>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8" name="Picture 2"/>
          <p:cNvPicPr>
            <a:picLocks noChangeAspect="1" noChangeArrowheads="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7606" t="45288" r="7628" b="47697"/>
          <a:stretch/>
        </p:blipFill>
        <p:spPr bwMode="auto">
          <a:xfrm>
            <a:off x="417079" y="4374638"/>
            <a:ext cx="3609326" cy="422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feld 1"/>
          <p:cNvSpPr txBox="1"/>
          <p:nvPr/>
        </p:nvSpPr>
        <p:spPr>
          <a:xfrm>
            <a:off x="3715447" y="2279309"/>
            <a:ext cx="4939604" cy="861774"/>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0" marR="0" lvl="0" indent="0" algn="ctr" defTabSz="914400" rtl="0" eaLnBrk="1" fontAlgn="base" latinLnBrk="0" hangingPunct="1">
              <a:lnSpc>
                <a:spcPct val="100000"/>
              </a:lnSpc>
              <a:spcBef>
                <a:spcPts val="0"/>
              </a:spcBef>
              <a:spcAft>
                <a:spcPts val="0"/>
              </a:spcAft>
              <a:buClr>
                <a:srgbClr val="6D6E71"/>
              </a:buClr>
              <a:buSzTx/>
              <a:buFontTx/>
              <a:buNone/>
              <a:tabLst/>
              <a:defRPr/>
            </a:pPr>
            <a:r>
              <a:rPr kumimoji="0" lang="en-GB" sz="2800" b="1" i="0" u="none" strike="noStrike" kern="1200" cap="none" spc="0" normalizeH="0" baseline="0" noProof="0" dirty="0" smtClean="0">
                <a:ln>
                  <a:noFill/>
                </a:ln>
                <a:solidFill>
                  <a:prstClr val="white"/>
                </a:solidFill>
                <a:effectLst/>
                <a:uLnTx/>
                <a:uFillTx/>
                <a:latin typeface="Century Gothic" pitchFamily="34" charset="0"/>
                <a:ea typeface="+mn-ea"/>
                <a:cs typeface="+mn-cs"/>
              </a:rPr>
              <a:t>48V MILD HYBRID EDS </a:t>
            </a:r>
          </a:p>
          <a:p>
            <a:pPr marL="0" marR="0" lvl="0" indent="0" algn="ctr" defTabSz="914400" rtl="0" eaLnBrk="1" fontAlgn="base" latinLnBrk="0" hangingPunct="1">
              <a:lnSpc>
                <a:spcPct val="100000"/>
              </a:lnSpc>
              <a:spcBef>
                <a:spcPts val="0"/>
              </a:spcBef>
              <a:spcAft>
                <a:spcPts val="0"/>
              </a:spcAft>
              <a:buClr>
                <a:srgbClr val="6D6E71"/>
              </a:buClr>
              <a:buSzTx/>
              <a:buFontTx/>
              <a:buNone/>
              <a:tabLst/>
              <a:defRPr/>
            </a:pPr>
            <a:r>
              <a:rPr kumimoji="0" lang="en-GB" sz="2800" b="1" i="0" u="none" strike="noStrike" kern="1200" cap="none" spc="0" normalizeH="0" baseline="0" noProof="0" dirty="0" smtClean="0">
                <a:ln>
                  <a:noFill/>
                </a:ln>
                <a:solidFill>
                  <a:prstClr val="white"/>
                </a:solidFill>
                <a:effectLst/>
                <a:uLnTx/>
                <a:uFillTx/>
                <a:latin typeface="Century Gothic" pitchFamily="34" charset="0"/>
                <a:ea typeface="+mn-ea"/>
                <a:cs typeface="+mn-cs"/>
              </a:rPr>
              <a:t>ECU</a:t>
            </a:r>
            <a:r>
              <a:rPr kumimoji="0" lang="en-GB" sz="2800" b="1" i="0" u="none" strike="noStrike" kern="1200" cap="none" spc="0" normalizeH="0" noProof="0" dirty="0" smtClean="0">
                <a:ln>
                  <a:noFill/>
                </a:ln>
                <a:solidFill>
                  <a:prstClr val="white"/>
                </a:solidFill>
                <a:effectLst/>
                <a:uLnTx/>
                <a:uFillTx/>
                <a:latin typeface="Century Gothic" pitchFamily="34" charset="0"/>
                <a:ea typeface="+mn-ea"/>
                <a:cs typeface="+mn-cs"/>
              </a:rPr>
              <a:t> Development</a:t>
            </a:r>
            <a:endParaRPr kumimoji="0" lang="en-US" sz="1600" b="1" i="0" u="none" strike="noStrike" kern="1200" cap="none" spc="0" normalizeH="0" baseline="0" noProof="0" dirty="0" smtClean="0">
              <a:ln>
                <a:noFill/>
              </a:ln>
              <a:solidFill>
                <a:prstClr val="white">
                  <a:lumMod val="95000"/>
                </a:prstClr>
              </a:solidFill>
              <a:effectLst/>
              <a:uLnTx/>
              <a:uFillTx/>
              <a:latin typeface="Century Gothic" pitchFamily="34" charset="0"/>
              <a:ea typeface="+mn-ea"/>
              <a:cs typeface="+mn-cs"/>
            </a:endParaRPr>
          </a:p>
        </p:txBody>
      </p:sp>
    </p:spTree>
    <p:extLst>
      <p:ext uri="{BB962C8B-B14F-4D97-AF65-F5344CB8AC3E}">
        <p14:creationId xmlns:p14="http://schemas.microsoft.com/office/powerpoint/2010/main" val="19158304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013" y="545306"/>
            <a:ext cx="8226425" cy="276999"/>
          </a:xfrm>
        </p:spPr>
        <p:txBody>
          <a:bodyPr/>
          <a:lstStyle/>
          <a:p>
            <a:r>
              <a:rPr lang="en-US" b="1" dirty="0" smtClean="0"/>
              <a:t>EDS Controller – Project Overview</a:t>
            </a:r>
            <a:endParaRPr lang="en-US" b="1" dirty="0"/>
          </a:p>
        </p:txBody>
      </p:sp>
      <p:sp>
        <p:nvSpPr>
          <p:cNvPr id="11" name="TextBox 10"/>
          <p:cNvSpPr txBox="1"/>
          <p:nvPr/>
        </p:nvSpPr>
        <p:spPr>
          <a:xfrm>
            <a:off x="479425" y="1021017"/>
            <a:ext cx="2505075"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Clr>
                <a:schemeClr val="tx2"/>
              </a:buClr>
            </a:pPr>
            <a:r>
              <a:rPr lang="en-US" sz="1200" b="1" dirty="0" smtClean="0">
                <a:solidFill>
                  <a:schemeClr val="bg2"/>
                </a:solidFill>
                <a:latin typeface="Century Gothic" pitchFamily="34" charset="0"/>
                <a:cs typeface="Calibri"/>
              </a:rPr>
              <a:t>Objective:</a:t>
            </a:r>
            <a:endParaRPr lang="en-US" sz="1200" b="1" dirty="0">
              <a:solidFill>
                <a:schemeClr val="bg2"/>
              </a:solidFill>
              <a:latin typeface="Century Gothic" pitchFamily="34" charset="0"/>
              <a:cs typeface="Calibri"/>
            </a:endParaRPr>
          </a:p>
        </p:txBody>
      </p:sp>
      <p:sp>
        <p:nvSpPr>
          <p:cNvPr id="12" name="TextBox 11"/>
          <p:cNvSpPr txBox="1"/>
          <p:nvPr/>
        </p:nvSpPr>
        <p:spPr>
          <a:xfrm>
            <a:off x="479425" y="1256999"/>
            <a:ext cx="4467225"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marL="0" lvl="1" fontAlgn="base">
              <a:buClr>
                <a:schemeClr val="tx2"/>
              </a:buClr>
            </a:pPr>
            <a:r>
              <a:rPr lang="en-GB" sz="1200" dirty="0">
                <a:latin typeface="Century Gothic" pitchFamily="34" charset="0"/>
              </a:rPr>
              <a:t>48V mild hybrid system Motor controller </a:t>
            </a:r>
            <a:r>
              <a:rPr lang="en-GB" sz="1200" dirty="0" smtClean="0">
                <a:latin typeface="Century Gothic" pitchFamily="34" charset="0"/>
              </a:rPr>
              <a:t>design</a:t>
            </a:r>
            <a:endParaRPr lang="en-US" sz="1200" dirty="0">
              <a:solidFill>
                <a:srgbClr val="000000">
                  <a:hueOff val="0"/>
                  <a:satOff val="0"/>
                  <a:lumOff val="0"/>
                  <a:alphaOff val="0"/>
                </a:srgbClr>
              </a:solidFill>
              <a:latin typeface="Century Gothic" pitchFamily="34" charset="0"/>
              <a:cs typeface="Calibri"/>
            </a:endParaRPr>
          </a:p>
        </p:txBody>
      </p:sp>
      <p:sp>
        <p:nvSpPr>
          <p:cNvPr id="14" name="TextBox 13"/>
          <p:cNvSpPr txBox="1"/>
          <p:nvPr/>
        </p:nvSpPr>
        <p:spPr>
          <a:xfrm>
            <a:off x="479424" y="1676712"/>
            <a:ext cx="2505075"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Clr>
                <a:schemeClr val="tx2"/>
              </a:buClr>
            </a:pPr>
            <a:r>
              <a:rPr lang="en-US" sz="1200" b="1" dirty="0" smtClean="0">
                <a:solidFill>
                  <a:schemeClr val="bg2"/>
                </a:solidFill>
                <a:latin typeface="Century Gothic" pitchFamily="34" charset="0"/>
                <a:cs typeface="Calibri"/>
              </a:rPr>
              <a:t>Scope:</a:t>
            </a:r>
            <a:endParaRPr lang="en-US" sz="1200" b="1" dirty="0">
              <a:solidFill>
                <a:schemeClr val="bg2"/>
              </a:solidFill>
              <a:latin typeface="Century Gothic" pitchFamily="34" charset="0"/>
              <a:cs typeface="Calibri"/>
            </a:endParaRPr>
          </a:p>
        </p:txBody>
      </p:sp>
      <p:sp>
        <p:nvSpPr>
          <p:cNvPr id="15" name="Shape 181"/>
          <p:cNvSpPr/>
          <p:nvPr/>
        </p:nvSpPr>
        <p:spPr>
          <a:xfrm>
            <a:off x="479423" y="2060090"/>
            <a:ext cx="3586139" cy="1985159"/>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182880" indent="-182880">
              <a:spcAft>
                <a:spcPts val="600"/>
              </a:spcAft>
              <a:buFont typeface="Wingdings" pitchFamily="2" charset="2"/>
              <a:buChar char="§"/>
            </a:pPr>
            <a:r>
              <a:rPr lang="en-US" sz="1100" dirty="0">
                <a:latin typeface="Century Gothic" pitchFamily="34" charset="0"/>
              </a:rPr>
              <a:t>4</a:t>
            </a:r>
            <a:r>
              <a:rPr lang="en-US" sz="1100" dirty="0" smtClean="0">
                <a:latin typeface="Century Gothic" pitchFamily="34" charset="0"/>
              </a:rPr>
              <a:t>8 Volt mild hybrid control design (HW and SW).</a:t>
            </a:r>
            <a:endParaRPr lang="en-US" sz="1100" dirty="0">
              <a:latin typeface="Century Gothic" pitchFamily="34" charset="0"/>
            </a:endParaRPr>
          </a:p>
          <a:p>
            <a:pPr marL="182880" indent="-182880">
              <a:spcAft>
                <a:spcPts val="600"/>
              </a:spcAft>
              <a:buFont typeface="Wingdings" pitchFamily="2" charset="2"/>
              <a:buChar char="§"/>
            </a:pPr>
            <a:r>
              <a:rPr lang="en-US" sz="1100" dirty="0" smtClean="0">
                <a:latin typeface="Century Gothic" pitchFamily="34" charset="0"/>
              </a:rPr>
              <a:t>Motor Traction control.</a:t>
            </a:r>
          </a:p>
          <a:p>
            <a:pPr marL="182880" indent="-182880">
              <a:spcAft>
                <a:spcPts val="600"/>
              </a:spcAft>
              <a:buFont typeface="Wingdings" pitchFamily="2" charset="2"/>
              <a:buChar char="§"/>
            </a:pPr>
            <a:r>
              <a:rPr lang="en-US" sz="1100" dirty="0" smtClean="0">
                <a:latin typeface="Century Gothic" pitchFamily="34" charset="0"/>
              </a:rPr>
              <a:t>Regenerative charging</a:t>
            </a:r>
          </a:p>
          <a:p>
            <a:pPr marL="182880" indent="-182880">
              <a:spcAft>
                <a:spcPts val="600"/>
              </a:spcAft>
              <a:buFont typeface="Wingdings" pitchFamily="2" charset="2"/>
              <a:buChar char="§"/>
            </a:pPr>
            <a:r>
              <a:rPr lang="en-US" sz="1100" dirty="0" smtClean="0">
                <a:latin typeface="Century Gothic" pitchFamily="34" charset="0"/>
              </a:rPr>
              <a:t>Start/Stop control</a:t>
            </a:r>
          </a:p>
          <a:p>
            <a:pPr marL="182880" indent="-182880">
              <a:spcAft>
                <a:spcPts val="600"/>
              </a:spcAft>
              <a:buFont typeface="Wingdings" pitchFamily="2" charset="2"/>
              <a:buChar char="§"/>
            </a:pPr>
            <a:r>
              <a:rPr lang="en-US" sz="1100" dirty="0" smtClean="0">
                <a:latin typeface="Century Gothic" pitchFamily="34" charset="0"/>
              </a:rPr>
              <a:t>Hardware Development</a:t>
            </a:r>
          </a:p>
          <a:p>
            <a:pPr marL="182880" indent="-182880">
              <a:spcAft>
                <a:spcPts val="600"/>
              </a:spcAft>
              <a:buFont typeface="Wingdings" pitchFamily="2" charset="2"/>
              <a:buChar char="§"/>
            </a:pPr>
            <a:r>
              <a:rPr lang="en-US" sz="1100" dirty="0" smtClean="0">
                <a:latin typeface="Century Gothic" pitchFamily="34" charset="0"/>
              </a:rPr>
              <a:t>Application SW Development</a:t>
            </a:r>
          </a:p>
          <a:p>
            <a:pPr marL="182880" indent="-182880">
              <a:spcAft>
                <a:spcPts val="600"/>
              </a:spcAft>
              <a:buFont typeface="Wingdings" pitchFamily="2" charset="2"/>
              <a:buChar char="§"/>
            </a:pPr>
            <a:r>
              <a:rPr lang="en-US" sz="1100" dirty="0" smtClean="0">
                <a:latin typeface="Century Gothic" pitchFamily="34" charset="0"/>
              </a:rPr>
              <a:t>Platform SW Development</a:t>
            </a:r>
          </a:p>
          <a:p>
            <a:pPr marL="182880" indent="-182880">
              <a:spcAft>
                <a:spcPts val="600"/>
              </a:spcAft>
              <a:buFont typeface="Wingdings" pitchFamily="2" charset="2"/>
              <a:buChar char="§"/>
            </a:pPr>
            <a:r>
              <a:rPr lang="en-US" sz="1100" dirty="0" smtClean="0">
                <a:latin typeface="Century Gothic" pitchFamily="34" charset="0"/>
              </a:rPr>
              <a:t>ISO26262 Compliant Functional Safety – ASIL C</a:t>
            </a:r>
          </a:p>
        </p:txBody>
      </p:sp>
      <p:sp>
        <p:nvSpPr>
          <p:cNvPr id="19" name="Slide Number Placeholder 5"/>
          <p:cNvSpPr txBox="1">
            <a:spLocks/>
          </p:cNvSpPr>
          <p:nvPr/>
        </p:nvSpPr>
        <p:spPr bwMode="auto">
          <a:xfrm>
            <a:off x="8909019" y="4941274"/>
            <a:ext cx="7053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smtClean="0">
                <a:solidFill>
                  <a:schemeClr val="tx1">
                    <a:lumMod val="95000"/>
                    <a:lumOff val="5000"/>
                  </a:schemeClr>
                </a:solidFill>
                <a:latin typeface="Century Gothic" pitchFamily="34" charset="0"/>
                <a:cs typeface="Arial" pitchFamily="34" charset="0"/>
              </a:rPr>
              <a:pPr algn="r">
                <a:defRPr/>
              </a:pPr>
              <a:t>2</a:t>
            </a:fld>
            <a:endParaRPr lang="en-US" sz="1000" dirty="0">
              <a:solidFill>
                <a:schemeClr val="tx1">
                  <a:lumMod val="95000"/>
                  <a:lumOff val="5000"/>
                </a:schemeClr>
              </a:solidFill>
              <a:latin typeface="Century Gothic" pitchFamily="34" charset="0"/>
              <a:cs typeface="Arial" pitchFamily="34" charset="0"/>
            </a:endParaRPr>
          </a:p>
        </p:txBody>
      </p:sp>
      <p:sp>
        <p:nvSpPr>
          <p:cNvPr id="20" name="TextBox 20"/>
          <p:cNvSpPr txBox="1">
            <a:spLocks noChangeArrowheads="1"/>
          </p:cNvSpPr>
          <p:nvPr/>
        </p:nvSpPr>
        <p:spPr bwMode="gray">
          <a:xfrm>
            <a:off x="481013" y="4972051"/>
            <a:ext cx="2580835" cy="123111"/>
          </a:xfrm>
          <a:prstGeom prst="rect">
            <a:avLst/>
          </a:prstGeom>
          <a:noFill/>
          <a:ln w="9525">
            <a:noFill/>
            <a:miter lim="800000"/>
            <a:headEnd/>
            <a:tailEnd/>
          </a:ln>
        </p:spPr>
        <p:txBody>
          <a:bodyPr wrap="none" lIns="0" tIns="0" rIns="0" bIns="0">
            <a:spAutoFit/>
          </a:bodyPr>
          <a:lstStyle/>
          <a:p>
            <a:pPr>
              <a:defRPr/>
            </a:pPr>
            <a:r>
              <a:rPr lang="en-US" sz="800" dirty="0" smtClean="0">
                <a:solidFill>
                  <a:schemeClr val="tx1">
                    <a:lumMod val="95000"/>
                    <a:lumOff val="5000"/>
                  </a:schemeClr>
                </a:solidFill>
                <a:latin typeface="Century Gothic" pitchFamily="34" charset="0"/>
                <a:cs typeface="Arial" pitchFamily="34" charset="0"/>
              </a:rPr>
              <a:t>Copyright © 2017 Tech Mahindra. All rights reserved.</a:t>
            </a:r>
            <a:endParaRPr lang="en-US" sz="800" dirty="0">
              <a:solidFill>
                <a:schemeClr val="tx1">
                  <a:lumMod val="95000"/>
                  <a:lumOff val="5000"/>
                </a:schemeClr>
              </a:solidFill>
              <a:latin typeface="Century Gothic" pitchFamily="34" charset="0"/>
              <a:cs typeface="Arial" pitchFamily="34" charset="0"/>
            </a:endParaRPr>
          </a:p>
        </p:txBody>
      </p:sp>
      <p:pic>
        <p:nvPicPr>
          <p:cNvPr id="3" name="Picture 2"/>
          <p:cNvPicPr>
            <a:picLocks noChangeAspect="1"/>
          </p:cNvPicPr>
          <p:nvPr/>
        </p:nvPicPr>
        <p:blipFill>
          <a:blip r:embed="rId2"/>
          <a:stretch>
            <a:fillRect/>
          </a:stretch>
        </p:blipFill>
        <p:spPr>
          <a:xfrm>
            <a:off x="4763230" y="399518"/>
            <a:ext cx="4216321" cy="2084294"/>
          </a:xfrm>
          <a:prstGeom prst="rect">
            <a:avLst/>
          </a:prstGeom>
        </p:spPr>
      </p:pic>
      <p:pic>
        <p:nvPicPr>
          <p:cNvPr id="1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6526" y="3002230"/>
            <a:ext cx="2859226" cy="1833634"/>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own Arrow 3"/>
          <p:cNvSpPr/>
          <p:nvPr/>
        </p:nvSpPr>
        <p:spPr>
          <a:xfrm>
            <a:off x="5865778" y="2426948"/>
            <a:ext cx="204282" cy="575282"/>
          </a:xfrm>
          <a:prstGeom prst="downArrow">
            <a:avLst/>
          </a:prstGeom>
          <a:solidFill>
            <a:srgbClr val="92D050"/>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621106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83560" y="3169108"/>
            <a:ext cx="1397420" cy="111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13990" y="2061181"/>
            <a:ext cx="1372425" cy="105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rotWithShape="1">
          <a:blip r:embed="rId4">
            <a:clrChange>
              <a:clrFrom>
                <a:srgbClr val="FFFFFF"/>
              </a:clrFrom>
              <a:clrTo>
                <a:srgbClr val="FFFFFF">
                  <a:alpha val="0"/>
                </a:srgbClr>
              </a:clrTo>
            </a:clrChange>
          </a:blip>
          <a:srcRect t="8941" r="9803"/>
          <a:stretch/>
        </p:blipFill>
        <p:spPr>
          <a:xfrm>
            <a:off x="5263971" y="2164447"/>
            <a:ext cx="1850019" cy="1894232"/>
          </a:xfrm>
          <a:prstGeom prst="rect">
            <a:avLst/>
          </a:prstGeom>
        </p:spPr>
      </p:pic>
      <p:sp>
        <p:nvSpPr>
          <p:cNvPr id="9" name="Shape 183"/>
          <p:cNvSpPr/>
          <p:nvPr/>
        </p:nvSpPr>
        <p:spPr>
          <a:xfrm>
            <a:off x="479425" y="926980"/>
            <a:ext cx="4970109" cy="1731243"/>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marL="182880" indent="-182880" eaLnBrk="1" hangingPunct="1">
              <a:spcAft>
                <a:spcPts val="300"/>
              </a:spcAft>
              <a:buFont typeface="Wingdings" pitchFamily="2" charset="2"/>
              <a:buChar char="§"/>
            </a:pPr>
            <a:r>
              <a:rPr lang="en-US" altLang="en-US" sz="900" dirty="0" smtClean="0">
                <a:latin typeface="Century Gothic" pitchFamily="34" charset="0"/>
              </a:rPr>
              <a:t>Two </a:t>
            </a:r>
            <a:r>
              <a:rPr lang="en-US" altLang="en-US" sz="900" dirty="0">
                <a:latin typeface="Century Gothic" pitchFamily="34" charset="0"/>
              </a:rPr>
              <a:t>CPU system </a:t>
            </a:r>
            <a:r>
              <a:rPr lang="en-US" altLang="en-US" sz="900" dirty="0" smtClean="0">
                <a:latin typeface="Century Gothic" pitchFamily="34" charset="0"/>
              </a:rPr>
              <a:t>Architecture</a:t>
            </a:r>
            <a:endParaRPr lang="en-US" altLang="en-US" sz="900" dirty="0">
              <a:latin typeface="Century Gothic" pitchFamily="34" charset="0"/>
            </a:endParaRPr>
          </a:p>
          <a:p>
            <a:pPr marL="182880" indent="-182880" eaLnBrk="1" hangingPunct="1">
              <a:spcAft>
                <a:spcPts val="300"/>
              </a:spcAft>
              <a:buFont typeface="Wingdings" pitchFamily="2" charset="2"/>
              <a:buChar char="§"/>
            </a:pPr>
            <a:r>
              <a:rPr lang="en-US" altLang="en-US" sz="900" dirty="0">
                <a:latin typeface="Century Gothic" pitchFamily="34" charset="0"/>
              </a:rPr>
              <a:t>3</a:t>
            </a:r>
            <a:r>
              <a:rPr lang="en-US" altLang="en-US" sz="900" dirty="0" smtClean="0">
                <a:latin typeface="Century Gothic" pitchFamily="34" charset="0"/>
              </a:rPr>
              <a:t> Phase Mosfet motor Driver for Inverting DC-AC </a:t>
            </a:r>
          </a:p>
          <a:p>
            <a:pPr marL="182880" indent="-182880" eaLnBrk="1" hangingPunct="1">
              <a:spcAft>
                <a:spcPts val="300"/>
              </a:spcAft>
              <a:buFont typeface="Wingdings" pitchFamily="2" charset="2"/>
              <a:buChar char="§"/>
            </a:pPr>
            <a:r>
              <a:rPr lang="en-US" sz="900" dirty="0" smtClean="0">
                <a:latin typeface="Century Gothic" pitchFamily="34" charset="0"/>
              </a:rPr>
              <a:t>60Nm </a:t>
            </a:r>
            <a:r>
              <a:rPr lang="en-US" altLang="en-US" sz="900" dirty="0" smtClean="0">
                <a:latin typeface="Century Gothic" pitchFamily="34" charset="0"/>
              </a:rPr>
              <a:t>/18KW/21000RPM  </a:t>
            </a:r>
            <a:r>
              <a:rPr lang="en-US" sz="900" dirty="0" smtClean="0">
                <a:latin typeface="Century Gothic" pitchFamily="34" charset="0"/>
              </a:rPr>
              <a:t>PMSM </a:t>
            </a:r>
            <a:r>
              <a:rPr lang="en-US" altLang="en-US" sz="900" dirty="0" smtClean="0">
                <a:latin typeface="Century Gothic" pitchFamily="34" charset="0"/>
              </a:rPr>
              <a:t>closed loop control by FOC.</a:t>
            </a:r>
          </a:p>
          <a:p>
            <a:pPr marL="182880" indent="-182880" eaLnBrk="1" hangingPunct="1">
              <a:spcAft>
                <a:spcPts val="300"/>
              </a:spcAft>
              <a:buFont typeface="Wingdings" pitchFamily="2" charset="2"/>
              <a:buChar char="§"/>
            </a:pPr>
            <a:r>
              <a:rPr lang="en-US" altLang="en-US" sz="900" dirty="0" smtClean="0">
                <a:latin typeface="Century Gothic" pitchFamily="34" charset="0"/>
              </a:rPr>
              <a:t>T</a:t>
            </a:r>
            <a:r>
              <a:rPr lang="en-US" sz="900" dirty="0" smtClean="0">
                <a:latin typeface="Century Gothic" pitchFamily="34" charset="0"/>
              </a:rPr>
              <a:t>orque</a:t>
            </a:r>
            <a:r>
              <a:rPr lang="en-US" altLang="en-US" sz="900" dirty="0" smtClean="0">
                <a:latin typeface="Century Gothic" pitchFamily="34" charset="0"/>
              </a:rPr>
              <a:t> control and Regenerative control </a:t>
            </a:r>
          </a:p>
          <a:p>
            <a:pPr marL="182880" indent="-182880" hangingPunct="1">
              <a:spcAft>
                <a:spcPts val="300"/>
              </a:spcAft>
              <a:buFont typeface="Wingdings" pitchFamily="2" charset="2"/>
              <a:buChar char="§"/>
            </a:pPr>
            <a:r>
              <a:rPr lang="en-US" altLang="en-US" sz="900" dirty="0">
                <a:latin typeface="Century Gothic" pitchFamily="34" charset="0"/>
              </a:rPr>
              <a:t>Start /Stop functionality </a:t>
            </a:r>
            <a:endParaRPr lang="en-US" altLang="en-US" sz="900" dirty="0" smtClean="0">
              <a:latin typeface="Century Gothic" pitchFamily="34" charset="0"/>
            </a:endParaRPr>
          </a:p>
          <a:p>
            <a:pPr marL="182880" lvl="1" indent="-182880" hangingPunct="1">
              <a:spcAft>
                <a:spcPts val="300"/>
              </a:spcAft>
              <a:buFont typeface="Wingdings" pitchFamily="2" charset="2"/>
              <a:buChar char="§"/>
            </a:pPr>
            <a:r>
              <a:rPr lang="en-US" altLang="en-US" sz="900" dirty="0" smtClean="0">
                <a:latin typeface="Century Gothic" pitchFamily="34" charset="0"/>
              </a:rPr>
              <a:t>Mechanical 3D Model Development</a:t>
            </a:r>
          </a:p>
          <a:p>
            <a:pPr marL="182880" lvl="1" indent="-182880" hangingPunct="1">
              <a:spcAft>
                <a:spcPts val="300"/>
              </a:spcAft>
              <a:buFont typeface="Wingdings" pitchFamily="2" charset="2"/>
              <a:buChar char="§"/>
            </a:pPr>
            <a:r>
              <a:rPr lang="en-US" altLang="en-US" sz="900" dirty="0" smtClean="0">
                <a:latin typeface="Century Gothic" pitchFamily="34" charset="0"/>
              </a:rPr>
              <a:t>PCB Placement, Routing and Gerber Release</a:t>
            </a:r>
          </a:p>
          <a:p>
            <a:pPr marL="182880" lvl="1" indent="-182880" hangingPunct="1">
              <a:spcAft>
                <a:spcPts val="300"/>
              </a:spcAft>
              <a:buFont typeface="Wingdings" pitchFamily="2" charset="2"/>
              <a:buChar char="§"/>
            </a:pPr>
            <a:r>
              <a:rPr lang="en-US" sz="900" dirty="0" smtClean="0">
                <a:latin typeface="Century Gothic" pitchFamily="34" charset="0"/>
              </a:rPr>
              <a:t>Traction </a:t>
            </a:r>
            <a:r>
              <a:rPr lang="en-US" sz="900" dirty="0">
                <a:latin typeface="Century Gothic" pitchFamily="34" charset="0"/>
              </a:rPr>
              <a:t>motor is </a:t>
            </a:r>
            <a:r>
              <a:rPr lang="en-US" sz="900" dirty="0" smtClean="0">
                <a:latin typeface="Century Gothic" pitchFamily="34" charset="0"/>
              </a:rPr>
              <a:t>overheat protection</a:t>
            </a:r>
          </a:p>
          <a:p>
            <a:pPr marL="182880" lvl="1" indent="-182880" hangingPunct="1">
              <a:spcAft>
                <a:spcPts val="300"/>
              </a:spcAft>
              <a:buFont typeface="Wingdings" pitchFamily="2" charset="2"/>
              <a:buChar char="§"/>
            </a:pPr>
            <a:r>
              <a:rPr lang="en-US" sz="900" dirty="0" smtClean="0">
                <a:latin typeface="Century Gothic" pitchFamily="34" charset="0"/>
              </a:rPr>
              <a:t>Mosfet high temperatures protection</a:t>
            </a:r>
          </a:p>
          <a:p>
            <a:pPr marL="182880" lvl="1" indent="-182880" hangingPunct="1">
              <a:spcAft>
                <a:spcPts val="300"/>
              </a:spcAft>
              <a:buFont typeface="Wingdings" pitchFamily="2" charset="2"/>
              <a:buChar char="§"/>
            </a:pPr>
            <a:r>
              <a:rPr lang="en-US" sz="900" dirty="0" smtClean="0">
                <a:latin typeface="Century Gothic" pitchFamily="34" charset="0"/>
              </a:rPr>
              <a:t>Smoothing condenser </a:t>
            </a:r>
            <a:r>
              <a:rPr lang="en-US" sz="900" dirty="0">
                <a:latin typeface="Century Gothic" pitchFamily="34" charset="0"/>
              </a:rPr>
              <a:t>high temperatures protection </a:t>
            </a:r>
            <a:r>
              <a:rPr lang="en-US" sz="900" dirty="0" smtClean="0">
                <a:latin typeface="Century Gothic" pitchFamily="34" charset="0"/>
              </a:rPr>
              <a:t>control</a:t>
            </a:r>
            <a:endParaRPr lang="en-US" sz="900" dirty="0">
              <a:latin typeface="Century Gothic" pitchFamily="34" charset="0"/>
            </a:endParaRPr>
          </a:p>
        </p:txBody>
      </p:sp>
      <p:sp>
        <p:nvSpPr>
          <p:cNvPr id="5" name="TextBox 4"/>
          <p:cNvSpPr txBox="1"/>
          <p:nvPr/>
        </p:nvSpPr>
        <p:spPr>
          <a:xfrm>
            <a:off x="479425" y="535709"/>
            <a:ext cx="1473286"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lvl="0" fontAlgn="base">
              <a:buClr>
                <a:schemeClr val="tx2"/>
              </a:buClr>
            </a:pPr>
            <a:r>
              <a:rPr lang="en-US" sz="1200" b="1" kern="0" dirty="0" smtClean="0">
                <a:solidFill>
                  <a:schemeClr val="bg2"/>
                </a:solidFill>
                <a:latin typeface="Century Gothic" pitchFamily="34" charset="0"/>
                <a:cs typeface="Arial"/>
                <a:sym typeface="Arial"/>
              </a:rPr>
              <a:t>HW Overview</a:t>
            </a:r>
            <a:endParaRPr lang="en-US" sz="1200" b="1" kern="0" dirty="0">
              <a:solidFill>
                <a:schemeClr val="bg2"/>
              </a:solidFill>
              <a:latin typeface="Century Gothic" pitchFamily="34" charset="0"/>
              <a:cs typeface="Arial"/>
              <a:sym typeface="Arial"/>
            </a:endParaRPr>
          </a:p>
        </p:txBody>
      </p:sp>
      <p:cxnSp>
        <p:nvCxnSpPr>
          <p:cNvPr id="11" name="Straight Connector 10"/>
          <p:cNvCxnSpPr/>
          <p:nvPr/>
        </p:nvCxnSpPr>
        <p:spPr>
          <a:xfrm>
            <a:off x="479425" y="847753"/>
            <a:ext cx="2253943"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bwMode="gray">
          <a:xfrm>
            <a:off x="2543558" y="199266"/>
            <a:ext cx="5173457"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1800" b="0" kern="1200" dirty="0">
                <a:solidFill>
                  <a:schemeClr val="tx2"/>
                </a:solidFill>
                <a:latin typeface="Century Gothic" pitchFamily="34" charset="0"/>
                <a:ea typeface="+mj-ea"/>
                <a:cs typeface="Arial" pitchFamily="34" charset="0"/>
              </a:defRPr>
            </a:lvl1pPr>
          </a:lstStyle>
          <a:p>
            <a:r>
              <a:rPr lang="en-US" b="1" dirty="0" smtClean="0"/>
              <a:t>EDS Controller – HW Development Overview</a:t>
            </a:r>
            <a:endParaRPr lang="en-US" b="1" dirty="0"/>
          </a:p>
        </p:txBody>
      </p:sp>
      <p:pic>
        <p:nvPicPr>
          <p:cNvPr id="4" name="Picture 3"/>
          <p:cNvPicPr>
            <a:picLocks noChangeAspect="1"/>
          </p:cNvPicPr>
          <p:nvPr/>
        </p:nvPicPr>
        <p:blipFill>
          <a:blip r:embed="rId5"/>
          <a:stretch>
            <a:fillRect/>
          </a:stretch>
        </p:blipFill>
        <p:spPr>
          <a:xfrm>
            <a:off x="151285" y="2530844"/>
            <a:ext cx="4784546" cy="2215870"/>
          </a:xfrm>
          <a:prstGeom prst="rect">
            <a:avLst/>
          </a:prstGeom>
        </p:spPr>
      </p:pic>
    </p:spTree>
    <p:extLst>
      <p:ext uri="{BB962C8B-B14F-4D97-AF65-F5344CB8AC3E}">
        <p14:creationId xmlns:p14="http://schemas.microsoft.com/office/powerpoint/2010/main" val="1029659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183"/>
          <p:cNvSpPr/>
          <p:nvPr/>
        </p:nvSpPr>
        <p:spPr>
          <a:xfrm>
            <a:off x="136188" y="872990"/>
            <a:ext cx="5106492" cy="3470181"/>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p>
            <a:pPr marL="182880" indent="-182880">
              <a:spcAft>
                <a:spcPts val="300"/>
              </a:spcAft>
              <a:buFont typeface="Wingdings" pitchFamily="2" charset="2"/>
              <a:buChar char="§"/>
            </a:pPr>
            <a:r>
              <a:rPr lang="en-US" altLang="en-US" sz="1000" b="1" dirty="0">
                <a:latin typeface="Century Gothic" pitchFamily="34" charset="0"/>
              </a:rPr>
              <a:t>Functionalities – </a:t>
            </a:r>
            <a:r>
              <a:rPr lang="en-US" altLang="en-US" sz="1000" b="1" dirty="0" smtClean="0">
                <a:latin typeface="Century Gothic" pitchFamily="34" charset="0"/>
              </a:rPr>
              <a:t>Torque-Boost</a:t>
            </a:r>
            <a:r>
              <a:rPr lang="en-US" altLang="en-US" sz="1000" b="1" dirty="0">
                <a:latin typeface="Century Gothic" pitchFamily="34" charset="0"/>
              </a:rPr>
              <a:t>, Generator Control, </a:t>
            </a:r>
            <a:r>
              <a:rPr lang="en-US" altLang="en-US" sz="1000" b="1" dirty="0" smtClean="0">
                <a:latin typeface="Century Gothic" pitchFamily="34" charset="0"/>
              </a:rPr>
              <a:t>Start-Stop</a:t>
            </a:r>
            <a:endParaRPr lang="en-US" altLang="en-US" sz="1000" b="1" dirty="0">
              <a:latin typeface="Century Gothic" pitchFamily="34" charset="0"/>
            </a:endParaRPr>
          </a:p>
          <a:p>
            <a:pPr marL="182880" indent="-182880" eaLnBrk="1" hangingPunct="1">
              <a:spcAft>
                <a:spcPts val="300"/>
              </a:spcAft>
              <a:buFont typeface="Wingdings" pitchFamily="2" charset="2"/>
              <a:buChar char="§"/>
            </a:pPr>
            <a:endParaRPr lang="en-US" sz="900" dirty="0" smtClean="0">
              <a:latin typeface="Century Gothic" pitchFamily="34" charset="0"/>
            </a:endParaRPr>
          </a:p>
          <a:p>
            <a:pPr marL="182880" indent="-182880">
              <a:spcAft>
                <a:spcPts val="300"/>
              </a:spcAft>
              <a:buFont typeface="Wingdings" pitchFamily="2" charset="2"/>
              <a:buChar char="§"/>
            </a:pPr>
            <a:r>
              <a:rPr lang="en-US" sz="1000" b="1" dirty="0">
                <a:latin typeface="Century Gothic" pitchFamily="34" charset="0"/>
              </a:rPr>
              <a:t>Model Based Design for Application Software Development</a:t>
            </a:r>
          </a:p>
          <a:p>
            <a:pPr marL="182880" indent="-182880" eaLnBrk="1" hangingPunct="1">
              <a:spcAft>
                <a:spcPts val="300"/>
              </a:spcAft>
              <a:buFont typeface="Wingdings" pitchFamily="2" charset="2"/>
              <a:buChar char="§"/>
            </a:pPr>
            <a:endParaRPr lang="en-US" sz="900" dirty="0" smtClean="0">
              <a:latin typeface="Century Gothic" pitchFamily="34" charset="0"/>
            </a:endParaRPr>
          </a:p>
          <a:p>
            <a:pPr marL="640080" lvl="2" indent="-182880">
              <a:spcAft>
                <a:spcPts val="300"/>
              </a:spcAft>
              <a:buFont typeface="Wingdings" pitchFamily="2" charset="2"/>
              <a:buChar char="§"/>
            </a:pPr>
            <a:r>
              <a:rPr lang="en-US" sz="900" dirty="0" smtClean="0">
                <a:latin typeface="Century Gothic" pitchFamily="34" charset="0"/>
              </a:rPr>
              <a:t>Field </a:t>
            </a:r>
            <a:r>
              <a:rPr lang="en-US" sz="900" dirty="0">
                <a:latin typeface="Century Gothic" pitchFamily="34" charset="0"/>
              </a:rPr>
              <a:t>Oriented Control (</a:t>
            </a:r>
            <a:r>
              <a:rPr lang="en-US" sz="900" dirty="0" smtClean="0">
                <a:latin typeface="Century Gothic" pitchFamily="34" charset="0"/>
              </a:rPr>
              <a:t>FOC) of 3 Phase Multicoiled- PMSM Motor using PI </a:t>
            </a:r>
            <a:r>
              <a:rPr lang="en-US" sz="900" dirty="0">
                <a:latin typeface="Century Gothic" pitchFamily="34" charset="0"/>
              </a:rPr>
              <a:t>control </a:t>
            </a:r>
            <a:r>
              <a:rPr lang="en-US" sz="900" dirty="0" smtClean="0">
                <a:latin typeface="Century Gothic" pitchFamily="34" charset="0"/>
              </a:rPr>
              <a:t>of Torque component of current (</a:t>
            </a:r>
            <a:r>
              <a:rPr lang="en-US" sz="900" dirty="0">
                <a:latin typeface="Century Gothic" pitchFamily="34" charset="0"/>
              </a:rPr>
              <a:t>I</a:t>
            </a:r>
            <a:r>
              <a:rPr lang="en-US" sz="900" dirty="0" smtClean="0">
                <a:latin typeface="Century Gothic" pitchFamily="34" charset="0"/>
              </a:rPr>
              <a:t>q) and Flux component of current (Id)</a:t>
            </a:r>
            <a:endParaRPr lang="en-US" sz="900" dirty="0">
              <a:latin typeface="Century Gothic" pitchFamily="34" charset="0"/>
            </a:endParaRPr>
          </a:p>
          <a:p>
            <a:pPr marL="640080" lvl="2" indent="-182880">
              <a:spcAft>
                <a:spcPts val="300"/>
              </a:spcAft>
              <a:buFont typeface="Wingdings" pitchFamily="2" charset="2"/>
              <a:buChar char="§"/>
            </a:pPr>
            <a:r>
              <a:rPr lang="en-US" sz="900" dirty="0">
                <a:latin typeface="Century Gothic" pitchFamily="34" charset="0"/>
              </a:rPr>
              <a:t>Space Vector Pulse Width Modulation (SVPWM) used  for 3 phase </a:t>
            </a:r>
            <a:r>
              <a:rPr lang="en-US" sz="900" dirty="0" smtClean="0">
                <a:latin typeface="Century Gothic" pitchFamily="34" charset="0"/>
              </a:rPr>
              <a:t>inverter</a:t>
            </a:r>
          </a:p>
          <a:p>
            <a:pPr marL="640080" lvl="2" indent="-182880">
              <a:spcAft>
                <a:spcPts val="300"/>
              </a:spcAft>
              <a:buFont typeface="Wingdings" pitchFamily="2" charset="2"/>
              <a:buChar char="§"/>
            </a:pPr>
            <a:r>
              <a:rPr lang="en-US" sz="900" dirty="0" smtClean="0">
                <a:latin typeface="Century Gothic" pitchFamily="34" charset="0"/>
              </a:rPr>
              <a:t>Field Weaking Control</a:t>
            </a:r>
          </a:p>
          <a:p>
            <a:pPr marL="640080" lvl="2" indent="-182880">
              <a:spcAft>
                <a:spcPts val="300"/>
              </a:spcAft>
              <a:buFont typeface="Wingdings" pitchFamily="2" charset="2"/>
              <a:buChar char="§"/>
            </a:pPr>
            <a:r>
              <a:rPr lang="en-US" sz="900" dirty="0" smtClean="0">
                <a:latin typeface="Century Gothic" pitchFamily="34" charset="0"/>
              </a:rPr>
              <a:t>Plant Model Development – Inverter Model, DQ Modeling, PMSM Motor Model, Load Model, Multi Coil</a:t>
            </a:r>
          </a:p>
          <a:p>
            <a:pPr marL="640080" lvl="2" indent="-182880">
              <a:spcAft>
                <a:spcPts val="300"/>
              </a:spcAft>
              <a:buFont typeface="Wingdings" pitchFamily="2" charset="2"/>
              <a:buChar char="§"/>
            </a:pPr>
            <a:r>
              <a:rPr lang="en-US" sz="900" dirty="0" smtClean="0">
                <a:latin typeface="Century Gothic" pitchFamily="34" charset="0"/>
              </a:rPr>
              <a:t>Model In Loop (MIL), AutoCode Generation &amp; Software In Loop (SIL)</a:t>
            </a:r>
          </a:p>
          <a:p>
            <a:pPr marL="640080" lvl="2" indent="-182880">
              <a:spcAft>
                <a:spcPts val="300"/>
              </a:spcAft>
              <a:buFont typeface="Wingdings" pitchFamily="2" charset="2"/>
              <a:buChar char="§"/>
            </a:pPr>
            <a:r>
              <a:rPr lang="en-US" sz="900" dirty="0" smtClean="0">
                <a:latin typeface="Century Gothic" pitchFamily="34" charset="0"/>
              </a:rPr>
              <a:t>ISR Based Motor Control – Sampling Period 50 </a:t>
            </a:r>
            <a:r>
              <a:rPr lang="en-US" sz="900" dirty="0" err="1" smtClean="0">
                <a:latin typeface="Century Gothic" pitchFamily="34" charset="0"/>
              </a:rPr>
              <a:t>uS</a:t>
            </a:r>
            <a:r>
              <a:rPr lang="en-US" sz="900" dirty="0" smtClean="0">
                <a:latin typeface="Century Gothic" pitchFamily="34" charset="0"/>
              </a:rPr>
              <a:t> (20Khz)</a:t>
            </a:r>
          </a:p>
          <a:p>
            <a:pPr marL="640080" lvl="2" indent="-182880">
              <a:spcAft>
                <a:spcPts val="300"/>
              </a:spcAft>
              <a:buFont typeface="Wingdings" pitchFamily="2" charset="2"/>
              <a:buChar char="§"/>
            </a:pPr>
            <a:r>
              <a:rPr lang="en-US" sz="900" dirty="0" smtClean="0">
                <a:latin typeface="Century Gothic" pitchFamily="34" charset="0"/>
              </a:rPr>
              <a:t>ISO26262 Compliant Monitor Processor Software Development</a:t>
            </a:r>
          </a:p>
          <a:p>
            <a:pPr marL="640080" lvl="2" indent="-182880">
              <a:spcAft>
                <a:spcPts val="300"/>
              </a:spcAft>
              <a:buFont typeface="Wingdings" pitchFamily="2" charset="2"/>
              <a:buChar char="§"/>
            </a:pPr>
            <a:r>
              <a:rPr lang="en-US" sz="900" dirty="0" smtClean="0">
                <a:latin typeface="Century Gothic" pitchFamily="34" charset="0"/>
              </a:rPr>
              <a:t>Tools </a:t>
            </a:r>
            <a:r>
              <a:rPr lang="en-US" sz="900" dirty="0">
                <a:latin typeface="Century Gothic" pitchFamily="34" charset="0"/>
              </a:rPr>
              <a:t>MATLAB-Simulink and </a:t>
            </a:r>
            <a:r>
              <a:rPr lang="en-US" sz="900" dirty="0" err="1" smtClean="0">
                <a:latin typeface="Century Gothic" pitchFamily="34" charset="0"/>
              </a:rPr>
              <a:t>TargetLink</a:t>
            </a:r>
            <a:endParaRPr lang="en-US" sz="900" dirty="0" smtClean="0">
              <a:latin typeface="Century Gothic" pitchFamily="34" charset="0"/>
            </a:endParaRPr>
          </a:p>
          <a:p>
            <a:pPr eaLnBrk="1" hangingPunct="1">
              <a:spcAft>
                <a:spcPts val="300"/>
              </a:spcAft>
            </a:pPr>
            <a:endParaRPr lang="en-US" sz="900" dirty="0" smtClean="0">
              <a:latin typeface="Century Gothic" pitchFamily="34" charset="0"/>
            </a:endParaRPr>
          </a:p>
          <a:p>
            <a:pPr marL="182880" indent="-182880" eaLnBrk="1" hangingPunct="1">
              <a:spcAft>
                <a:spcPts val="300"/>
              </a:spcAft>
              <a:buFont typeface="Wingdings" pitchFamily="2" charset="2"/>
              <a:buChar char="§"/>
            </a:pPr>
            <a:endParaRPr lang="en-US" sz="900" dirty="0" smtClean="0">
              <a:latin typeface="Century Gothic" pitchFamily="34" charset="0"/>
            </a:endParaRPr>
          </a:p>
          <a:p>
            <a:pPr marL="182880" indent="-182880">
              <a:spcAft>
                <a:spcPts val="300"/>
              </a:spcAft>
              <a:buFont typeface="Wingdings" pitchFamily="2" charset="2"/>
              <a:buChar char="§"/>
            </a:pPr>
            <a:r>
              <a:rPr lang="en-US" sz="1000" b="1" dirty="0">
                <a:latin typeface="Century Gothic" pitchFamily="34" charset="0"/>
              </a:rPr>
              <a:t>Platform SW is developed </a:t>
            </a:r>
            <a:r>
              <a:rPr lang="en-US" sz="1000" b="1" dirty="0" smtClean="0">
                <a:latin typeface="Century Gothic" pitchFamily="34" charset="0"/>
              </a:rPr>
              <a:t>using ARCCORE AutoSar Stacks</a:t>
            </a:r>
            <a:endParaRPr lang="en-US" sz="1000" b="1" dirty="0">
              <a:latin typeface="Century Gothic" pitchFamily="34" charset="0"/>
            </a:endParaRPr>
          </a:p>
          <a:p>
            <a:pPr marL="640080" lvl="1" indent="-182880">
              <a:spcAft>
                <a:spcPts val="300"/>
              </a:spcAft>
              <a:buFont typeface="Wingdings" pitchFamily="2" charset="2"/>
              <a:buChar char="§"/>
            </a:pPr>
            <a:r>
              <a:rPr lang="en-US" sz="900" dirty="0" smtClean="0">
                <a:latin typeface="Century Gothic" pitchFamily="34" charset="0"/>
              </a:rPr>
              <a:t>BSW Stack Configuration, CDD Configuration, MCAL Configuration</a:t>
            </a:r>
          </a:p>
          <a:p>
            <a:pPr marL="640080" lvl="1" indent="-182880">
              <a:spcAft>
                <a:spcPts val="300"/>
              </a:spcAft>
              <a:buFont typeface="Wingdings" pitchFamily="2" charset="2"/>
              <a:buChar char="§"/>
            </a:pPr>
            <a:r>
              <a:rPr lang="en-US" sz="900" dirty="0" smtClean="0">
                <a:latin typeface="Century Gothic" pitchFamily="34" charset="0"/>
              </a:rPr>
              <a:t>RTE Configuration</a:t>
            </a:r>
          </a:p>
          <a:p>
            <a:pPr marL="640080" lvl="1" indent="-182880">
              <a:spcAft>
                <a:spcPts val="300"/>
              </a:spcAft>
              <a:buFont typeface="Wingdings" pitchFamily="2" charset="2"/>
              <a:buChar char="§"/>
            </a:pPr>
            <a:r>
              <a:rPr lang="en-US" sz="900" dirty="0">
                <a:latin typeface="Century Gothic" pitchFamily="34" charset="0"/>
              </a:rPr>
              <a:t>Tools - EB-</a:t>
            </a:r>
            <a:r>
              <a:rPr lang="en-US" sz="900" dirty="0" err="1">
                <a:latin typeface="Century Gothic" pitchFamily="34" charset="0"/>
              </a:rPr>
              <a:t>Tresos</a:t>
            </a:r>
            <a:r>
              <a:rPr lang="en-US" sz="900" dirty="0">
                <a:latin typeface="Century Gothic" pitchFamily="34" charset="0"/>
              </a:rPr>
              <a:t> for MCAL, HighTec </a:t>
            </a:r>
            <a:r>
              <a:rPr lang="en-US" sz="900" dirty="0" smtClean="0">
                <a:latin typeface="Century Gothic" pitchFamily="34" charset="0"/>
              </a:rPr>
              <a:t>Compilers</a:t>
            </a:r>
          </a:p>
        </p:txBody>
      </p:sp>
      <p:sp>
        <p:nvSpPr>
          <p:cNvPr id="5" name="TextBox 4"/>
          <p:cNvSpPr txBox="1"/>
          <p:nvPr/>
        </p:nvSpPr>
        <p:spPr>
          <a:xfrm>
            <a:off x="644795" y="453024"/>
            <a:ext cx="1473286"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lvl="0" fontAlgn="base">
              <a:buClr>
                <a:schemeClr val="tx2"/>
              </a:buClr>
            </a:pPr>
            <a:r>
              <a:rPr lang="en-US" sz="1200" b="1" kern="0" dirty="0" smtClean="0">
                <a:solidFill>
                  <a:schemeClr val="bg2"/>
                </a:solidFill>
                <a:latin typeface="Century Gothic" pitchFamily="34" charset="0"/>
                <a:cs typeface="Arial"/>
                <a:sym typeface="Arial"/>
              </a:rPr>
              <a:t>SW Overview</a:t>
            </a:r>
            <a:endParaRPr lang="en-US" sz="1200" b="1" kern="0" dirty="0">
              <a:solidFill>
                <a:schemeClr val="bg2"/>
              </a:solidFill>
              <a:latin typeface="Century Gothic" pitchFamily="34" charset="0"/>
              <a:cs typeface="Arial"/>
              <a:sym typeface="Arial"/>
            </a:endParaRPr>
          </a:p>
        </p:txBody>
      </p:sp>
      <p:cxnSp>
        <p:nvCxnSpPr>
          <p:cNvPr id="11" name="Straight Connector 10"/>
          <p:cNvCxnSpPr/>
          <p:nvPr/>
        </p:nvCxnSpPr>
        <p:spPr>
          <a:xfrm>
            <a:off x="479425" y="711565"/>
            <a:ext cx="2253943"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bwMode="gray">
          <a:xfrm>
            <a:off x="2543558" y="199266"/>
            <a:ext cx="5173457"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1800" b="0" kern="1200" dirty="0">
                <a:solidFill>
                  <a:schemeClr val="tx2"/>
                </a:solidFill>
                <a:latin typeface="Century Gothic" pitchFamily="34" charset="0"/>
                <a:ea typeface="+mj-ea"/>
                <a:cs typeface="Arial" pitchFamily="34" charset="0"/>
              </a:defRPr>
            </a:lvl1pPr>
          </a:lstStyle>
          <a:p>
            <a:r>
              <a:rPr lang="en-US" b="1" dirty="0" smtClean="0"/>
              <a:t>EDS Controller – SW Development Overview</a:t>
            </a:r>
            <a:endParaRPr lang="en-US" b="1" dirty="0"/>
          </a:p>
        </p:txBody>
      </p:sp>
      <p:sp>
        <p:nvSpPr>
          <p:cNvPr id="14" name="TextBox 13"/>
          <p:cNvSpPr txBox="1"/>
          <p:nvPr/>
        </p:nvSpPr>
        <p:spPr>
          <a:xfrm>
            <a:off x="5616320" y="550510"/>
            <a:ext cx="2792534"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lvl="0" fontAlgn="base">
              <a:buClr>
                <a:schemeClr val="tx2"/>
              </a:buClr>
            </a:pPr>
            <a:r>
              <a:rPr lang="en-US" sz="1200" b="1" kern="0" dirty="0" smtClean="0">
                <a:solidFill>
                  <a:schemeClr val="bg2"/>
                </a:solidFill>
                <a:latin typeface="Century Gothic" pitchFamily="34" charset="0"/>
                <a:cs typeface="Arial"/>
                <a:sym typeface="Arial"/>
              </a:rPr>
              <a:t>Field Oriented Control of PMSM Motor</a:t>
            </a:r>
            <a:endParaRPr lang="en-US" sz="1200" b="1" kern="0" dirty="0">
              <a:solidFill>
                <a:schemeClr val="bg2"/>
              </a:solidFill>
              <a:latin typeface="Century Gothic" pitchFamily="34" charset="0"/>
              <a:cs typeface="Arial"/>
              <a:sym typeface="Arial"/>
            </a:endParaRPr>
          </a:p>
        </p:txBody>
      </p:sp>
      <p:pic>
        <p:nvPicPr>
          <p:cNvPr id="4" name="Picture 3"/>
          <p:cNvPicPr>
            <a:picLocks noChangeAspect="1"/>
          </p:cNvPicPr>
          <p:nvPr/>
        </p:nvPicPr>
        <p:blipFill>
          <a:blip r:embed="rId2"/>
          <a:stretch>
            <a:fillRect/>
          </a:stretch>
        </p:blipFill>
        <p:spPr>
          <a:xfrm>
            <a:off x="5453200" y="735176"/>
            <a:ext cx="3155976" cy="2152431"/>
          </a:xfrm>
          <a:prstGeom prst="rect">
            <a:avLst/>
          </a:prstGeom>
        </p:spPr>
      </p:pic>
      <p:pic>
        <p:nvPicPr>
          <p:cNvPr id="3" name="Picture 2"/>
          <p:cNvPicPr>
            <a:picLocks noChangeAspect="1"/>
          </p:cNvPicPr>
          <p:nvPr/>
        </p:nvPicPr>
        <p:blipFill>
          <a:blip r:embed="rId3"/>
          <a:stretch>
            <a:fillRect/>
          </a:stretch>
        </p:blipFill>
        <p:spPr>
          <a:xfrm>
            <a:off x="6188614" y="3146516"/>
            <a:ext cx="2405571" cy="1852290"/>
          </a:xfrm>
          <a:prstGeom prst="rect">
            <a:avLst/>
          </a:prstGeom>
        </p:spPr>
      </p:pic>
      <p:sp>
        <p:nvSpPr>
          <p:cNvPr id="6" name="Down Arrow 5"/>
          <p:cNvSpPr/>
          <p:nvPr/>
        </p:nvSpPr>
        <p:spPr>
          <a:xfrm>
            <a:off x="7206068" y="2794000"/>
            <a:ext cx="185332" cy="352516"/>
          </a:xfrm>
          <a:prstGeom prst="downArrow">
            <a:avLst/>
          </a:prstGeom>
          <a:solidFill>
            <a:schemeClr val="bg1"/>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7947558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883" y="804114"/>
            <a:ext cx="2780049" cy="3841669"/>
          </a:xfrm>
          <a:prstGeom prst="rect">
            <a:avLst/>
          </a:prstGeom>
          <a:solidFill>
            <a:schemeClr val="accent4">
              <a:lumMod val="20000"/>
              <a:lumOff val="80000"/>
              <a:alpha val="74902"/>
            </a:schemeClr>
          </a:solidFill>
          <a:ln w="3175">
            <a:solidFill>
              <a:schemeClr val="bg2"/>
            </a:solidFill>
            <a:prstDash val="sysDash"/>
          </a:ln>
        </p:spPr>
        <p:style>
          <a:lnRef idx="1">
            <a:schemeClr val="accent1"/>
          </a:lnRef>
          <a:fillRef idx="0">
            <a:schemeClr val="accent1"/>
          </a:fillRef>
          <a:effectRef idx="0">
            <a:schemeClr val="accent1"/>
          </a:effectRef>
          <a:fontRef idx="minor">
            <a:schemeClr val="tx1"/>
          </a:fontRef>
        </p:style>
        <p:txBody>
          <a:bodyPr rtlCol="0" anchor="t"/>
          <a:lstStyle/>
          <a:p>
            <a:pPr fontAlgn="base">
              <a:spcBef>
                <a:spcPts val="900"/>
              </a:spcBef>
              <a:spcAft>
                <a:spcPts val="225"/>
              </a:spcAft>
              <a:buClr>
                <a:srgbClr val="6D6E71"/>
              </a:buClr>
            </a:pPr>
            <a:r>
              <a:rPr lang="en-IN" sz="900" b="1" dirty="0" smtClean="0">
                <a:solidFill>
                  <a:schemeClr val="bg2"/>
                </a:solidFill>
              </a:rPr>
              <a:t>Requirements </a:t>
            </a:r>
            <a:r>
              <a:rPr lang="en-IN" sz="900" b="1" dirty="0">
                <a:solidFill>
                  <a:schemeClr val="bg2"/>
                </a:solidFill>
              </a:rPr>
              <a:t>Specifications</a:t>
            </a:r>
          </a:p>
          <a:p>
            <a:pPr marL="410765" indent="-214313" fontAlgn="base">
              <a:spcBef>
                <a:spcPts val="225"/>
              </a:spcBef>
              <a:buFont typeface="Wingdings" pitchFamily="2" charset="2"/>
              <a:buChar char="§"/>
            </a:pPr>
            <a:r>
              <a:rPr lang="en-IN" sz="900" dirty="0">
                <a:latin typeface="Century Gothic" pitchFamily="34" charset="0"/>
              </a:rPr>
              <a:t>EDS System Requirements</a:t>
            </a:r>
          </a:p>
          <a:p>
            <a:pPr marL="410765" indent="-214313" fontAlgn="base">
              <a:spcBef>
                <a:spcPts val="225"/>
              </a:spcBef>
              <a:buFont typeface="Wingdings" pitchFamily="2" charset="2"/>
              <a:buChar char="§"/>
            </a:pPr>
            <a:r>
              <a:rPr lang="en-IN" sz="900" dirty="0">
                <a:latin typeface="Century Gothic" pitchFamily="34" charset="0"/>
              </a:rPr>
              <a:t>Software Requirements Specifications</a:t>
            </a:r>
          </a:p>
          <a:p>
            <a:pPr marL="410765" indent="-214313" fontAlgn="base">
              <a:spcBef>
                <a:spcPts val="225"/>
              </a:spcBef>
              <a:buFont typeface="Wingdings" pitchFamily="2" charset="2"/>
              <a:buChar char="§"/>
            </a:pPr>
            <a:r>
              <a:rPr lang="en-IN" sz="900" dirty="0">
                <a:latin typeface="Century Gothic" pitchFamily="34" charset="0"/>
              </a:rPr>
              <a:t>Hardware Requirements Specifications</a:t>
            </a:r>
          </a:p>
          <a:p>
            <a:pPr marL="410765" indent="-214313" fontAlgn="base">
              <a:spcBef>
                <a:spcPts val="225"/>
              </a:spcBef>
              <a:buFont typeface="Wingdings" pitchFamily="2" charset="2"/>
              <a:buChar char="§"/>
            </a:pPr>
            <a:r>
              <a:rPr lang="en-IN" sz="900" dirty="0">
                <a:latin typeface="Century Gothic" pitchFamily="34" charset="0"/>
              </a:rPr>
              <a:t>High Level Design</a:t>
            </a:r>
          </a:p>
          <a:p>
            <a:pPr fontAlgn="base">
              <a:spcBef>
                <a:spcPts val="900"/>
              </a:spcBef>
              <a:spcAft>
                <a:spcPts val="225"/>
              </a:spcAft>
              <a:buClr>
                <a:srgbClr val="6D6E71"/>
              </a:buClr>
            </a:pPr>
            <a:r>
              <a:rPr lang="en-IN" sz="900" b="1" dirty="0">
                <a:solidFill>
                  <a:schemeClr val="bg2"/>
                </a:solidFill>
              </a:rPr>
              <a:t>Modelling and Simulation</a:t>
            </a:r>
          </a:p>
          <a:p>
            <a:pPr marL="410765" indent="-214313" fontAlgn="base">
              <a:spcBef>
                <a:spcPts val="225"/>
              </a:spcBef>
              <a:buFont typeface="Wingdings" pitchFamily="2" charset="2"/>
              <a:buChar char="§"/>
            </a:pPr>
            <a:r>
              <a:rPr lang="en-IN" sz="900" dirty="0">
                <a:latin typeface="Century Gothic" pitchFamily="34" charset="0"/>
              </a:rPr>
              <a:t>Algorithm and logic definition</a:t>
            </a:r>
          </a:p>
          <a:p>
            <a:pPr marL="410765" indent="-214313" fontAlgn="base">
              <a:spcBef>
                <a:spcPts val="225"/>
              </a:spcBef>
              <a:buFont typeface="Wingdings" pitchFamily="2" charset="2"/>
              <a:buChar char="§"/>
            </a:pPr>
            <a:r>
              <a:rPr lang="en-IN" sz="900" dirty="0">
                <a:latin typeface="Century Gothic" pitchFamily="34" charset="0"/>
              </a:rPr>
              <a:t>Simulink model development</a:t>
            </a:r>
          </a:p>
          <a:p>
            <a:pPr marL="410765" indent="-214313" fontAlgn="base">
              <a:spcBef>
                <a:spcPts val="225"/>
              </a:spcBef>
              <a:buFont typeface="Wingdings" pitchFamily="2" charset="2"/>
              <a:buChar char="§"/>
            </a:pPr>
            <a:r>
              <a:rPr lang="en-IN" sz="900" dirty="0">
                <a:latin typeface="Century Gothic" pitchFamily="34" charset="0"/>
              </a:rPr>
              <a:t>MIL testing</a:t>
            </a:r>
          </a:p>
          <a:p>
            <a:pPr fontAlgn="base">
              <a:spcBef>
                <a:spcPts val="900"/>
              </a:spcBef>
              <a:spcAft>
                <a:spcPts val="225"/>
              </a:spcAft>
              <a:buClr>
                <a:srgbClr val="6D6E71"/>
              </a:buClr>
            </a:pPr>
            <a:r>
              <a:rPr lang="en-IN" sz="900" b="1" dirty="0">
                <a:solidFill>
                  <a:schemeClr val="bg2"/>
                </a:solidFill>
              </a:rPr>
              <a:t>Auto coding and SIL testing</a:t>
            </a:r>
          </a:p>
          <a:p>
            <a:pPr marL="410765" indent="-214313" fontAlgn="base">
              <a:spcBef>
                <a:spcPts val="225"/>
              </a:spcBef>
              <a:buFont typeface="Wingdings" pitchFamily="2" charset="2"/>
              <a:buChar char="§"/>
            </a:pPr>
            <a:r>
              <a:rPr lang="en-IN" sz="900" dirty="0">
                <a:latin typeface="Century Gothic" pitchFamily="34" charset="0"/>
              </a:rPr>
              <a:t>Data dictionary development</a:t>
            </a:r>
          </a:p>
          <a:p>
            <a:pPr marL="410765" indent="-214313" fontAlgn="base">
              <a:spcBef>
                <a:spcPts val="225"/>
              </a:spcBef>
              <a:buFont typeface="Wingdings" pitchFamily="2" charset="2"/>
              <a:buChar char="§"/>
            </a:pPr>
            <a:r>
              <a:rPr lang="en-IN" sz="900" dirty="0">
                <a:latin typeface="Century Gothic" pitchFamily="34" charset="0"/>
              </a:rPr>
              <a:t>Auto coding</a:t>
            </a:r>
          </a:p>
          <a:p>
            <a:pPr marL="410765" indent="-214313" fontAlgn="base">
              <a:spcBef>
                <a:spcPts val="225"/>
              </a:spcBef>
              <a:buFont typeface="Wingdings" pitchFamily="2" charset="2"/>
              <a:buChar char="§"/>
            </a:pPr>
            <a:r>
              <a:rPr lang="en-IN" sz="900" dirty="0">
                <a:latin typeface="Century Gothic" pitchFamily="34" charset="0"/>
              </a:rPr>
              <a:t>SIL testing</a:t>
            </a:r>
          </a:p>
          <a:p>
            <a:pPr fontAlgn="base">
              <a:spcBef>
                <a:spcPts val="900"/>
              </a:spcBef>
              <a:spcAft>
                <a:spcPts val="225"/>
              </a:spcAft>
              <a:buClr>
                <a:srgbClr val="6D6E71"/>
              </a:buClr>
            </a:pPr>
            <a:r>
              <a:rPr lang="en-IN" sz="900" b="1" dirty="0">
                <a:solidFill>
                  <a:schemeClr val="bg2"/>
                </a:solidFill>
              </a:rPr>
              <a:t>Integration testing</a:t>
            </a:r>
          </a:p>
          <a:p>
            <a:pPr marL="410765" indent="-214313" fontAlgn="base">
              <a:spcBef>
                <a:spcPts val="225"/>
              </a:spcBef>
              <a:buFont typeface="Wingdings" pitchFamily="2" charset="2"/>
              <a:buChar char="§"/>
            </a:pPr>
            <a:r>
              <a:rPr lang="en-IN" sz="800" dirty="0">
                <a:latin typeface="Century Gothic" pitchFamily="34" charset="0"/>
              </a:rPr>
              <a:t>Support for Integration testing</a:t>
            </a:r>
          </a:p>
          <a:p>
            <a:pPr marL="410765" indent="-214313" fontAlgn="base">
              <a:spcBef>
                <a:spcPts val="225"/>
              </a:spcBef>
              <a:buFont typeface="Wingdings" pitchFamily="2" charset="2"/>
              <a:buChar char="§"/>
            </a:pPr>
            <a:r>
              <a:rPr lang="en-IN" sz="800" dirty="0">
                <a:latin typeface="Century Gothic" pitchFamily="34" charset="0"/>
              </a:rPr>
              <a:t>EDS Parameter tuning</a:t>
            </a:r>
          </a:p>
          <a:p>
            <a:pPr fontAlgn="base">
              <a:spcBef>
                <a:spcPts val="900"/>
              </a:spcBef>
              <a:spcAft>
                <a:spcPts val="225"/>
              </a:spcAft>
              <a:buClr>
                <a:srgbClr val="6D6E71"/>
              </a:buClr>
            </a:pPr>
            <a:r>
              <a:rPr lang="en-IN" sz="900" b="1" dirty="0">
                <a:solidFill>
                  <a:schemeClr val="bg2"/>
                </a:solidFill>
              </a:rPr>
              <a:t>Maintenance</a:t>
            </a:r>
          </a:p>
          <a:p>
            <a:pPr marL="410765" indent="-214313" fontAlgn="base">
              <a:spcBef>
                <a:spcPts val="225"/>
              </a:spcBef>
              <a:buFont typeface="Wingdings" pitchFamily="2" charset="2"/>
              <a:buChar char="§"/>
            </a:pPr>
            <a:r>
              <a:rPr lang="en-IN" sz="900" dirty="0">
                <a:latin typeface="Century Gothic" pitchFamily="34" charset="0"/>
              </a:rPr>
              <a:t>Bug fixes</a:t>
            </a:r>
          </a:p>
          <a:p>
            <a:pPr marL="410765" indent="-214313" fontAlgn="base">
              <a:spcBef>
                <a:spcPts val="225"/>
              </a:spcBef>
              <a:buFont typeface="Wingdings" pitchFamily="2" charset="2"/>
              <a:buChar char="§"/>
            </a:pPr>
            <a:r>
              <a:rPr lang="en-IN" sz="900" dirty="0">
                <a:latin typeface="Century Gothic" pitchFamily="34" charset="0"/>
              </a:rPr>
              <a:t>Calibration change</a:t>
            </a:r>
          </a:p>
          <a:p>
            <a:pPr marL="410765" indent="-214313" fontAlgn="base">
              <a:spcBef>
                <a:spcPts val="225"/>
              </a:spcBef>
              <a:buFont typeface="Wingdings" pitchFamily="2" charset="2"/>
              <a:buChar char="§"/>
            </a:pPr>
            <a:r>
              <a:rPr lang="en-IN" sz="900" dirty="0">
                <a:latin typeface="Century Gothic" pitchFamily="34" charset="0"/>
              </a:rPr>
              <a:t>Fine tuning the </a:t>
            </a:r>
            <a:r>
              <a:rPr lang="en-IN" sz="900" dirty="0" smtClean="0">
                <a:latin typeface="Century Gothic" pitchFamily="34" charset="0"/>
              </a:rPr>
              <a:t>application</a:t>
            </a:r>
            <a:endParaRPr lang="en-IN" sz="900" dirty="0">
              <a:latin typeface="Century Gothic" pitchFamily="34" charset="0"/>
            </a:endParaRPr>
          </a:p>
        </p:txBody>
      </p:sp>
      <p:sp>
        <p:nvSpPr>
          <p:cNvPr id="5" name="Title 1"/>
          <p:cNvSpPr txBox="1">
            <a:spLocks/>
          </p:cNvSpPr>
          <p:nvPr/>
        </p:nvSpPr>
        <p:spPr bwMode="gray">
          <a:xfrm>
            <a:off x="2504647" y="219573"/>
            <a:ext cx="5173457" cy="27699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1800" b="0" kern="1200" dirty="0">
                <a:solidFill>
                  <a:schemeClr val="tx2"/>
                </a:solidFill>
                <a:latin typeface="Century Gothic" pitchFamily="34" charset="0"/>
                <a:ea typeface="+mj-ea"/>
                <a:cs typeface="Arial" pitchFamily="34" charset="0"/>
              </a:defRPr>
            </a:lvl1pPr>
          </a:lstStyle>
          <a:p>
            <a:r>
              <a:rPr lang="en-US" b="1" dirty="0" smtClean="0"/>
              <a:t>EDS SW Development – Model Based Design</a:t>
            </a:r>
            <a:endParaRPr lang="en-US" b="1" dirty="0"/>
          </a:p>
        </p:txBody>
      </p:sp>
      <p:pic>
        <p:nvPicPr>
          <p:cNvPr id="6" name="Picture 5"/>
          <p:cNvPicPr>
            <a:picLocks noChangeAspect="1"/>
          </p:cNvPicPr>
          <p:nvPr/>
        </p:nvPicPr>
        <p:blipFill>
          <a:blip r:embed="rId2"/>
          <a:stretch>
            <a:fillRect/>
          </a:stretch>
        </p:blipFill>
        <p:spPr>
          <a:xfrm>
            <a:off x="3037402" y="691419"/>
            <a:ext cx="6106598" cy="3841669"/>
          </a:xfrm>
          <a:prstGeom prst="rect">
            <a:avLst/>
          </a:prstGeom>
        </p:spPr>
      </p:pic>
      <p:sp>
        <p:nvSpPr>
          <p:cNvPr id="7" name="TextBox 6"/>
          <p:cNvSpPr txBox="1"/>
          <p:nvPr/>
        </p:nvSpPr>
        <p:spPr>
          <a:xfrm>
            <a:off x="4002452" y="4645783"/>
            <a:ext cx="3979924"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lvl="0" fontAlgn="base">
              <a:buClr>
                <a:schemeClr val="tx2"/>
              </a:buClr>
            </a:pPr>
            <a:r>
              <a:rPr lang="en-US" sz="1200" b="1" kern="0" dirty="0" smtClean="0">
                <a:solidFill>
                  <a:schemeClr val="bg2"/>
                </a:solidFill>
                <a:latin typeface="Century Gothic" pitchFamily="34" charset="0"/>
                <a:cs typeface="Arial"/>
                <a:sym typeface="Arial"/>
              </a:rPr>
              <a:t>Model Based Design – Application SW Development</a:t>
            </a:r>
            <a:endParaRPr lang="en-US" sz="1200" b="1" kern="0" dirty="0">
              <a:solidFill>
                <a:schemeClr val="bg2"/>
              </a:solidFill>
              <a:latin typeface="Century Gothic" pitchFamily="34" charset="0"/>
              <a:cs typeface="Arial"/>
              <a:sym typeface="Arial"/>
            </a:endParaRPr>
          </a:p>
        </p:txBody>
      </p:sp>
    </p:spTree>
    <p:extLst>
      <p:ext uri="{BB962C8B-B14F-4D97-AF65-F5344CB8AC3E}">
        <p14:creationId xmlns:p14="http://schemas.microsoft.com/office/powerpoint/2010/main" val="1858917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013" y="545306"/>
            <a:ext cx="8226425" cy="276999"/>
          </a:xfrm>
        </p:spPr>
        <p:txBody>
          <a:bodyPr/>
          <a:lstStyle/>
          <a:p>
            <a:r>
              <a:rPr lang="en-US" b="1" dirty="0" smtClean="0"/>
              <a:t>EDS Controller – Challenges</a:t>
            </a:r>
            <a:endParaRPr lang="en-US" b="1" dirty="0"/>
          </a:p>
        </p:txBody>
      </p:sp>
      <p:sp>
        <p:nvSpPr>
          <p:cNvPr id="14" name="TextBox 13"/>
          <p:cNvSpPr txBox="1"/>
          <p:nvPr/>
        </p:nvSpPr>
        <p:spPr>
          <a:xfrm>
            <a:off x="479423" y="1133288"/>
            <a:ext cx="2505075" cy="184666"/>
          </a:xfrm>
          <a:prstGeom prst="rect">
            <a:avLst/>
          </a:prstGeom>
          <a:noFill/>
          <a:ln w="9525">
            <a:noFill/>
            <a:miter lim="800000"/>
            <a:headEnd/>
            <a:tailEnd/>
          </a:ln>
        </p:spPr>
        <p:txBody>
          <a:bodyPr vert="horz" wrap="square" lIns="0" tIns="0" rIns="0" bIns="0" numCol="1" rtlCol="0" anchor="t" anchorCtr="0" compatLnSpc="1">
            <a:prstTxWarp prst="textNoShape">
              <a:avLst/>
            </a:prstTxWarp>
            <a:spAutoFit/>
          </a:bodyPr>
          <a:lstStyle/>
          <a:p>
            <a:pPr fontAlgn="base">
              <a:buClr>
                <a:schemeClr val="tx2"/>
              </a:buClr>
            </a:pPr>
            <a:r>
              <a:rPr lang="en-US" sz="1200" b="1" dirty="0" smtClean="0">
                <a:solidFill>
                  <a:schemeClr val="bg2"/>
                </a:solidFill>
                <a:latin typeface="Century Gothic" pitchFamily="34" charset="0"/>
                <a:cs typeface="Calibri"/>
              </a:rPr>
              <a:t>Challenges</a:t>
            </a:r>
            <a:endParaRPr lang="en-US" sz="1200" b="1" dirty="0">
              <a:solidFill>
                <a:schemeClr val="bg2"/>
              </a:solidFill>
              <a:latin typeface="Century Gothic" pitchFamily="34" charset="0"/>
              <a:cs typeface="Calibri"/>
            </a:endParaRPr>
          </a:p>
        </p:txBody>
      </p:sp>
      <p:sp>
        <p:nvSpPr>
          <p:cNvPr id="15" name="Shape 181"/>
          <p:cNvSpPr/>
          <p:nvPr/>
        </p:nvSpPr>
        <p:spPr>
          <a:xfrm>
            <a:off x="479422" y="1427793"/>
            <a:ext cx="7827999" cy="1661993"/>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marL="182880" indent="-182880">
              <a:spcAft>
                <a:spcPts val="600"/>
              </a:spcAft>
              <a:buFont typeface="Wingdings" pitchFamily="2" charset="2"/>
              <a:buChar char="§"/>
            </a:pPr>
            <a:r>
              <a:rPr lang="en-US" sz="1100" dirty="0" smtClean="0">
                <a:latin typeface="Century Gothic" pitchFamily="34" charset="0"/>
              </a:rPr>
              <a:t>Constraints on ECU </a:t>
            </a:r>
            <a:r>
              <a:rPr lang="en-US" sz="1100" dirty="0">
                <a:latin typeface="Century Gothic" pitchFamily="34" charset="0"/>
              </a:rPr>
              <a:t>s</a:t>
            </a:r>
            <a:r>
              <a:rPr lang="en-US" sz="1100" dirty="0" smtClean="0">
                <a:latin typeface="Century Gothic" pitchFamily="34" charset="0"/>
              </a:rPr>
              <a:t>ize, dimensions – Divided into 5 PCBs – Current Sensor, Power Board, Cap Board, Digital Boards</a:t>
            </a:r>
          </a:p>
          <a:p>
            <a:pPr marL="182880" indent="-182880">
              <a:spcAft>
                <a:spcPts val="600"/>
              </a:spcAft>
              <a:buFont typeface="Wingdings" pitchFamily="2" charset="2"/>
              <a:buChar char="§"/>
            </a:pPr>
            <a:r>
              <a:rPr lang="en-US" sz="1100" dirty="0" smtClean="0">
                <a:latin typeface="Century Gothic" pitchFamily="34" charset="0"/>
              </a:rPr>
              <a:t>Driver Circuits for Multi-Coil (3 phase divided into 12 coils) – PCB Lay-outing, Synchronism for driving MOSFETs</a:t>
            </a:r>
          </a:p>
          <a:p>
            <a:pPr marL="182880" indent="-182880">
              <a:spcAft>
                <a:spcPts val="600"/>
              </a:spcAft>
              <a:buFont typeface="Wingdings" pitchFamily="2" charset="2"/>
              <a:buChar char="§"/>
            </a:pPr>
            <a:r>
              <a:rPr lang="en-US" sz="1100" dirty="0" smtClean="0">
                <a:latin typeface="Century Gothic" pitchFamily="34" charset="0"/>
              </a:rPr>
              <a:t>ADC Sampling for all 12 coils</a:t>
            </a:r>
          </a:p>
          <a:p>
            <a:pPr marL="182880" indent="-182880">
              <a:spcAft>
                <a:spcPts val="600"/>
              </a:spcAft>
              <a:buFont typeface="Wingdings" pitchFamily="2" charset="2"/>
              <a:buChar char="§"/>
            </a:pPr>
            <a:r>
              <a:rPr lang="en-US" sz="1100" dirty="0" smtClean="0">
                <a:latin typeface="Century Gothic" pitchFamily="34" charset="0"/>
              </a:rPr>
              <a:t>FOC based control for Multi-Coil based PMSM Motor</a:t>
            </a:r>
          </a:p>
          <a:p>
            <a:pPr marL="182880" indent="-182880">
              <a:spcAft>
                <a:spcPts val="600"/>
              </a:spcAft>
              <a:buFont typeface="Wingdings" pitchFamily="2" charset="2"/>
              <a:buChar char="§"/>
            </a:pPr>
            <a:r>
              <a:rPr lang="en-US" sz="1100" dirty="0" smtClean="0">
                <a:latin typeface="Century Gothic" pitchFamily="34" charset="0"/>
              </a:rPr>
              <a:t>Functional Safety using Monitor Processor – To be sync with Control Processor</a:t>
            </a:r>
          </a:p>
          <a:p>
            <a:pPr marL="182880" indent="-182880">
              <a:spcAft>
                <a:spcPts val="600"/>
              </a:spcAft>
              <a:buFont typeface="Wingdings" pitchFamily="2" charset="2"/>
              <a:buChar char="§"/>
            </a:pPr>
            <a:endParaRPr lang="en-US" sz="1100" dirty="0" smtClean="0">
              <a:latin typeface="Century Gothic" pitchFamily="34" charset="0"/>
            </a:endParaRPr>
          </a:p>
        </p:txBody>
      </p:sp>
      <p:sp>
        <p:nvSpPr>
          <p:cNvPr id="19" name="Slide Number Placeholder 5"/>
          <p:cNvSpPr txBox="1">
            <a:spLocks/>
          </p:cNvSpPr>
          <p:nvPr/>
        </p:nvSpPr>
        <p:spPr bwMode="auto">
          <a:xfrm>
            <a:off x="8909019" y="4941274"/>
            <a:ext cx="70532"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smtClean="0">
                <a:solidFill>
                  <a:schemeClr val="tx1">
                    <a:lumMod val="95000"/>
                    <a:lumOff val="5000"/>
                  </a:schemeClr>
                </a:solidFill>
                <a:latin typeface="Century Gothic" pitchFamily="34" charset="0"/>
                <a:cs typeface="Arial" pitchFamily="34" charset="0"/>
              </a:rPr>
              <a:pPr algn="r">
                <a:defRPr/>
              </a:pPr>
              <a:t>6</a:t>
            </a:fld>
            <a:endParaRPr lang="en-US" sz="1000" dirty="0">
              <a:solidFill>
                <a:schemeClr val="tx1">
                  <a:lumMod val="95000"/>
                  <a:lumOff val="5000"/>
                </a:schemeClr>
              </a:solidFill>
              <a:latin typeface="Century Gothic" pitchFamily="34" charset="0"/>
              <a:cs typeface="Arial" pitchFamily="34" charset="0"/>
            </a:endParaRPr>
          </a:p>
        </p:txBody>
      </p:sp>
      <p:sp>
        <p:nvSpPr>
          <p:cNvPr id="20" name="TextBox 20"/>
          <p:cNvSpPr txBox="1">
            <a:spLocks noChangeArrowheads="1"/>
          </p:cNvSpPr>
          <p:nvPr/>
        </p:nvSpPr>
        <p:spPr bwMode="gray">
          <a:xfrm>
            <a:off x="481013" y="4972051"/>
            <a:ext cx="2580835" cy="123111"/>
          </a:xfrm>
          <a:prstGeom prst="rect">
            <a:avLst/>
          </a:prstGeom>
          <a:noFill/>
          <a:ln w="9525">
            <a:noFill/>
            <a:miter lim="800000"/>
            <a:headEnd/>
            <a:tailEnd/>
          </a:ln>
        </p:spPr>
        <p:txBody>
          <a:bodyPr wrap="none" lIns="0" tIns="0" rIns="0" bIns="0">
            <a:spAutoFit/>
          </a:bodyPr>
          <a:lstStyle/>
          <a:p>
            <a:pPr>
              <a:defRPr/>
            </a:pPr>
            <a:r>
              <a:rPr lang="en-US" sz="800" dirty="0" smtClean="0">
                <a:solidFill>
                  <a:schemeClr val="tx1">
                    <a:lumMod val="95000"/>
                    <a:lumOff val="5000"/>
                  </a:schemeClr>
                </a:solidFill>
                <a:latin typeface="Century Gothic" pitchFamily="34" charset="0"/>
                <a:cs typeface="Arial" pitchFamily="34" charset="0"/>
              </a:rPr>
              <a:t>Copyright © 2017 Tech Mahindra. All rights reserved.</a:t>
            </a:r>
            <a:endParaRPr lang="en-US" sz="800" dirty="0">
              <a:solidFill>
                <a:schemeClr val="tx1">
                  <a:lumMod val="95000"/>
                  <a:lumOff val="5000"/>
                </a:schemeClr>
              </a:solidFill>
              <a:latin typeface="Century Gothic" pitchFamily="34" charset="0"/>
              <a:cs typeface="Arial" pitchFamily="34" charset="0"/>
            </a:endParaRPr>
          </a:p>
        </p:txBody>
      </p:sp>
    </p:spTree>
    <p:extLst>
      <p:ext uri="{BB962C8B-B14F-4D97-AF65-F5344CB8AC3E}">
        <p14:creationId xmlns:p14="http://schemas.microsoft.com/office/powerpoint/2010/main" val="1132351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PresentationTechM">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0CB50A625C08A4E8BBFFC168B2DA761" ma:contentTypeVersion="13" ma:contentTypeDescription="Create a new document." ma:contentTypeScope="" ma:versionID="f355b282d682e5201a65e842ed20f578">
  <xsd:schema xmlns:xsd="http://www.w3.org/2001/XMLSchema" xmlns:xs="http://www.w3.org/2001/XMLSchema" xmlns:p="http://schemas.microsoft.com/office/2006/metadata/properties" xmlns:ns1="http://schemas.microsoft.com/sharepoint/v3" xmlns:ns2="fcfb129d-2c4d-4bcd-afb5-a92980dfa96d" xmlns:ns3="b6ae8028-3361-4878-ad09-deb2e128b95c" targetNamespace="http://schemas.microsoft.com/office/2006/metadata/properties" ma:root="true" ma:fieldsID="75fa229888f2f301f6c65558965486ae" ns1:_="" ns2:_="" ns3:_="">
    <xsd:import namespace="http://schemas.microsoft.com/sharepoint/v3"/>
    <xsd:import namespace="fcfb129d-2c4d-4bcd-afb5-a92980dfa96d"/>
    <xsd:import namespace="b6ae8028-3361-4878-ad09-deb2e128b95c"/>
    <xsd:element name="properties">
      <xsd:complexType>
        <xsd:sequence>
          <xsd:element name="documentManagement">
            <xsd:complexType>
              <xsd:all>
                <xsd:element ref="ns2:Document_x0020_Sub_x0020_Classification" minOccurs="0"/>
                <xsd:element ref="ns2:Document_x0020_Classification"/>
                <xsd:element ref="ns2:Service_x0020_Offering" minOccurs="0"/>
                <xsd:element ref="ns2:Service_x0020_Line" minOccurs="0"/>
                <xsd:element ref="ns2:Technology" minOccurs="0"/>
                <xsd:element ref="ns2:Domain" minOccurs="0"/>
                <xsd:element ref="ns3:Asset_x0020_Type" minOccurs="0"/>
                <xsd:element ref="ns3:Folder" minOccurs="0"/>
                <xsd:element ref="ns3:Subfolder" minOccurs="0"/>
                <xsd:element ref="ns1:AverageRating" minOccurs="0"/>
                <xsd:element ref="ns1:Rating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8" nillable="true" ma:displayName="Rating (0-5)" ma:decimals="2" ma:description="Average value of all the ratings that have been submitted" ma:internalName="Rating_x0020__x0028_0_x002d_5_x0029_" ma:readOnly="true">
      <xsd:simpleType>
        <xsd:restriction base="dms:Number"/>
      </xsd:simpleType>
    </xsd:element>
    <xsd:element name="RatingCount" ma:index="19" nillable="true" ma:displayName="Number of Ratings" ma:decimals="0" ma:description="Number of ratings submitted" ma:internalName="Number_x0020_of_x0020_Ratings" ma:readOnly="tru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fcfb129d-2c4d-4bcd-afb5-a92980dfa96d" elementFormDefault="qualified">
    <xsd:import namespace="http://schemas.microsoft.com/office/2006/documentManagement/types"/>
    <xsd:import namespace="http://schemas.microsoft.com/office/infopath/2007/PartnerControls"/>
    <xsd:element name="Document_x0020_Sub_x0020_Classification" ma:index="3" nillable="true" ma:displayName="Document Classification" ma:default="Delivery" ma:format="Dropdown" ma:internalName="Document_x0020_Sub_x0020_Classification">
      <xsd:simpleType>
        <xsd:restriction base="dms:Choice">
          <xsd:enumeration value="Delivery"/>
          <xsd:enumeration value="Sales &amp; Presales"/>
          <xsd:enumeration value="Process and Service Offering"/>
          <xsd:enumeration value="Alliances"/>
          <xsd:enumeration value="Operations"/>
        </xsd:restriction>
      </xsd:simpleType>
    </xsd:element>
    <xsd:element name="Document_x0020_Classification" ma:index="4" ma:displayName="Document Sub Classification" ma:format="Dropdown" ma:internalName="Document_x0020_Classification">
      <xsd:simpleType>
        <xsd:restriction base="dms:Choice">
          <xsd:enumeration value="Alliance info"/>
          <xsd:enumeration value="Architecture Docs"/>
          <xsd:enumeration value="Articles"/>
          <xsd:enumeration value="Best Practices"/>
          <xsd:enumeration value="Brochures"/>
          <xsd:enumeration value="Case Studies"/>
          <xsd:enumeration value="Contact List"/>
          <xsd:enumeration value="Customer Info"/>
          <xsd:enumeration value="Film"/>
          <xsd:enumeration value="Images"/>
          <xsd:enumeration value="Newsletter"/>
          <xsd:enumeration value="POCs"/>
          <xsd:enumeration value="Practice PPTs"/>
          <xsd:enumeration value="PreSales Kit"/>
          <xsd:enumeration value="Presentations"/>
          <xsd:enumeration value="Process Collateral"/>
          <xsd:enumeration value="Posters"/>
          <xsd:enumeration value="Profiles"/>
          <xsd:enumeration value="Questionnaire"/>
          <xsd:enumeration value="Reviews"/>
          <xsd:enumeration value="Reports"/>
          <xsd:enumeration value="RFP / Proposals / RFIs"/>
          <xsd:enumeration value="Sales Brochures"/>
          <xsd:enumeration value="SO Collateral"/>
          <xsd:enumeration value="Survey Results"/>
          <xsd:enumeration value="Technical Papers"/>
          <xsd:enumeration value="Templates"/>
          <xsd:enumeration value="White Papers"/>
          <xsd:enumeration value="Others"/>
        </xsd:restriction>
      </xsd:simpleType>
    </xsd:element>
    <xsd:element name="Service_x0020_Offering" ma:index="5" nillable="true" ma:displayName="Service Offering" ma:default="NA" ma:format="Dropdown" ma:internalName="Service_x0020_Offering">
      <xsd:simpleType>
        <xsd:restriction base="dms:Choice">
          <xsd:enumeration value="NA"/>
          <xsd:enumeration value="Aero Manufacturing"/>
          <xsd:enumeration value="Aero Structures"/>
          <xsd:enumeration value="Aero Systems"/>
          <xsd:enumeration value="Airline MRO Solutions"/>
          <xsd:enumeration value="Airlines and Travel services"/>
          <xsd:enumeration value="Airport Solutions"/>
          <xsd:enumeration value="Application Transition/Transformation Solutions"/>
          <xsd:enumeration value="Automotive Electronics"/>
          <xsd:enumeration value="Avionics Solutions for Aerospace &amp; Defense"/>
          <xsd:enumeration value="BI / DW Lifecycle Consulting"/>
          <xsd:enumeration value="BI / DW Technology Services (COE)"/>
          <xsd:enumeration value="BI / DW Testing, Maintenance and Support"/>
          <xsd:enumeration value="BPO Services"/>
          <xsd:enumeration value="Business Analytics"/>
          <xsd:enumeration value="Business Process Management  Solutions"/>
          <xsd:enumeration value="Business Process Re-engineering"/>
          <xsd:enumeration value="Central Banking Solutions"/>
          <xsd:enumeration value="Cloud computing  - new biz model, novel solutions"/>
          <xsd:enumeration value="CoE (Aerospace &amp; Defence)"/>
          <xsd:enumeration value="Communication enabled business process and applications(UC services &amp; Apps, Soln Arch)"/>
          <xsd:enumeration value="Consumer Lending"/>
          <xsd:enumeration value="Core Banking Solutions"/>
          <xsd:enumeration value="Corporate Performance Management"/>
          <xsd:enumeration value="CPG Solutions"/>
          <xsd:enumeration value="Custom &amp; Composite Applications Development using Oracle Middleware"/>
          <xsd:enumeration value="Customer Relationship Management  Solutions"/>
          <xsd:enumeration value="Data and Metadata Management Services"/>
          <xsd:enumeration value="DBA Services - DB2, Informix, Progress"/>
          <xsd:enumeration value="DBA Services - Oracle"/>
          <xsd:enumeration value="DBA Services - SQL Server, Sybase, Ingres"/>
          <xsd:enumeration value="DBA Services - Teradata"/>
          <xsd:enumeration value="Digital Convergence – IP/patent based Components"/>
          <xsd:enumeration value="eHealth"/>
          <xsd:enumeration value="Emergency Management (108)"/>
          <xsd:enumeration value="Emerging Network Management Solution"/>
          <xsd:enumeration value="Emerging Technologies and Rich Internet Applications"/>
          <xsd:enumeration value="Enterprise Application Integration Solutions"/>
          <xsd:enumeration value="Enterprise Architecture and SOA"/>
          <xsd:enumeration value="Enterprise Content Management Solutions"/>
          <xsd:enumeration value="Enterprise Risk Management"/>
          <xsd:enumeration value="EPM Solutions"/>
          <xsd:enumeration value="FUTURUS"/>
          <xsd:enumeration value="Gov E Services"/>
          <xsd:enumeration value="Governance, Compliance &amp; Risk Management (GRC) Implementation"/>
          <xsd:enumeration value="Health Insurance Solutions"/>
          <xsd:enumeration value="Hospital Information Systems"/>
          <xsd:enumeration value="Industrial &amp; defense Electronics"/>
          <xsd:enumeration value="Infrastructure Applications and Tools"/>
          <xsd:enumeration value="Infrastructure Enterprise Systems"/>
          <xsd:enumeration value="Infrastructure integration solutions"/>
          <xsd:enumeration value="Integrated Testing Solutions"/>
          <xsd:enumeration value="IT Quality Consulting"/>
          <xsd:enumeration value="IT Tooling Center of Excellence"/>
          <xsd:enumeration value="ITSM Consulting"/>
          <xsd:enumeration value="Java &amp; Open Source Solutions"/>
          <xsd:enumeration value="JDE Applications  Maintenance &amp; Support"/>
          <xsd:enumeration value="JDE Applications Custom Development"/>
          <xsd:enumeration value="JDE Applications Implementation"/>
          <xsd:enumeration value="JDE Applications Upgrade"/>
          <xsd:enumeration value="Lean &amp; 6 Sigma Consulting"/>
          <xsd:enumeration value="Life Insurance Solutions"/>
          <xsd:enumeration value="Life Sciences R&amp;D Solutions"/>
          <xsd:enumeration value="LS - Manufacturing and Supply Chain Solutions"/>
          <xsd:enumeration value="LS Sales and Marketing Solutions"/>
          <xsd:enumeration value="Mainframe Solutions"/>
          <xsd:enumeration value="Managed Services"/>
          <xsd:enumeration value="Manufacturing &amp; Sourcing"/>
          <xsd:enumeration value="Manufacturing Operations and Consulting Solutions"/>
          <xsd:enumeration value="Mechanical Structures"/>
          <xsd:enumeration value="Mechanical Systems"/>
          <xsd:enumeration value="Media analytics and IT solutions - advertising, online behavior"/>
          <xsd:enumeration value="Media publishing solutions - DAM/DRM, CDN (ingestion, conversion, repurposing and distribution)"/>
          <xsd:enumeration value="Media service provider solutions"/>
          <xsd:enumeration value="Microsoft Platform Solutions"/>
          <xsd:enumeration value="Mobility Solutions"/>
          <xsd:enumeration value="MTCA-Microsoft Technical Consulting &amp; Alliance"/>
          <xsd:enumeration value="Networking platforms and solutions"/>
          <xsd:enumeration value="O&amp;G Midstream, Refining &amp; Trading Solutions"/>
          <xsd:enumeration value="Oil &amp; GAS Upstream Solutions"/>
          <xsd:enumeration value="Oil and Gas Downstream Marketing and Retail"/>
          <xsd:enumeration value="Oracle 360 Commerce Implementation"/>
          <xsd:enumeration value="Oracle Content Management Services"/>
          <xsd:enumeration value="Oracle Ebusiness Applications Maintenance &amp; Support"/>
          <xsd:enumeration value="Oracle Ebusiness Custom Development"/>
          <xsd:enumeration value="Oracle Ebusiness Implementation"/>
          <xsd:enumeration value="Oracle Ebusiness Upgrade"/>
          <xsd:enumeration value="Oracle Identity and Access Management Services"/>
          <xsd:enumeration value="Oracle Master Data Management (MDM)"/>
          <xsd:enumeration value="Oracle Portal Services"/>
          <xsd:enumeration value="Oracle Retek Implementation"/>
          <xsd:enumeration value="Payments &amp; Cards"/>
          <xsd:enumeration value="PeopleSoft Applications Custom Development"/>
          <xsd:enumeration value="PeopleSoft Applications Implementation"/>
          <xsd:enumeration value="PeopleSoft Applications Maintenance &amp; Support"/>
          <xsd:enumeration value="PeopleSoft Applications Upgrade"/>
          <xsd:enumeration value="PLM and EDI Solutions"/>
          <xsd:enumeration value="PMO  Consulting and ProgramManagement"/>
          <xsd:enumeration value="Point Solutions"/>
          <xsd:enumeration value="Property and Casualty Insurance Solutions"/>
          <xsd:enumeration value="Public Health Management (104)"/>
          <xsd:enumeration value="Requirement Management Consulting"/>
          <xsd:enumeration value="Retail Solutions"/>
          <xsd:enumeration value="SaaS for Manufacturing"/>
          <xsd:enumeration value="Sales and After Market solutions"/>
          <xsd:enumeration value="SAP ABAP Development and Enhacement Services"/>
          <xsd:enumeration value="SAP BASIS System Administration Services"/>
          <xsd:enumeration value="SAP Branding and Product Alliance Services"/>
          <xsd:enumeration value="SAP CoE and Innovation Services"/>
          <xsd:enumeration value="SAP End-To-End Implementation &amp; Roll Out Services"/>
          <xsd:enumeration value="SAP Financial &amp; Analytics Services"/>
          <xsd:enumeration value="SAP Human Capital Management Solutions"/>
          <xsd:enumeration value="SAP Knowledge Management &amp; Learning Services"/>
          <xsd:enumeration value="SAP Manufacturing &amp; Supply Chain Services"/>
          <xsd:enumeration value="SAP NetWeaver &amp; Integration Solutions"/>
          <xsd:enumeration value="SAP O2C &amp; CRM Services"/>
          <xsd:enumeration value="SAP Upgrade and AMS Services"/>
          <xsd:enumeration value="Semicon Analytics and IT solutions"/>
          <xsd:enumeration value="Semicon equipment engg services -- mechanical, electronics"/>
          <xsd:enumeration value="Semicon Manufacturing IT solutions"/>
          <xsd:enumeration value="Siebel Applications  Maintenance &amp; Support"/>
          <xsd:enumeration value="Siebel Applications Custom Development"/>
          <xsd:enumeration value="Siebel Applications Implementation"/>
          <xsd:enumeration value="Siebel Applications Upgrade"/>
          <xsd:enumeration value="Software Engineering Consulting"/>
          <xsd:enumeration value="Software product engg services for computing platforms (Apple, MS, Oracle, IBM)"/>
          <xsd:enumeration value="Software product engg services for network equipment, devices and appliances"/>
          <xsd:enumeration value="Software product engg services for Online &amp; Video games"/>
          <xsd:enumeration value="Solutions for Development Banks"/>
          <xsd:enumeration value="Solutions for Higher Education"/>
          <xsd:enumeration value="Solutions for Infrastructure and Real Estate"/>
          <xsd:enumeration value="Solutions for Logistics Service Providers"/>
          <xsd:enumeration value="Sourcing &amp; Asset (MES, LIMS, EAM) Management Solutions"/>
          <xsd:enumeration value="Sports OSS/BSS services"/>
          <xsd:enumeration value="STP and Asset Servicing"/>
          <xsd:enumeration value="Strategic IT Advisory Services"/>
          <xsd:enumeration value="Strategic Sourcing Consulting"/>
          <xsd:enumeration value="Stress, Fatigue &amp; Damage Tolerance"/>
          <xsd:enumeration value="Technical Publication Solutions"/>
          <xsd:enumeration value="Telecom Analytics and IT solutions"/>
          <xsd:enumeration value="Telecom BSS services"/>
          <xsd:enumeration value="Telecom Electronics"/>
          <xsd:enumeration value="Telecom OSS and NMS services"/>
          <xsd:enumeration value="Telecom SDP"/>
          <xsd:enumeration value="Testing Frameworks"/>
          <xsd:enumeration value="TOC Consulting"/>
          <xsd:enumeration value="User Experience Management Solutions"/>
          <xsd:enumeration value="Utilities Solutions Offerings"/>
          <xsd:enumeration value="Vendor Collaboration Solutions"/>
          <xsd:enumeration value="Vertical Solutions Frameworks"/>
          <xsd:enumeration value="VisionPLUS - Credit Processing"/>
        </xsd:restriction>
      </xsd:simpleType>
    </xsd:element>
    <xsd:element name="Service_x0020_Line" ma:index="6" nillable="true" ma:displayName="Service Line" ma:default="NA" ma:format="Dropdown" ma:internalName="Service_x0020_Line">
      <xsd:simpleType>
        <xsd:restriction base="dms:Choice">
          <xsd:enumeration value="NA"/>
          <xsd:enumeration value="Application Development and Maintenance (ADMS)"/>
          <xsd:enumeration value="Business Process Outsourcing"/>
          <xsd:enumeration value="Enterprise Business Solutions"/>
          <xsd:enumeration value="Integrated Engineering Services"/>
          <xsd:enumeration value="Infrastructure Management Services"/>
          <xsd:enumeration value="Vertical or Industry Native Solutions"/>
        </xsd:restriction>
      </xsd:simpleType>
    </xsd:element>
    <xsd:element name="Technology" ma:index="7" nillable="true" ma:displayName="Technology" ma:default="NA" ma:format="Dropdown" ma:internalName="Technology">
      <xsd:simpleType>
        <xsd:restriction base="dms:Choice">
          <xsd:enumeration value="NA"/>
          <xsd:enumeration value="Applcn Server Technologies"/>
          <xsd:enumeration value="Actuate"/>
          <xsd:enumeration value="Ariba"/>
          <xsd:enumeration value="Baan"/>
          <xsd:enumeration value="Business Intelligence Solution"/>
          <xsd:enumeration value="Business Objects"/>
          <xsd:enumeration value="Client-Server Technologies"/>
          <xsd:enumeration value="Cognos"/>
          <xsd:enumeration value="Cold Fusion"/>
          <xsd:enumeration value="Component Technologies"/>
          <xsd:enumeration value="Date Stage"/>
          <xsd:enumeration value="Database"/>
          <xsd:enumeration value="DB2"/>
          <xsd:enumeration value="DW/Data Mining Technologies"/>
          <xsd:enumeration value="Engg Services CAD/CAM"/>
          <xsd:enumeration value="Enterprise App. Integration"/>
          <xsd:enumeration value="Enterprise Application"/>
          <xsd:enumeration value="ERP"/>
          <xsd:enumeration value="Hyperion"/>
          <xsd:enumeration value="IBM Technologies"/>
          <xsd:enumeration value="Infomatica"/>
          <xsd:enumeration value="Internet(Biz)"/>
          <xsd:enumeration value="Linux"/>
          <xsd:enumeration value="Lotus Domino"/>
          <xsd:enumeration value="Lotus Notes"/>
          <xsd:enumeration value="Mac OS"/>
          <xsd:enumeration value="Mainframe Technologies"/>
          <xsd:enumeration value="Microstrategy"/>
          <xsd:enumeration value="Maximo"/>
          <xsd:enumeration value="Not Applicable"/>
          <xsd:enumeration value="NSIG"/>
          <xsd:enumeration value="OLAP"/>
          <xsd:enumeration value="ORACLE"/>
          <xsd:enumeration value="Peoplesoft"/>
          <xsd:enumeration value="PSOS"/>
          <xsd:enumeration value="Quality"/>
          <xsd:enumeration value="SAP"/>
          <xsd:enumeration value="SAS"/>
          <xsd:enumeration value="SQL Server"/>
          <xsd:enumeration value="SUN Technologies"/>
          <xsd:enumeration value="System Software"/>
          <xsd:enumeration value="Teradata"/>
          <xsd:enumeration value="UML"/>
          <xsd:enumeration value="UNIX"/>
          <xsd:enumeration value="Visual Studio"/>
          <xsd:enumeration value="VxWorks"/>
          <xsd:enumeration value="WAP"/>
          <xsd:enumeration value="WebLogic"/>
          <xsd:enumeration value="WebSphere"/>
        </xsd:restriction>
      </xsd:simpleType>
    </xsd:element>
    <xsd:element name="Domain" ma:index="8" nillable="true" ma:displayName="Domain" ma:format="Dropdown" ma:internalName="Domain">
      <xsd:simpleType>
        <xsd:restriction base="dms:Choice">
          <xsd:enumeration value="NA"/>
          <xsd:enumeration value="Air Transport"/>
          <xsd:enumeration value="Automotive"/>
          <xsd:enumeration value="Banking and Finance"/>
          <xsd:enumeration value="Bioinformatics"/>
          <xsd:enumeration value="Business Process Outsourcing"/>
          <xsd:enumeration value="CMM"/>
          <xsd:enumeration value="Construction"/>
          <xsd:enumeration value="Consulting Organization"/>
          <xsd:enumeration value="Education and Training"/>
          <xsd:enumeration value="Embedded System"/>
          <xsd:enumeration value="Engineering Design"/>
          <xsd:enumeration value="GIS"/>
          <xsd:enumeration value="Government-eGovernment"/>
          <xsd:enumeration value="Healthcare"/>
          <xsd:enumeration value="Hospitality"/>
          <xsd:enumeration value="Human Resources"/>
          <xsd:enumeration value="IT Enabled Services"/>
          <xsd:enumeration value="IT Infrastructure"/>
          <xsd:enumeration value="IT Outsourcing"/>
          <xsd:enumeration value="Information Technology"/>
          <xsd:enumeration value="Infrastructure (Non-IT)"/>
          <xsd:enumeration value="Knowledge Management"/>
          <xsd:enumeration value="Legal"/>
          <xsd:enumeration value="Life and Health Insurance"/>
          <xsd:enumeration value="Manufacturing"/>
          <xsd:enumeration value="Media and Entertainment"/>
          <xsd:enumeration value="Non Profit Organization"/>
          <xsd:enumeration value="Not Applicable"/>
          <xsd:enumeration value="Oil and Gas Industry"/>
          <xsd:enumeration value="Others"/>
          <xsd:enumeration value="Pharmaceuticals"/>
          <xsd:enumeration value="Property and Casualty Insurance"/>
          <xsd:enumeration value="Real Estates"/>
          <xsd:enumeration value="Retail"/>
          <xsd:enumeration value="Sales and Marketing"/>
          <xsd:enumeration value="Semiconductor"/>
          <xsd:enumeration value="Surface Transport"/>
          <xsd:enumeration value="Telecom"/>
          <xsd:enumeration value="Transportation"/>
          <xsd:enumeration value="Utilities"/>
        </xsd:restriction>
      </xsd:simpleType>
    </xsd:element>
  </xsd:schema>
  <xsd:schema xmlns:xsd="http://www.w3.org/2001/XMLSchema" xmlns:xs="http://www.w3.org/2001/XMLSchema" xmlns:dms="http://schemas.microsoft.com/office/2006/documentManagement/types" xmlns:pc="http://schemas.microsoft.com/office/infopath/2007/PartnerControls" targetNamespace="b6ae8028-3361-4878-ad09-deb2e128b95c" elementFormDefault="qualified">
    <xsd:import namespace="http://schemas.microsoft.com/office/2006/documentManagement/types"/>
    <xsd:import namespace="http://schemas.microsoft.com/office/infopath/2007/PartnerControls"/>
    <xsd:element name="Asset_x0020_Type" ma:index="15" nillable="true" ma:displayName="Asset Type" ma:internalName="Asset_x0020_Type">
      <xsd:simpleType>
        <xsd:restriction base="dms:Text">
          <xsd:maxLength value="255"/>
        </xsd:restriction>
      </xsd:simpleType>
    </xsd:element>
    <xsd:element name="Folder" ma:index="16" nillable="true" ma:displayName="Folder" ma:format="Dropdown" ma:internalName="Folder">
      <xsd:simpleType>
        <xsd:restriction base="dms:Choice">
          <xsd:enumeration value="Corporate"/>
          <xsd:enumeration value="Industries"/>
          <xsd:enumeration value="Partners"/>
          <xsd:enumeration value="Services"/>
        </xsd:restriction>
      </xsd:simpleType>
    </xsd:element>
    <xsd:element name="Subfolder" ma:index="17" nillable="true" ma:displayName="Subfolder" ma:internalName="Subfolder">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axOccurs="1" ma:index="2" ma:displayName="Keywords">
          <xsd:simpleType xmlns:xs="http://www.w3.org/2001/XMLSchema">
            <xsd:restriction base="xsd:string">
              <xsd:minLength value="1"/>
            </xsd:restriction>
          </xsd:simpleType>
        </xsd:element>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ocument_x0020_Classification xmlns="fcfb129d-2c4d-4bcd-afb5-a92980dfa96d">Presentations</Document_x0020_Classification>
    <Folder xmlns="b6ae8028-3361-4878-ad09-deb2e128b95c" xsi:nil="true"/>
    <Document_x0020_Sub_x0020_Classification xmlns="fcfb129d-2c4d-4bcd-afb5-a92980dfa96d">Operations</Document_x0020_Sub_x0020_Classification>
    <Subfolder xmlns="b6ae8028-3361-4878-ad09-deb2e128b95c" xsi:nil="true"/>
    <Service_x0020_Line xmlns="fcfb129d-2c4d-4bcd-afb5-a92980dfa96d">NA</Service_x0020_Line>
    <Asset_x0020_Type xmlns="b6ae8028-3361-4878-ad09-deb2e128b95c" xsi:nil="true"/>
    <Service_x0020_Offering xmlns="fcfb129d-2c4d-4bcd-afb5-a92980dfa96d">NA</Service_x0020_Offering>
    <Domain xmlns="fcfb129d-2c4d-4bcd-afb5-a92980dfa96d" xsi:nil="true"/>
    <Technology xmlns="fcfb129d-2c4d-4bcd-afb5-a92980dfa96d">NA</Technology>
    <AverageRating xmlns="http://schemas.microsoft.com/sharepoint/v3" xsi:nil="true"/>
  </documentManagement>
</p:properties>
</file>

<file path=customXml/itemProps1.xml><?xml version="1.0" encoding="utf-8"?>
<ds:datastoreItem xmlns:ds="http://schemas.openxmlformats.org/officeDocument/2006/customXml" ds:itemID="{E0A1B877-42DF-448B-A257-86EBCF04CE7C}">
  <ds:schemaRefs>
    <ds:schemaRef ds:uri="http://schemas.microsoft.com/sharepoint/v3/contenttype/forms"/>
  </ds:schemaRefs>
</ds:datastoreItem>
</file>

<file path=customXml/itemProps2.xml><?xml version="1.0" encoding="utf-8"?>
<ds:datastoreItem xmlns:ds="http://schemas.openxmlformats.org/officeDocument/2006/customXml" ds:itemID="{22498586-7C36-48BC-A4A9-0E02CAC67F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cfb129d-2c4d-4bcd-afb5-a92980dfa96d"/>
    <ds:schemaRef ds:uri="b6ae8028-3361-4878-ad09-deb2e128b9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53E0E9-BBAC-4E77-B03C-F4757A7347B6}">
  <ds:schemaRefs>
    <ds:schemaRef ds:uri="http://schemas.microsoft.com/sharepoint/v3"/>
    <ds:schemaRef ds:uri="b6ae8028-3361-4878-ad09-deb2e128b95c"/>
    <ds:schemaRef ds:uri="http://purl.org/dc/terms/"/>
    <ds:schemaRef ds:uri="http://schemas.microsoft.com/office/2006/metadata/properties"/>
    <ds:schemaRef ds:uri="http://schemas.microsoft.com/office/infopath/2007/PartnerControls"/>
    <ds:schemaRef ds:uri="http://purl.org/dc/dcmitype/"/>
    <ds:schemaRef ds:uri="http://www.w3.org/XML/1998/namespace"/>
    <ds:schemaRef ds:uri="http://schemas.microsoft.com/office/2006/documentManagement/types"/>
    <ds:schemaRef ds:uri="http://schemas.openxmlformats.org/package/2006/metadata/core-properties"/>
    <ds:schemaRef ds:uri="fcfb129d-2c4d-4bcd-afb5-a92980dfa96d"/>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447</Words>
  <Application>Microsoft Office PowerPoint</Application>
  <PresentationFormat>On-screen Show (16:9)</PresentationFormat>
  <Paragraphs>81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Century Gothic</vt:lpstr>
      <vt:lpstr>Wingdings</vt:lpstr>
      <vt:lpstr>PresentationTechM</vt:lpstr>
      <vt:lpstr>PowerPoint Presentation</vt:lpstr>
      <vt:lpstr>EDS Controller – Project Overview</vt:lpstr>
      <vt:lpstr>PowerPoint Presentation</vt:lpstr>
      <vt:lpstr>PowerPoint Presentation</vt:lpstr>
      <vt:lpstr>PowerPoint Presentation</vt:lpstr>
      <vt:lpstr>EDS Controller – Challenges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keywords>Corporate Presentation_TechM_2013</cp:keywords>
  <cp:lastModifiedBy/>
  <cp:revision>1</cp:revision>
  <dcterms:created xsi:type="dcterms:W3CDTF">2014-12-22T04:53:59Z</dcterms:created>
  <dcterms:modified xsi:type="dcterms:W3CDTF">2019-07-24T12:24:44Z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0x01010030CB50A625C08A4E8BBFFC168B2DA761</vt:lpwstr>
  </property>
  <property fmtid="{D5CDD505-2E9C-101B-9397-08002B2CF9AE}" pid="3" name="DLPManualFileClassification">
    <vt:lpwstr>{1A067545-A4E2-4FA1-8094-0D7902669705}</vt:lpwstr>
  </property>
  <property fmtid="{D5CDD505-2E9C-101B-9397-08002B2CF9AE}" pid="4" name="DLPManualFileClassificationLastModifiedBy">
    <vt:lpwstr>TECHMAHINDRA\MR37768</vt:lpwstr>
  </property>
  <property fmtid="{D5CDD505-2E9C-101B-9397-08002B2CF9AE}" pid="5" name="DLPManualFileClassificationLastModificationDate">
    <vt:lpwstr>1563971062</vt:lpwstr>
  </property>
  <property fmtid="{D5CDD505-2E9C-101B-9397-08002B2CF9AE}" pid="6" name="DLPManualFileClassificationVersion">
    <vt:lpwstr>11.1.0.61</vt:lpwstr>
  </property>
</Properties>
</file>