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33" r:id="rId2"/>
    <p:sldId id="835" r:id="rId3"/>
    <p:sldId id="837" r:id="rId4"/>
    <p:sldId id="8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2808-372F-5397-FCE1-58A975935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0693C-A7C6-E28E-D672-5737E8C5F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2859-A037-AE44-C800-6D792D59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82175-1DE0-310C-3F65-8555C349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1AE9-6B69-CAA2-ED15-D266EB41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0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43DD-46D8-D9D3-B824-08DF309C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4C0FD-1EDF-4FAD-7110-7DB99D36D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A0A64-0A74-E0A8-7960-A982D2F0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D2D7F-B1B9-BACE-5B0D-205301B6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FE7B-FEEC-D901-E792-B424A99F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4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489D-2216-DA6F-6044-7AB194EE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BB77-E705-17F3-49A1-C87F1574A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AE9FE-8A73-5847-808E-CB7A3815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6D04E-AB9E-F1BA-D185-EAA2A087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636C5-0DB9-9168-1693-ED9F2D5C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E012-2092-ABE0-8926-15A5143C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15C83-D0C5-7F8E-833A-912E5A7A1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E94DF-B57C-3FB9-5347-51DB10059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3C781-EC04-88E2-5A90-592FD38C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4DABD-70EA-CF83-0C15-21FE8D22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B8A6-5C2D-0C69-B53A-52818280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9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47EC-5628-670C-3A85-620065D2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A4A4-5677-39DC-A797-76731B960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2BC49-272B-65E0-EDD3-C0D84C19D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CBE4E-9BC6-CC42-0F26-6BBF8253E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67554-4B9E-4A25-5EC4-FB1A39EB1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DC7AA-DEC1-6202-2050-E1FFA0C5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5EF63-1080-10D2-2067-0B286527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2E49B-6004-3408-4AC4-91FCC3FC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5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31FF-6414-34E9-A886-5C431F26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2C5FD-E477-16E7-8E66-960A3B54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BD983-B39D-971C-B266-626E4CFD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20FB0-7084-83D4-929E-D2B78A96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1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1A2F1-1ECD-294E-DBE8-BA459FE2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D29F0-6C03-9926-2103-7C09BCDC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EF6B-FF46-0797-EEFE-0CDA2141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1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0CFC-4858-F3DF-69B4-F13C7FF3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BECD2-37E3-AECC-45A6-831272F32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732D5-3E5F-B1F3-044B-3ED8F607B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E961C-C1B1-9EF9-9C77-908A3EB0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CFCFE-21DE-37B5-65E3-F3A26B42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1A949-3FCB-3112-EC3B-46BA60C5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8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D89A-2B92-12A6-95BB-A6BFF6C6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D2A51-9DE8-2F78-6B46-659BCB2FD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9F502-24F0-C23D-132D-5CF812CE0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EDABE-3135-7622-5236-FCA5020F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A7419-0011-197F-459C-440D10D5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0CDE-E7F7-FF5B-DA06-D832F269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9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DB79-9708-A6C0-7559-BD203E2D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E14ED-551B-0BF7-2F43-973F3ED98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9B4F-3BA4-2B44-6DFF-9794C416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C96D5-B2E2-ED1A-01DF-C70510C7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80D1-B055-3C10-EF99-FB14FEF5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C464E-EA42-4AEA-DF32-B57D20C05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03627-9E9D-C4C9-2938-C06868DAC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3FA7F-681A-630E-FDE0-764DC76A1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837CA-58BE-AF73-95FD-6A98E6F5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5574E-B1AD-5779-E9E0-476C0D03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93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 bwMode="gray">
          <a:xfrm>
            <a:off x="641355" y="727079"/>
            <a:ext cx="10968567" cy="47378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lang="en-US" sz="3421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 algn="l" defTabSz="979661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41349" y="1971677"/>
            <a:ext cx="10966451" cy="19002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2611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11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11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11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611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537523" indent="-306144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2611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836865" indent="-292538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1892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1714406" indent="-244915">
              <a:spcBef>
                <a:spcPts val="0"/>
              </a:spcBef>
              <a:spcAft>
                <a:spcPts val="0"/>
              </a:spcAft>
              <a:buSzPct val="70000"/>
              <a:defRPr sz="1892" baseline="0">
                <a:latin typeface="Arial" pitchFamily="34" charset="0"/>
                <a:cs typeface="Arial" pitchFamily="34" charset="0"/>
              </a:defRPr>
            </a:lvl8pPr>
            <a:lvl9pPr marL="1954219" indent="-239814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92">
                <a:latin typeface="Arial" pitchFamily="34" charset="0"/>
                <a:cs typeface="Arial" pitchFamily="34" charset="0"/>
              </a:defRPr>
            </a:lvl9pPr>
          </a:lstStyle>
          <a:p>
            <a:pPr marL="311246" lvl="0" indent="-311246" algn="l" defTabSz="979661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12289" lvl="2" indent="-299339" algn="l" defTabSz="979661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pitchFamily="34" charset="0"/>
              <a:buChar char="–"/>
            </a:pPr>
            <a:r>
              <a:rPr lang="en-US" dirty="0"/>
              <a:t>Second level</a:t>
            </a:r>
          </a:p>
          <a:p>
            <a:pPr marL="911628" lvl="3" indent="-299339" algn="l" defTabSz="979661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</a:pPr>
            <a:r>
              <a:rPr lang="en-US" dirty="0"/>
              <a:t>Third level</a:t>
            </a:r>
          </a:p>
          <a:p>
            <a:pPr marL="1217772" lvl="4" indent="-306144" algn="l" defTabSz="100007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537523" lvl="5" indent="-306144" algn="l" defTabSz="979661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60000"/>
              <a:buFont typeface="Wingdings" pitchFamily="2" charset="2"/>
              <a:buChar char="§"/>
            </a:pPr>
            <a:r>
              <a:rPr lang="en-US" dirty="0"/>
              <a:t>Fifth level</a:t>
            </a:r>
          </a:p>
        </p:txBody>
      </p:sp>
      <p:pic>
        <p:nvPicPr>
          <p:cNvPr id="5" name="Picture 4" descr="Ridge.pd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612" y="2"/>
            <a:ext cx="2451997" cy="66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47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gram_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3" y="714376"/>
            <a:ext cx="10968567" cy="49244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defRPr lang="en-US" sz="3200" b="1" kern="1200" dirty="0" smtClean="0">
                <a:solidFill>
                  <a:schemeClr val="tx2"/>
                </a:solidFill>
                <a:latin typeface="Arial Black" pitchFamily="34" charset="0"/>
                <a:ea typeface="+mn-ea"/>
                <a:cs typeface="Arial" pitchFamily="34" charset="0"/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tx2"/>
                </a:solidFill>
                <a:latin typeface="Arial Black" pitchFamily="34" charset="0"/>
              </a:rPr>
              <a:t>Program Scope</a:t>
            </a:r>
          </a:p>
        </p:txBody>
      </p:sp>
    </p:spTree>
    <p:extLst>
      <p:ext uri="{BB962C8B-B14F-4D97-AF65-F5344CB8AC3E}">
        <p14:creationId xmlns:p14="http://schemas.microsoft.com/office/powerpoint/2010/main" val="186281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C64C5-4B9A-FF98-6550-4650277E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196A5-2D4D-E113-AAE3-21C44610F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2A63F-4F74-C170-29BF-A29C0CABA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F1C32-D304-4A0C-ACFA-BB58B5FD5FE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DB209-6FEE-8E4B-3BB0-A68D0FD68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DA539-B1E3-84A2-876C-7D79C6169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341C6-E211-40B3-B09E-6C7D66682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5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828886" y="782530"/>
            <a:ext cx="8222935" cy="246164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r>
              <a:rPr lang="en-IN" sz="1600" i="1" dirty="0"/>
              <a:t>Complete Avionics Equipment Level Solution for Leading Aerospace Tier-1 Supplier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2033" y="1222521"/>
            <a:ext cx="12043539" cy="2251899"/>
            <a:chOff x="664786" y="1482108"/>
            <a:chExt cx="8871347" cy="188753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84741" y="3361515"/>
              <a:ext cx="8851392" cy="0"/>
            </a:xfrm>
            <a:prstGeom prst="straightConnector1">
              <a:avLst/>
            </a:prstGeom>
            <a:ln w="76200">
              <a:tailEnd type="none" w="sm" len="sm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1935594" y="2333227"/>
              <a:ext cx="4714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673051" y="2807443"/>
              <a:ext cx="1273166" cy="5030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/>
              <a:r>
                <a:rPr lang="en-US" sz="1100" b="1" dirty="0">
                  <a:solidFill>
                    <a:srgbClr val="E31837"/>
                  </a:solidFill>
                </a:rPr>
                <a:t>Started with Customer’s system Spec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7227489" y="2333227"/>
              <a:ext cx="0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881809" y="2333227"/>
              <a:ext cx="0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299635" y="2333227"/>
              <a:ext cx="0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313283" y="2849576"/>
              <a:ext cx="1263666" cy="2837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buFont typeface="Arial" pitchFamily="34" charset="0"/>
                <a:buNone/>
              </a:pPr>
              <a:r>
                <a:rPr lang="en-US" sz="1100" b="1" dirty="0">
                  <a:solidFill>
                    <a:srgbClr val="E31837"/>
                  </a:solidFill>
                </a:rPr>
                <a:t>Designed &amp; Developed Multi Layered Hardware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67418" y="2844366"/>
              <a:ext cx="1304527" cy="425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00" b="1" dirty="0">
                  <a:solidFill>
                    <a:srgbClr val="E31837"/>
                  </a:solidFill>
                </a:rPr>
                <a:t>Designed &amp; Developed Safety Critical Embedded Software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40308" y="2850663"/>
              <a:ext cx="1359327" cy="2837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00" b="1" dirty="0">
                  <a:solidFill>
                    <a:srgbClr val="E31837"/>
                  </a:solidFill>
                </a:rPr>
                <a:t>Modeled &amp; Simulated Power Electronic Performances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81809" y="2859524"/>
              <a:ext cx="1345680" cy="2837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00" b="1" dirty="0">
                  <a:solidFill>
                    <a:srgbClr val="E31837"/>
                  </a:solidFill>
                </a:rPr>
                <a:t>Designed Mechanical Enclosure &amp; Heat Sink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6996" y="2859524"/>
              <a:ext cx="1147151" cy="2837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00" b="1" dirty="0">
                  <a:solidFill>
                    <a:srgbClr val="E31837"/>
                  </a:solidFill>
                </a:rPr>
                <a:t>Developed  Test Rigs for Acceptance Testing</a:t>
              </a:r>
            </a:p>
          </p:txBody>
        </p:sp>
        <p:sp>
          <p:nvSpPr>
            <p:cNvPr id="17" name="Donut 16"/>
            <p:cNvSpPr/>
            <p:nvPr/>
          </p:nvSpPr>
          <p:spPr>
            <a:xfrm>
              <a:off x="665865" y="1482108"/>
              <a:ext cx="1188720" cy="1188720"/>
            </a:xfrm>
            <a:prstGeom prst="donut">
              <a:avLst>
                <a:gd name="adj" fmla="val 1746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64786" y="2333227"/>
              <a:ext cx="0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 rot="5400000" flipH="1">
              <a:off x="1151946" y="1901273"/>
              <a:ext cx="341937" cy="331285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4563426" y="2333227"/>
              <a:ext cx="13855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1995699" y="1482108"/>
              <a:ext cx="1188720" cy="118872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25400" cmpd="sng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3325533" y="1482108"/>
              <a:ext cx="1188720" cy="1188720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 l="-10000" r="-10000"/>
              </a:stretch>
            </a:blipFill>
            <a:ln w="25400" cmpd="sng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655367" y="1482108"/>
              <a:ext cx="1188720" cy="118872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 l="-15000" r="-15000"/>
              </a:stretch>
            </a:blipFill>
            <a:ln w="25400" cmpd="sng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985201" y="1482108"/>
              <a:ext cx="1188720" cy="1188720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 l="-31000"/>
              </a:stretch>
            </a:blipFill>
            <a:ln w="25400" cmpd="sng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265519" y="1482109"/>
              <a:ext cx="1073503" cy="1159135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 l="-15000" r="-15000"/>
              </a:stretch>
            </a:blipFill>
            <a:ln w="25400" cmpd="sng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8424530" y="2363798"/>
              <a:ext cx="0" cy="100584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9454885" y="0"/>
            <a:ext cx="273332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Font typeface="Arial" pitchFamily="34" charset="0"/>
            </a:pPr>
            <a:r>
              <a:rPr lang="en-US" dirty="0">
                <a:latin typeface="+mj-lt"/>
              </a:rPr>
              <a:t>High Complex and limited production</a:t>
            </a:r>
          </a:p>
        </p:txBody>
      </p:sp>
      <p:sp>
        <p:nvSpPr>
          <p:cNvPr id="51" name="Oval 50"/>
          <p:cNvSpPr/>
          <p:nvPr/>
        </p:nvSpPr>
        <p:spPr>
          <a:xfrm>
            <a:off x="10556486" y="1230226"/>
            <a:ext cx="1613780" cy="1418191"/>
          </a:xfrm>
          <a:prstGeom prst="ellipse">
            <a:avLst/>
          </a:prstGeom>
          <a:blipFill dpi="0" rotWithShape="1">
            <a:blip r:embed="rId6"/>
            <a:srcRect/>
            <a:stretch>
              <a:fillRect l="-15000" r="-15000"/>
            </a:stretch>
          </a:blipFill>
          <a:ln w="25400" cmpd="sng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0491268" y="2847750"/>
            <a:ext cx="17442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/>
            <a:r>
              <a:rPr lang="en-US" sz="1100" b="1" dirty="0">
                <a:solidFill>
                  <a:srgbClr val="E31837"/>
                </a:solidFill>
              </a:rPr>
              <a:t>System and Environmental Testing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797" y="3645238"/>
            <a:ext cx="3755263" cy="300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</a:pPr>
            <a:r>
              <a:rPr lang="en-IN" sz="1600" b="1" i="1" dirty="0">
                <a:solidFill>
                  <a:schemeClr val="bg2"/>
                </a:solidFill>
              </a:rPr>
              <a:t>TechM Scope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Equipment to be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 weight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Motor to drive from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variable input frequency (360Hz to 800Hz)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Operate three phase AC induction motors of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 power rating at constant input frequency</a:t>
            </a:r>
            <a:endParaRPr lang="en-IN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Adhere to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DO-178B &amp; DO-254 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guidance in development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Strict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EMI/EMC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requirements to be met because of higher frequency active switching.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Strict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thermal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requirements to be met because of high power rating</a:t>
            </a:r>
          </a:p>
          <a:p>
            <a:pPr marL="228533" indent="-161877">
              <a:spcBef>
                <a:spcPts val="30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Reliability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 equipment with higher MTBF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76" y="4622804"/>
            <a:ext cx="1220869" cy="484763"/>
          </a:xfrm>
          <a:prstGeom prst="rect">
            <a:avLst/>
          </a:prstGeom>
          <a:solidFill>
            <a:srgbClr val="F7FCFF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/>
              <a:t>Requirement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1526309" y="3951741"/>
            <a:ext cx="0" cy="213758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737277" y="3679168"/>
            <a:ext cx="1392287" cy="48476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Mechanical enclosure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7277" y="4263199"/>
            <a:ext cx="1392287" cy="48476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Hardware – D0254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37275" y="4840379"/>
            <a:ext cx="1392287" cy="48476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Software DO178D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275" y="5424409"/>
            <a:ext cx="1392287" cy="484763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SSA – ARP4754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274" y="6008440"/>
            <a:ext cx="1392287" cy="484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Test Rig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9517" y="4531169"/>
            <a:ext cx="1392287" cy="484763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Proto Unit</a:t>
            </a:r>
          </a:p>
        </p:txBody>
      </p:sp>
      <p:cxnSp>
        <p:nvCxnSpPr>
          <p:cNvPr id="65" name="Straight Connector 64"/>
          <p:cNvCxnSpPr/>
          <p:nvPr/>
        </p:nvCxnSpPr>
        <p:spPr>
          <a:xfrm>
            <a:off x="1534031" y="3961489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1531832" y="4505579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526309" y="5020532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526309" y="5666789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526309" y="6095665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156448" y="3961489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3167693" y="4505579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156448" y="5107567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156448" y="5699236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3374183" y="3958768"/>
            <a:ext cx="0" cy="1766603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374183" y="4784913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153610" y="4518617"/>
            <a:ext cx="1392287" cy="484763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Engineering Unit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4958276" y="4772361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45896" y="4763157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759510" y="3679169"/>
            <a:ext cx="1392287" cy="2814036"/>
          </a:xfrm>
          <a:prstGeom prst="rect">
            <a:avLst/>
          </a:prstGeom>
          <a:solidFill>
            <a:srgbClr val="E31837"/>
          </a:solidFill>
          <a:ln w="25400" cap="flat" cmpd="sng" algn="ctr">
            <a:solidFill>
              <a:schemeClr val="tx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System Testing and Environmental Testing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D0-160</a:t>
            </a:r>
          </a:p>
        </p:txBody>
      </p:sp>
      <p:cxnSp>
        <p:nvCxnSpPr>
          <p:cNvPr id="83" name="Straight Arrow Connector 82"/>
          <p:cNvCxnSpPr>
            <a:stCxn id="62" idx="3"/>
          </p:cNvCxnSpPr>
          <p:nvPr/>
        </p:nvCxnSpPr>
        <p:spPr>
          <a:xfrm>
            <a:off x="3129560" y="6250823"/>
            <a:ext cx="3629949" cy="61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4218184" y="5015932"/>
            <a:ext cx="0" cy="123489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5835939" y="5003379"/>
            <a:ext cx="0" cy="123489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1327541" y="4857172"/>
            <a:ext cx="206488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1842530" y="300601"/>
            <a:ext cx="10611663" cy="830868"/>
          </a:xfrm>
        </p:spPr>
        <p:txBody>
          <a:bodyPr/>
          <a:lstStyle/>
          <a:p>
            <a:r>
              <a:rPr lang="en-IN" sz="2799" dirty="0"/>
              <a:t>Variable Frequency Motor Drive (VFMD)			</a:t>
            </a:r>
            <a:r>
              <a:rPr lang="en-US" sz="3200" dirty="0"/>
              <a:t>1/4</a:t>
            </a:r>
            <a:r>
              <a:rPr lang="en-IN" sz="2799" dirty="0"/>
              <a:t>		</a:t>
            </a:r>
            <a:endParaRPr lang="en-US" sz="2799" dirty="0"/>
          </a:p>
        </p:txBody>
      </p:sp>
    </p:spTree>
    <p:extLst>
      <p:ext uri="{BB962C8B-B14F-4D97-AF65-F5344CB8AC3E}">
        <p14:creationId xmlns:p14="http://schemas.microsoft.com/office/powerpoint/2010/main" val="1736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9366" y="3092796"/>
            <a:ext cx="3755263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</a:pPr>
            <a:r>
              <a:rPr lang="en-IN" sz="1600" b="1" dirty="0">
                <a:solidFill>
                  <a:srgbClr val="E31837"/>
                </a:solidFill>
                <a:latin typeface="Arial"/>
              </a:rPr>
              <a:t>Challenges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Weight Requirement 13 </a:t>
            </a:r>
            <a:r>
              <a:rPr lang="en-US" sz="1400" dirty="0" err="1">
                <a:solidFill>
                  <a:prstClr val="black"/>
                </a:solidFill>
              </a:rPr>
              <a:t>Lbs</a:t>
            </a:r>
            <a:endParaRPr lang="en-US" sz="1400" dirty="0">
              <a:solidFill>
                <a:prstClr val="black"/>
              </a:solidFill>
            </a:endParaRP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MTBF – 30,000 Hrs.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Product life 25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258" y="939711"/>
            <a:ext cx="4135700" cy="274320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16">
              <a:defRPr/>
            </a:pPr>
            <a:r>
              <a:rPr lang="en-US" sz="1600" b="1" kern="0" dirty="0">
                <a:solidFill>
                  <a:prstClr val="white"/>
                </a:solidFill>
                <a:latin typeface="Arial"/>
              </a:rPr>
              <a:t>Business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257" y="1274211"/>
            <a:ext cx="4310472" cy="11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Design and Development of Variable Frequency Drive with AFE Rectifier for Water and Waste Management System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Need to Eliminate high cost Transformer and improve power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5730" y="939711"/>
            <a:ext cx="3867461" cy="274320"/>
          </a:xfrm>
          <a:prstGeom prst="rect">
            <a:avLst/>
          </a:prstGeom>
          <a:solidFill>
            <a:srgbClr val="E3183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16">
              <a:defRPr/>
            </a:pPr>
            <a:r>
              <a:rPr lang="en-US" sz="1600" b="1" kern="0" dirty="0">
                <a:solidFill>
                  <a:prstClr val="white"/>
                </a:solidFill>
                <a:latin typeface="Arial"/>
              </a:rPr>
              <a:t>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5730" y="1291463"/>
            <a:ext cx="3867461" cy="297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Modeling and Simulation of Rectifier, Inverter and Motor control algorithms –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3-Level topology for AFE Rectifier with PFC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Reduction in  the Overall Size and Weight of the Product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Reduced Harmonics &amp; Improvement in Efficiency 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Environmental Testing as per DO-160E, DO-178B, DO-254 Certification</a:t>
            </a:r>
          </a:p>
          <a:p>
            <a:pPr marL="285724" indent="-285724" defTabSz="914316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rial"/>
              </a:rPr>
              <a:t>Model Based Development approach and Integrated Test Automation – Faster Time to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258" y="4115364"/>
            <a:ext cx="6091415" cy="15440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defTabSz="891280">
              <a:spcAft>
                <a:spcPts val="195"/>
              </a:spcAft>
            </a:pPr>
            <a:r>
              <a:rPr lang="en-IN" sz="1600" b="1" dirty="0">
                <a:solidFill>
                  <a:srgbClr val="E31837"/>
                </a:solidFill>
                <a:latin typeface="Arial"/>
              </a:rPr>
              <a:t>Environment</a:t>
            </a:r>
          </a:p>
          <a:p>
            <a:pPr marL="207960" indent="-207960" algn="just" defTabSz="891280">
              <a:spcAft>
                <a:spcPts val="195"/>
              </a:spcAft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Code Composer Studio</a:t>
            </a:r>
          </a:p>
          <a:p>
            <a:pPr marL="207960" indent="-207960" algn="just" defTabSz="891280">
              <a:spcAft>
                <a:spcPts val="195"/>
              </a:spcAft>
              <a:buFont typeface="Arial" pitchFamily="34" charset="0"/>
              <a:buChar char="◘"/>
            </a:pPr>
            <a:r>
              <a:rPr lang="en-US" sz="1400" dirty="0" err="1">
                <a:solidFill>
                  <a:prstClr val="black"/>
                </a:solidFill>
              </a:rPr>
              <a:t>Altium</a:t>
            </a:r>
            <a:r>
              <a:rPr lang="en-US" sz="1400" dirty="0">
                <a:solidFill>
                  <a:prstClr val="black"/>
                </a:solidFill>
              </a:rPr>
              <a:t> Designer</a:t>
            </a:r>
          </a:p>
          <a:p>
            <a:pPr marL="207960" indent="-207960" algn="just" defTabSz="891280">
              <a:spcAft>
                <a:spcPts val="195"/>
              </a:spcAft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LabVIEW</a:t>
            </a:r>
          </a:p>
          <a:p>
            <a:pPr marL="207960" indent="-207960" algn="just" defTabSz="891280">
              <a:spcAft>
                <a:spcPts val="195"/>
              </a:spcAft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Simulink &amp; </a:t>
            </a:r>
            <a:r>
              <a:rPr lang="en-US" sz="1400" dirty="0" err="1">
                <a:solidFill>
                  <a:prstClr val="black"/>
                </a:solidFill>
              </a:rPr>
              <a:t>Matlab</a:t>
            </a:r>
            <a:endParaRPr lang="en-US" sz="1400" dirty="0">
              <a:solidFill>
                <a:prstClr val="black"/>
              </a:solidFill>
            </a:endParaRPr>
          </a:p>
          <a:p>
            <a:pPr marL="207960" indent="-207960" algn="just" defTabSz="891280">
              <a:spcAft>
                <a:spcPts val="195"/>
              </a:spcAft>
              <a:buFont typeface="Arial" pitchFamily="34" charset="0"/>
              <a:buChar char="◘"/>
            </a:pPr>
            <a:r>
              <a:rPr lang="en-US" sz="1400" dirty="0" err="1">
                <a:solidFill>
                  <a:prstClr val="black"/>
                </a:solidFill>
              </a:rPr>
              <a:t>Ansys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1400" dirty="0" err="1">
                <a:solidFill>
                  <a:prstClr val="black"/>
                </a:solidFill>
              </a:rPr>
              <a:t>Icepak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963" y="986298"/>
            <a:ext cx="3404787" cy="28242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013" y="4978044"/>
            <a:ext cx="2667888" cy="1317507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 bwMode="gray">
          <a:xfrm>
            <a:off x="3981375" y="4575438"/>
            <a:ext cx="273069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914583" rtl="0" eaLnBrk="1" latinLnBrk="0" hangingPunct="1">
              <a:spcBef>
                <a:spcPct val="0"/>
              </a:spcBef>
              <a:buNone/>
              <a:defRPr lang="en-US" sz="24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defTabSz="914316">
              <a:defRPr/>
            </a:pPr>
            <a:r>
              <a:rPr lang="en-US" sz="1600" dirty="0">
                <a:solidFill>
                  <a:srgbClr val="E31837"/>
                </a:solidFill>
              </a:rPr>
              <a:t>CAD Model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416" y="4978045"/>
            <a:ext cx="2435243" cy="131750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209995" y="4565444"/>
            <a:ext cx="2858047" cy="22159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316"/>
            <a:r>
              <a:rPr lang="en-US" sz="1600" dirty="0">
                <a:solidFill>
                  <a:srgbClr val="E31837"/>
                </a:solidFill>
              </a:rPr>
              <a:t>Proto Implementation 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43" y="4978044"/>
            <a:ext cx="2674071" cy="131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 bwMode="gray">
          <a:xfrm>
            <a:off x="8940686" y="4575438"/>
            <a:ext cx="285804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lang="en-US" sz="3422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2pPr>
            <a:lvl3pPr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3pPr>
            <a:lvl4pPr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4pPr>
            <a:lvl5pPr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5pPr>
            <a:lvl6pPr marL="411500"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6pPr>
            <a:lvl7pPr marL="823000"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7pPr>
            <a:lvl8pPr marL="1234500"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8pPr>
            <a:lvl9pPr marL="1646001" algn="l" defTabSz="1054470" rtl="0" eaLnBrk="1" fontAlgn="base" hangingPunct="1">
              <a:spcBef>
                <a:spcPct val="0"/>
              </a:spcBef>
              <a:spcAft>
                <a:spcPct val="0"/>
              </a:spcAft>
              <a:defRPr sz="2519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defTabSz="914316" fontAlgn="auto">
              <a:spcAft>
                <a:spcPts val="0"/>
              </a:spcAft>
            </a:pPr>
            <a:r>
              <a:rPr lang="en-US" sz="1600" dirty="0">
                <a:solidFill>
                  <a:srgbClr val="E31837"/>
                </a:solidFill>
              </a:rPr>
              <a:t>MATLAB Model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4DA12BB-EA48-410E-A63B-90F602207493}"/>
              </a:ext>
            </a:extLst>
          </p:cNvPr>
          <p:cNvSpPr txBox="1">
            <a:spLocks/>
          </p:cNvSpPr>
          <p:nvPr/>
        </p:nvSpPr>
        <p:spPr bwMode="gray">
          <a:xfrm>
            <a:off x="716278" y="229915"/>
            <a:ext cx="10949516" cy="526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2566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10387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820769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231160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641542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421" dirty="0"/>
              <a:t>								2/4</a:t>
            </a:r>
          </a:p>
        </p:txBody>
      </p:sp>
    </p:spTree>
    <p:extLst>
      <p:ext uri="{BB962C8B-B14F-4D97-AF65-F5344CB8AC3E}">
        <p14:creationId xmlns:p14="http://schemas.microsoft.com/office/powerpoint/2010/main" val="270579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7" t="-778" r="-517" b="-1086"/>
          <a:stretch>
            <a:fillRect/>
          </a:stretch>
        </p:blipFill>
        <p:spPr bwMode="auto">
          <a:xfrm>
            <a:off x="4101608" y="865137"/>
            <a:ext cx="4572000" cy="516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0694" y="737183"/>
            <a:ext cx="3755263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</a:pPr>
            <a:r>
              <a:rPr lang="en-IN" sz="1600" b="1" dirty="0">
                <a:solidFill>
                  <a:srgbClr val="E31837"/>
                </a:solidFill>
                <a:latin typeface="Arial"/>
              </a:rPr>
              <a:t>System Safety Assessment (SSA)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FMEA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FHA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Reliability Analysis and MTBF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694" y="2121651"/>
            <a:ext cx="3755263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</a:pPr>
            <a:r>
              <a:rPr lang="en-IN" sz="1600" b="1" dirty="0">
                <a:solidFill>
                  <a:srgbClr val="E31837"/>
                </a:solidFill>
                <a:latin typeface="Arial"/>
              </a:rPr>
              <a:t>List of Test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Vibration Test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Power input / cycle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Power PCB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Control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r>
              <a:rPr lang="en-US" sz="1400" dirty="0">
                <a:solidFill>
                  <a:prstClr val="black"/>
                </a:solidFill>
              </a:rPr>
              <a:t>Aircraft Interference</a:t>
            </a:r>
          </a:p>
          <a:p>
            <a:pPr marL="207960" indent="-207960" algn="just" defTabSz="891280">
              <a:spcAft>
                <a:spcPts val="195"/>
              </a:spcAft>
              <a:buClr>
                <a:schemeClr val="accent4">
                  <a:lumMod val="75000"/>
                </a:schemeClr>
              </a:buClr>
              <a:buFont typeface="Arial" pitchFamily="34" charset="0"/>
              <a:buChar char="◘"/>
            </a:pP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637" y="1110463"/>
            <a:ext cx="1230249" cy="1191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 flipH="1">
            <a:off x="8775449" y="671273"/>
            <a:ext cx="3252873" cy="40424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E31837"/>
                </a:solidFill>
                <a:latin typeface="Arial"/>
                <a:cs typeface="Arial" pitchFamily="34" charset="0"/>
              </a:rPr>
              <a:t>CAD Model &amp; Simulations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2829" y="2117824"/>
            <a:ext cx="124001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GB" sz="1200" dirty="0">
                <a:latin typeface="+mj-lt"/>
              </a:rPr>
              <a:t>CFD analysis for fan</a:t>
            </a:r>
            <a:endParaRPr lang="en-US" sz="12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9171637" y="2492460"/>
            <a:ext cx="3252873" cy="31732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31837"/>
                </a:solidFill>
                <a:latin typeface="Arial"/>
                <a:cs typeface="Arial" pitchFamily="34" charset="0"/>
              </a:rPr>
              <a:t>Electrical Simulation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30" y="2944485"/>
            <a:ext cx="1650916" cy="113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9" descr="E:\jolla_pics\20150224_00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71638" y="4720740"/>
            <a:ext cx="1591509" cy="109808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 flipH="1">
            <a:off x="9112230" y="4361428"/>
            <a:ext cx="3252873" cy="31732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E31837"/>
                </a:solidFill>
                <a:latin typeface="Arial"/>
                <a:cs typeface="Arial" pitchFamily="34" charset="0"/>
              </a:rPr>
              <a:t>Mechanical Enclosure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4DA12BB-EA48-410E-A63B-90F602207493}"/>
              </a:ext>
            </a:extLst>
          </p:cNvPr>
          <p:cNvSpPr txBox="1">
            <a:spLocks/>
          </p:cNvSpPr>
          <p:nvPr/>
        </p:nvSpPr>
        <p:spPr bwMode="gray">
          <a:xfrm>
            <a:off x="716278" y="229915"/>
            <a:ext cx="10949516" cy="526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2566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10387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820769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231160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641542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421" dirty="0"/>
              <a:t>								3/4</a:t>
            </a:r>
          </a:p>
        </p:txBody>
      </p:sp>
    </p:spTree>
    <p:extLst>
      <p:ext uri="{BB962C8B-B14F-4D97-AF65-F5344CB8AC3E}">
        <p14:creationId xmlns:p14="http://schemas.microsoft.com/office/powerpoint/2010/main" val="269919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976256"/>
            <a:ext cx="2133600" cy="206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931" y="3962401"/>
            <a:ext cx="1964452" cy="219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4343400"/>
            <a:ext cx="2583196" cy="11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395" y="1583659"/>
            <a:ext cx="2971800" cy="179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9" name="Picture 9" descr="E:\jolla_pics\20150224_005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t="24638" r="33102"/>
          <a:stretch/>
        </p:blipFill>
        <p:spPr bwMode="auto">
          <a:xfrm>
            <a:off x="8147503" y="1571244"/>
            <a:ext cx="2430443" cy="167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0023" y="1618928"/>
            <a:ext cx="2856653" cy="170974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459237" y="3604931"/>
            <a:ext cx="18996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b="1" dirty="0">
                <a:latin typeface="+mj-lt"/>
              </a:rPr>
              <a:t>Thermal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453" y="955759"/>
            <a:ext cx="110895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b="1" dirty="0">
                <a:latin typeface="+mj-lt"/>
              </a:rPr>
              <a:t>CAD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2487" y="1018135"/>
            <a:ext cx="21378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b="1" dirty="0">
                <a:latin typeface="+mj-lt"/>
              </a:rPr>
              <a:t>Proto implementation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4DA12BB-EA48-410E-A63B-90F602207493}"/>
              </a:ext>
            </a:extLst>
          </p:cNvPr>
          <p:cNvSpPr txBox="1">
            <a:spLocks/>
          </p:cNvSpPr>
          <p:nvPr/>
        </p:nvSpPr>
        <p:spPr bwMode="gray">
          <a:xfrm>
            <a:off x="716278" y="229915"/>
            <a:ext cx="10949516" cy="526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2566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10387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820769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231160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641542" algn="l" rtl="0" eaLnBrk="1" fontAlgn="base" hangingPunct="1">
              <a:spcBef>
                <a:spcPct val="0"/>
              </a:spcBef>
              <a:spcAft>
                <a:spcPct val="0"/>
              </a:spcAft>
              <a:defRPr sz="2925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421" dirty="0"/>
              <a:t>								4/4</a:t>
            </a:r>
          </a:p>
        </p:txBody>
      </p:sp>
    </p:spTree>
    <p:extLst>
      <p:ext uri="{BB962C8B-B14F-4D97-AF65-F5344CB8AC3E}">
        <p14:creationId xmlns:p14="http://schemas.microsoft.com/office/powerpoint/2010/main" val="187421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Widescreen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Wingdings</vt:lpstr>
      <vt:lpstr>Office Theme</vt:lpstr>
      <vt:lpstr>Variable Frequency Motor Drive (VFMD)   1/4  </vt:lpstr>
      <vt:lpstr>Proto Implementation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2025-10-27T11:46:06Z</dcterms:created>
  <dcterms:modified xsi:type="dcterms:W3CDTF">2025-10-27T11:49:02Z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2025-10-27T11:49:02Z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6900a5f3-ea22-43ab-8ac7-7c2ddeb90360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