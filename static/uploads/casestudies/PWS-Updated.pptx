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497" r:id="rId2"/>
    <p:sldId id="498" r:id="rId3"/>
    <p:sldId id="49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97D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92" autoAdjust="0"/>
    <p:restoredTop sz="94004" autoAdjust="0"/>
  </p:normalViewPr>
  <p:slideViewPr>
    <p:cSldViewPr>
      <p:cViewPr varScale="1">
        <p:scale>
          <a:sx n="70" d="100"/>
          <a:sy n="70" d="100"/>
        </p:scale>
        <p:origin x="10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2E1BC-23E1-4D03-949E-55DAA1EAB94E}" type="datetimeFigureOut">
              <a:rPr lang="en-US" smtClean="0"/>
              <a:pPr/>
              <a:t>3/26/2019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A59F5-B393-4045-B6DB-712A048C0E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2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32486" y="219678"/>
            <a:ext cx="5580732" cy="41353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876300" y="4472121"/>
            <a:ext cx="5491480" cy="4132181"/>
          </a:xfrm>
          <a:noFill/>
        </p:spPr>
        <p:txBody>
          <a:bodyPr wrap="square" lIns="92806" tIns="46403" rIns="92806" bIns="46403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0181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675120"/>
            <a:ext cx="7315200" cy="182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12" name="Picture 11" descr="PPT.jpg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9144000" cy="75203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66839" y="4580751"/>
            <a:ext cx="5341936" cy="276999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1366839" y="2214563"/>
            <a:ext cx="5341936" cy="1231106"/>
          </a:xfrm>
        </p:spPr>
        <p:txBody>
          <a:bodyPr wrap="square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Box 20"/>
          <p:cNvSpPr txBox="1">
            <a:spLocks noChangeArrowheads="1"/>
          </p:cNvSpPr>
          <p:nvPr/>
        </p:nvSpPr>
        <p:spPr bwMode="auto">
          <a:xfrm>
            <a:off x="304799" y="6516993"/>
            <a:ext cx="141248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sz="8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© </a:t>
            </a:r>
            <a:r>
              <a:rPr lang="en-US" sz="800" kern="120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Mahindra Satyam 2011</a:t>
            </a:r>
            <a:endParaRPr lang="en-US" sz="800" kern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2931" y="1465507"/>
            <a:ext cx="8544207" cy="1938992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435100" indent="-28575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0000"/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6pPr>
            <a:lvl7pPr marL="1714500" indent="-27305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70000"/>
              <a:buFont typeface="Arial" pitchFamily="34" charset="0"/>
              <a:buChar char="–"/>
              <a:defRPr sz="1800" baseline="0">
                <a:latin typeface="Arial" pitchFamily="34" charset="0"/>
                <a:cs typeface="Arial" pitchFamily="34" charset="0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Arial" pitchFamily="34" charset="0"/>
                <a:cs typeface="Arial" pitchFamily="34" charset="0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Arial" pitchFamily="34" charset="0"/>
                <a:cs typeface="Arial" pitchFamily="34" charset="0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66839" y="4580751"/>
            <a:ext cx="5341936" cy="276999"/>
          </a:xfrm>
        </p:spPr>
        <p:txBody>
          <a:bodyPr anchor="b" anchorCtr="0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1366839" y="2214563"/>
            <a:ext cx="5341936" cy="1231106"/>
          </a:xfrm>
        </p:spPr>
        <p:txBody>
          <a:bodyPr wrap="square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7315200" cy="182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7" name="Picture 6" descr="PPT.jpg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>
          <a:xfrm>
            <a:off x="0" y="0"/>
            <a:ext cx="9144000" cy="752030"/>
          </a:xfrm>
          <a:prstGeom prst="rect">
            <a:avLst/>
          </a:prstGeom>
        </p:spPr>
      </p:pic>
      <p:sp>
        <p:nvSpPr>
          <p:cNvPr id="8" name="TextBox 20"/>
          <p:cNvSpPr txBox="1">
            <a:spLocks noChangeArrowheads="1"/>
          </p:cNvSpPr>
          <p:nvPr/>
        </p:nvSpPr>
        <p:spPr bwMode="auto">
          <a:xfrm>
            <a:off x="304799" y="6516993"/>
            <a:ext cx="141248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sz="8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© </a:t>
            </a:r>
            <a:r>
              <a:rPr lang="en-US" sz="800" kern="120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Mahindra Satyam 2011</a:t>
            </a:r>
            <a:endParaRPr lang="en-US" sz="800" kern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2931" y="960438"/>
            <a:ext cx="4170595" cy="5303838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48200" y="960438"/>
            <a:ext cx="4170595" cy="5303838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02931" y="960437"/>
            <a:ext cx="4170595" cy="461665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1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648200" y="960437"/>
            <a:ext cx="4170595" cy="461665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799" y="469484"/>
            <a:ext cx="8539163" cy="338554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2931" y="961415"/>
            <a:ext cx="4170595" cy="2561419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648200" y="961415"/>
            <a:ext cx="4170595" cy="2561419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02931" y="961415"/>
            <a:ext cx="4170595" cy="461665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1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648200" y="961415"/>
            <a:ext cx="4170595" cy="461665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2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302931" y="3702856"/>
            <a:ext cx="4170595" cy="2561419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3702856"/>
            <a:ext cx="4170595" cy="2561419"/>
          </a:xfrm>
          <a:ln>
            <a:solidFill>
              <a:schemeClr val="bg2"/>
            </a:solidFill>
          </a:ln>
        </p:spPr>
        <p:txBody>
          <a:bodyPr wrap="square" lIns="91440" tIns="548640" rIns="91440" b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Arial" pitchFamily="34" charset="0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02931" y="3702856"/>
            <a:ext cx="4170595" cy="471520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3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3702856"/>
            <a:ext cx="4170595" cy="471520"/>
          </a:xfrm>
          <a:solidFill>
            <a:schemeClr val="bg2"/>
          </a:solidFill>
          <a:ln>
            <a:noFill/>
          </a:ln>
        </p:spPr>
        <p:txBody>
          <a:bodyPr wrap="square" lIns="91440" tIns="91440" rIns="91440" bIns="91440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 dirty="0" smtClean="0"/>
              <a:t>Heading 4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66838" y="1367641"/>
            <a:ext cx="6729984" cy="338554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gray">
          <a:xfrm>
            <a:off x="1366839" y="3548382"/>
            <a:ext cx="19957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 anchorCtr="0">
            <a:spAutoFit/>
          </a:bodyPr>
          <a:lstStyle/>
          <a:p>
            <a:pPr algn="l"/>
            <a:r>
              <a:rPr lang="en-US" sz="1600" b="1" dirty="0" smtClean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mahindrasatyam.net</a:t>
            </a:r>
            <a:endParaRPr lang="en-US" sz="1600" b="1" dirty="0">
              <a:solidFill>
                <a:schemeClr val="bg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71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675120"/>
            <a:ext cx="7315200" cy="1828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799" y="469484"/>
            <a:ext cx="853916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99" y="1262568"/>
            <a:ext cx="85391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First level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0" name="Slide Number Placeholder 5"/>
          <p:cNvSpPr txBox="1">
            <a:spLocks/>
          </p:cNvSpPr>
          <p:nvPr/>
        </p:nvSpPr>
        <p:spPr bwMode="auto">
          <a:xfrm>
            <a:off x="8718928" y="6705005"/>
            <a:ext cx="125034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algn="r">
              <a:defRPr/>
            </a:pPr>
            <a:fld id="{6856ECDB-1CEE-4F69-ADCA-557460F2116E}" type="slidenum">
              <a:rPr lang="en-US" sz="800">
                <a:solidFill>
                  <a:schemeClr val="accent3"/>
                </a:solidFill>
              </a:rPr>
              <a:pPr algn="r">
                <a:defRPr/>
              </a:pPr>
              <a:t>‹#›</a:t>
            </a:fld>
            <a:endParaRPr lang="en-US" sz="800" dirty="0">
              <a:solidFill>
                <a:schemeClr val="accent3"/>
              </a:solidFill>
            </a:endParaRPr>
          </a:p>
        </p:txBody>
      </p:sp>
      <p:pic>
        <p:nvPicPr>
          <p:cNvPr id="35" name="Picture 34" descr="PPT.jpg"/>
          <p:cNvPicPr>
            <a:picLocks noChangeAspect="1"/>
          </p:cNvPicPr>
          <p:nvPr/>
        </p:nvPicPr>
        <p:blipFill>
          <a:blip r:embed="rId9" cstate="email"/>
          <a:srcRect/>
          <a:stretch>
            <a:fillRect/>
          </a:stretch>
        </p:blipFill>
        <p:spPr>
          <a:xfrm>
            <a:off x="6719888" y="104040"/>
            <a:ext cx="2133600" cy="304800"/>
          </a:xfrm>
          <a:prstGeom prst="rect">
            <a:avLst/>
          </a:prstGeom>
        </p:spPr>
      </p:pic>
      <p:sp>
        <p:nvSpPr>
          <p:cNvPr id="8" name="TextBox 20"/>
          <p:cNvSpPr txBox="1">
            <a:spLocks noChangeArrowheads="1"/>
          </p:cNvSpPr>
          <p:nvPr/>
        </p:nvSpPr>
        <p:spPr bwMode="auto">
          <a:xfrm>
            <a:off x="304799" y="6516993"/>
            <a:ext cx="1412489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sz="8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© </a:t>
            </a:r>
            <a:r>
              <a:rPr lang="en-US" sz="800" kern="120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Mahindra Satyam 2011</a:t>
            </a:r>
            <a:endParaRPr lang="en-US" sz="800" kern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spcBef>
          <a:spcPct val="0"/>
        </a:spcBef>
        <a:buNone/>
        <a:defRPr lang="en-US" sz="2200" b="1" kern="1200" dirty="0" smtClean="0">
          <a:solidFill>
            <a:schemeClr val="tx2"/>
          </a:solidFill>
          <a:latin typeface="Arial" pitchFamily="34" charset="0"/>
          <a:ea typeface="+mj-ea"/>
          <a:cs typeface="+mj-cs"/>
        </a:defRPr>
      </a:lvl1pPr>
    </p:titleStyle>
    <p:bodyStyle>
      <a:lvl1pPr marL="0" indent="0" algn="l" defTabSz="914400" rtl="0" eaLnBrk="1" fontAlgn="base" latinLnBrk="0" hangingPunct="1">
        <a:spcBef>
          <a:spcPts val="0"/>
        </a:spcBef>
        <a:spcAft>
          <a:spcPct val="0"/>
        </a:spcAft>
        <a:buFont typeface="Arial" pitchFamily="34" charset="0"/>
        <a:buNone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285750" indent="-285750" algn="l" defTabSz="914400" rtl="0" eaLnBrk="1" fontAlgn="base" latinLnBrk="0" hangingPunct="1">
        <a:spcBef>
          <a:spcPts val="0"/>
        </a:spcBef>
        <a:spcAft>
          <a:spcPct val="0"/>
        </a:spcAft>
        <a:buClr>
          <a:schemeClr val="tx2"/>
        </a:buClr>
        <a:buSzPct val="120000"/>
        <a:buFont typeface="Wingdings" pitchFamily="2" charset="2"/>
        <a:buChar char="§"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571500" indent="-279400" algn="l" defTabSz="914400" rtl="0" eaLnBrk="1" fontAlgn="base" latinLnBrk="0" hangingPunct="1">
        <a:spcBef>
          <a:spcPts val="0"/>
        </a:spcBef>
        <a:spcAft>
          <a:spcPct val="0"/>
        </a:spcAft>
        <a:buClr>
          <a:schemeClr val="tx2"/>
        </a:buClr>
        <a:buSzPct val="110000"/>
        <a:buFont typeface="Arial" pitchFamily="34" charset="0"/>
        <a:buChar char="–"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850900" indent="-279400" algn="l" defTabSz="914400" rtl="0" eaLnBrk="1" fontAlgn="base" latinLnBrk="0" hangingPunct="1">
        <a:spcBef>
          <a:spcPts val="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1136650" indent="-285750" algn="l" defTabSz="933450" rtl="0" eaLnBrk="1" fontAlgn="base" latinLnBrk="0" hangingPunct="1">
        <a:spcBef>
          <a:spcPts val="0"/>
        </a:spcBef>
        <a:spcAft>
          <a:spcPct val="0"/>
        </a:spcAft>
        <a:buClr>
          <a:schemeClr val="tx2"/>
        </a:buClr>
        <a:buSzPct val="80000"/>
        <a:buFont typeface="Arial" pitchFamily="34" charset="0"/>
        <a:buChar char="–"/>
        <a:defRPr lang="en-US" sz="1800" b="0" kern="1200" baseline="0" dirty="0" smtClean="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Box 3"/>
          <p:cNvSpPr txBox="1">
            <a:spLocks noChangeArrowheads="1"/>
          </p:cNvSpPr>
          <p:nvPr/>
        </p:nvSpPr>
        <p:spPr bwMode="auto">
          <a:xfrm>
            <a:off x="150813" y="1075944"/>
            <a:ext cx="4481512" cy="3058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marL="285750" lvl="1" indent="-285750" defTabSz="82550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400" b="1" dirty="0" smtClean="0">
                <a:latin typeface="Arial" charset="0"/>
                <a:cs typeface="Arial" pitchFamily="34" charset="0"/>
              </a:rPr>
              <a:t>Objective</a:t>
            </a:r>
            <a:endParaRPr lang="en-US" altLang="zh-CN" sz="1400" b="1" dirty="0">
              <a:latin typeface="Arial" charset="0"/>
              <a:cs typeface="Arial" pitchFamily="34" charset="0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150813" y="1404486"/>
            <a:ext cx="4421187" cy="69246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lIns="91403" tIns="45702" rIns="91403" bIns="45702">
            <a:spAutoFit/>
          </a:bodyPr>
          <a:lstStyle/>
          <a:p>
            <a:pPr marL="365760" indent="-182880" eaLnBrk="0" hangingPunct="0">
              <a:buClr>
                <a:schemeClr val="tx2"/>
              </a:buClr>
              <a:buFont typeface="Arial" pitchFamily="34" charset="0"/>
              <a:buChar char="–"/>
            </a:pPr>
            <a:r>
              <a:rPr lang="en-US" sz="1000" dirty="0">
                <a:latin typeface="Trebuchet MS" pitchFamily="34" charset="0"/>
                <a:cs typeface="Times New Roman" pitchFamily="18" charset="0"/>
              </a:rPr>
              <a:t> </a:t>
            </a:r>
            <a:r>
              <a:rPr lang="en-US" altLang="zh-CN" sz="1300" dirty="0">
                <a:latin typeface="Arial" charset="0"/>
                <a:cs typeface="宋体"/>
              </a:rPr>
              <a:t>Design and Development of </a:t>
            </a:r>
            <a:r>
              <a:rPr lang="en-US" altLang="zh-CN" sz="1300" dirty="0" smtClean="0">
                <a:latin typeface="Arial" charset="0"/>
                <a:cs typeface="宋体"/>
              </a:rPr>
              <a:t>Hardware and Firmware for Proximity Warning System for Rail Road Repair Equipment using RF and GPS modules</a:t>
            </a:r>
            <a:endParaRPr lang="en-US" altLang="zh-CN" sz="1300" dirty="0">
              <a:latin typeface="Arial" charset="0"/>
              <a:cs typeface="宋体"/>
            </a:endParaRPr>
          </a:p>
        </p:txBody>
      </p:sp>
      <p:sp>
        <p:nvSpPr>
          <p:cNvPr id="52" name="Text Box 9"/>
          <p:cNvSpPr txBox="1">
            <a:spLocks noChangeArrowheads="1"/>
          </p:cNvSpPr>
          <p:nvPr/>
        </p:nvSpPr>
        <p:spPr bwMode="auto">
          <a:xfrm>
            <a:off x="109728" y="3969060"/>
            <a:ext cx="4960937" cy="22929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365760" lvl="1" indent="-182880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900" dirty="0" smtClean="0">
                <a:cs typeface="黑体"/>
              </a:rPr>
              <a:t> </a:t>
            </a:r>
            <a:r>
              <a:rPr lang="en-US" altLang="zh-CN" sz="1300" dirty="0" smtClean="0">
                <a:latin typeface="Arial" charset="0"/>
                <a:cs typeface="宋体"/>
              </a:rPr>
              <a:t>End to End Product Development</a:t>
            </a:r>
            <a:r>
              <a:rPr lang="en-US" altLang="ja-JP" sz="1300" dirty="0" smtClean="0">
                <a:latin typeface="Arial" charset="0"/>
                <a:cs typeface="宋体"/>
              </a:rPr>
              <a:t>    </a:t>
            </a:r>
            <a:endParaRPr lang="en-US" altLang="zh-CN" sz="1300" dirty="0" smtClean="0">
              <a:latin typeface="Arial" charset="0"/>
              <a:cs typeface="宋体"/>
            </a:endParaRPr>
          </a:p>
          <a:p>
            <a:pPr marL="365760" lvl="1" indent="-182880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300" dirty="0" smtClean="0">
                <a:latin typeface="Arial" charset="0"/>
                <a:cs typeface="宋体"/>
              </a:rPr>
              <a:t> GPS and RF modules for location identification and wireless communication</a:t>
            </a:r>
          </a:p>
          <a:p>
            <a:pPr marL="365760" lvl="1" indent="-182880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300" dirty="0" smtClean="0">
                <a:latin typeface="Arial" charset="0"/>
                <a:cs typeface="宋体"/>
              </a:rPr>
              <a:t>Configurable distance limit to indicate nearby vehicles</a:t>
            </a:r>
          </a:p>
          <a:p>
            <a:pPr marL="365760" lvl="1" indent="-182880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300" dirty="0" smtClean="0">
                <a:latin typeface="Arial" charset="0"/>
                <a:cs typeface="宋体"/>
              </a:rPr>
              <a:t> Rugged IP65 Enclosure – Die Cast Aluminum to meet harsh environments</a:t>
            </a:r>
          </a:p>
          <a:p>
            <a:pPr marL="365760" lvl="1" indent="-182880"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300" dirty="0" smtClean="0">
                <a:latin typeface="Arial" charset="0"/>
                <a:cs typeface="宋体"/>
              </a:rPr>
              <a:t> FAT 32 file system for data logging</a:t>
            </a:r>
          </a:p>
          <a:p>
            <a:pPr marL="365760" lvl="1" indent="-182880">
              <a:buClr>
                <a:schemeClr val="tx2"/>
              </a:buClr>
              <a:buFont typeface="Arial" pitchFamily="34" charset="0"/>
              <a:buChar char="–"/>
            </a:pPr>
            <a:r>
              <a:rPr lang="en-US" sz="1300" dirty="0" smtClean="0">
                <a:latin typeface="Arial" charset="0"/>
                <a:ea typeface="宋体" charset="-122"/>
                <a:cs typeface="Times New Roman" pitchFamily="18" charset="0"/>
              </a:rPr>
              <a:t>Implementation of  Message communication with complex signature</a:t>
            </a:r>
          </a:p>
          <a:p>
            <a:pPr marL="365760" lvl="1" indent="-182880">
              <a:buClr>
                <a:schemeClr val="tx2"/>
              </a:buClr>
              <a:buFont typeface="Arial" pitchFamily="34" charset="0"/>
              <a:buChar char="–"/>
            </a:pPr>
            <a:r>
              <a:rPr lang="en-US" sz="1300" dirty="0" smtClean="0">
                <a:latin typeface="Arial" charset="0"/>
                <a:ea typeface="宋体" charset="-122"/>
                <a:cs typeface="Times New Roman" pitchFamily="18" charset="0"/>
              </a:rPr>
              <a:t>Configurable distance thresholds for Audio and Visual alarms</a:t>
            </a:r>
            <a:endParaRPr lang="en-US" sz="1000" dirty="0">
              <a:latin typeface="Trebuchet MS" pitchFamily="34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53" name="Rectangle 15"/>
          <p:cNvSpPr>
            <a:spLocks noChangeArrowheads="1"/>
          </p:cNvSpPr>
          <p:nvPr/>
        </p:nvSpPr>
        <p:spPr bwMode="auto">
          <a:xfrm>
            <a:off x="152400" y="2523744"/>
            <a:ext cx="3886200" cy="10926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marL="365760" indent="-182880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300" dirty="0" smtClean="0">
                <a:latin typeface="Arial" charset="0"/>
                <a:cs typeface="宋体"/>
              </a:rPr>
              <a:t>CCS C Compiler, ICD for Debugging</a:t>
            </a:r>
            <a:endParaRPr lang="en-US" altLang="zh-CN" sz="1300" dirty="0">
              <a:latin typeface="Arial" charset="0"/>
              <a:cs typeface="宋体"/>
            </a:endParaRPr>
          </a:p>
          <a:p>
            <a:pPr marL="365760" indent="-182880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300" dirty="0" smtClean="0">
                <a:latin typeface="Arial" charset="0"/>
                <a:cs typeface="宋体"/>
              </a:rPr>
              <a:t>ORCAD </a:t>
            </a:r>
            <a:r>
              <a:rPr lang="en-US" altLang="zh-CN" sz="1300" dirty="0">
                <a:latin typeface="Arial" charset="0"/>
                <a:cs typeface="宋体"/>
              </a:rPr>
              <a:t>schematic capture. Cadence Allegro, PSPICE and SI Analysis </a:t>
            </a:r>
            <a:r>
              <a:rPr lang="en-US" altLang="zh-CN" sz="1300" dirty="0" smtClean="0">
                <a:latin typeface="Arial" charset="0"/>
                <a:cs typeface="宋体"/>
              </a:rPr>
              <a:t>tools</a:t>
            </a:r>
          </a:p>
          <a:p>
            <a:pPr marL="365760" indent="-182880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–"/>
            </a:pPr>
            <a:r>
              <a:rPr lang="en-US" altLang="zh-CN" sz="1300" dirty="0" smtClean="0">
                <a:latin typeface="Arial" charset="0"/>
                <a:cs typeface="宋体"/>
              </a:rPr>
              <a:t>AutoCAD/</a:t>
            </a:r>
            <a:r>
              <a:rPr lang="en-US" altLang="zh-CN" sz="1300" dirty="0" err="1" smtClean="0">
                <a:latin typeface="Arial" charset="0"/>
                <a:cs typeface="宋体"/>
              </a:rPr>
              <a:t>SolidWorkd</a:t>
            </a:r>
            <a:r>
              <a:rPr lang="en-US" altLang="zh-CN" sz="1300" dirty="0" smtClean="0">
                <a:latin typeface="Arial" charset="0"/>
                <a:cs typeface="宋体"/>
              </a:rPr>
              <a:t> for Enclosure Design</a:t>
            </a:r>
            <a:endParaRPr lang="en-US" altLang="zh-CN" sz="1300" dirty="0">
              <a:latin typeface="Arial" charset="0"/>
              <a:cs typeface="宋体"/>
            </a:endParaRPr>
          </a:p>
        </p:txBody>
      </p:sp>
      <p:sp>
        <p:nvSpPr>
          <p:cNvPr id="54" name="Text Box 16"/>
          <p:cNvSpPr txBox="1">
            <a:spLocks noChangeArrowheads="1"/>
          </p:cNvSpPr>
          <p:nvPr/>
        </p:nvSpPr>
        <p:spPr bwMode="auto">
          <a:xfrm>
            <a:off x="76200" y="2230565"/>
            <a:ext cx="4648200" cy="31568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marL="285750" lvl="1" indent="-285750" defTabSz="82550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400" b="1">
                <a:latin typeface="Arial" charset="0"/>
                <a:cs typeface="Arial" pitchFamily="34" charset="0"/>
              </a:rPr>
              <a:t>Environment</a:t>
            </a:r>
          </a:p>
        </p:txBody>
      </p:sp>
      <p:sp>
        <p:nvSpPr>
          <p:cNvPr id="55" name="Text Box 17"/>
          <p:cNvSpPr txBox="1">
            <a:spLocks noChangeArrowheads="1"/>
          </p:cNvSpPr>
          <p:nvPr/>
        </p:nvSpPr>
        <p:spPr bwMode="auto">
          <a:xfrm>
            <a:off x="76200" y="3689379"/>
            <a:ext cx="4648200" cy="31568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9547" tIns="44773" rIns="89547" bIns="44773">
            <a:spAutoFit/>
          </a:bodyPr>
          <a:lstStyle/>
          <a:p>
            <a:pPr marL="285750" lvl="1" indent="-285750" defTabSz="825500">
              <a:spcBef>
                <a:spcPct val="20000"/>
              </a:spcBef>
              <a:buClr>
                <a:srgbClr val="C0504D"/>
              </a:buClr>
              <a:buSzPct val="120000"/>
              <a:buFont typeface="Wingdings" pitchFamily="2" charset="2"/>
              <a:buChar char="§"/>
              <a:defRPr/>
            </a:pPr>
            <a:r>
              <a:rPr lang="en-US" altLang="zh-CN" sz="1400" b="1" dirty="0">
                <a:latin typeface="Arial" charset="0"/>
                <a:cs typeface="Arial" pitchFamily="34" charset="0"/>
              </a:rPr>
              <a:t>Highlights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1" descr="C:\Documents and Settings\Administrator\Local Settings\Temporary Internet Files\Content.Word\Proximity Warning System Block Diagram Ver1.1-Page-1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8116" y="2924944"/>
            <a:ext cx="3384376" cy="3206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4"/>
          <p:cNvSpPr txBox="1">
            <a:spLocks noChangeArrowheads="1"/>
          </p:cNvSpPr>
          <p:nvPr/>
        </p:nvSpPr>
        <p:spPr>
          <a:xfrm>
            <a:off x="-1165" y="-6930"/>
            <a:ext cx="6706765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auto" hangingPunct="0">
              <a:spcAft>
                <a:spcPts val="0"/>
              </a:spcAft>
              <a:defRPr/>
            </a:pPr>
            <a:r>
              <a:rPr lang="en-US" altLang="zh-CN" sz="2200" b="1" dirty="0" smtClean="0">
                <a:solidFill>
                  <a:srgbClr val="C00000"/>
                </a:solidFill>
                <a:latin typeface="Arial" charset="0"/>
                <a:ea typeface="ＭＳ Ｐゴシック" pitchFamily="34" charset="-128"/>
                <a:cs typeface="ＭＳ Ｐゴシック"/>
              </a:rPr>
              <a:t>  Design and Development of Proximity Warning   </a:t>
            </a:r>
          </a:p>
          <a:p>
            <a:pPr lvl="0" eaLnBrk="0" fontAlgn="auto" hangingPunct="0">
              <a:spcAft>
                <a:spcPts val="0"/>
              </a:spcAft>
              <a:defRPr/>
            </a:pPr>
            <a:r>
              <a:rPr lang="en-US" altLang="zh-CN" sz="2200" b="1" dirty="0" smtClean="0">
                <a:solidFill>
                  <a:srgbClr val="C00000"/>
                </a:solidFill>
                <a:latin typeface="Arial" charset="0"/>
                <a:ea typeface="ＭＳ Ｐゴシック" pitchFamily="34" charset="-128"/>
                <a:cs typeface="ＭＳ Ｐゴシック"/>
              </a:rPr>
              <a:t>  System</a:t>
            </a:r>
            <a:endParaRPr lang="en-US" altLang="zh-CN" sz="2200" b="1" dirty="0">
              <a:solidFill>
                <a:srgbClr val="C00000"/>
              </a:solidFill>
              <a:latin typeface="Arial" charset="0"/>
              <a:ea typeface="ＭＳ Ｐゴシック" pitchFamily="34" charset="-128"/>
              <a:cs typeface="ＭＳ Ｐゴシック"/>
            </a:endParaRPr>
          </a:p>
        </p:txBody>
      </p:sp>
      <p:pic>
        <p:nvPicPr>
          <p:cNvPr id="13" name="Picture 12" descr="Image1643.jpg"/>
          <p:cNvPicPr>
            <a:picLocks noChangeAspect="1"/>
          </p:cNvPicPr>
          <p:nvPr/>
        </p:nvPicPr>
        <p:blipFill>
          <a:blip r:embed="rId3" cstate="print"/>
          <a:srcRect l="22917" t="1562" r="10417" b="20313"/>
          <a:stretch>
            <a:fillRect/>
          </a:stretch>
        </p:blipFill>
        <p:spPr>
          <a:xfrm>
            <a:off x="5309289" y="677108"/>
            <a:ext cx="2839834" cy="19214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mtClean="0"/>
              <a:t>Project Details</a:t>
            </a:r>
          </a:p>
        </p:txBody>
      </p:sp>
      <p:sp>
        <p:nvSpPr>
          <p:cNvPr id="34833" name="Text Box 44"/>
          <p:cNvSpPr txBox="1">
            <a:spLocks noChangeArrowheads="1"/>
          </p:cNvSpPr>
          <p:nvPr/>
        </p:nvSpPr>
        <p:spPr bwMode="auto">
          <a:xfrm>
            <a:off x="228600" y="990600"/>
            <a:ext cx="5181600" cy="1746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3038" indent="-173038">
              <a:spcBef>
                <a:spcPct val="50000"/>
              </a:spcBef>
              <a:defRPr/>
            </a:pPr>
            <a:r>
              <a:rPr lang="en-US" altLang="zh-CN" sz="1200" dirty="0">
                <a:solidFill>
                  <a:srgbClr val="000000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Scope:</a:t>
            </a:r>
          </a:p>
          <a:p>
            <a:pPr marL="115888" indent="-115888" algn="just" eaLnBrk="0" hangingPunct="0"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FontTx/>
              <a:buChar char="•"/>
              <a:defRPr/>
            </a:pPr>
            <a:r>
              <a:rPr lang="en-US" sz="1100" dirty="0">
                <a:latin typeface="Arial" charset="0"/>
                <a:ea typeface="宋体"/>
                <a:cs typeface="Times New Roman" pitchFamily="18" charset="0"/>
              </a:rPr>
              <a:t> </a:t>
            </a:r>
            <a:r>
              <a:rPr lang="en-US" altLang="zh-CN" sz="1200" dirty="0">
                <a:latin typeface="Arial" charset="0"/>
                <a:ea typeface="宋体"/>
                <a:cs typeface="Times New Roman" pitchFamily="18" charset="0"/>
              </a:rPr>
              <a:t>Design and Development of Hardware and Firmware for Proximity Warning System for Rail Road Repair Equipment using RF and GPS modules</a:t>
            </a:r>
          </a:p>
          <a:p>
            <a:pPr marL="288925" lvl="1" indent="-166688" algn="just">
              <a:lnSpc>
                <a:spcPct val="150000"/>
              </a:lnSpc>
              <a:spcBef>
                <a:spcPts val="300"/>
              </a:spcBef>
              <a:defRPr/>
            </a:pPr>
            <a:r>
              <a:rPr lang="en-US" sz="1100" i="1" dirty="0">
                <a:solidFill>
                  <a:srgbClr val="0D0D0D"/>
                </a:solidFill>
                <a:latin typeface="Arial" charset="0"/>
                <a:cs typeface="Arial" charset="0"/>
              </a:rPr>
              <a:t>Critical Specs</a:t>
            </a:r>
          </a:p>
          <a:p>
            <a:pPr marL="396875" lvl="1" indent="-168275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sz="1100" i="1" dirty="0">
                <a:solidFill>
                  <a:srgbClr val="0D0D0D"/>
                </a:solidFill>
                <a:latin typeface="Arial" charset="0"/>
                <a:cs typeface="Arial" charset="0"/>
              </a:rPr>
              <a:t>Input supply : +9VDC to +36VDC</a:t>
            </a:r>
          </a:p>
        </p:txBody>
      </p:sp>
      <p:sp>
        <p:nvSpPr>
          <p:cNvPr id="4100" name="Line 42"/>
          <p:cNvSpPr>
            <a:spLocks noChangeShapeType="1"/>
          </p:cNvSpPr>
          <p:nvPr/>
        </p:nvSpPr>
        <p:spPr bwMode="auto">
          <a:xfrm>
            <a:off x="165100" y="3429000"/>
            <a:ext cx="52451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6" name="Text Box 44"/>
          <p:cNvSpPr txBox="1">
            <a:spLocks noChangeArrowheads="1"/>
          </p:cNvSpPr>
          <p:nvPr/>
        </p:nvSpPr>
        <p:spPr bwMode="auto">
          <a:xfrm>
            <a:off x="228600" y="3505200"/>
            <a:ext cx="5181600" cy="294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0000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Solution :</a:t>
            </a:r>
          </a:p>
          <a:p>
            <a:pPr marL="396875" lvl="1" indent="-168275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solidFill>
                  <a:srgbClr val="0D0D0D"/>
                </a:solidFill>
                <a:latin typeface="Arial" charset="0"/>
                <a:cs typeface="Arial" charset="0"/>
              </a:rPr>
              <a:t>End to End Product Development</a:t>
            </a:r>
            <a:r>
              <a:rPr lang="en-US" altLang="ja-JP" sz="1100" dirty="0">
                <a:solidFill>
                  <a:srgbClr val="0D0D0D"/>
                </a:solidFill>
                <a:latin typeface="Arial" charset="0"/>
                <a:cs typeface="Arial" charset="0"/>
              </a:rPr>
              <a:t>    </a:t>
            </a:r>
            <a:endParaRPr lang="en-US" altLang="zh-CN" sz="1100" dirty="0">
              <a:solidFill>
                <a:srgbClr val="0D0D0D"/>
              </a:solidFill>
              <a:latin typeface="Arial" charset="0"/>
              <a:cs typeface="Arial" charset="0"/>
            </a:endParaRPr>
          </a:p>
          <a:p>
            <a:pPr marL="396875" lvl="1" indent="-168275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solidFill>
                  <a:srgbClr val="0D0D0D"/>
                </a:solidFill>
                <a:latin typeface="Arial" charset="0"/>
                <a:cs typeface="Arial" charset="0"/>
              </a:rPr>
              <a:t> GPS and RF modules for location identification and wireless communication</a:t>
            </a:r>
          </a:p>
          <a:p>
            <a:pPr marL="396875" lvl="1" indent="-168275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solidFill>
                  <a:srgbClr val="0D0D0D"/>
                </a:solidFill>
                <a:latin typeface="Arial" charset="0"/>
                <a:cs typeface="Arial" charset="0"/>
              </a:rPr>
              <a:t>Configurable distance limit to indicate nearby vehicles</a:t>
            </a:r>
          </a:p>
          <a:p>
            <a:pPr marL="396875" lvl="1" indent="-168275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solidFill>
                  <a:srgbClr val="0D0D0D"/>
                </a:solidFill>
                <a:latin typeface="Arial" charset="0"/>
                <a:cs typeface="Arial" charset="0"/>
              </a:rPr>
              <a:t> Rugged IP65 Enclosure – Die Cast Aluminum to meet harsh environments</a:t>
            </a:r>
          </a:p>
          <a:p>
            <a:pPr marL="396875" lvl="1" indent="-168275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solidFill>
                  <a:srgbClr val="0D0D0D"/>
                </a:solidFill>
                <a:latin typeface="Arial" charset="0"/>
                <a:cs typeface="Arial" charset="0"/>
              </a:rPr>
              <a:t> FAT 32 file system for data logging</a:t>
            </a:r>
          </a:p>
          <a:p>
            <a:pPr marL="396875" lvl="1" indent="-168275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solidFill>
                  <a:srgbClr val="0D0D0D"/>
                </a:solidFill>
                <a:latin typeface="Arial" charset="0"/>
                <a:cs typeface="Arial" charset="0"/>
              </a:rPr>
              <a:t>Implementation of  Message communication with complex signature</a:t>
            </a:r>
          </a:p>
          <a:p>
            <a:pPr marL="396875" lvl="1" indent="-168275">
              <a:spcBef>
                <a:spcPct val="500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solidFill>
                  <a:srgbClr val="0D0D0D"/>
                </a:solidFill>
                <a:latin typeface="Arial" charset="0"/>
                <a:cs typeface="Arial" charset="0"/>
              </a:rPr>
              <a:t>Configurable distance thresholds for Audio and Visual alarms</a:t>
            </a:r>
            <a:endParaRPr lang="en-US" altLang="zh-CN" dirty="0">
              <a:solidFill>
                <a:srgbClr val="000000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  <a:p>
            <a:pPr marL="288925" lvl="1" indent="-166688">
              <a:lnSpc>
                <a:spcPct val="150000"/>
              </a:lnSpc>
              <a:spcBef>
                <a:spcPts val="300"/>
              </a:spcBef>
              <a:buClr>
                <a:schemeClr val="tx2"/>
              </a:buClr>
              <a:buSzPct val="120000"/>
              <a:buFont typeface="Arial" charset="0"/>
              <a:buChar char="•"/>
              <a:defRPr/>
            </a:pPr>
            <a:endParaRPr lang="en-US" altLang="zh-CN" dirty="0">
              <a:solidFill>
                <a:srgbClr val="000000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5486400" y="3429000"/>
            <a:ext cx="3429000" cy="2124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3038" indent="-173038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0000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Tools:</a:t>
            </a:r>
          </a:p>
          <a:p>
            <a:pPr marL="288925" indent="-166688">
              <a:lnSpc>
                <a:spcPct val="150000"/>
              </a:lnSpc>
              <a:spcBef>
                <a:spcPts val="3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latin typeface="Arial" charset="0"/>
                <a:ea typeface="宋体"/>
                <a:cs typeface="Times New Roman" pitchFamily="18" charset="0"/>
              </a:rPr>
              <a:t>CCS C Compiler, ICD for Debugging</a:t>
            </a:r>
          </a:p>
          <a:p>
            <a:pPr marL="288925" indent="-166688">
              <a:lnSpc>
                <a:spcPct val="150000"/>
              </a:lnSpc>
              <a:spcBef>
                <a:spcPts val="3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latin typeface="Arial" charset="0"/>
                <a:ea typeface="宋体"/>
                <a:cs typeface="Times New Roman" pitchFamily="18" charset="0"/>
              </a:rPr>
              <a:t>ORCAD Schematic capture. Cadence Allegro PCB Layout , PSPICE and SI Analysis tools</a:t>
            </a:r>
          </a:p>
          <a:p>
            <a:pPr marL="288925" indent="-166688">
              <a:lnSpc>
                <a:spcPct val="150000"/>
              </a:lnSpc>
              <a:spcBef>
                <a:spcPts val="30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altLang="zh-CN" sz="1100" dirty="0">
                <a:latin typeface="Arial" charset="0"/>
                <a:ea typeface="宋体"/>
                <a:cs typeface="Times New Roman" pitchFamily="18" charset="0"/>
              </a:rPr>
              <a:t>AutoCAD / Solid Work for Enclosure Design</a:t>
            </a:r>
          </a:p>
          <a:p>
            <a:pPr marL="173038" indent="-173038">
              <a:spcBef>
                <a:spcPct val="50000"/>
              </a:spcBef>
              <a:defRPr/>
            </a:pPr>
            <a:endParaRPr lang="en-US" sz="1600" b="0" i="1" dirty="0">
              <a:solidFill>
                <a:srgbClr val="0D0D0D"/>
              </a:solidFill>
              <a:latin typeface="Arial" charset="0"/>
              <a:cs typeface="Arial" charset="0"/>
            </a:endParaRP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5486400" y="5395913"/>
            <a:ext cx="3505200" cy="577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3038" indent="-173038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000000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Standards :</a:t>
            </a:r>
          </a:p>
          <a:p>
            <a:pPr marL="288925" indent="-166688">
              <a:spcBef>
                <a:spcPts val="300"/>
              </a:spcBef>
              <a:buFont typeface="Arial" pitchFamily="34" charset="0"/>
              <a:buChar char="•"/>
              <a:defRPr/>
            </a:pPr>
            <a:r>
              <a:rPr lang="en-US" sz="1100" dirty="0">
                <a:latin typeface="Arial" charset="0"/>
                <a:ea typeface="宋体"/>
                <a:cs typeface="Times New Roman" pitchFamily="18" charset="0"/>
              </a:rPr>
              <a:t>EMI/EMC - IEC 61000-4.3/2/6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>
            <a:off x="4229100" y="2095500"/>
            <a:ext cx="2514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5" name="Line 42"/>
          <p:cNvSpPr>
            <a:spLocks noChangeShapeType="1"/>
          </p:cNvSpPr>
          <p:nvPr/>
        </p:nvSpPr>
        <p:spPr bwMode="auto">
          <a:xfrm>
            <a:off x="5562600" y="3429000"/>
            <a:ext cx="3352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 rot="5400000">
            <a:off x="4152900" y="4914900"/>
            <a:ext cx="2667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age1643.jpg"/>
          <p:cNvPicPr>
            <a:picLocks noChangeAspect="1"/>
          </p:cNvPicPr>
          <p:nvPr/>
        </p:nvPicPr>
        <p:blipFill>
          <a:blip r:embed="rId3" cstate="print"/>
          <a:srcRect l="22917" t="1562" r="10417" b="20313"/>
          <a:stretch>
            <a:fillRect/>
          </a:stretch>
        </p:blipFill>
        <p:spPr>
          <a:xfrm>
            <a:off x="6324600" y="990600"/>
            <a:ext cx="1676400" cy="2286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996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 idx="4294967295"/>
          </p:nvPr>
        </p:nvSpPr>
        <p:spPr>
          <a:xfrm>
            <a:off x="228600" y="228600"/>
            <a:ext cx="8539163" cy="338138"/>
          </a:xfrm>
        </p:spPr>
        <p:txBody>
          <a:bodyPr/>
          <a:lstStyle/>
          <a:p>
            <a:pPr eaLnBrk="1" hangingPunct="1"/>
            <a:r>
              <a:rPr smtClean="0"/>
              <a:t>System Level Block Diagram</a:t>
            </a:r>
          </a:p>
        </p:txBody>
      </p:sp>
      <p:pic>
        <p:nvPicPr>
          <p:cNvPr id="5123" name="Picture 4" descr="C:\Documents and Settings\Administrator\Local Settings\Temporary Internet Files\Content.Word\Proximity Warning System Block Diagram Ver1.1-Page-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685800"/>
            <a:ext cx="80772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492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hindra-Satyam-new-template-1">
  <a:themeElements>
    <a:clrScheme name="Satyam_New_Template_2009">
      <a:dk1>
        <a:sysClr val="windowText" lastClr="000000"/>
      </a:dk1>
      <a:lt1>
        <a:sysClr val="window" lastClr="FFFFFF"/>
      </a:lt1>
      <a:dk2>
        <a:srgbClr val="C0504D"/>
      </a:dk2>
      <a:lt2>
        <a:srgbClr val="625756"/>
      </a:lt2>
      <a:accent1>
        <a:srgbClr val="E6E3E2"/>
      </a:accent1>
      <a:accent2>
        <a:srgbClr val="A092B4"/>
      </a:accent2>
      <a:accent3>
        <a:srgbClr val="625753"/>
      </a:accent3>
      <a:accent4>
        <a:srgbClr val="BE3A3A"/>
      </a:accent4>
      <a:accent5>
        <a:srgbClr val="FFC000"/>
      </a:accent5>
      <a:accent6>
        <a:srgbClr val="00B050"/>
      </a:accent6>
      <a:hlink>
        <a:srgbClr val="625753"/>
      </a:hlink>
      <a:folHlink>
        <a:srgbClr val="BE3A3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 algn="ctr">
          <a:noFill/>
          <a:miter lim="800000"/>
          <a:headEnd/>
          <a:tailEnd/>
        </a:ln>
      </a:spPr>
      <a:bodyPr lIns="89547" tIns="44773" rIns="89547" bIns="44773">
        <a:spAutoFit/>
      </a:bodyPr>
      <a:lstStyle>
        <a:defPPr marL="285750" indent="-285750">
          <a:spcBef>
            <a:spcPct val="20000"/>
          </a:spcBef>
          <a:buClr>
            <a:srgbClr val="C0504D"/>
          </a:buClr>
          <a:buSzPct val="120000"/>
          <a:buFont typeface="Wingdings" pitchFamily="2" charset="2"/>
          <a:buChar char="§"/>
          <a:defRPr sz="1400" b="1" dirty="0" smtClean="0">
            <a:solidFill>
              <a:prstClr val="black"/>
            </a:solidFill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9132</TotalTime>
  <Words>252</Words>
  <Application>Microsoft Office PowerPoint</Application>
  <PresentationFormat>On-screen Show (4:3)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 Unicode MS</vt:lpstr>
      <vt:lpstr>ＭＳ Ｐゴシック</vt:lpstr>
      <vt:lpstr>黑体</vt:lpstr>
      <vt:lpstr>宋体</vt:lpstr>
      <vt:lpstr>Arial</vt:lpstr>
      <vt:lpstr>Calibri</vt:lpstr>
      <vt:lpstr>Times New Roman</vt:lpstr>
      <vt:lpstr>Trebuchet MS</vt:lpstr>
      <vt:lpstr>Wingdings</vt:lpstr>
      <vt:lpstr>Mahindra-Satyam-new-template-1</vt:lpstr>
      <vt:lpstr>PowerPoint Presentation</vt:lpstr>
      <vt:lpstr>Project Details</vt:lpstr>
      <vt:lpstr>System Level Block Diagram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Engineering Solutions</dc:title>
  <dc:creator>kt66878</dc:creator>
  <cp:lastModifiedBy>Madhusudana Reddy</cp:lastModifiedBy>
  <cp:revision>265</cp:revision>
  <dcterms:created xsi:type="dcterms:W3CDTF">2009-10-12T14:15:02Z</dcterms:created>
  <dcterms:modified xsi:type="dcterms:W3CDTF">2019-03-26T12:19:48Z</dcterms:modified>
</cp:coreProperties>
</file>