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82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/>
              <a:t>Savings Distribution</a:t>
            </a:r>
          </a:p>
        </c:rich>
      </c:tx>
      <c:layout>
        <c:manualLayout>
          <c:xMode val="edge"/>
          <c:yMode val="edge"/>
          <c:x val="0.30644375885183206"/>
          <c:y val="5.94671173103005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9695238825669976E-2"/>
          <c:y val="0.23115262780680709"/>
          <c:w val="0.92949341009152242"/>
          <c:h val="0.69368320386993132"/>
        </c:manualLayout>
      </c:layout>
      <c:pie3D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Savings Distribution</c:v>
                </c:pt>
              </c:strCache>
            </c:strRef>
          </c:tx>
          <c:dPt>
            <c:idx val="0"/>
            <c:bubble3D val="0"/>
            <c:explosion val="23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3D1-4E49-88CA-23C026AB74D3}"/>
              </c:ext>
            </c:extLst>
          </c:dPt>
          <c:dPt>
            <c:idx val="1"/>
            <c:bubble3D val="0"/>
            <c:explosion val="18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3D1-4E49-88CA-23C026AB74D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3D1-4E49-88CA-23C026AB74D3}"/>
              </c:ext>
            </c:extLst>
          </c:dPt>
          <c:dLbls>
            <c:dLbl>
              <c:idx val="0"/>
              <c:layout>
                <c:manualLayout>
                  <c:x val="0.15213807561947024"/>
                  <c:y val="1.254672392019861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D1-4E49-88CA-23C026AB74D3}"/>
                </c:ext>
              </c:extLst>
            </c:dLbl>
            <c:dLbl>
              <c:idx val="1"/>
              <c:layout>
                <c:manualLayout>
                  <c:x val="3.0852952952974397E-2"/>
                  <c:y val="-5.391069926416180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D1-4E49-88CA-23C026AB74D3}"/>
                </c:ext>
              </c:extLst>
            </c:dLbl>
            <c:dLbl>
              <c:idx val="2"/>
              <c:layout>
                <c:manualLayout>
                  <c:x val="-3.9579772901223588E-2"/>
                  <c:y val="-0.1158770122051895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D1-4E49-88CA-23C026AB74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Sheet1!$B$2:$B$4</c:f>
              <c:strCache>
                <c:ptCount val="3"/>
                <c:pt idx="0">
                  <c:v>Design Optimization</c:v>
                </c:pt>
                <c:pt idx="1">
                  <c:v>Alternate FFF parts</c:v>
                </c:pt>
                <c:pt idx="2">
                  <c:v>Low cost vendor quotes</c:v>
                </c:pt>
              </c:strCache>
            </c:strRef>
          </c:cat>
          <c:val>
            <c:numRef>
              <c:f>Sheet1!$A$2:$A$4</c:f>
              <c:numCache>
                <c:formatCode>0%</c:formatCode>
                <c:ptCount val="3"/>
                <c:pt idx="0">
                  <c:v>0.04</c:v>
                </c:pt>
                <c:pt idx="1">
                  <c:v>0.05</c:v>
                </c:pt>
                <c:pt idx="2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D1-4E49-88CA-23C026AB74D3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0883037667056085E-2"/>
          <c:y val="0.86643385317544885"/>
          <c:w val="0.89999997857671854"/>
          <c:h val="0.126227162654123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bg1">
          <a:lumMod val="7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Product Cost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5576409453751325E-2"/>
          <c:y val="0.1234784139470205"/>
          <c:w val="0.90430227537217867"/>
          <c:h val="0.574926171255246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Sheet1!$I$27</c:f>
              <c:strCache>
                <c:ptCount val="1"/>
                <c:pt idx="0">
                  <c:v>Existing  Cost</c:v>
                </c:pt>
              </c:strCache>
            </c:strRef>
          </c:tx>
          <c:spPr>
            <a:solidFill>
              <a:srgbClr val="E3183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Sheet1!$H$28:$H$31</c:f>
              <c:strCache>
                <c:ptCount val="4"/>
                <c:pt idx="0">
                  <c:v>Electronic Components</c:v>
                </c:pt>
                <c:pt idx="1">
                  <c:v>Wire Harness</c:v>
                </c:pt>
                <c:pt idx="2">
                  <c:v>Mechanical Components</c:v>
                </c:pt>
                <c:pt idx="3">
                  <c:v>Overall Product Cost</c:v>
                </c:pt>
              </c:strCache>
            </c:strRef>
          </c:cat>
          <c:val>
            <c:numRef>
              <c:f>Sheet1!$I$28:$I$31</c:f>
              <c:numCache>
                <c:formatCode>0.00</c:formatCode>
                <c:ptCount val="4"/>
                <c:pt idx="0">
                  <c:v>84.842700000000008</c:v>
                </c:pt>
                <c:pt idx="1">
                  <c:v>42.57</c:v>
                </c:pt>
                <c:pt idx="2">
                  <c:v>29.6173</c:v>
                </c:pt>
                <c:pt idx="3">
                  <c:v>157.03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2A-4EF3-B5A0-FB42B5CB0AA9}"/>
            </c:ext>
          </c:extLst>
        </c:ser>
        <c:ser>
          <c:idx val="1"/>
          <c:order val="1"/>
          <c:tx>
            <c:strRef>
              <c:f>Sheet1!$J$27</c:f>
              <c:strCache>
                <c:ptCount val="1"/>
                <c:pt idx="0">
                  <c:v>Proposed Cost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Sheet1!$H$28:$H$31</c:f>
              <c:strCache>
                <c:ptCount val="4"/>
                <c:pt idx="0">
                  <c:v>Electronic Components</c:v>
                </c:pt>
                <c:pt idx="1">
                  <c:v>Wire Harness</c:v>
                </c:pt>
                <c:pt idx="2">
                  <c:v>Mechanical Components</c:v>
                </c:pt>
                <c:pt idx="3">
                  <c:v>Overall Product Cost</c:v>
                </c:pt>
              </c:strCache>
            </c:strRef>
          </c:cat>
          <c:val>
            <c:numRef>
              <c:f>Sheet1!$J$28:$J$31</c:f>
              <c:numCache>
                <c:formatCode>0.00</c:formatCode>
                <c:ptCount val="4"/>
                <c:pt idx="0">
                  <c:v>74.492700000000013</c:v>
                </c:pt>
                <c:pt idx="1">
                  <c:v>20.330000000000002</c:v>
                </c:pt>
                <c:pt idx="2">
                  <c:v>22.3873</c:v>
                </c:pt>
                <c:pt idx="3">
                  <c:v>117.21000000000001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2A-4EF3-B5A0-FB42B5CB0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90193688"/>
        <c:axId val="390194080"/>
      </c:barChart>
      <c:catAx>
        <c:axId val="390193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194080"/>
        <c:crosses val="autoZero"/>
        <c:auto val="1"/>
        <c:lblAlgn val="ctr"/>
        <c:lblOffset val="100"/>
        <c:noMultiLvlLbl val="0"/>
      </c:catAx>
      <c:valAx>
        <c:axId val="390194080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0193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38746682337083"/>
          <c:y val="0.89680802171069807"/>
          <c:w val="0.6608315360985505"/>
          <c:h val="0.103191978289301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bg1">
          <a:lumMod val="6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8853-B696-423F-B619-BE6D22E98503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A377F-ADE5-4107-BCF1-5CBBBADF4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0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002942-9E23-44FC-9F91-B8D3DD73426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80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A050-75FF-5250-4A90-15EDAD8C3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65AB9-E643-8B3E-D633-5104B5C5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F8270-AD96-C40C-CCD7-51C6F002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42FE0-AA02-894C-15FA-27188F7E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B010B-D605-6D91-829D-BBC8CF24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4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CDA4-200F-89B3-649F-0904A108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214FC-5108-BEE3-0226-C1309EF3E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D1416-1181-5C87-98C1-0C342E38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F44C-CB02-5AB8-D159-09ACA276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166CC-7A3A-35C1-047C-98FCE950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5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D991-744C-2358-9021-4462E14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3BBB0-4D37-59D0-BA50-2A3E153EE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77348-76F9-6B74-6716-D5873B6E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0D3EA-E668-A870-344B-AC47D9AD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DA924-F8D7-E288-F883-D34D5B37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01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6401-AE02-3AA2-3395-E0A3D88A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185E6-1EC4-92F0-F6DD-A1F38D879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2BAA6-50ED-C990-A158-812DFE7FD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96787-F04E-4B53-268C-AF6C7E65A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D72C3-B63F-5D45-A32A-A936FC3E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45BC7-57A6-7AA3-A90D-B617546E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5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7D3DA-4BE6-8D0A-B0AC-EE0C1CFA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2DB38-E107-0468-4469-0F51DE68F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C1173-5479-270B-9C1A-221B50091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B5C6E-4D93-9192-9955-ACDC6AB53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D9BEC2-FC5B-ECDA-4A19-C54BD9A0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69127-E526-82F8-27EB-AA759199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B252EC-7BA2-A6B9-FE55-2B0FFD4E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62398F-1847-BEA6-BC95-B928CCF7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5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435A-8A53-B410-835B-4BBF05FC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64D3F6-F0F6-0426-691F-9CB7B661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2482-9AC2-0F2C-F1DC-29697E7D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F435E-EE9D-FDA5-C01D-F487EF85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47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A87F4-0419-678D-CAA4-75EEF36F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D7DE2F-07C4-5D13-75D7-C3995EE9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0F687-D974-6CBA-58FE-4E703FDA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7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DC48-2C41-D148-C30C-411263EB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ABE48-1AAB-85C4-CDB8-A4AF398F8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C707F-A63C-06CD-1DCE-D84DB5A35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C9788-8FEF-130C-7D3F-D6FA4E60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35618-2487-89BB-979D-A28395E74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3271F-484E-9F60-73AB-1940590B6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8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C545A-E36B-C463-BB80-4EE7F5B4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16072-C2C3-7EA4-51DB-3A491D8A3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23A2A-6728-F6D8-5ED9-C6D88B475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C3708-BFFE-0E05-CE72-BB727D70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58DCA-2F6C-1866-186F-476E0BC9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C9BC2-8266-ABDB-BA3F-F92AF32B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6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B4D93-909D-A5E6-CC10-33578623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94456-A1F8-0149-29FB-A9A2CAB27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668D-4F13-776D-549D-50667FA4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ED8C9-F283-6828-05DB-C8575677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36027-D5E9-24FB-6983-32544F64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5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6303A-96A5-9154-9AA2-87F1B2796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0D2BB-775C-F295-20BE-4404784B5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9EDAE-642B-2146-7D68-9CB95072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8C1B4-B014-4D81-A4FB-895D75ED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AE3AB-4901-A5AD-EF55-D011D81B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29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41354" y="719165"/>
            <a:ext cx="10966449" cy="54002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>
              <a:defRPr lang="en-US" sz="3899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 algn="l" defTabSz="1085308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41349" y="1971697"/>
            <a:ext cx="10966451" cy="1546577"/>
          </a:xfrm>
        </p:spPr>
        <p:txBody>
          <a:bodyPr wrap="square">
            <a:spAutoFit/>
          </a:bodyPr>
          <a:lstStyle>
            <a:lvl1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defRPr lang="en-US" sz="21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1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1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1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algn="l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defRPr lang="en-US" sz="21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703320" indent="-339161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lang="en-US" sz="21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034942" indent="-324083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Arial" pitchFamily="34" charset="0"/>
              <a:buChar char="–"/>
              <a:defRPr sz="21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7pPr>
            <a:lvl8pPr marL="1899279" indent="-271325">
              <a:spcBef>
                <a:spcPts val="0"/>
              </a:spcBef>
              <a:spcAft>
                <a:spcPts val="0"/>
              </a:spcAft>
              <a:buSzPct val="70000"/>
              <a:defRPr sz="2100" baseline="0">
                <a:latin typeface="Arial" pitchFamily="34" charset="0"/>
                <a:cs typeface="Arial" pitchFamily="34" charset="0"/>
              </a:defRPr>
            </a:lvl8pPr>
            <a:lvl9pPr marL="2164959" indent="-265673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2100">
                <a:latin typeface="Arial" pitchFamily="34" charset="0"/>
                <a:cs typeface="Arial" pitchFamily="34" charset="0"/>
              </a:defRPr>
            </a:lvl9pPr>
          </a:lstStyle>
          <a:p>
            <a:pPr marL="344815" lvl="0" indent="-344815" algn="l" defTabSz="1085308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78315" lvl="2" indent="-331622" algn="l" defTabSz="1085308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pitchFamily="34" charset="0"/>
              <a:buChar char="–"/>
            </a:pPr>
            <a:r>
              <a:rPr lang="en-US" dirty="0"/>
              <a:t>Second level</a:t>
            </a:r>
          </a:p>
          <a:p>
            <a:pPr marL="1009933" lvl="3" indent="-331622" algn="l" defTabSz="1085308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</a:pPr>
            <a:r>
              <a:rPr lang="en-US" dirty="0"/>
              <a:t>Third level</a:t>
            </a:r>
          </a:p>
          <a:p>
            <a:pPr marL="1349097" lvl="4" indent="-339161" algn="l" defTabSz="1107918" rtl="0" eaLnBrk="1" fontAlgn="base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703320" lvl="5" indent="-339161" algn="l" defTabSz="1085308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60000"/>
              <a:buFont typeface="Wingdings" pitchFamily="2" charset="2"/>
              <a:buChar char="§"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99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FE546-1F3F-6BF4-CCE4-D3433504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3DD46-6C9F-72BF-4D32-2456A32E6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520F4-C022-9018-E1F7-DA111A7FA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EC67B-0E88-4BBD-874D-AA7C8EAE893A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A119C-8F11-E741-AA87-0B84F2665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AD406-F11E-B7A7-3DF7-7F8DBF1FA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052F52-C1DD-47D5-906E-B386F01B3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5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1671" y="2035823"/>
            <a:ext cx="1650629" cy="10080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414652" y="1330829"/>
            <a:ext cx="6430829" cy="807913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5000" lnSpcReduction="20000"/>
          </a:bodyPr>
          <a:lstStyle/>
          <a:p>
            <a:pPr marL="377099" lvl="1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To identify cost out ideas for active rectifier in below areas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Electronic Design review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Proposing low cost FFF alternate parts for the electronic components</a:t>
            </a:r>
          </a:p>
          <a:p>
            <a:pPr marL="377099" lvl="1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To identify alternate supplier quotes for electronic manufacturing services and mechanical components from China and India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96098" y="2539393"/>
            <a:ext cx="6554317" cy="807913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7500" lnSpcReduction="20000"/>
          </a:bodyPr>
          <a:lstStyle/>
          <a:p>
            <a:pPr marL="377099" lvl="1" algn="just">
              <a:buClr>
                <a:schemeClr val="tx2"/>
              </a:buClr>
            </a:pPr>
            <a:r>
              <a:rPr lang="en-US" sz="1051" dirty="0">
                <a:latin typeface="Century Gothic" panose="020B0502020202020204" pitchFamily="34" charset="0"/>
              </a:rPr>
              <a:t>Physical unit</a:t>
            </a:r>
          </a:p>
          <a:p>
            <a:pPr marL="377099" lvl="1" algn="just">
              <a:buClr>
                <a:schemeClr val="tx2"/>
              </a:buClr>
            </a:pPr>
            <a:r>
              <a:rPr lang="en-US" sz="1051" dirty="0">
                <a:latin typeface="Century Gothic" panose="020B0502020202020204" pitchFamily="34" charset="0"/>
              </a:rPr>
              <a:t>Product Cost BOM, 2D drawings, 3D Models, assembly drawing and assembly instructions</a:t>
            </a:r>
          </a:p>
          <a:p>
            <a:pPr marL="377099" lvl="1" algn="just">
              <a:buClr>
                <a:schemeClr val="tx2"/>
              </a:buClr>
            </a:pPr>
            <a:r>
              <a:rPr lang="en-US" sz="1051" dirty="0">
                <a:latin typeface="Century Gothic" panose="020B0502020202020204" pitchFamily="34" charset="0"/>
              </a:rPr>
              <a:t>Functional Block Diagram, schematics</a:t>
            </a:r>
          </a:p>
          <a:p>
            <a:pPr marL="377099" lvl="1" algn="just">
              <a:buClr>
                <a:schemeClr val="tx2"/>
              </a:buClr>
            </a:pPr>
            <a:r>
              <a:rPr lang="en-US" sz="1051" dirty="0">
                <a:latin typeface="Century Gothic" panose="020B0502020202020204" pitchFamily="34" charset="0"/>
              </a:rPr>
              <a:t>Estimated annual usage</a:t>
            </a:r>
          </a:p>
          <a:p>
            <a:pPr marL="377099" lvl="1" algn="just">
              <a:buClr>
                <a:schemeClr val="tx2"/>
              </a:buClr>
            </a:pPr>
            <a:r>
              <a:rPr lang="en-US" sz="1051" dirty="0">
                <a:latin typeface="Century Gothic" panose="020B0502020202020204" pitchFamily="34" charset="0"/>
              </a:rPr>
              <a:t>Manufacturing Location – China</a:t>
            </a:r>
          </a:p>
        </p:txBody>
      </p:sp>
      <p:pic>
        <p:nvPicPr>
          <p:cNvPr id="161" name="Picture 16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11670" y="942476"/>
            <a:ext cx="1650629" cy="1047333"/>
          </a:xfrm>
          <a:prstGeom prst="rect">
            <a:avLst/>
          </a:prstGeom>
        </p:spPr>
      </p:pic>
      <p:sp>
        <p:nvSpPr>
          <p:cNvPr id="14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458854" y="5126077"/>
            <a:ext cx="6732671" cy="13965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91440" rIns="91440" bIns="91440" rtlCol="0" anchor="ctr" anchorCtr="0">
            <a:normAutofit fontScale="85000" lnSpcReduction="10000"/>
          </a:bodyPr>
          <a:lstStyle/>
          <a:p>
            <a:pPr marL="377099" lvl="1" algn="just">
              <a:lnSpc>
                <a:spcPct val="150000"/>
              </a:lnSpc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Showcased </a:t>
            </a:r>
            <a:r>
              <a:rPr lang="en-US" sz="1051" b="1" dirty="0">
                <a:latin typeface="Century Gothic" panose="020B0502020202020204" pitchFamily="34" charset="0"/>
              </a:rPr>
              <a:t>25% savings </a:t>
            </a:r>
            <a:r>
              <a:rPr lang="en-US" sz="1051" dirty="0">
                <a:latin typeface="Century Gothic" panose="020B0502020202020204" pitchFamily="34" charset="0"/>
              </a:rPr>
              <a:t>on overall product cost</a:t>
            </a:r>
          </a:p>
          <a:p>
            <a:pPr marL="377099" lvl="1" algn="just">
              <a:lnSpc>
                <a:spcPct val="150000"/>
              </a:lnSpc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Optimized </a:t>
            </a:r>
            <a:r>
              <a:rPr lang="en-US" sz="1051" b="1" dirty="0">
                <a:latin typeface="Century Gothic" panose="020B0502020202020204" pitchFamily="34" charset="0"/>
              </a:rPr>
              <a:t>design in 4 </a:t>
            </a:r>
            <a:r>
              <a:rPr lang="en-US" sz="1051" dirty="0">
                <a:latin typeface="Century Gothic" panose="020B0502020202020204" pitchFamily="34" charset="0"/>
              </a:rPr>
              <a:t>areas (Microcontroller, MOSFET, Angle sensor and cable) </a:t>
            </a:r>
          </a:p>
          <a:p>
            <a:pPr marL="377099" lvl="1" algn="just">
              <a:lnSpc>
                <a:spcPct val="150000"/>
              </a:lnSpc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Identified low cost </a:t>
            </a:r>
            <a:r>
              <a:rPr lang="en-US" sz="1051" b="1" dirty="0">
                <a:latin typeface="Century Gothic" panose="020B0502020202020204" pitchFamily="34" charset="0"/>
              </a:rPr>
              <a:t>FFF alternates for 8 </a:t>
            </a:r>
            <a:r>
              <a:rPr lang="en-US" sz="1051" dirty="0">
                <a:latin typeface="Century Gothic" panose="020B0502020202020204" pitchFamily="34" charset="0"/>
              </a:rPr>
              <a:t>electronic components</a:t>
            </a:r>
          </a:p>
          <a:p>
            <a:pPr marL="377099" lvl="1" algn="just">
              <a:lnSpc>
                <a:spcPct val="150000"/>
              </a:lnSpc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Provided </a:t>
            </a:r>
            <a:r>
              <a:rPr lang="en-US" sz="1051" b="1" dirty="0">
                <a:latin typeface="Century Gothic" panose="020B0502020202020204" pitchFamily="34" charset="0"/>
              </a:rPr>
              <a:t>low cost vendor quotes for 6 </a:t>
            </a:r>
            <a:r>
              <a:rPr lang="en-US" sz="1051" dirty="0">
                <a:latin typeface="Century Gothic" panose="020B0502020202020204" pitchFamily="34" charset="0"/>
              </a:rPr>
              <a:t>parts</a:t>
            </a:r>
          </a:p>
          <a:p>
            <a:pPr marL="377099" lvl="1" algn="just">
              <a:lnSpc>
                <a:spcPct val="150000"/>
              </a:lnSpc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Provided </a:t>
            </a:r>
            <a:r>
              <a:rPr lang="en-US" sz="1051" b="1" dirty="0">
                <a:latin typeface="Century Gothic" panose="020B0502020202020204" pitchFamily="34" charset="0"/>
              </a:rPr>
              <a:t>9 new Vendor connects </a:t>
            </a:r>
            <a:r>
              <a:rPr lang="en-US" sz="1051" dirty="0">
                <a:latin typeface="Century Gothic" panose="020B0502020202020204" pitchFamily="34" charset="0"/>
              </a:rPr>
              <a:t>to customer from India and China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906001" y="924902"/>
            <a:ext cx="1801915" cy="2114133"/>
            <a:chOff x="9191874" y="924903"/>
            <a:chExt cx="2933952" cy="3141070"/>
          </a:xfrm>
        </p:grpSpPr>
        <p:pic>
          <p:nvPicPr>
            <p:cNvPr id="18" name="图片 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286" t="4724" b="8014"/>
            <a:stretch/>
          </p:blipFill>
          <p:spPr>
            <a:xfrm>
              <a:off x="9191874" y="1006630"/>
              <a:ext cx="2933952" cy="2866489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9206144" y="924903"/>
              <a:ext cx="2861294" cy="314107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9" name="Chart 18"/>
          <p:cNvGraphicFramePr/>
          <p:nvPr/>
        </p:nvGraphicFramePr>
        <p:xfrm>
          <a:off x="7399620" y="4917367"/>
          <a:ext cx="4667819" cy="1604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/>
          <p:cNvGraphicFramePr>
            <a:graphicFrameLocks/>
          </p:cNvGraphicFramePr>
          <p:nvPr/>
        </p:nvGraphicFramePr>
        <p:xfrm>
          <a:off x="7399619" y="3094041"/>
          <a:ext cx="4667819" cy="1795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96097" y="3767442"/>
            <a:ext cx="6674659" cy="1131079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 marL="377099" lvl="1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Alternate electronic components with optimized specifications</a:t>
            </a:r>
          </a:p>
          <a:p>
            <a:pPr marL="377099" lvl="1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Low cost alternate FFF (Form, Fit &amp; Function) parts with specification and cost comparison sheets</a:t>
            </a:r>
          </a:p>
          <a:p>
            <a:pPr marL="377099" lvl="1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Low cost vendor quotes from India and China for below items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Custom made parts like PCB &amp; Cable harness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Mechanical components</a:t>
            </a:r>
          </a:p>
          <a:p>
            <a:pPr marL="662842" lvl="2" algn="just">
              <a:buClr>
                <a:schemeClr val="tx2"/>
              </a:buClr>
              <a:defRPr/>
            </a:pPr>
            <a:r>
              <a:rPr lang="en-US" sz="1051" dirty="0">
                <a:latin typeface="Century Gothic" panose="020B0502020202020204" pitchFamily="34" charset="0"/>
              </a:rPr>
              <a:t>Electronic Manufacturing Services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356"/>
          <a:stretch/>
        </p:blipFill>
        <p:spPr>
          <a:xfrm rot="10800000">
            <a:off x="8437297" y="2035823"/>
            <a:ext cx="1296233" cy="10080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6098" y="3399984"/>
            <a:ext cx="17084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E31837"/>
                </a:solidFill>
              </a:rPr>
              <a:t>Major Deliverables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307" y="2170060"/>
            <a:ext cx="7085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E31837"/>
                </a:solidFill>
              </a:rPr>
              <a:t>Inputs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98" y="978449"/>
            <a:ext cx="6976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E31837"/>
                </a:solidFill>
              </a:rPr>
              <a:t>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097" y="4822546"/>
            <a:ext cx="1646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E31837"/>
                </a:solidFill>
              </a:rPr>
              <a:t>Business Benefits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781890" y="323899"/>
            <a:ext cx="10890167" cy="33239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Century Gothic" panose="020B0502020202020204" pitchFamily="34" charset="0"/>
              </a:rPr>
              <a:t>Cost Optimization of Active Rectifier         				1/2         </a:t>
            </a:r>
          </a:p>
        </p:txBody>
      </p:sp>
    </p:spTree>
    <p:extLst>
      <p:ext uri="{BB962C8B-B14F-4D97-AF65-F5344CB8AC3E}">
        <p14:creationId xmlns:p14="http://schemas.microsoft.com/office/powerpoint/2010/main" val="326641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Century Gothic</vt:lpstr>
      <vt:lpstr>Wingdings</vt:lpstr>
      <vt:lpstr>Office Theme</vt:lpstr>
      <vt:lpstr>Cost Optimization of Active Rectifier             1/2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2025-10-27T11:54:00Z</dcterms:created>
  <dcterms:modified xsi:type="dcterms:W3CDTF">2025-10-27T11:54:26Z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2025-10-27T11:54:25Z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8ab6b808-4683-4619-ad19-a6b5eac6ff3a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