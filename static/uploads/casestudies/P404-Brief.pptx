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docProps/custom.xml" ContentType="application/vnd.openxmlformats-officedocument.custom-properties+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390" r:id="rId2"/>
    <p:sldId id="397" r:id="rId3"/>
    <p:sldId id="398" r:id="rId4"/>
    <p:sldId id="413" r:id="rId5"/>
    <p:sldId id="400" r:id="rId6"/>
    <p:sldId id="412" r:id="rId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FF"/>
    <a:srgbClr val="00B050"/>
    <a:srgbClr val="FFC000"/>
    <a:srgbClr val="BE3A3A"/>
    <a:srgbClr val="625753"/>
    <a:srgbClr val="A092B4"/>
    <a:srgbClr val="E6E3E2"/>
    <a:srgbClr val="968A86"/>
  </p:clrMru>
</p:presentationPr>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9" autoAdjust="0"/>
    <p:restoredTop sz="94542" autoAdjust="0"/>
  </p:normalViewPr>
  <p:slideViewPr>
    <p:cSldViewPr snapToGrid="0">
      <p:cViewPr varScale="1">
        <p:scale>
          <a:sx n="70" d="100"/>
          <a:sy n="70" d="100"/>
        </p:scale>
        <p:origin x="-1104"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CFB4B136-D0F4-49D7-A849-CEA8092B5613}" type="datetimeFigureOut">
              <a:rPr lang="en-US"/>
              <a:pPr>
                <a:defRPr/>
              </a:pPr>
              <a:t>11/19/2012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2018909B-3B9E-4828-BAD0-BB3E6F58C724}"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Rectangle 3"/>
          <p:cNvSpPr/>
          <p:nvPr/>
        </p:nvSpPr>
        <p:spPr>
          <a:xfrm>
            <a:off x="0" y="6675438"/>
            <a:ext cx="7315200" cy="18256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 name="TextBox 20"/>
          <p:cNvSpPr txBox="1">
            <a:spLocks noChangeArrowheads="1"/>
          </p:cNvSpPr>
          <p:nvPr/>
        </p:nvSpPr>
        <p:spPr bwMode="auto">
          <a:xfrm>
            <a:off x="304800" y="6516688"/>
            <a:ext cx="1412875" cy="123825"/>
          </a:xfrm>
          <a:prstGeom prst="rect">
            <a:avLst/>
          </a:prstGeom>
          <a:noFill/>
          <a:ln w="9525">
            <a:noFill/>
            <a:miter lim="800000"/>
            <a:headEnd/>
            <a:tailEnd/>
          </a:ln>
        </p:spPr>
        <p:txBody>
          <a:bodyPr lIns="0" tIns="0" rIns="0" bIns="0">
            <a:spAutoFit/>
          </a:bodyPr>
          <a:lstStyle/>
          <a:p>
            <a:pPr fontAlgn="auto">
              <a:spcBef>
                <a:spcPts val="0"/>
              </a:spcBef>
              <a:spcAft>
                <a:spcPts val="0"/>
              </a:spcAft>
              <a:defRPr/>
            </a:pPr>
            <a:r>
              <a:rPr lang="en-US" sz="800" dirty="0">
                <a:solidFill>
                  <a:schemeClr val="accent3"/>
                </a:solidFill>
                <a:latin typeface="+mn-lt"/>
                <a:cs typeface="+mn-cs"/>
              </a:rPr>
              <a:t>© Mahindra Satyam 2009</a:t>
            </a:r>
          </a:p>
        </p:txBody>
      </p:sp>
      <p:pic>
        <p:nvPicPr>
          <p:cNvPr id="6" name="Picture 13" descr="small.png"/>
          <p:cNvPicPr>
            <a:picLocks noChangeAspect="1"/>
          </p:cNvPicPr>
          <p:nvPr/>
        </p:nvPicPr>
        <p:blipFill>
          <a:blip r:embed="rId2"/>
          <a:srcRect/>
          <a:stretch>
            <a:fillRect/>
          </a:stretch>
        </p:blipFill>
        <p:spPr bwMode="auto">
          <a:xfrm>
            <a:off x="5499100" y="404813"/>
            <a:ext cx="3048000" cy="246062"/>
          </a:xfrm>
          <a:prstGeom prst="rect">
            <a:avLst/>
          </a:prstGeom>
          <a:noFill/>
          <a:ln w="9525">
            <a:noFill/>
            <a:miter lim="800000"/>
            <a:headEnd/>
            <a:tailEnd/>
          </a:ln>
        </p:spPr>
      </p:pic>
      <p:sp>
        <p:nvSpPr>
          <p:cNvPr id="3" name="Subtitle 2"/>
          <p:cNvSpPr>
            <a:spLocks noGrp="1"/>
          </p:cNvSpPr>
          <p:nvPr>
            <p:ph type="subTitle" idx="1"/>
          </p:nvPr>
        </p:nvSpPr>
        <p:spPr>
          <a:xfrm>
            <a:off x="1366839" y="4580751"/>
            <a:ext cx="5341936" cy="276999"/>
          </a:xfrm>
        </p:spPr>
        <p:txBody>
          <a:bodyPr anchor="b">
            <a:noAutofit/>
          </a:bodyPr>
          <a:lstStyle>
            <a:lvl1pPr marL="0" indent="0" algn="l">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9" name="Title 8"/>
          <p:cNvSpPr>
            <a:spLocks noGrp="1"/>
          </p:cNvSpPr>
          <p:nvPr>
            <p:ph type="title"/>
          </p:nvPr>
        </p:nvSpPr>
        <p:spPr>
          <a:xfrm>
            <a:off x="1366839" y="2214563"/>
            <a:ext cx="5341936" cy="1231106"/>
          </a:xfrm>
        </p:spPr>
        <p:txBody>
          <a:bodyPr/>
          <a:lstStyle>
            <a:lvl1pPr algn="l">
              <a:defRPr sz="4000">
                <a:solidFill>
                  <a:schemeClr val="tx2"/>
                </a:solidFill>
              </a:defRPr>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smtClean="0"/>
              <a:t>Click to edit Master title style</a:t>
            </a:r>
            <a:endParaRPr lang="en-US" dirty="0"/>
          </a:p>
        </p:txBody>
      </p:sp>
      <p:sp>
        <p:nvSpPr>
          <p:cNvPr id="3" name="Text Placeholder 4"/>
          <p:cNvSpPr>
            <a:spLocks noGrp="1"/>
          </p:cNvSpPr>
          <p:nvPr>
            <p:ph type="body" sz="quarter" idx="10"/>
          </p:nvPr>
        </p:nvSpPr>
        <p:spPr>
          <a:xfrm>
            <a:off x="302931" y="1465507"/>
            <a:ext cx="8544207" cy="1938992"/>
          </a:xfrm>
        </p:spPr>
        <p:txBody>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435100" indent="-285750">
              <a:spcBef>
                <a:spcPts val="0"/>
              </a:spcBef>
              <a:spcAft>
                <a:spcPts val="0"/>
              </a:spcAft>
              <a:buClr>
                <a:schemeClr val="tx2"/>
              </a:buClr>
              <a:buSzPct val="70000"/>
              <a:buFont typeface="Wingdings" pitchFamily="2" charset="2"/>
              <a:buChar char="§"/>
              <a:defRPr sz="1800">
                <a:latin typeface="Arial" pitchFamily="34" charset="0"/>
                <a:cs typeface="Arial" pitchFamily="34" charset="0"/>
              </a:defRPr>
            </a:lvl6pPr>
            <a:lvl7pPr marL="1714500" indent="-273050">
              <a:spcBef>
                <a:spcPts val="0"/>
              </a:spcBef>
              <a:spcAft>
                <a:spcPts val="0"/>
              </a:spcAft>
              <a:buClr>
                <a:srgbClr val="C00000"/>
              </a:buClr>
              <a:buSzPct val="70000"/>
              <a:buFont typeface="Arial" pitchFamily="34" charset="0"/>
              <a:buChar char="–"/>
              <a:defRPr sz="1800" baseline="0">
                <a:latin typeface="Arial" pitchFamily="34" charset="0"/>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Slide">
    <p:spTree>
      <p:nvGrpSpPr>
        <p:cNvPr id="1" name=""/>
        <p:cNvGrpSpPr/>
        <p:nvPr/>
      </p:nvGrpSpPr>
      <p:grpSpPr>
        <a:xfrm>
          <a:off x="0" y="0"/>
          <a:ext cx="0" cy="0"/>
          <a:chOff x="0" y="0"/>
          <a:chExt cx="0" cy="0"/>
        </a:xfrm>
      </p:grpSpPr>
      <p:sp>
        <p:nvSpPr>
          <p:cNvPr id="4" name="Rectangle 3"/>
          <p:cNvSpPr/>
          <p:nvPr/>
        </p:nvSpPr>
        <p:spPr>
          <a:xfrm>
            <a:off x="0" y="6675438"/>
            <a:ext cx="7315200" cy="18256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5" name="Picture 12" descr="PPT.jpg"/>
          <p:cNvPicPr>
            <a:picLocks noChangeAspect="1"/>
          </p:cNvPicPr>
          <p:nvPr/>
        </p:nvPicPr>
        <p:blipFill>
          <a:blip r:embed="rId2"/>
          <a:srcRect b="89034"/>
          <a:stretch>
            <a:fillRect/>
          </a:stretch>
        </p:blipFill>
        <p:spPr bwMode="auto">
          <a:xfrm>
            <a:off x="0" y="0"/>
            <a:ext cx="9144000" cy="752475"/>
          </a:xfrm>
          <a:prstGeom prst="rect">
            <a:avLst/>
          </a:prstGeom>
          <a:noFill/>
          <a:ln w="9525">
            <a:noFill/>
            <a:miter lim="800000"/>
            <a:headEnd/>
            <a:tailEnd/>
          </a:ln>
        </p:spPr>
      </p:pic>
      <p:sp>
        <p:nvSpPr>
          <p:cNvPr id="6" name="TextBox 20"/>
          <p:cNvSpPr txBox="1">
            <a:spLocks noChangeArrowheads="1"/>
          </p:cNvSpPr>
          <p:nvPr/>
        </p:nvSpPr>
        <p:spPr bwMode="auto">
          <a:xfrm>
            <a:off x="304800" y="6516688"/>
            <a:ext cx="1412875" cy="123825"/>
          </a:xfrm>
          <a:prstGeom prst="rect">
            <a:avLst/>
          </a:prstGeom>
          <a:noFill/>
          <a:ln w="9525">
            <a:noFill/>
            <a:miter lim="800000"/>
            <a:headEnd/>
            <a:tailEnd/>
          </a:ln>
        </p:spPr>
        <p:txBody>
          <a:bodyPr lIns="0" tIns="0" rIns="0" bIns="0">
            <a:spAutoFit/>
          </a:bodyPr>
          <a:lstStyle/>
          <a:p>
            <a:pPr fontAlgn="auto">
              <a:spcBef>
                <a:spcPts val="0"/>
              </a:spcBef>
              <a:spcAft>
                <a:spcPts val="0"/>
              </a:spcAft>
              <a:defRPr/>
            </a:pPr>
            <a:r>
              <a:rPr lang="en-US" sz="800" dirty="0">
                <a:solidFill>
                  <a:schemeClr val="accent3"/>
                </a:solidFill>
                <a:latin typeface="+mn-lt"/>
                <a:cs typeface="+mn-cs"/>
              </a:rPr>
              <a:t>© Mahindra Satyam 2009</a:t>
            </a:r>
          </a:p>
        </p:txBody>
      </p:sp>
      <p:sp>
        <p:nvSpPr>
          <p:cNvPr id="3" name="Subtitle 2"/>
          <p:cNvSpPr>
            <a:spLocks noGrp="1"/>
          </p:cNvSpPr>
          <p:nvPr>
            <p:ph type="subTitle" idx="1"/>
          </p:nvPr>
        </p:nvSpPr>
        <p:spPr>
          <a:xfrm>
            <a:off x="1366839" y="4580751"/>
            <a:ext cx="5341936" cy="276999"/>
          </a:xfrm>
        </p:spPr>
        <p:txBody>
          <a:bodyPr anchor="b">
            <a:noAutofit/>
          </a:bodyPr>
          <a:lstStyle>
            <a:lvl1pPr marL="0" indent="0" algn="l">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9" name="Title 8"/>
          <p:cNvSpPr>
            <a:spLocks noGrp="1"/>
          </p:cNvSpPr>
          <p:nvPr>
            <p:ph type="title"/>
          </p:nvPr>
        </p:nvSpPr>
        <p:spPr>
          <a:xfrm>
            <a:off x="1366839" y="2214563"/>
            <a:ext cx="5341936" cy="1231106"/>
          </a:xfrm>
        </p:spPr>
        <p:txBody>
          <a:bodyPr/>
          <a:lstStyle>
            <a:lvl1pPr algn="l">
              <a:defRPr sz="4000">
                <a:solidFill>
                  <a:schemeClr val="tx2"/>
                </a:solidFill>
              </a:defRPr>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Text Placeholder 4"/>
          <p:cNvSpPr>
            <a:spLocks noGrp="1"/>
          </p:cNvSpPr>
          <p:nvPr>
            <p:ph type="body" sz="quarter" idx="10"/>
          </p:nvPr>
        </p:nvSpPr>
        <p:spPr>
          <a:xfrm>
            <a:off x="302931" y="960438"/>
            <a:ext cx="4170595" cy="5303838"/>
          </a:xfrm>
          <a:ln>
            <a:solidFill>
              <a:schemeClr val="bg2"/>
            </a:solidFill>
          </a:ln>
        </p:spPr>
        <p:txBody>
          <a:bodyPr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4"/>
          <p:cNvSpPr>
            <a:spLocks noGrp="1"/>
          </p:cNvSpPr>
          <p:nvPr>
            <p:ph type="body" sz="quarter" idx="11"/>
          </p:nvPr>
        </p:nvSpPr>
        <p:spPr>
          <a:xfrm>
            <a:off x="4648200" y="960438"/>
            <a:ext cx="4170595" cy="5303838"/>
          </a:xfrm>
          <a:ln>
            <a:solidFill>
              <a:schemeClr val="bg2"/>
            </a:solidFill>
          </a:ln>
        </p:spPr>
        <p:txBody>
          <a:bodyPr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Text Placeholder 4"/>
          <p:cNvSpPr>
            <a:spLocks noGrp="1"/>
          </p:cNvSpPr>
          <p:nvPr>
            <p:ph type="body" sz="quarter" idx="12"/>
          </p:nvPr>
        </p:nvSpPr>
        <p:spPr>
          <a:xfrm>
            <a:off x="302931" y="960437"/>
            <a:ext cx="4170595" cy="461665"/>
          </a:xfrm>
          <a:solidFill>
            <a:schemeClr val="bg2"/>
          </a:solidFill>
          <a:ln>
            <a:noFill/>
          </a:ln>
        </p:spPr>
        <p:txBody>
          <a:bodyPr lIns="91440" tIns="91440" rIns="91440" bIns="9144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smtClean="0"/>
              <a:t>Click to edit Master text styles</a:t>
            </a:r>
          </a:p>
        </p:txBody>
      </p:sp>
      <p:sp>
        <p:nvSpPr>
          <p:cNvPr id="6" name="Text Placeholder 4"/>
          <p:cNvSpPr>
            <a:spLocks noGrp="1"/>
          </p:cNvSpPr>
          <p:nvPr>
            <p:ph type="body" sz="quarter" idx="13"/>
          </p:nvPr>
        </p:nvSpPr>
        <p:spPr>
          <a:xfrm>
            <a:off x="4648200" y="960437"/>
            <a:ext cx="4170595" cy="461665"/>
          </a:xfrm>
          <a:solidFill>
            <a:schemeClr val="bg2"/>
          </a:solidFill>
          <a:ln>
            <a:noFill/>
          </a:ln>
        </p:spPr>
        <p:txBody>
          <a:bodyPr lIns="91440" tIns="91440" rIns="91440" bIns="9144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smtClean="0"/>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9" name="Title 1"/>
          <p:cNvSpPr>
            <a:spLocks noGrp="1"/>
          </p:cNvSpPr>
          <p:nvPr>
            <p:ph type="title"/>
          </p:nvPr>
        </p:nvSpPr>
        <p:spPr>
          <a:xfrm>
            <a:off x="304799" y="469484"/>
            <a:ext cx="8539163" cy="338554"/>
          </a:xfrm>
        </p:spPr>
        <p:txBody>
          <a:bodyPr/>
          <a:lstStyle>
            <a:lvl1pPr algn="l">
              <a:defRPr/>
            </a:lvl1pPr>
          </a:lstStyle>
          <a:p>
            <a:r>
              <a:rPr lang="en-US" smtClean="0"/>
              <a:t>Click to edit Master title style</a:t>
            </a:r>
            <a:endParaRPr lang="en-US" dirty="0"/>
          </a:p>
        </p:txBody>
      </p:sp>
      <p:sp>
        <p:nvSpPr>
          <p:cNvPr id="11" name="Text Placeholder 4"/>
          <p:cNvSpPr>
            <a:spLocks noGrp="1"/>
          </p:cNvSpPr>
          <p:nvPr>
            <p:ph type="body" sz="quarter" idx="10"/>
          </p:nvPr>
        </p:nvSpPr>
        <p:spPr>
          <a:xfrm>
            <a:off x="302931" y="961415"/>
            <a:ext cx="4170595" cy="2561419"/>
          </a:xfrm>
          <a:ln>
            <a:solidFill>
              <a:schemeClr val="bg2"/>
            </a:solidFill>
          </a:ln>
        </p:spPr>
        <p:txBody>
          <a:bodyPr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2" name="Text Placeholder 4"/>
          <p:cNvSpPr>
            <a:spLocks noGrp="1"/>
          </p:cNvSpPr>
          <p:nvPr>
            <p:ph type="body" sz="quarter" idx="11"/>
          </p:nvPr>
        </p:nvSpPr>
        <p:spPr>
          <a:xfrm>
            <a:off x="4648200" y="961415"/>
            <a:ext cx="4170595" cy="2561419"/>
          </a:xfrm>
          <a:ln>
            <a:solidFill>
              <a:schemeClr val="bg2"/>
            </a:solidFill>
          </a:ln>
        </p:spPr>
        <p:txBody>
          <a:bodyPr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3" name="Text Placeholder 4"/>
          <p:cNvSpPr>
            <a:spLocks noGrp="1"/>
          </p:cNvSpPr>
          <p:nvPr>
            <p:ph type="body" sz="quarter" idx="12"/>
          </p:nvPr>
        </p:nvSpPr>
        <p:spPr>
          <a:xfrm>
            <a:off x="302931" y="961415"/>
            <a:ext cx="4170595" cy="461665"/>
          </a:xfrm>
          <a:solidFill>
            <a:schemeClr val="bg2"/>
          </a:solidFill>
          <a:ln>
            <a:noFill/>
          </a:ln>
        </p:spPr>
        <p:txBody>
          <a:bodyPr lIns="91440" tIns="91440" rIns="91440" bIns="9144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smtClean="0"/>
              <a:t>Click to edit Master text styles</a:t>
            </a:r>
          </a:p>
        </p:txBody>
      </p:sp>
      <p:sp>
        <p:nvSpPr>
          <p:cNvPr id="14" name="Text Placeholder 4"/>
          <p:cNvSpPr>
            <a:spLocks noGrp="1"/>
          </p:cNvSpPr>
          <p:nvPr>
            <p:ph type="body" sz="quarter" idx="13"/>
          </p:nvPr>
        </p:nvSpPr>
        <p:spPr>
          <a:xfrm>
            <a:off x="4648200" y="961415"/>
            <a:ext cx="4170595" cy="461665"/>
          </a:xfrm>
          <a:solidFill>
            <a:schemeClr val="bg2"/>
          </a:solidFill>
          <a:ln>
            <a:noFill/>
          </a:ln>
        </p:spPr>
        <p:txBody>
          <a:bodyPr lIns="91440" tIns="91440" rIns="91440" bIns="9144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smtClean="0"/>
              <a:t>Click to edit Master text styles</a:t>
            </a:r>
          </a:p>
        </p:txBody>
      </p:sp>
      <p:sp>
        <p:nvSpPr>
          <p:cNvPr id="15" name="Text Placeholder 4"/>
          <p:cNvSpPr>
            <a:spLocks noGrp="1"/>
          </p:cNvSpPr>
          <p:nvPr>
            <p:ph type="body" sz="quarter" idx="14"/>
          </p:nvPr>
        </p:nvSpPr>
        <p:spPr>
          <a:xfrm>
            <a:off x="302931" y="3702856"/>
            <a:ext cx="4170595" cy="2561419"/>
          </a:xfrm>
          <a:ln>
            <a:solidFill>
              <a:schemeClr val="bg2"/>
            </a:solidFill>
          </a:ln>
        </p:spPr>
        <p:txBody>
          <a:bodyPr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6" name="Text Placeholder 4"/>
          <p:cNvSpPr>
            <a:spLocks noGrp="1"/>
          </p:cNvSpPr>
          <p:nvPr>
            <p:ph type="body" sz="quarter" idx="15"/>
          </p:nvPr>
        </p:nvSpPr>
        <p:spPr>
          <a:xfrm>
            <a:off x="4648200" y="3702856"/>
            <a:ext cx="4170595" cy="2561419"/>
          </a:xfrm>
          <a:ln>
            <a:solidFill>
              <a:schemeClr val="bg2"/>
            </a:solidFill>
          </a:ln>
        </p:spPr>
        <p:txBody>
          <a:bodyPr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7" name="Text Placeholder 4"/>
          <p:cNvSpPr>
            <a:spLocks noGrp="1"/>
          </p:cNvSpPr>
          <p:nvPr>
            <p:ph type="body" sz="quarter" idx="16"/>
          </p:nvPr>
        </p:nvSpPr>
        <p:spPr>
          <a:xfrm>
            <a:off x="302931" y="3702856"/>
            <a:ext cx="4170595" cy="471520"/>
          </a:xfrm>
          <a:solidFill>
            <a:schemeClr val="bg2"/>
          </a:solidFill>
          <a:ln>
            <a:noFill/>
          </a:ln>
        </p:spPr>
        <p:txBody>
          <a:bodyPr lIns="91440" tIns="91440" rIns="91440" bIns="9144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smtClean="0"/>
              <a:t>Click to edit Master text styles</a:t>
            </a:r>
          </a:p>
        </p:txBody>
      </p:sp>
      <p:sp>
        <p:nvSpPr>
          <p:cNvPr id="18" name="Text Placeholder 4"/>
          <p:cNvSpPr>
            <a:spLocks noGrp="1"/>
          </p:cNvSpPr>
          <p:nvPr>
            <p:ph type="body" sz="quarter" idx="17"/>
          </p:nvPr>
        </p:nvSpPr>
        <p:spPr>
          <a:xfrm>
            <a:off x="4648200" y="3702856"/>
            <a:ext cx="4170595" cy="471520"/>
          </a:xfrm>
          <a:solidFill>
            <a:schemeClr val="bg2"/>
          </a:solidFill>
          <a:ln>
            <a:noFill/>
          </a:ln>
        </p:spPr>
        <p:txBody>
          <a:bodyPr lIns="91440" tIns="91440" rIns="91440" bIns="91440"/>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TextBox 2"/>
          <p:cNvSpPr txBox="1">
            <a:spLocks noChangeArrowheads="1"/>
          </p:cNvSpPr>
          <p:nvPr/>
        </p:nvSpPr>
        <p:spPr bwMode="gray">
          <a:xfrm>
            <a:off x="1366838" y="3517900"/>
            <a:ext cx="2244725" cy="276225"/>
          </a:xfrm>
          <a:prstGeom prst="rect">
            <a:avLst/>
          </a:prstGeom>
          <a:noFill/>
          <a:ln w="9525">
            <a:noFill/>
            <a:miter lim="800000"/>
            <a:headEnd/>
            <a:tailEnd/>
          </a:ln>
        </p:spPr>
        <p:txBody>
          <a:bodyPr wrap="none" lIns="0" tIns="0" rIns="0" bIns="0" anchor="b">
            <a:spAutoFit/>
          </a:bodyPr>
          <a:lstStyle/>
          <a:p>
            <a:pPr fontAlgn="auto">
              <a:spcBef>
                <a:spcPts val="0"/>
              </a:spcBef>
              <a:spcAft>
                <a:spcPts val="0"/>
              </a:spcAft>
              <a:defRPr/>
            </a:pPr>
            <a:r>
              <a:rPr lang="en-US" b="1" dirty="0">
                <a:solidFill>
                  <a:schemeClr val="bg2"/>
                </a:solidFill>
                <a:latin typeface="Arial" pitchFamily="34" charset="0"/>
                <a:cs typeface="Arial" pitchFamily="34" charset="0"/>
              </a:rPr>
              <a:t>mahindrasatyam.net</a:t>
            </a:r>
          </a:p>
        </p:txBody>
      </p:sp>
      <p:sp>
        <p:nvSpPr>
          <p:cNvPr id="4" name="TextBox 3"/>
          <p:cNvSpPr txBox="1">
            <a:spLocks noChangeArrowheads="1"/>
          </p:cNvSpPr>
          <p:nvPr/>
        </p:nvSpPr>
        <p:spPr bwMode="gray">
          <a:xfrm>
            <a:off x="1366838" y="4233863"/>
            <a:ext cx="6729412" cy="1184275"/>
          </a:xfrm>
          <a:prstGeom prst="rect">
            <a:avLst/>
          </a:prstGeom>
          <a:noFill/>
          <a:ln w="9525">
            <a:noFill/>
            <a:miter lim="800000"/>
            <a:headEnd/>
            <a:tailEnd/>
          </a:ln>
        </p:spPr>
        <p:txBody>
          <a:bodyPr lIns="0" tIns="0" rIns="0" bIns="0">
            <a:spAutoFit/>
          </a:bodyPr>
          <a:lstStyle/>
          <a:p>
            <a:pPr algn="just" fontAlgn="auto">
              <a:spcBef>
                <a:spcPts val="600"/>
              </a:spcBef>
              <a:spcAft>
                <a:spcPts val="0"/>
              </a:spcAft>
              <a:defRPr/>
            </a:pPr>
            <a:r>
              <a:rPr lang="en-US" sz="900" b="1" dirty="0">
                <a:solidFill>
                  <a:schemeClr val="bg2"/>
                </a:solidFill>
                <a:latin typeface="+mn-lt"/>
                <a:cs typeface="+mn-cs"/>
              </a:rPr>
              <a:t>Safe Harbor</a:t>
            </a:r>
          </a:p>
          <a:p>
            <a:pPr algn="just" fontAlgn="auto">
              <a:spcBef>
                <a:spcPts val="600"/>
              </a:spcBef>
              <a:spcAft>
                <a:spcPts val="0"/>
              </a:spcAft>
              <a:defRPr/>
            </a:pPr>
            <a:r>
              <a:rPr lang="en-US" sz="900" dirty="0">
                <a:solidFill>
                  <a:schemeClr val="bg2"/>
                </a:solidFill>
                <a:latin typeface="+mn-lt"/>
                <a:cs typeface="+mn-cs"/>
              </a:rPr>
              <a:t>This document contains forward-looking statements within the meaning of section 27A of Securities Act of 1933, as amended, and section 21E of the Securities Exchange Act of 1934, as amended. The forward-looking statements contained herein are subject to certain risks and uncertainties that could cause actual results to differ materially from those reflected in the forward-looking statements. Satyam undertakes no duty to update any forward-looking statements. For a discussion of the risks associated with our business, please see the discussions under the heading “Risk Factors” in our report on Form 6-K concerning the quarter ended September 30, 2008, furnished to the Securities and Exchange Commission on 07 November, 2008, and the other reports filed with the Securities and Exchange Commission from time to time. These filings are available at http://www.sec.gov</a:t>
            </a:r>
            <a:endParaRPr lang="en-US" sz="900" b="1" dirty="0">
              <a:solidFill>
                <a:schemeClr val="bg2"/>
              </a:solidFill>
              <a:latin typeface="+mn-lt"/>
              <a:cs typeface="+mn-cs"/>
            </a:endParaRPr>
          </a:p>
        </p:txBody>
      </p:sp>
      <p:sp>
        <p:nvSpPr>
          <p:cNvPr id="2" name="Title 1"/>
          <p:cNvSpPr>
            <a:spLocks noGrp="1"/>
          </p:cNvSpPr>
          <p:nvPr>
            <p:ph type="title"/>
          </p:nvPr>
        </p:nvSpPr>
        <p:spPr>
          <a:xfrm>
            <a:off x="1366838" y="1367641"/>
            <a:ext cx="6729984" cy="338554"/>
          </a:xfrm>
        </p:spPr>
        <p:txBody>
          <a:bodyPr/>
          <a:lstStyle>
            <a:lvl1pPr algn="l">
              <a:defRPr/>
            </a:lvl1pPr>
          </a:lstStyle>
          <a:p>
            <a:r>
              <a:rPr lang="en-US" smtClean="0"/>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10" descr="small.png"/>
          <p:cNvPicPr>
            <a:picLocks noChangeAspect="1"/>
          </p:cNvPicPr>
          <p:nvPr/>
        </p:nvPicPr>
        <p:blipFill>
          <a:blip r:embed="rId8"/>
          <a:srcRect/>
          <a:stretch>
            <a:fillRect/>
          </a:stretch>
        </p:blipFill>
        <p:spPr bwMode="auto">
          <a:xfrm>
            <a:off x="6750050" y="153988"/>
            <a:ext cx="2060575" cy="166687"/>
          </a:xfrm>
          <a:prstGeom prst="rect">
            <a:avLst/>
          </a:prstGeom>
          <a:noFill/>
          <a:ln w="9525">
            <a:noFill/>
            <a:miter lim="800000"/>
            <a:headEnd/>
            <a:tailEnd/>
          </a:ln>
        </p:spPr>
      </p:pic>
      <p:sp>
        <p:nvSpPr>
          <p:cNvPr id="9" name="Rectangle 8"/>
          <p:cNvSpPr/>
          <p:nvPr/>
        </p:nvSpPr>
        <p:spPr>
          <a:xfrm>
            <a:off x="0" y="6675438"/>
            <a:ext cx="7315200" cy="18256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28" name="Title Placeholder 1"/>
          <p:cNvSpPr>
            <a:spLocks noGrp="1"/>
          </p:cNvSpPr>
          <p:nvPr>
            <p:ph type="title"/>
          </p:nvPr>
        </p:nvSpPr>
        <p:spPr bwMode="auto">
          <a:xfrm>
            <a:off x="304800" y="469900"/>
            <a:ext cx="8539163" cy="33813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smtClean="0"/>
              <a:t>Click to edit Master title style</a:t>
            </a:r>
          </a:p>
        </p:txBody>
      </p:sp>
      <p:sp>
        <p:nvSpPr>
          <p:cNvPr id="1029" name="Text Placeholder 2"/>
          <p:cNvSpPr>
            <a:spLocks noGrp="1"/>
          </p:cNvSpPr>
          <p:nvPr>
            <p:ph type="body" idx="1"/>
          </p:nvPr>
        </p:nvSpPr>
        <p:spPr bwMode="auto">
          <a:xfrm>
            <a:off x="304800" y="1262063"/>
            <a:ext cx="8539163" cy="138588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smtClean="0"/>
              <a:t>Click to edit master text styles</a:t>
            </a:r>
          </a:p>
          <a:p>
            <a:pPr lvl="1"/>
            <a:r>
              <a:rPr lang="en-US" smtClean="0"/>
              <a:t>First level</a:t>
            </a:r>
          </a:p>
          <a:p>
            <a:pPr lvl="2"/>
            <a:r>
              <a:rPr lang="en-US" smtClean="0"/>
              <a:t>Second level</a:t>
            </a:r>
          </a:p>
          <a:p>
            <a:pPr lvl="3"/>
            <a:r>
              <a:rPr lang="en-US" smtClean="0"/>
              <a:t>Third level</a:t>
            </a:r>
          </a:p>
          <a:p>
            <a:pPr lvl="4"/>
            <a:r>
              <a:rPr lang="en-US" smtClean="0"/>
              <a:t>Fifth level</a:t>
            </a:r>
          </a:p>
        </p:txBody>
      </p:sp>
      <p:sp>
        <p:nvSpPr>
          <p:cNvPr id="10" name="Slide Number Placeholder 5"/>
          <p:cNvSpPr txBox="1">
            <a:spLocks/>
          </p:cNvSpPr>
          <p:nvPr/>
        </p:nvSpPr>
        <p:spPr bwMode="auto">
          <a:xfrm>
            <a:off x="8718550" y="6705600"/>
            <a:ext cx="125413" cy="122238"/>
          </a:xfrm>
          <a:prstGeom prst="rect">
            <a:avLst/>
          </a:prstGeom>
          <a:noFill/>
          <a:ln w="9525">
            <a:noFill/>
            <a:miter lim="800000"/>
            <a:headEnd/>
            <a:tailEnd/>
          </a:ln>
        </p:spPr>
        <p:txBody>
          <a:bodyPr wrap="none" lIns="0" tIns="0" rIns="0" bIns="0" anchor="ctr">
            <a:spAutoFit/>
          </a:bodyPr>
          <a:lstStyle/>
          <a:p>
            <a:pPr algn="r" fontAlgn="auto">
              <a:spcBef>
                <a:spcPts val="0"/>
              </a:spcBef>
              <a:spcAft>
                <a:spcPts val="0"/>
              </a:spcAft>
              <a:defRPr/>
            </a:pPr>
            <a:fld id="{C0975B0B-1B83-4162-B375-9052398A3E85}" type="slidenum">
              <a:rPr lang="en-US" sz="800">
                <a:solidFill>
                  <a:schemeClr val="accent3"/>
                </a:solidFill>
                <a:latin typeface="+mn-lt"/>
                <a:cs typeface="+mn-cs"/>
              </a:rPr>
              <a:pPr algn="r" fontAlgn="auto">
                <a:spcBef>
                  <a:spcPts val="0"/>
                </a:spcBef>
                <a:spcAft>
                  <a:spcPts val="0"/>
                </a:spcAft>
                <a:defRPr/>
              </a:pPr>
              <a:t>‹#›</a:t>
            </a:fld>
            <a:endParaRPr lang="en-US" sz="800" dirty="0">
              <a:solidFill>
                <a:schemeClr val="accent3"/>
              </a:solidFill>
              <a:latin typeface="+mn-lt"/>
              <a:cs typeface="+mn-cs"/>
            </a:endParaRPr>
          </a:p>
        </p:txBody>
      </p:sp>
      <p:sp>
        <p:nvSpPr>
          <p:cNvPr id="8" name="TextBox 20"/>
          <p:cNvSpPr txBox="1">
            <a:spLocks noChangeArrowheads="1"/>
          </p:cNvSpPr>
          <p:nvPr/>
        </p:nvSpPr>
        <p:spPr bwMode="auto">
          <a:xfrm>
            <a:off x="304800" y="6516688"/>
            <a:ext cx="1412875" cy="123825"/>
          </a:xfrm>
          <a:prstGeom prst="rect">
            <a:avLst/>
          </a:prstGeom>
          <a:noFill/>
          <a:ln w="9525">
            <a:noFill/>
            <a:miter lim="800000"/>
            <a:headEnd/>
            <a:tailEnd/>
          </a:ln>
        </p:spPr>
        <p:txBody>
          <a:bodyPr lIns="0" tIns="0" rIns="0" bIns="0">
            <a:spAutoFit/>
          </a:bodyPr>
          <a:lstStyle/>
          <a:p>
            <a:pPr fontAlgn="auto">
              <a:spcBef>
                <a:spcPts val="0"/>
              </a:spcBef>
              <a:spcAft>
                <a:spcPts val="0"/>
              </a:spcAft>
              <a:defRPr/>
            </a:pPr>
            <a:r>
              <a:rPr lang="en-US" sz="800" dirty="0">
                <a:solidFill>
                  <a:schemeClr val="accent3"/>
                </a:solidFill>
                <a:latin typeface="+mn-lt"/>
                <a:cs typeface="+mn-cs"/>
              </a:rPr>
              <a:t>© Mahindra Satyam 2009</a:t>
            </a:r>
          </a:p>
        </p:txBody>
      </p:sp>
    </p:spTree>
  </p:cSld>
  <p:clrMap bg1="lt1" tx1="dk1" bg2="lt2" tx2="dk2" accent1="accent1" accent2="accent2" accent3="accent3" accent4="accent4" accent5="accent5" accent6="accent6" hlink="hlink" folHlink="folHlink"/>
  <p:sldLayoutIdLst>
    <p:sldLayoutId id="2147484154" r:id="rId1"/>
    <p:sldLayoutId id="2147484150" r:id="rId2"/>
    <p:sldLayoutId id="2147484155" r:id="rId3"/>
    <p:sldLayoutId id="2147484151" r:id="rId4"/>
    <p:sldLayoutId id="2147484152" r:id="rId5"/>
    <p:sldLayoutId id="2147484156" r:id="rId6"/>
  </p:sldLayoutIdLst>
  <p:txStyles>
    <p:titleStyle>
      <a:lvl1pPr algn="l" rtl="0" eaLnBrk="0" fontAlgn="base" hangingPunct="0">
        <a:spcBef>
          <a:spcPct val="0"/>
        </a:spcBef>
        <a:spcAft>
          <a:spcPct val="0"/>
        </a:spcAft>
        <a:defRPr lang="en-US" sz="2200" b="1" kern="1200" dirty="0">
          <a:solidFill>
            <a:schemeClr val="tx2"/>
          </a:solidFill>
          <a:latin typeface="Arial" pitchFamily="34" charset="0"/>
          <a:ea typeface="+mj-ea"/>
          <a:cs typeface="+mj-cs"/>
        </a:defRPr>
      </a:lvl1pPr>
      <a:lvl2pPr algn="l" rtl="0" eaLnBrk="0" fontAlgn="base" hangingPunct="0">
        <a:spcBef>
          <a:spcPct val="0"/>
        </a:spcBef>
        <a:spcAft>
          <a:spcPct val="0"/>
        </a:spcAft>
        <a:defRPr sz="2200" b="1">
          <a:solidFill>
            <a:schemeClr val="tx2"/>
          </a:solidFill>
          <a:latin typeface="Arial" pitchFamily="34" charset="0"/>
        </a:defRPr>
      </a:lvl2pPr>
      <a:lvl3pPr algn="l" rtl="0" eaLnBrk="0" fontAlgn="base" hangingPunct="0">
        <a:spcBef>
          <a:spcPct val="0"/>
        </a:spcBef>
        <a:spcAft>
          <a:spcPct val="0"/>
        </a:spcAft>
        <a:defRPr sz="2200" b="1">
          <a:solidFill>
            <a:schemeClr val="tx2"/>
          </a:solidFill>
          <a:latin typeface="Arial" pitchFamily="34" charset="0"/>
        </a:defRPr>
      </a:lvl3pPr>
      <a:lvl4pPr algn="l" rtl="0" eaLnBrk="0" fontAlgn="base" hangingPunct="0">
        <a:spcBef>
          <a:spcPct val="0"/>
        </a:spcBef>
        <a:spcAft>
          <a:spcPct val="0"/>
        </a:spcAft>
        <a:defRPr sz="2200" b="1">
          <a:solidFill>
            <a:schemeClr val="tx2"/>
          </a:solidFill>
          <a:latin typeface="Arial" pitchFamily="34" charset="0"/>
        </a:defRPr>
      </a:lvl4pPr>
      <a:lvl5pPr algn="l" rtl="0" eaLnBrk="0" fontAlgn="base" hangingPunct="0">
        <a:spcBef>
          <a:spcPct val="0"/>
        </a:spcBef>
        <a:spcAft>
          <a:spcPct val="0"/>
        </a:spcAft>
        <a:defRPr sz="2200" b="1">
          <a:solidFill>
            <a:schemeClr val="tx2"/>
          </a:solidFill>
          <a:latin typeface="Arial" pitchFamily="34" charset="0"/>
        </a:defRPr>
      </a:lvl5pPr>
      <a:lvl6pPr marL="457200" algn="l" rtl="0" eaLnBrk="1" fontAlgn="base" hangingPunct="1">
        <a:spcBef>
          <a:spcPct val="0"/>
        </a:spcBef>
        <a:spcAft>
          <a:spcPct val="0"/>
        </a:spcAft>
        <a:defRPr sz="2200" b="1">
          <a:solidFill>
            <a:schemeClr val="tx2"/>
          </a:solidFill>
          <a:latin typeface="Arial" pitchFamily="34" charset="0"/>
        </a:defRPr>
      </a:lvl6pPr>
      <a:lvl7pPr marL="914400" algn="l" rtl="0" eaLnBrk="1" fontAlgn="base" hangingPunct="1">
        <a:spcBef>
          <a:spcPct val="0"/>
        </a:spcBef>
        <a:spcAft>
          <a:spcPct val="0"/>
        </a:spcAft>
        <a:defRPr sz="2200" b="1">
          <a:solidFill>
            <a:schemeClr val="tx2"/>
          </a:solidFill>
          <a:latin typeface="Arial" pitchFamily="34" charset="0"/>
        </a:defRPr>
      </a:lvl7pPr>
      <a:lvl8pPr marL="1371600" algn="l" rtl="0" eaLnBrk="1" fontAlgn="base" hangingPunct="1">
        <a:spcBef>
          <a:spcPct val="0"/>
        </a:spcBef>
        <a:spcAft>
          <a:spcPct val="0"/>
        </a:spcAft>
        <a:defRPr sz="2200" b="1">
          <a:solidFill>
            <a:schemeClr val="tx2"/>
          </a:solidFill>
          <a:latin typeface="Arial" pitchFamily="34" charset="0"/>
        </a:defRPr>
      </a:lvl8pPr>
      <a:lvl9pPr marL="1828800" algn="l" rtl="0" eaLnBrk="1" fontAlgn="base" hangingPunct="1">
        <a:spcBef>
          <a:spcPct val="0"/>
        </a:spcBef>
        <a:spcAft>
          <a:spcPct val="0"/>
        </a:spcAft>
        <a:defRPr sz="2200" b="1">
          <a:solidFill>
            <a:schemeClr val="tx2"/>
          </a:solidFill>
          <a:latin typeface="Arial" pitchFamily="34" charset="0"/>
        </a:defRPr>
      </a:lvl9pPr>
    </p:titleStyle>
    <p:bodyStyle>
      <a:lvl1pPr marL="342900" indent="-342900" algn="l" rtl="0" eaLnBrk="0" fontAlgn="base" hangingPunct="0">
        <a:spcBef>
          <a:spcPct val="0"/>
        </a:spcBef>
        <a:spcAft>
          <a:spcPct val="0"/>
        </a:spcAft>
        <a:buFont typeface="Arial" charset="0"/>
        <a:buChar char="•"/>
        <a:defRPr lang="en-US" sz="3200" kern="1200" dirty="0">
          <a:solidFill>
            <a:schemeClr val="tx1"/>
          </a:solidFill>
          <a:latin typeface="Arial" pitchFamily="34" charset="0"/>
          <a:ea typeface="+mn-ea"/>
          <a:cs typeface="+mn-cs"/>
        </a:defRPr>
      </a:lvl1pPr>
      <a:lvl2pPr marL="285750" indent="-285750" algn="l" rtl="0" eaLnBrk="0" fontAlgn="base" hangingPunct="0">
        <a:spcBef>
          <a:spcPct val="0"/>
        </a:spcBef>
        <a:spcAft>
          <a:spcPct val="0"/>
        </a:spcAft>
        <a:buClr>
          <a:schemeClr val="tx2"/>
        </a:buClr>
        <a:buSzPct val="120000"/>
        <a:buFont typeface="Wingdings" pitchFamily="2" charset="2"/>
        <a:buChar char="§"/>
        <a:defRPr lang="en-US" sz="2800" kern="1200" dirty="0">
          <a:solidFill>
            <a:schemeClr val="tx1"/>
          </a:solidFill>
          <a:latin typeface="Arial" pitchFamily="34" charset="0"/>
          <a:ea typeface="+mn-ea"/>
          <a:cs typeface="+mn-cs"/>
        </a:defRPr>
      </a:lvl2pPr>
      <a:lvl3pPr marL="571500" indent="-279400" algn="l" rtl="0" eaLnBrk="0" fontAlgn="base" hangingPunct="0">
        <a:spcBef>
          <a:spcPct val="0"/>
        </a:spcBef>
        <a:spcAft>
          <a:spcPct val="0"/>
        </a:spcAft>
        <a:buClr>
          <a:schemeClr val="tx2"/>
        </a:buClr>
        <a:buSzPct val="110000"/>
        <a:buFont typeface="Arial" charset="0"/>
        <a:buChar char="–"/>
        <a:defRPr lang="en-US" sz="2400" kern="1200" dirty="0">
          <a:solidFill>
            <a:schemeClr val="tx1"/>
          </a:solidFill>
          <a:latin typeface="Arial" pitchFamily="34" charset="0"/>
          <a:ea typeface="+mn-ea"/>
          <a:cs typeface="+mn-cs"/>
        </a:defRPr>
      </a:lvl3pPr>
      <a:lvl4pPr marL="850900" indent="-279400" algn="l" rtl="0" eaLnBrk="0" fontAlgn="base" hangingPunct="0">
        <a:spcBef>
          <a:spcPct val="0"/>
        </a:spcBef>
        <a:spcAft>
          <a:spcPct val="0"/>
        </a:spcAft>
        <a:buClr>
          <a:schemeClr val="tx2"/>
        </a:buClr>
        <a:buSzPct val="80000"/>
        <a:buFont typeface="Wingdings" pitchFamily="2" charset="2"/>
        <a:buChar char="§"/>
        <a:defRPr lang="en-US" sz="2000" kern="1200" dirty="0">
          <a:solidFill>
            <a:schemeClr val="tx1"/>
          </a:solidFill>
          <a:latin typeface="Arial" pitchFamily="34" charset="0"/>
          <a:ea typeface="+mn-ea"/>
          <a:cs typeface="+mn-cs"/>
        </a:defRPr>
      </a:lvl4pPr>
      <a:lvl5pPr marL="1136650" indent="-285750" algn="l" defTabSz="933450" rtl="0" eaLnBrk="0" fontAlgn="base" hangingPunct="0">
        <a:spcBef>
          <a:spcPct val="0"/>
        </a:spcBef>
        <a:spcAft>
          <a:spcPct val="0"/>
        </a:spcAft>
        <a:buClr>
          <a:schemeClr val="tx2"/>
        </a:buClr>
        <a:buSzPct val="80000"/>
        <a:buFont typeface="Arial" charset="0"/>
        <a:buChar char="–"/>
        <a:defRPr lang="en-US" sz="2000" kern="1200" dirty="0">
          <a:solidFill>
            <a:schemeClr val="tx1"/>
          </a:solidFill>
          <a:latin typeface="Arial"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0"/>
          <p:cNvSpPr>
            <a:spLocks noGrp="1"/>
          </p:cNvSpPr>
          <p:nvPr>
            <p:ph type="ctrTitle"/>
          </p:nvPr>
        </p:nvSpPr>
        <p:spPr>
          <a:xfrm>
            <a:off x="738188" y="2511425"/>
            <a:ext cx="7772400" cy="554038"/>
          </a:xfrm>
        </p:spPr>
        <p:txBody>
          <a:bodyPr/>
          <a:lstStyle/>
          <a:p>
            <a:pPr algn="ctr" eaLnBrk="1" hangingPunct="1"/>
            <a:r>
              <a:rPr sz="3600" dirty="0" smtClean="0">
                <a:latin typeface="Arial" charset="0"/>
              </a:rPr>
              <a:t>P404 </a:t>
            </a:r>
            <a:r>
              <a:rPr lang="en-US" sz="3600" dirty="0" smtClean="0">
                <a:latin typeface="Arial" charset="0"/>
              </a:rPr>
              <a:t>–</a:t>
            </a:r>
            <a:r>
              <a:rPr sz="3600" dirty="0" smtClean="0">
                <a:latin typeface="Arial" charset="0"/>
              </a:rPr>
              <a:t> Project brief </a:t>
            </a:r>
            <a:endParaRPr sz="3600" dirty="0" smtClean="0">
              <a:latin typeface="Arial" charset="0"/>
            </a:endParaRPr>
          </a:p>
        </p:txBody>
      </p:sp>
    </p:spTree>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304800" y="374650"/>
            <a:ext cx="8539163" cy="338138"/>
          </a:xfrm>
        </p:spPr>
        <p:txBody>
          <a:bodyPr/>
          <a:lstStyle/>
          <a:p>
            <a:pPr eaLnBrk="1" hangingPunct="1"/>
            <a:r>
              <a:rPr smtClean="0">
                <a:latin typeface="Arial" charset="0"/>
              </a:rPr>
              <a:t>Business Problem</a:t>
            </a:r>
          </a:p>
        </p:txBody>
      </p:sp>
      <p:sp>
        <p:nvSpPr>
          <p:cNvPr id="8195" name="Text Placeholder 2"/>
          <p:cNvSpPr>
            <a:spLocks noGrp="1"/>
          </p:cNvSpPr>
          <p:nvPr>
            <p:ph type="body" sz="quarter" idx="10"/>
          </p:nvPr>
        </p:nvSpPr>
        <p:spPr>
          <a:xfrm>
            <a:off x="304800" y="736600"/>
            <a:ext cx="8543925" cy="2985433"/>
          </a:xfrm>
        </p:spPr>
        <p:txBody>
          <a:bodyPr/>
          <a:lstStyle/>
          <a:p>
            <a:pPr lvl="1" algn="just" eaLnBrk="1" hangingPunct="1">
              <a:spcBef>
                <a:spcPct val="0"/>
              </a:spcBef>
              <a:spcAft>
                <a:spcPct val="0"/>
              </a:spcAft>
            </a:pPr>
            <a:endParaRPr sz="1600" dirty="0" smtClean="0">
              <a:latin typeface="Arial" charset="0"/>
              <a:cs typeface="Arial" charset="0"/>
            </a:endParaRPr>
          </a:p>
          <a:p>
            <a:pPr lvl="1" algn="just" eaLnBrk="1" hangingPunct="1">
              <a:spcBef>
                <a:spcPct val="0"/>
              </a:spcBef>
              <a:spcAft>
                <a:spcPct val="0"/>
              </a:spcAft>
            </a:pPr>
            <a:r>
              <a:rPr sz="1600" dirty="0" smtClean="0">
                <a:latin typeface="Arial" charset="0"/>
                <a:cs typeface="Arial" charset="0"/>
              </a:rPr>
              <a:t>Customer's </a:t>
            </a:r>
            <a:r>
              <a:rPr sz="1600" dirty="0" smtClean="0">
                <a:latin typeface="Arial" charset="0"/>
                <a:cs typeface="Arial" charset="0"/>
              </a:rPr>
              <a:t>requirement was </a:t>
            </a:r>
            <a:r>
              <a:rPr sz="1600" dirty="0" smtClean="0">
                <a:latin typeface="Arial" charset="0"/>
                <a:cs typeface="Arial" charset="0"/>
              </a:rPr>
              <a:t>to</a:t>
            </a:r>
            <a:endParaRPr sz="1600" dirty="0" smtClean="0">
              <a:latin typeface="Arial" charset="0"/>
              <a:cs typeface="Arial" charset="0"/>
            </a:endParaRPr>
          </a:p>
          <a:p>
            <a:pPr lvl="2" algn="just" eaLnBrk="1" hangingPunct="1">
              <a:spcBef>
                <a:spcPct val="0"/>
              </a:spcBef>
              <a:spcAft>
                <a:spcPct val="0"/>
              </a:spcAft>
            </a:pPr>
            <a:r>
              <a:rPr sz="1600" dirty="0" smtClean="0">
                <a:latin typeface="Arial" charset="0"/>
                <a:cs typeface="Arial" charset="0"/>
              </a:rPr>
              <a:t>Optimize the baseline prototype design to a leaner, cost effective  and a production intent </a:t>
            </a:r>
            <a:r>
              <a:rPr sz="1600" dirty="0" smtClean="0">
                <a:latin typeface="Arial" charset="0"/>
                <a:cs typeface="Arial" charset="0"/>
              </a:rPr>
              <a:t>design </a:t>
            </a:r>
            <a:r>
              <a:rPr sz="1600" dirty="0" smtClean="0">
                <a:latin typeface="Arial" charset="0"/>
                <a:cs typeface="Arial" charset="0"/>
              </a:rPr>
              <a:t>in a record time of just eight months.</a:t>
            </a:r>
          </a:p>
          <a:p>
            <a:pPr lvl="1" algn="just" eaLnBrk="1" hangingPunct="1">
              <a:spcBef>
                <a:spcPct val="0"/>
              </a:spcBef>
              <a:spcAft>
                <a:spcPct val="0"/>
              </a:spcAft>
            </a:pPr>
            <a:endParaRPr sz="1600" dirty="0" smtClean="0">
              <a:latin typeface="Arial" charset="0"/>
              <a:cs typeface="Arial" charset="0"/>
            </a:endParaRPr>
          </a:p>
          <a:p>
            <a:pPr lvl="1" algn="just" eaLnBrk="1" hangingPunct="1">
              <a:spcBef>
                <a:spcPct val="0"/>
              </a:spcBef>
              <a:spcAft>
                <a:spcPct val="0"/>
              </a:spcAft>
            </a:pPr>
            <a:r>
              <a:rPr sz="1600" dirty="0" smtClean="0">
                <a:latin typeface="Arial" charset="0"/>
                <a:cs typeface="Arial" charset="0"/>
              </a:rPr>
              <a:t>Customer's </a:t>
            </a:r>
            <a:r>
              <a:rPr sz="1600" dirty="0" smtClean="0">
                <a:latin typeface="Arial" charset="0"/>
                <a:cs typeface="Arial" charset="0"/>
              </a:rPr>
              <a:t>expectations </a:t>
            </a:r>
            <a:r>
              <a:rPr sz="1600" dirty="0" smtClean="0">
                <a:latin typeface="Arial" charset="0"/>
                <a:cs typeface="Arial" charset="0"/>
              </a:rPr>
              <a:t>were to</a:t>
            </a:r>
            <a:endParaRPr sz="1600" dirty="0" smtClean="0">
              <a:latin typeface="Arial" charset="0"/>
              <a:cs typeface="Arial" charset="0"/>
            </a:endParaRPr>
          </a:p>
          <a:p>
            <a:pPr lvl="2" algn="just" eaLnBrk="1" hangingPunct="1">
              <a:spcBef>
                <a:spcPct val="0"/>
              </a:spcBef>
              <a:spcAft>
                <a:spcPct val="0"/>
              </a:spcAft>
            </a:pPr>
            <a:r>
              <a:rPr sz="1600" dirty="0" smtClean="0">
                <a:latin typeface="Arial" charset="0"/>
                <a:cs typeface="Arial" charset="0"/>
              </a:rPr>
              <a:t>Integrate the motor and the controller </a:t>
            </a:r>
          </a:p>
          <a:p>
            <a:pPr lvl="4" algn="just" eaLnBrk="1" hangingPunct="1">
              <a:spcBef>
                <a:spcPct val="0"/>
              </a:spcBef>
              <a:spcAft>
                <a:spcPct val="0"/>
              </a:spcAft>
            </a:pPr>
            <a:r>
              <a:rPr sz="1600" dirty="0" smtClean="0">
                <a:latin typeface="Arial" charset="0"/>
                <a:cs typeface="Arial" charset="0"/>
              </a:rPr>
              <a:t>To reduce the assembly form factor</a:t>
            </a:r>
          </a:p>
          <a:p>
            <a:pPr lvl="4" algn="just" eaLnBrk="1" hangingPunct="1">
              <a:spcBef>
                <a:spcPct val="0"/>
              </a:spcBef>
              <a:spcAft>
                <a:spcPct val="0"/>
              </a:spcAft>
            </a:pPr>
            <a:r>
              <a:rPr sz="1600" dirty="0" smtClean="0">
                <a:latin typeface="Arial" charset="0"/>
                <a:cs typeface="Arial" charset="0"/>
              </a:rPr>
              <a:t>To improve the safety and reliability by avoiding the high current cables running between the controller and the Motor</a:t>
            </a:r>
          </a:p>
          <a:p>
            <a:pPr lvl="2" algn="just" eaLnBrk="1" hangingPunct="1">
              <a:spcBef>
                <a:spcPct val="0"/>
              </a:spcBef>
              <a:spcAft>
                <a:spcPct val="0"/>
              </a:spcAft>
            </a:pPr>
            <a:r>
              <a:rPr sz="1600" dirty="0" smtClean="0">
                <a:latin typeface="Arial" charset="0"/>
                <a:cs typeface="Arial" charset="0"/>
              </a:rPr>
              <a:t>Design </a:t>
            </a:r>
            <a:r>
              <a:rPr sz="1600" dirty="0" smtClean="0">
                <a:latin typeface="Arial" charset="0"/>
                <a:cs typeface="Arial" charset="0"/>
              </a:rPr>
              <a:t>of a cost effective product that requires minimum after-market support.</a:t>
            </a:r>
          </a:p>
          <a:p>
            <a:pPr lvl="2" algn="just" eaLnBrk="1" hangingPunct="1">
              <a:spcBef>
                <a:spcPct val="0"/>
              </a:spcBef>
              <a:spcAft>
                <a:spcPct val="0"/>
              </a:spcAft>
            </a:pPr>
            <a:endParaRPr dirty="0" smtClean="0">
              <a:latin typeface="Arial" charset="0"/>
              <a:cs typeface="Arial"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dirty="0" smtClean="0">
                <a:latin typeface="Arial" charset="0"/>
              </a:rPr>
              <a:t>Solution</a:t>
            </a:r>
          </a:p>
        </p:txBody>
      </p:sp>
      <p:sp>
        <p:nvSpPr>
          <p:cNvPr id="9219" name="Text Placeholder 2"/>
          <p:cNvSpPr>
            <a:spLocks noGrp="1"/>
          </p:cNvSpPr>
          <p:nvPr>
            <p:ph type="body" sz="quarter" idx="10"/>
          </p:nvPr>
        </p:nvSpPr>
        <p:spPr>
          <a:xfrm>
            <a:off x="303213" y="798513"/>
            <a:ext cx="8543925" cy="3970318"/>
          </a:xfrm>
        </p:spPr>
        <p:txBody>
          <a:bodyPr/>
          <a:lstStyle/>
          <a:p>
            <a:pPr lvl="1" algn="just" eaLnBrk="1" hangingPunct="1">
              <a:spcBef>
                <a:spcPct val="0"/>
              </a:spcBef>
              <a:spcAft>
                <a:spcPct val="0"/>
              </a:spcAft>
            </a:pPr>
            <a:r>
              <a:rPr sz="1600" dirty="0" smtClean="0">
                <a:latin typeface="Arial" charset="0"/>
                <a:cs typeface="Arial" charset="0"/>
              </a:rPr>
              <a:t>MSAT provided </a:t>
            </a:r>
            <a:r>
              <a:rPr sz="1600" dirty="0" smtClean="0">
                <a:latin typeface="Arial" charset="0"/>
                <a:cs typeface="Arial" charset="0"/>
              </a:rPr>
              <a:t>the following </a:t>
            </a:r>
            <a:r>
              <a:rPr sz="1600" dirty="0" smtClean="0">
                <a:latin typeface="Arial" charset="0"/>
                <a:cs typeface="Arial" charset="0"/>
              </a:rPr>
              <a:t>solution</a:t>
            </a:r>
            <a:endParaRPr sz="1600" dirty="0" smtClean="0">
              <a:latin typeface="Arial" charset="0"/>
              <a:cs typeface="Arial" charset="0"/>
            </a:endParaRPr>
          </a:p>
          <a:p>
            <a:pPr lvl="2" algn="just" eaLnBrk="1" hangingPunct="1">
              <a:spcBef>
                <a:spcPct val="0"/>
              </a:spcBef>
              <a:spcAft>
                <a:spcPct val="0"/>
              </a:spcAft>
            </a:pPr>
            <a:r>
              <a:rPr sz="1600" dirty="0" smtClean="0">
                <a:latin typeface="Arial" charset="0"/>
                <a:cs typeface="Arial" charset="0"/>
              </a:rPr>
              <a:t>An integrated 17KW / 120 Nm integrated ECU-Motor, production intent </a:t>
            </a:r>
            <a:r>
              <a:rPr sz="1600" dirty="0" smtClean="0">
                <a:latin typeface="Arial" charset="0"/>
                <a:cs typeface="Arial" charset="0"/>
              </a:rPr>
              <a:t>design with  </a:t>
            </a:r>
          </a:p>
          <a:p>
            <a:pPr lvl="4" algn="just" eaLnBrk="1" hangingPunct="1">
              <a:spcBef>
                <a:spcPct val="0"/>
              </a:spcBef>
              <a:spcAft>
                <a:spcPct val="0"/>
              </a:spcAft>
            </a:pPr>
            <a:r>
              <a:rPr sz="1600" dirty="0" smtClean="0">
                <a:latin typeface="Arial" charset="0"/>
                <a:cs typeface="Arial" charset="0"/>
              </a:rPr>
              <a:t>Integrated packaging design, </a:t>
            </a:r>
          </a:p>
          <a:p>
            <a:pPr lvl="4" algn="just" eaLnBrk="1" hangingPunct="1">
              <a:spcBef>
                <a:spcPct val="0"/>
              </a:spcBef>
              <a:spcAft>
                <a:spcPct val="0"/>
              </a:spcAft>
            </a:pPr>
            <a:r>
              <a:rPr sz="1600" dirty="0" smtClean="0">
                <a:latin typeface="Arial" charset="0"/>
                <a:cs typeface="Arial" charset="0"/>
              </a:rPr>
              <a:t>Controller  </a:t>
            </a:r>
            <a:r>
              <a:rPr sz="1600" dirty="0" smtClean="0">
                <a:latin typeface="Arial" charset="0"/>
                <a:cs typeface="Arial" charset="0"/>
              </a:rPr>
              <a:t>power layout design</a:t>
            </a:r>
          </a:p>
          <a:p>
            <a:pPr lvl="4" algn="just" eaLnBrk="1" hangingPunct="1">
              <a:spcBef>
                <a:spcPct val="0"/>
              </a:spcBef>
              <a:spcAft>
                <a:spcPct val="0"/>
              </a:spcAft>
            </a:pPr>
            <a:r>
              <a:rPr sz="1600" dirty="0" smtClean="0">
                <a:latin typeface="Arial" charset="0"/>
                <a:cs typeface="Arial" charset="0"/>
              </a:rPr>
              <a:t>Effective thermal dissipation design</a:t>
            </a:r>
          </a:p>
          <a:p>
            <a:pPr lvl="3" algn="just" eaLnBrk="1" hangingPunct="1">
              <a:spcBef>
                <a:spcPct val="0"/>
              </a:spcBef>
              <a:spcAft>
                <a:spcPct val="0"/>
              </a:spcAft>
            </a:pPr>
            <a:r>
              <a:rPr sz="1600" dirty="0" smtClean="0">
                <a:latin typeface="Arial" charset="0"/>
                <a:cs typeface="Arial" charset="0"/>
              </a:rPr>
              <a:t>Cleaned up the baseline design to optimize it to a lean circuit.</a:t>
            </a:r>
          </a:p>
          <a:p>
            <a:pPr lvl="3" algn="just" eaLnBrk="1" hangingPunct="1">
              <a:spcBef>
                <a:spcPct val="0"/>
              </a:spcBef>
              <a:spcAft>
                <a:spcPct val="0"/>
              </a:spcAft>
            </a:pPr>
            <a:r>
              <a:rPr sz="1600" dirty="0" smtClean="0">
                <a:latin typeface="Arial" charset="0"/>
                <a:cs typeface="Arial" charset="0"/>
              </a:rPr>
              <a:t>Re-designed </a:t>
            </a:r>
            <a:r>
              <a:rPr sz="1600" dirty="0" smtClean="0">
                <a:latin typeface="Arial" charset="0"/>
                <a:cs typeface="Arial" charset="0"/>
              </a:rPr>
              <a:t>the PCB layout for better thermal management, signal integrity, balanced impedance paths for critical signals etc.</a:t>
            </a:r>
          </a:p>
          <a:p>
            <a:pPr lvl="3" algn="just" eaLnBrk="1" hangingPunct="1">
              <a:spcBef>
                <a:spcPct val="0"/>
              </a:spcBef>
              <a:spcAft>
                <a:spcPct val="0"/>
              </a:spcAft>
            </a:pPr>
            <a:r>
              <a:rPr sz="1600" dirty="0" smtClean="0">
                <a:latin typeface="Arial" charset="0"/>
                <a:cs typeface="Arial" charset="0"/>
              </a:rPr>
              <a:t>Run all the requisite design analysis like CFD, FEA, Thermal, reliability analysis, FMEA etc., at the source to make the product design more robust and to increase the overall reliability of the product.  </a:t>
            </a:r>
          </a:p>
          <a:p>
            <a:pPr lvl="2" algn="just" eaLnBrk="1" hangingPunct="1">
              <a:spcBef>
                <a:spcPct val="0"/>
              </a:spcBef>
              <a:spcAft>
                <a:spcPct val="0"/>
              </a:spcAft>
            </a:pPr>
            <a:r>
              <a:rPr sz="1600" dirty="0" smtClean="0">
                <a:latin typeface="Arial" charset="0"/>
                <a:cs typeface="Arial" charset="0"/>
              </a:rPr>
              <a:t>The </a:t>
            </a:r>
            <a:r>
              <a:rPr sz="1600" dirty="0" smtClean="0">
                <a:latin typeface="Arial" charset="0"/>
                <a:cs typeface="Arial" charset="0"/>
              </a:rPr>
              <a:t>key differentiator of this program was</a:t>
            </a:r>
          </a:p>
          <a:p>
            <a:pPr lvl="3" algn="just" eaLnBrk="1" hangingPunct="1">
              <a:spcBef>
                <a:spcPct val="0"/>
              </a:spcBef>
              <a:spcAft>
                <a:spcPct val="0"/>
              </a:spcAft>
            </a:pPr>
            <a:r>
              <a:rPr sz="1600" dirty="0" smtClean="0">
                <a:latin typeface="Arial" charset="0"/>
                <a:cs typeface="Arial" charset="0"/>
              </a:rPr>
              <a:t>An integrated motor controller design is being tried out for the first time on a non-passenger vehicle (i.e. on a Light electric </a:t>
            </a:r>
            <a:r>
              <a:rPr sz="1600" dirty="0" smtClean="0">
                <a:latin typeface="Arial" charset="0"/>
                <a:cs typeface="Arial" charset="0"/>
              </a:rPr>
              <a:t>truck, Laden </a:t>
            </a:r>
            <a:r>
              <a:rPr sz="1600" dirty="0" smtClean="0">
                <a:latin typeface="Arial" charset="0"/>
                <a:cs typeface="Arial" charset="0"/>
              </a:rPr>
              <a:t>Wt: 2 ton, </a:t>
            </a:r>
            <a:r>
              <a:rPr sz="1600" dirty="0" err="1" smtClean="0">
                <a:latin typeface="Arial" charset="0"/>
                <a:cs typeface="Arial" charset="0"/>
              </a:rPr>
              <a:t>Unladen</a:t>
            </a:r>
            <a:r>
              <a:rPr sz="1600" dirty="0" smtClean="0">
                <a:latin typeface="Arial" charset="0"/>
                <a:cs typeface="Arial" charset="0"/>
              </a:rPr>
              <a:t> Wt: 1.4 ton). </a:t>
            </a:r>
          </a:p>
          <a:p>
            <a:pPr lvl="2" algn="just" eaLnBrk="1" hangingPunct="1">
              <a:spcBef>
                <a:spcPct val="0"/>
              </a:spcBef>
              <a:spcAft>
                <a:spcPct val="0"/>
              </a:spcAft>
            </a:pPr>
            <a:endParaRPr dirty="0" smtClean="0">
              <a:latin typeface="Arial" charset="0"/>
              <a:cs typeface="Arial"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smtClean="0">
                <a:latin typeface="Arial" charset="0"/>
              </a:rPr>
              <a:t>Project Brief</a:t>
            </a:r>
          </a:p>
        </p:txBody>
      </p:sp>
      <p:sp>
        <p:nvSpPr>
          <p:cNvPr id="5" name="Rectangle 4"/>
          <p:cNvSpPr/>
          <p:nvPr/>
        </p:nvSpPr>
        <p:spPr>
          <a:xfrm>
            <a:off x="227013" y="927100"/>
            <a:ext cx="4230687" cy="541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TextBox 5"/>
          <p:cNvSpPr txBox="1"/>
          <p:nvPr/>
        </p:nvSpPr>
        <p:spPr>
          <a:xfrm>
            <a:off x="1498600" y="963613"/>
            <a:ext cx="1801813" cy="276225"/>
          </a:xfrm>
          <a:prstGeom prst="rect">
            <a:avLst/>
          </a:prstGeom>
          <a:noFill/>
          <a:ln w="9525">
            <a:noFill/>
            <a:miter lim="800000"/>
            <a:headEnd/>
            <a:tailEnd/>
          </a:ln>
        </p:spPr>
        <p:txBody>
          <a:bodyPr lIns="0" tIns="0" rIns="0" bIns="0">
            <a:spAutoFit/>
          </a:bodyPr>
          <a:lstStyle/>
          <a:p>
            <a:pPr>
              <a:buFont typeface="Arial" pitchFamily="34" charset="0"/>
              <a:buNone/>
              <a:defRPr/>
            </a:pPr>
            <a:r>
              <a:rPr lang="en-US" b="1" dirty="0">
                <a:latin typeface="+mj-lt"/>
              </a:rPr>
              <a:t>Baseline Design</a:t>
            </a:r>
          </a:p>
        </p:txBody>
      </p:sp>
      <p:sp>
        <p:nvSpPr>
          <p:cNvPr id="7" name="Rectangle 6"/>
          <p:cNvSpPr/>
          <p:nvPr/>
        </p:nvSpPr>
        <p:spPr>
          <a:xfrm>
            <a:off x="4689475" y="927100"/>
            <a:ext cx="4230688" cy="54133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TextBox 7"/>
          <p:cNvSpPr txBox="1"/>
          <p:nvPr/>
        </p:nvSpPr>
        <p:spPr>
          <a:xfrm>
            <a:off x="6053138" y="1147763"/>
            <a:ext cx="1801812" cy="276225"/>
          </a:xfrm>
          <a:prstGeom prst="rect">
            <a:avLst/>
          </a:prstGeom>
          <a:noFill/>
          <a:ln w="9525">
            <a:noFill/>
            <a:miter lim="800000"/>
            <a:headEnd/>
            <a:tailEnd/>
          </a:ln>
        </p:spPr>
        <p:txBody>
          <a:bodyPr lIns="0" tIns="0" rIns="0" bIns="0">
            <a:spAutoFit/>
          </a:bodyPr>
          <a:lstStyle/>
          <a:p>
            <a:pPr algn="ctr">
              <a:buFont typeface="Arial" pitchFamily="34" charset="0"/>
              <a:buNone/>
              <a:defRPr/>
            </a:pPr>
            <a:r>
              <a:rPr lang="en-US" b="1" dirty="0">
                <a:latin typeface="+mj-lt"/>
              </a:rPr>
              <a:t>New Design</a:t>
            </a:r>
          </a:p>
        </p:txBody>
      </p:sp>
      <p:grpSp>
        <p:nvGrpSpPr>
          <p:cNvPr id="2" name="Group 18"/>
          <p:cNvGrpSpPr>
            <a:grpSpLocks/>
          </p:cNvGrpSpPr>
          <p:nvPr/>
        </p:nvGrpSpPr>
        <p:grpSpPr bwMode="auto">
          <a:xfrm>
            <a:off x="5357813" y="3560763"/>
            <a:ext cx="3219450" cy="1131887"/>
            <a:chOff x="48" y="768"/>
            <a:chExt cx="6197" cy="2187"/>
          </a:xfrm>
        </p:grpSpPr>
        <p:pic>
          <p:nvPicPr>
            <p:cNvPr id="6156" name="Picture 5" descr="MotorCntrlrTXAssy_2Views"/>
            <p:cNvPicPr>
              <a:picLocks noChangeAspect="1" noChangeArrowheads="1"/>
            </p:cNvPicPr>
            <p:nvPr/>
          </p:nvPicPr>
          <p:blipFill>
            <a:blip r:embed="rId2"/>
            <a:srcRect/>
            <a:stretch>
              <a:fillRect/>
            </a:stretch>
          </p:blipFill>
          <p:spPr bwMode="auto">
            <a:xfrm>
              <a:off x="48" y="768"/>
              <a:ext cx="5664" cy="1980"/>
            </a:xfrm>
            <a:prstGeom prst="rect">
              <a:avLst/>
            </a:prstGeom>
            <a:noFill/>
            <a:ln w="9525">
              <a:noFill/>
              <a:miter lim="800000"/>
              <a:headEnd/>
              <a:tailEnd/>
            </a:ln>
          </p:spPr>
        </p:pic>
        <p:grpSp>
          <p:nvGrpSpPr>
            <p:cNvPr id="3" name="Group 11"/>
            <p:cNvGrpSpPr>
              <a:grpSpLocks/>
            </p:cNvGrpSpPr>
            <p:nvPr/>
          </p:nvGrpSpPr>
          <p:grpSpPr bwMode="auto">
            <a:xfrm>
              <a:off x="48" y="816"/>
              <a:ext cx="1525" cy="416"/>
              <a:chOff x="816" y="2767"/>
              <a:chExt cx="1525" cy="416"/>
            </a:xfrm>
          </p:grpSpPr>
          <p:sp>
            <p:nvSpPr>
              <p:cNvPr id="6164" name="Text Box 9"/>
              <p:cNvSpPr txBox="1">
                <a:spLocks noChangeArrowheads="1"/>
              </p:cNvSpPr>
              <p:nvPr/>
            </p:nvSpPr>
            <p:spPr bwMode="auto">
              <a:xfrm>
                <a:off x="816" y="2767"/>
                <a:ext cx="1525" cy="416"/>
              </a:xfrm>
              <a:prstGeom prst="rect">
                <a:avLst/>
              </a:prstGeom>
              <a:noFill/>
              <a:ln w="12700">
                <a:noFill/>
                <a:miter lim="800000"/>
                <a:headEnd/>
                <a:tailEnd/>
              </a:ln>
            </p:spPr>
            <p:txBody>
              <a:bodyPr wrap="none">
                <a:spAutoFit/>
              </a:bodyPr>
              <a:lstStyle/>
              <a:p>
                <a:r>
                  <a:rPr lang="en-US" sz="800"/>
                  <a:t>Vehicle Front</a:t>
                </a:r>
              </a:p>
            </p:txBody>
          </p:sp>
          <p:sp>
            <p:nvSpPr>
              <p:cNvPr id="6165" name="Line 7"/>
              <p:cNvSpPr>
                <a:spLocks noChangeShapeType="1"/>
              </p:cNvSpPr>
              <p:nvPr/>
            </p:nvSpPr>
            <p:spPr bwMode="auto">
              <a:xfrm flipH="1">
                <a:off x="960" y="2784"/>
                <a:ext cx="528" cy="0"/>
              </a:xfrm>
              <a:prstGeom prst="line">
                <a:avLst/>
              </a:prstGeom>
              <a:noFill/>
              <a:ln w="12700">
                <a:solidFill>
                  <a:srgbClr val="FF0000"/>
                </a:solidFill>
                <a:round/>
                <a:headEnd/>
                <a:tailEnd type="triangle" w="med" len="med"/>
              </a:ln>
            </p:spPr>
            <p:txBody>
              <a:bodyPr/>
              <a:lstStyle/>
              <a:p>
                <a:endParaRPr lang="en-US"/>
              </a:p>
            </p:txBody>
          </p:sp>
        </p:grpSp>
        <p:grpSp>
          <p:nvGrpSpPr>
            <p:cNvPr id="4" name="Group 12"/>
            <p:cNvGrpSpPr>
              <a:grpSpLocks/>
            </p:cNvGrpSpPr>
            <p:nvPr/>
          </p:nvGrpSpPr>
          <p:grpSpPr bwMode="auto">
            <a:xfrm>
              <a:off x="5040" y="791"/>
              <a:ext cx="1045" cy="654"/>
              <a:chOff x="5040" y="791"/>
              <a:chExt cx="1045" cy="654"/>
            </a:xfrm>
          </p:grpSpPr>
          <p:sp>
            <p:nvSpPr>
              <p:cNvPr id="6162" name="Line 8"/>
              <p:cNvSpPr>
                <a:spLocks noChangeShapeType="1"/>
              </p:cNvSpPr>
              <p:nvPr/>
            </p:nvSpPr>
            <p:spPr bwMode="auto">
              <a:xfrm flipV="1">
                <a:off x="5040" y="912"/>
                <a:ext cx="0" cy="288"/>
              </a:xfrm>
              <a:prstGeom prst="line">
                <a:avLst/>
              </a:prstGeom>
              <a:noFill/>
              <a:ln w="12700">
                <a:solidFill>
                  <a:srgbClr val="FF0000"/>
                </a:solidFill>
                <a:round/>
                <a:headEnd/>
                <a:tailEnd type="triangle" w="med" len="med"/>
              </a:ln>
            </p:spPr>
            <p:txBody>
              <a:bodyPr/>
              <a:lstStyle/>
              <a:p>
                <a:endParaRPr lang="en-US"/>
              </a:p>
            </p:txBody>
          </p:sp>
          <p:sp>
            <p:nvSpPr>
              <p:cNvPr id="6163" name="Text Box 10"/>
              <p:cNvSpPr txBox="1">
                <a:spLocks noChangeArrowheads="1"/>
              </p:cNvSpPr>
              <p:nvPr/>
            </p:nvSpPr>
            <p:spPr bwMode="auto">
              <a:xfrm>
                <a:off x="5078" y="791"/>
                <a:ext cx="1007" cy="654"/>
              </a:xfrm>
              <a:prstGeom prst="rect">
                <a:avLst/>
              </a:prstGeom>
              <a:noFill/>
              <a:ln w="12700">
                <a:noFill/>
                <a:miter lim="800000"/>
                <a:headEnd/>
                <a:tailEnd/>
              </a:ln>
            </p:spPr>
            <p:txBody>
              <a:bodyPr wrap="none">
                <a:spAutoFit/>
              </a:bodyPr>
              <a:lstStyle/>
              <a:p>
                <a:r>
                  <a:rPr lang="en-US" sz="800"/>
                  <a:t>Vehicle</a:t>
                </a:r>
              </a:p>
              <a:p>
                <a:r>
                  <a:rPr lang="en-US" sz="800"/>
                  <a:t>Up</a:t>
                </a:r>
              </a:p>
            </p:txBody>
          </p:sp>
        </p:grpSp>
        <p:grpSp>
          <p:nvGrpSpPr>
            <p:cNvPr id="9" name="Group 17"/>
            <p:cNvGrpSpPr>
              <a:grpSpLocks/>
            </p:cNvGrpSpPr>
            <p:nvPr/>
          </p:nvGrpSpPr>
          <p:grpSpPr bwMode="auto">
            <a:xfrm>
              <a:off x="4766" y="2539"/>
              <a:ext cx="1479" cy="416"/>
              <a:chOff x="4654" y="2601"/>
              <a:chExt cx="1474" cy="416"/>
            </a:xfrm>
          </p:grpSpPr>
          <p:sp>
            <p:nvSpPr>
              <p:cNvPr id="6160" name="Text Box 16"/>
              <p:cNvSpPr txBox="1">
                <a:spLocks noChangeArrowheads="1"/>
              </p:cNvSpPr>
              <p:nvPr/>
            </p:nvSpPr>
            <p:spPr bwMode="auto">
              <a:xfrm>
                <a:off x="4654" y="2601"/>
                <a:ext cx="1474" cy="416"/>
              </a:xfrm>
              <a:prstGeom prst="rect">
                <a:avLst/>
              </a:prstGeom>
              <a:noFill/>
              <a:ln w="12700">
                <a:noFill/>
                <a:miter lim="800000"/>
                <a:headEnd/>
                <a:tailEnd/>
              </a:ln>
            </p:spPr>
            <p:txBody>
              <a:bodyPr wrap="none">
                <a:spAutoFit/>
              </a:bodyPr>
              <a:lstStyle/>
              <a:p>
                <a:r>
                  <a:rPr lang="en-US" sz="800"/>
                  <a:t>Vehicle RHS</a:t>
                </a:r>
              </a:p>
            </p:txBody>
          </p:sp>
          <p:sp>
            <p:nvSpPr>
              <p:cNvPr id="6161" name="Line 15"/>
              <p:cNvSpPr>
                <a:spLocks noChangeShapeType="1"/>
              </p:cNvSpPr>
              <p:nvPr/>
            </p:nvSpPr>
            <p:spPr bwMode="auto">
              <a:xfrm>
                <a:off x="4896" y="2640"/>
                <a:ext cx="624" cy="0"/>
              </a:xfrm>
              <a:prstGeom prst="line">
                <a:avLst/>
              </a:prstGeom>
              <a:noFill/>
              <a:ln w="12700">
                <a:solidFill>
                  <a:srgbClr val="FF0000"/>
                </a:solidFill>
                <a:round/>
                <a:headEnd/>
                <a:tailEnd type="triangle" w="med" len="med"/>
              </a:ln>
            </p:spPr>
            <p:txBody>
              <a:bodyPr/>
              <a:lstStyle/>
              <a:p>
                <a:endParaRPr lang="en-US"/>
              </a:p>
            </p:txBody>
          </p:sp>
        </p:grpSp>
      </p:grpSp>
      <p:pic>
        <p:nvPicPr>
          <p:cNvPr id="6152" name="Picture 23"/>
          <p:cNvPicPr>
            <a:picLocks noChangeAspect="1" noChangeArrowheads="1"/>
          </p:cNvPicPr>
          <p:nvPr/>
        </p:nvPicPr>
        <p:blipFill>
          <a:blip r:embed="rId3"/>
          <a:srcRect/>
          <a:stretch>
            <a:fillRect/>
          </a:stretch>
        </p:blipFill>
        <p:spPr bwMode="auto">
          <a:xfrm>
            <a:off x="5448300" y="1604963"/>
            <a:ext cx="2820988" cy="1825625"/>
          </a:xfrm>
          <a:prstGeom prst="rect">
            <a:avLst/>
          </a:prstGeom>
          <a:noFill/>
          <a:ln w="9525">
            <a:noFill/>
            <a:miter lim="800000"/>
            <a:headEnd/>
            <a:tailEnd/>
          </a:ln>
        </p:spPr>
      </p:pic>
      <p:sp>
        <p:nvSpPr>
          <p:cNvPr id="25" name="TextBox 24"/>
          <p:cNvSpPr txBox="1"/>
          <p:nvPr/>
        </p:nvSpPr>
        <p:spPr>
          <a:xfrm>
            <a:off x="5254625" y="4862513"/>
            <a:ext cx="3448050" cy="1476375"/>
          </a:xfrm>
          <a:prstGeom prst="rect">
            <a:avLst/>
          </a:prstGeom>
          <a:noFill/>
          <a:ln w="9525">
            <a:noFill/>
            <a:miter lim="800000"/>
            <a:headEnd/>
            <a:tailEnd/>
          </a:ln>
        </p:spPr>
        <p:txBody>
          <a:bodyPr lIns="0" tIns="0" rIns="0" bIns="0">
            <a:spAutoFit/>
          </a:bodyPr>
          <a:lstStyle/>
          <a:p>
            <a:pPr marL="342900" indent="-342900">
              <a:buFont typeface="Wingdings" pitchFamily="2" charset="2"/>
              <a:buChar char="Ø"/>
              <a:defRPr/>
            </a:pPr>
            <a:r>
              <a:rPr lang="en-US" sz="1600" dirty="0">
                <a:latin typeface="+mj-lt"/>
              </a:rPr>
              <a:t>Integrated Motor &amp; Controller</a:t>
            </a:r>
          </a:p>
          <a:p>
            <a:pPr marL="342900" indent="-342900">
              <a:buFont typeface="Wingdings" pitchFamily="2" charset="2"/>
              <a:buChar char="Ø"/>
              <a:defRPr/>
            </a:pPr>
            <a:r>
              <a:rPr lang="en-US" sz="1600" dirty="0">
                <a:latin typeface="+mj-lt"/>
              </a:rPr>
              <a:t>Stator mounts towards clutch side</a:t>
            </a:r>
          </a:p>
          <a:p>
            <a:pPr marL="342900" indent="-342900">
              <a:buFont typeface="Wingdings" pitchFamily="2" charset="2"/>
              <a:buChar char="Ø"/>
              <a:defRPr/>
            </a:pPr>
            <a:r>
              <a:rPr lang="en-US" sz="1600" dirty="0">
                <a:latin typeface="+mj-lt"/>
              </a:rPr>
              <a:t>Motor mounted direct on vehicle chassis</a:t>
            </a:r>
          </a:p>
          <a:p>
            <a:pPr marL="342900" indent="-342900">
              <a:buFont typeface="Wingdings" pitchFamily="2" charset="2"/>
              <a:buChar char="Ø"/>
              <a:defRPr/>
            </a:pPr>
            <a:r>
              <a:rPr lang="en-US" sz="1600" dirty="0">
                <a:latin typeface="+mj-lt"/>
              </a:rPr>
              <a:t>Compact  design</a:t>
            </a:r>
          </a:p>
          <a:p>
            <a:pPr marL="342900" indent="-342900">
              <a:buFont typeface="Wingdings" pitchFamily="2" charset="2"/>
              <a:buChar char="Ø"/>
              <a:defRPr/>
            </a:pPr>
            <a:r>
              <a:rPr lang="en-US" sz="1600" dirty="0">
                <a:latin typeface="+mj-lt"/>
              </a:rPr>
              <a:t>Better Manufacturability</a:t>
            </a:r>
          </a:p>
        </p:txBody>
      </p:sp>
      <p:pic>
        <p:nvPicPr>
          <p:cNvPr id="6154" name="Picture 2"/>
          <p:cNvPicPr>
            <a:picLocks noChangeAspect="1" noChangeArrowheads="1"/>
          </p:cNvPicPr>
          <p:nvPr/>
        </p:nvPicPr>
        <p:blipFill>
          <a:blip r:embed="rId4"/>
          <a:srcRect l="22221" t="26852" r="18056" b="5556"/>
          <a:stretch>
            <a:fillRect/>
          </a:stretch>
        </p:blipFill>
        <p:spPr bwMode="auto">
          <a:xfrm>
            <a:off x="231775" y="1252538"/>
            <a:ext cx="4217988" cy="3579812"/>
          </a:xfrm>
          <a:prstGeom prst="rect">
            <a:avLst/>
          </a:prstGeom>
          <a:noFill/>
          <a:ln w="9525">
            <a:noFill/>
            <a:miter lim="800000"/>
            <a:headEnd/>
            <a:tailEnd/>
          </a:ln>
        </p:spPr>
      </p:pic>
      <p:sp>
        <p:nvSpPr>
          <p:cNvPr id="26" name="TextBox 25"/>
          <p:cNvSpPr txBox="1"/>
          <p:nvPr/>
        </p:nvSpPr>
        <p:spPr>
          <a:xfrm>
            <a:off x="614363" y="4972050"/>
            <a:ext cx="3448050" cy="1230313"/>
          </a:xfrm>
          <a:prstGeom prst="rect">
            <a:avLst/>
          </a:prstGeom>
          <a:noFill/>
          <a:ln w="9525">
            <a:noFill/>
            <a:miter lim="800000"/>
            <a:headEnd/>
            <a:tailEnd/>
          </a:ln>
        </p:spPr>
        <p:txBody>
          <a:bodyPr lIns="0" tIns="0" rIns="0" bIns="0">
            <a:spAutoFit/>
          </a:bodyPr>
          <a:lstStyle/>
          <a:p>
            <a:pPr marL="342900" indent="-342900">
              <a:buFont typeface="Wingdings" pitchFamily="2" charset="2"/>
              <a:buChar char="Ø"/>
              <a:defRPr/>
            </a:pPr>
            <a:r>
              <a:rPr lang="en-US" sz="1600" dirty="0">
                <a:latin typeface="+mj-lt"/>
              </a:rPr>
              <a:t>Separate Motor &amp; Controller</a:t>
            </a:r>
          </a:p>
          <a:p>
            <a:pPr marL="342900" indent="-342900">
              <a:buFont typeface="Wingdings" pitchFamily="2" charset="2"/>
              <a:buChar char="Ø"/>
              <a:defRPr/>
            </a:pPr>
            <a:r>
              <a:rPr lang="en-US" sz="1600" dirty="0">
                <a:latin typeface="+mj-lt"/>
              </a:rPr>
              <a:t>Rotor mounts toward clutch side</a:t>
            </a:r>
          </a:p>
          <a:p>
            <a:pPr marL="342900" indent="-342900">
              <a:buFont typeface="Wingdings" pitchFamily="2" charset="2"/>
              <a:buChar char="Ø"/>
              <a:defRPr/>
            </a:pPr>
            <a:r>
              <a:rPr lang="en-US" sz="1600" dirty="0">
                <a:latin typeface="+mj-lt"/>
              </a:rPr>
              <a:t>Proto vehicle available for testing</a:t>
            </a:r>
          </a:p>
          <a:p>
            <a:pPr marL="342900" indent="-342900">
              <a:buFont typeface="Wingdings" pitchFamily="2" charset="2"/>
              <a:buChar char="Ø"/>
              <a:defRPr/>
            </a:pPr>
            <a:r>
              <a:rPr lang="en-US" sz="1600" dirty="0">
                <a:latin typeface="+mj-lt"/>
              </a:rPr>
              <a:t>Motor &amp; controller assy. Mount on tubular structure (Cradle)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304800" y="347663"/>
            <a:ext cx="8539163" cy="338137"/>
          </a:xfrm>
        </p:spPr>
        <p:txBody>
          <a:bodyPr/>
          <a:lstStyle/>
          <a:p>
            <a:pPr eaLnBrk="1" hangingPunct="1"/>
            <a:r>
              <a:rPr smtClean="0">
                <a:latin typeface="Arial" charset="0"/>
              </a:rPr>
              <a:t>Business Benefits</a:t>
            </a:r>
          </a:p>
        </p:txBody>
      </p:sp>
      <p:sp>
        <p:nvSpPr>
          <p:cNvPr id="10243" name="Text Placeholder 2"/>
          <p:cNvSpPr>
            <a:spLocks noGrp="1"/>
          </p:cNvSpPr>
          <p:nvPr>
            <p:ph type="body" sz="quarter" idx="10"/>
          </p:nvPr>
        </p:nvSpPr>
        <p:spPr>
          <a:xfrm>
            <a:off x="303213" y="749300"/>
            <a:ext cx="8543925" cy="2216150"/>
          </a:xfrm>
        </p:spPr>
        <p:txBody>
          <a:bodyPr/>
          <a:lstStyle/>
          <a:p>
            <a:pPr lvl="1" eaLnBrk="1" hangingPunct="1">
              <a:spcBef>
                <a:spcPct val="0"/>
              </a:spcBef>
              <a:spcAft>
                <a:spcPct val="0"/>
              </a:spcAft>
            </a:pPr>
            <a:r>
              <a:rPr dirty="0" smtClean="0">
                <a:latin typeface="Arial" charset="0"/>
                <a:cs typeface="Arial" charset="0"/>
              </a:rPr>
              <a:t>The following are the value creation out of the program</a:t>
            </a:r>
          </a:p>
          <a:p>
            <a:pPr lvl="2" eaLnBrk="1" hangingPunct="1">
              <a:spcBef>
                <a:spcPct val="0"/>
              </a:spcBef>
              <a:spcAft>
                <a:spcPct val="0"/>
              </a:spcAft>
            </a:pPr>
            <a:r>
              <a:rPr dirty="0" smtClean="0">
                <a:latin typeface="Arial" charset="0"/>
                <a:cs typeface="Arial" charset="0"/>
              </a:rPr>
              <a:t>Integrated packaging has reduced the vehicle assembly form factor by around 30%</a:t>
            </a:r>
          </a:p>
          <a:p>
            <a:pPr lvl="2" eaLnBrk="1" hangingPunct="1">
              <a:spcBef>
                <a:spcPct val="0"/>
              </a:spcBef>
              <a:spcAft>
                <a:spcPct val="0"/>
              </a:spcAft>
            </a:pPr>
            <a:r>
              <a:rPr dirty="0" smtClean="0">
                <a:latin typeface="Arial" charset="0"/>
                <a:cs typeface="Arial" charset="0"/>
              </a:rPr>
              <a:t>Improved Safety, Reliability and manufacturability. </a:t>
            </a:r>
          </a:p>
          <a:p>
            <a:pPr lvl="2" eaLnBrk="1" hangingPunct="1">
              <a:spcBef>
                <a:spcPct val="0"/>
              </a:spcBef>
              <a:spcAft>
                <a:spcPct val="0"/>
              </a:spcAft>
            </a:pPr>
            <a:r>
              <a:rPr dirty="0" smtClean="0">
                <a:latin typeface="Arial" charset="0"/>
                <a:cs typeface="Arial" charset="0"/>
              </a:rPr>
              <a:t>Cost effective and optimized  solution resulting in less manufacturing TACT, assembly and test time, thereby increasing the productivity.</a:t>
            </a:r>
          </a:p>
          <a:p>
            <a:pPr lvl="2" eaLnBrk="1" hangingPunct="1">
              <a:spcBef>
                <a:spcPct val="0"/>
              </a:spcBef>
              <a:spcAft>
                <a:spcPct val="0"/>
              </a:spcAft>
            </a:pPr>
            <a:r>
              <a:rPr dirty="0" smtClean="0">
                <a:latin typeface="Arial" charset="0"/>
                <a:cs typeface="Arial" charset="0"/>
              </a:rPr>
              <a:t>Faster time to market. The design has been rolled out within eight months.</a:t>
            </a:r>
            <a:endParaRPr dirty="0" smtClean="0">
              <a:solidFill>
                <a:srgbClr val="FF0000"/>
              </a:solidFill>
              <a:latin typeface="Arial" charset="0"/>
              <a:cs typeface="Arial" charset="0"/>
            </a:endParaRPr>
          </a:p>
          <a:p>
            <a:pPr lvl="2" eaLnBrk="1" hangingPunct="1">
              <a:spcBef>
                <a:spcPct val="0"/>
              </a:spcBef>
              <a:spcAft>
                <a:spcPct val="0"/>
              </a:spcAft>
              <a:buFont typeface="Arial" charset="0"/>
              <a:buNone/>
            </a:pPr>
            <a:endParaRPr dirty="0" smtClean="0">
              <a:solidFill>
                <a:srgbClr val="FF0000"/>
              </a:solidFill>
              <a:latin typeface="Arial" charset="0"/>
              <a:cs typeface="Arial"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p:txBody>
          <a:bodyPr/>
          <a:lstStyle/>
          <a:p>
            <a:pPr eaLnBrk="1" hangingPunct="1"/>
            <a:r>
              <a:rPr smtClean="0">
                <a:latin typeface="Arial" charset="0"/>
              </a:rPr>
              <a:t>Integrated design  </a:t>
            </a:r>
          </a:p>
        </p:txBody>
      </p:sp>
      <p:sp>
        <p:nvSpPr>
          <p:cNvPr id="13315" name="Text Placeholder 4"/>
          <p:cNvSpPr>
            <a:spLocks noGrp="1"/>
          </p:cNvSpPr>
          <p:nvPr>
            <p:ph type="body" sz="quarter" idx="10"/>
          </p:nvPr>
        </p:nvSpPr>
        <p:spPr>
          <a:xfrm>
            <a:off x="228600" y="914400"/>
            <a:ext cx="8543925" cy="1108075"/>
          </a:xfrm>
        </p:spPr>
        <p:txBody>
          <a:bodyPr/>
          <a:lstStyle/>
          <a:p>
            <a:pPr lvl="1" eaLnBrk="1" hangingPunct="1">
              <a:spcBef>
                <a:spcPct val="0"/>
              </a:spcBef>
              <a:spcAft>
                <a:spcPct val="0"/>
              </a:spcAft>
            </a:pPr>
            <a:r>
              <a:rPr smtClean="0">
                <a:latin typeface="Arial" charset="0"/>
                <a:cs typeface="Arial" charset="0"/>
              </a:rPr>
              <a:t>The Integrated motor –controller design have only two PCBs</a:t>
            </a:r>
          </a:p>
          <a:p>
            <a:pPr lvl="2" eaLnBrk="1" hangingPunct="1">
              <a:spcBef>
                <a:spcPct val="0"/>
              </a:spcBef>
              <a:spcAft>
                <a:spcPct val="0"/>
              </a:spcAft>
            </a:pPr>
            <a:r>
              <a:rPr smtClean="0">
                <a:latin typeface="Arial" charset="0"/>
                <a:cs typeface="Arial" charset="0"/>
              </a:rPr>
              <a:t>Integrated Logic Board</a:t>
            </a:r>
          </a:p>
          <a:p>
            <a:pPr lvl="2" eaLnBrk="1" hangingPunct="1">
              <a:spcBef>
                <a:spcPct val="0"/>
              </a:spcBef>
              <a:spcAft>
                <a:spcPct val="0"/>
              </a:spcAft>
            </a:pPr>
            <a:r>
              <a:rPr smtClean="0">
                <a:latin typeface="Arial" charset="0"/>
                <a:cs typeface="Arial" charset="0"/>
              </a:rPr>
              <a:t>Integrated Power Board</a:t>
            </a:r>
          </a:p>
          <a:p>
            <a:pPr lvl="2" eaLnBrk="1" hangingPunct="1">
              <a:spcBef>
                <a:spcPct val="0"/>
              </a:spcBef>
              <a:spcAft>
                <a:spcPct val="0"/>
              </a:spcAft>
            </a:pPr>
            <a:endParaRPr smtClean="0">
              <a:latin typeface="Arial" charset="0"/>
              <a:cs typeface="Arial" charset="0"/>
            </a:endParaRPr>
          </a:p>
        </p:txBody>
      </p:sp>
      <p:pic>
        <p:nvPicPr>
          <p:cNvPr id="13316" name="Picture 2"/>
          <p:cNvPicPr>
            <a:picLocks noChangeAspect="1" noChangeArrowheads="1"/>
          </p:cNvPicPr>
          <p:nvPr/>
        </p:nvPicPr>
        <p:blipFill>
          <a:blip r:embed="rId2"/>
          <a:srcRect/>
          <a:stretch>
            <a:fillRect/>
          </a:stretch>
        </p:blipFill>
        <p:spPr bwMode="auto">
          <a:xfrm>
            <a:off x="5051425" y="1481138"/>
            <a:ext cx="2840038" cy="2416175"/>
          </a:xfrm>
          <a:prstGeom prst="rect">
            <a:avLst/>
          </a:prstGeom>
          <a:noFill/>
          <a:ln w="9525">
            <a:noFill/>
            <a:miter lim="800000"/>
            <a:headEnd/>
            <a:tailEnd/>
          </a:ln>
        </p:spPr>
      </p:pic>
      <p:pic>
        <p:nvPicPr>
          <p:cNvPr id="13317" name="Picture 3"/>
          <p:cNvPicPr>
            <a:picLocks noChangeAspect="1" noChangeArrowheads="1"/>
          </p:cNvPicPr>
          <p:nvPr/>
        </p:nvPicPr>
        <p:blipFill>
          <a:blip r:embed="rId3"/>
          <a:srcRect/>
          <a:stretch>
            <a:fillRect/>
          </a:stretch>
        </p:blipFill>
        <p:spPr bwMode="auto">
          <a:xfrm>
            <a:off x="709613" y="2432050"/>
            <a:ext cx="3348037" cy="2646363"/>
          </a:xfrm>
          <a:prstGeom prst="rect">
            <a:avLst/>
          </a:prstGeom>
          <a:noFill/>
          <a:ln w="9525">
            <a:noFill/>
            <a:miter lim="800000"/>
            <a:headEnd/>
            <a:tailEnd/>
          </a:ln>
        </p:spPr>
      </p:pic>
      <p:pic>
        <p:nvPicPr>
          <p:cNvPr id="13318" name="Picture 4"/>
          <p:cNvPicPr>
            <a:picLocks noChangeAspect="1" noChangeArrowheads="1"/>
          </p:cNvPicPr>
          <p:nvPr/>
        </p:nvPicPr>
        <p:blipFill>
          <a:blip r:embed="rId4"/>
          <a:srcRect/>
          <a:stretch>
            <a:fillRect/>
          </a:stretch>
        </p:blipFill>
        <p:spPr bwMode="auto">
          <a:xfrm>
            <a:off x="5011738" y="4019550"/>
            <a:ext cx="3332162" cy="2052638"/>
          </a:xfrm>
          <a:prstGeom prst="rect">
            <a:avLst/>
          </a:prstGeom>
          <a:noFill/>
          <a:ln w="9525">
            <a:noFill/>
            <a:miter lim="800000"/>
            <a:headEnd/>
            <a:tailEnd/>
          </a:ln>
        </p:spPr>
      </p:pic>
      <p:sp>
        <p:nvSpPr>
          <p:cNvPr id="10" name="Rectangular Callout 9"/>
          <p:cNvSpPr/>
          <p:nvPr/>
        </p:nvSpPr>
        <p:spPr>
          <a:xfrm>
            <a:off x="561975" y="5402263"/>
            <a:ext cx="2420938" cy="969962"/>
          </a:xfrm>
          <a:prstGeom prst="wedgeRectCallout">
            <a:avLst>
              <a:gd name="adj1" fmla="val 6492"/>
              <a:gd name="adj2" fmla="val -187199"/>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r>
              <a:rPr lang="en-US" dirty="0">
                <a:solidFill>
                  <a:schemeClr val="tx1"/>
                </a:solidFill>
              </a:rPr>
              <a:t>IPB with bus bars, MOSFETs and capacitors</a:t>
            </a:r>
          </a:p>
        </p:txBody>
      </p:sp>
      <p:sp>
        <p:nvSpPr>
          <p:cNvPr id="11" name="Rectangular Callout 10"/>
          <p:cNvSpPr/>
          <p:nvPr/>
        </p:nvSpPr>
        <p:spPr>
          <a:xfrm>
            <a:off x="3092450" y="5554663"/>
            <a:ext cx="2419350" cy="969962"/>
          </a:xfrm>
          <a:prstGeom prst="wedgeRectCallout">
            <a:avLst>
              <a:gd name="adj1" fmla="val 105329"/>
              <a:gd name="adj2" fmla="val -7850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r>
              <a:rPr lang="en-US" dirty="0">
                <a:solidFill>
                  <a:schemeClr val="tx1"/>
                </a:solidFill>
              </a:rPr>
              <a:t>Integrated logic board stacked to IPB</a:t>
            </a:r>
          </a:p>
        </p:txBody>
      </p:sp>
      <p:sp>
        <p:nvSpPr>
          <p:cNvPr id="12" name="Rectangular Callout 11"/>
          <p:cNvSpPr/>
          <p:nvPr/>
        </p:nvSpPr>
        <p:spPr>
          <a:xfrm>
            <a:off x="3475038" y="1360488"/>
            <a:ext cx="1754187" cy="969962"/>
          </a:xfrm>
          <a:prstGeom prst="wedgeRectCallout">
            <a:avLst>
              <a:gd name="adj1" fmla="val 123703"/>
              <a:gd name="adj2" fmla="val 47584"/>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r>
              <a:rPr lang="en-US" dirty="0">
                <a:solidFill>
                  <a:schemeClr val="tx1"/>
                </a:solidFill>
              </a:rPr>
              <a:t>Controller casing with </a:t>
            </a:r>
            <a:r>
              <a:rPr lang="en-US" dirty="0" err="1">
                <a:solidFill>
                  <a:schemeClr val="tx1"/>
                </a:solidFill>
              </a:rPr>
              <a:t>heatsink</a:t>
            </a:r>
            <a:endParaRPr lang="en-US" dirty="0">
              <a:solidFill>
                <a:schemeClr val="tx1"/>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Volvo_Hydrulics &amp; FEA_17-Sep-09_draft Version">
  <a:themeElements>
    <a:clrScheme name="Satyam_New_Template_2009">
      <a:dk1>
        <a:sysClr val="windowText" lastClr="000000"/>
      </a:dk1>
      <a:lt1>
        <a:sysClr val="window" lastClr="FFFFFF"/>
      </a:lt1>
      <a:dk2>
        <a:srgbClr val="C0504D"/>
      </a:dk2>
      <a:lt2>
        <a:srgbClr val="625756"/>
      </a:lt2>
      <a:accent1>
        <a:srgbClr val="E6E3E2"/>
      </a:accent1>
      <a:accent2>
        <a:srgbClr val="A092B4"/>
      </a:accent2>
      <a:accent3>
        <a:srgbClr val="625753"/>
      </a:accent3>
      <a:accent4>
        <a:srgbClr val="BE3A3A"/>
      </a:accent4>
      <a:accent5>
        <a:srgbClr val="FFC000"/>
      </a:accent5>
      <a:accent6>
        <a:srgbClr val="00B050"/>
      </a:accent6>
      <a:hlink>
        <a:srgbClr val="625753"/>
      </a:hlink>
      <a:folHlink>
        <a:srgbClr val="BE3A3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w="9525">
          <a:noFill/>
          <a:miter lim="800000"/>
          <a:headEnd/>
          <a:tailEnd/>
        </a:ln>
      </a:spPr>
      <a:bodyPr vert="horz" wrap="square" lIns="0" tIns="0" rIns="0" bIns="0" numCol="1" anchor="t" anchorCtr="0" compatLnSpc="1">
        <a:prstTxWarp prst="textNoShape">
          <a:avLst/>
        </a:prstTxWarp>
        <a:spAutoFit/>
      </a:bodyPr>
      <a:lstStyle>
        <a:defPPr fontAlgn="base">
          <a:buFont typeface="Arial" pitchFamily="34" charset="0"/>
          <a:defRPr dirty="0" smtClean="0">
            <a:latin typeface="+mj-l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Volvo_Hydrulics &amp; FEA_17-Sep-09_draft Version</Template>
  <TotalTime>4008</TotalTime>
  <Words>391</Words>
  <Application>Microsoft Office PowerPoint</Application>
  <PresentationFormat>On-screen Show (4:3)</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Wingdings</vt:lpstr>
      <vt:lpstr>Calibri</vt:lpstr>
      <vt:lpstr>Volvo_Hydrulics &amp; FEA_17-Sep-09_draft Version</vt:lpstr>
      <vt:lpstr>P404 – Project brief </vt:lpstr>
      <vt:lpstr>Business Problem</vt:lpstr>
      <vt:lpstr>Solution</vt:lpstr>
      <vt:lpstr>Project Brief</vt:lpstr>
      <vt:lpstr>Business Benefits</vt:lpstr>
      <vt:lpstr>Integrated design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P404 Project review –Mechanical  21-09-09</dc:title>
  <dc:creator>gj75982</dc:creator>
  <cp:lastModifiedBy>Sekar</cp:lastModifiedBy>
  <cp:revision>229</cp:revision>
  <dcterms:created xsi:type="dcterms:W3CDTF">2009-09-18T14:01:02Z</dcterms:created>
  <dcterms:modified xsi:type="dcterms:W3CDTF">2012-11-19T14:07:45Z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0x010100288715D36CCD664C92487F0B78E69BFE</vt:lpwstr>
  </property>
</Properties>
</file>