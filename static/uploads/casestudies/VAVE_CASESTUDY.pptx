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893E9-8ED2-25F8-1567-27B9919A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D706E-96A5-F12C-E8E2-7442F8554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F2CF2-DE99-A65D-735F-FE845517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065AE-5BEA-6E6C-C438-9D56A816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44BE-0669-560B-876E-758DBBCE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78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6322-1920-404E-4A97-5F1FDBB9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DC18-83A2-2852-B5D2-787F1475E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90372-C114-CE68-3377-574CA8384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9B05-44DC-8077-86BA-A3577093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48257-5D69-DA48-1FAA-545C992C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675A-7E17-26FB-7350-356F649B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1E735-8E2A-5F6C-8B39-A4E7DE25C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0E53-3339-655E-275D-B003B5B6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4EE28-4D1D-C9ED-E459-5B11B038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2558B-87CC-CE35-3B4B-DFDECE38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1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3A7E0-6298-E468-DF27-43A95CB1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50826-60B2-2F96-4D86-36BBB0C6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6F078-9D75-F152-B0DB-E9E51B037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B58C7-C7C7-28F9-8819-C4C5DB75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EDF1-4DD6-48B7-2104-EF0F636E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F1598-3828-B829-43FF-A276CD7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2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7581-589E-B150-448D-5CE053F2D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D0434-30F2-4254-CA9B-958A5A0D1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1B2C6-E17A-E636-7DB2-B80ED910E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C95DD-2A35-CDC6-1C9C-70056452C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7BF2C-9DD6-9AF1-07CD-7A206CCCF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DB0844-710B-7A97-C5A5-2387D6DD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C864E-EB01-438A-7AF0-7163FE67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A456A-49B4-2125-EF0D-B1D1813D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5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E5D9-BB55-304D-AE1C-D0C923D93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92D06-63DA-CD5C-D75B-6459E0E0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7D221-9834-B00E-AE77-8F06121C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CE7D0-575F-75D3-B08C-C3188CBF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2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B8458C-8210-5CFF-7C82-5B0C920F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D3FA70-F05F-0799-5A98-775B494C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1756B-5E23-37A3-8162-8CFE188D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5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5719-F2B5-69D2-2444-307A5BB8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7553-4590-B233-4695-849FC92F9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35A5C-F0EA-4F94-A414-1B856EC81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C2AB3-168E-0947-A291-1E58DE95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CFA36-0270-DB8B-FDA4-4F435E5A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3A24C-8171-4179-1A76-AA8D3455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9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5F7F-C75C-1A94-AD55-5E6F101A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077CB-AC2C-A9F0-FAA5-FF6096E81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0D66D-E546-D021-322B-FC0CDAAB7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2048C-A1ED-88AD-2B32-599A6922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637B2-C186-63B5-FC2C-4C90C07A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28B55-BADA-6BC6-7C0D-9A11AFEF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1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DCAD-A1A1-D8D0-A8CA-1048D527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AA537-462C-4588-5A4B-3E9BBAEEB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2F827-32C3-19CD-A51E-5AD4B85F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3ECFA-FF45-2FA0-08B5-BA7F1C08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5F7DD-8FD3-2213-BF2D-10AE7914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26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412DA5-C406-B3BA-3B94-575CB6FBA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EB841-C87B-0E98-4335-04BBF4541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D623E-7699-3E49-83FF-71D54502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716AD-5FBF-194D-FBB4-073EFB22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5FE13-459D-E85E-9F9F-6B795C1D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9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B1DEF-8336-5979-5B33-5A68509E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B8408-A6E9-DED9-FD3D-E36EB545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55B33-32AC-067F-20F5-D2C673566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E8944-D50B-4F07-8B5D-013C80DCEA6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1062-B46A-DDDC-99C6-883C26F26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427C5-5F7D-A555-C9D8-79FBAAA60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EAE00-0842-4748-BF0D-3B9C2C066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1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4B4B646-13CD-F90D-176F-768042749BFF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1" y="228600"/>
            <a:ext cx="6069013" cy="3381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Value Engineering - GBit Port Line Switch</a:t>
            </a:r>
          </a:p>
        </p:txBody>
      </p:sp>
      <p:sp>
        <p:nvSpPr>
          <p:cNvPr id="5" name="Text Box 44">
            <a:extLst>
              <a:ext uri="{FF2B5EF4-FFF2-40B4-BE49-F238E27FC236}">
                <a16:creationId xmlns:a16="http://schemas.microsoft.com/office/drawing/2014/main" id="{CF1981FC-6D12-5CD3-9ED1-FB38F76D1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08014"/>
            <a:ext cx="4419600" cy="12080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</a:pPr>
            <a:endParaRPr lang="en-US" altLang="zh-CN" sz="1400" b="1">
              <a:solidFill>
                <a:srgbClr val="000000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Increase reliability of switch by redesigning the board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Reduce the cost of the 20-layer board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Reduce signal integrity issues</a:t>
            </a: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C3CD1DFE-2FC6-1EBB-F2C4-AA3949981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8" y="1960564"/>
            <a:ext cx="4297362" cy="423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SzPct val="110000"/>
              <a:buFont typeface="Arial" pitchFamily="34" charset="0"/>
              <a:buChar char="•"/>
              <a:defRPr/>
            </a:pPr>
            <a:r>
              <a:rPr lang="en-US" altLang="zh-CN" sz="1300" dirty="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Board redesigned in 14 Layers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SzPct val="110000"/>
              <a:buFont typeface="Arial" pitchFamily="34" charset="0"/>
              <a:buChar char="•"/>
              <a:defRPr/>
            </a:pPr>
            <a:r>
              <a:rPr lang="en-US" altLang="zh-CN" sz="1300" dirty="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100% Manual Routing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SzPct val="110000"/>
              <a:buFont typeface="Arial" pitchFamily="34" charset="0"/>
              <a:buChar char="•"/>
              <a:defRPr/>
            </a:pPr>
            <a:r>
              <a:rPr lang="en-US" altLang="zh-CN" sz="1300" dirty="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SI analysis at every stage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SzPct val="110000"/>
              <a:buFont typeface="Arial" pitchFamily="34" charset="0"/>
              <a:buChar char="•"/>
              <a:defRPr/>
            </a:pPr>
            <a:r>
              <a:rPr lang="en-US" altLang="zh-CN" sz="1300" dirty="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Brief Statistics </a:t>
            </a:r>
          </a:p>
          <a:p>
            <a:pPr marL="1028700" lvl="3" indent="-279400">
              <a:spcBef>
                <a:spcPts val="0"/>
              </a:spcBef>
              <a:buClr>
                <a:srgbClr val="C0504D"/>
              </a:buClr>
              <a:buSzPct val="110000"/>
              <a:buFont typeface="Wingdings" pitchFamily="2" charset="2"/>
              <a:buChar char="Ø"/>
              <a:defRPr/>
            </a:pPr>
            <a:r>
              <a:rPr lang="en-US" altLang="zh-CN" sz="1300" dirty="0">
                <a:solidFill>
                  <a:prstClr val="black"/>
                </a:solidFill>
                <a:cs typeface="宋体"/>
              </a:rPr>
              <a:t>Board size     :  14.4 x 15.8 inches  </a:t>
            </a:r>
          </a:p>
          <a:p>
            <a:pPr marL="1028700" lvl="3" indent="-279400">
              <a:spcBef>
                <a:spcPts val="0"/>
              </a:spcBef>
              <a:buClr>
                <a:srgbClr val="C0504D"/>
              </a:buClr>
              <a:buSzPct val="110000"/>
              <a:buFont typeface="Wingdings" pitchFamily="2" charset="2"/>
              <a:buChar char="Ø"/>
              <a:defRPr/>
            </a:pPr>
            <a:r>
              <a:rPr lang="en-US" altLang="zh-CN" sz="1300" dirty="0">
                <a:solidFill>
                  <a:prstClr val="black"/>
                </a:solidFill>
                <a:cs typeface="宋体"/>
              </a:rPr>
              <a:t>Components  :  3578</a:t>
            </a:r>
          </a:p>
          <a:p>
            <a:pPr marL="1028700" lvl="3" indent="-279400">
              <a:spcBef>
                <a:spcPts val="0"/>
              </a:spcBef>
              <a:buClr>
                <a:srgbClr val="C0504D"/>
              </a:buClr>
              <a:buSzPct val="110000"/>
              <a:buFont typeface="Wingdings" pitchFamily="2" charset="2"/>
              <a:buChar char="Ø"/>
              <a:defRPr/>
            </a:pPr>
            <a:r>
              <a:rPr lang="en-US" altLang="zh-CN" sz="1300" dirty="0">
                <a:solidFill>
                  <a:prstClr val="black"/>
                </a:solidFill>
                <a:cs typeface="宋体"/>
              </a:rPr>
              <a:t>BGAs             :  15 </a:t>
            </a:r>
          </a:p>
          <a:p>
            <a:pPr marL="1028700" lvl="3" indent="-279400">
              <a:spcBef>
                <a:spcPts val="0"/>
              </a:spcBef>
              <a:buClr>
                <a:srgbClr val="C0504D"/>
              </a:buClr>
              <a:buSzPct val="110000"/>
              <a:buFont typeface="Wingdings" pitchFamily="2" charset="2"/>
              <a:buChar char="Ø"/>
              <a:defRPr/>
            </a:pPr>
            <a:r>
              <a:rPr lang="en-US" altLang="zh-CN" sz="1300" dirty="0">
                <a:solidFill>
                  <a:prstClr val="black"/>
                </a:solidFill>
                <a:cs typeface="宋体"/>
              </a:rPr>
              <a:t>Nets               :  4895</a:t>
            </a:r>
          </a:p>
          <a:p>
            <a:pPr marL="1028700" lvl="3" indent="-279400">
              <a:spcBef>
                <a:spcPts val="0"/>
              </a:spcBef>
              <a:buClr>
                <a:srgbClr val="C0504D"/>
              </a:buClr>
              <a:buSzPct val="110000"/>
              <a:buFont typeface="Wingdings" pitchFamily="2" charset="2"/>
              <a:buChar char="Ø"/>
              <a:defRPr/>
            </a:pPr>
            <a:r>
              <a:rPr lang="en-US" altLang="zh-CN" sz="1300" dirty="0">
                <a:solidFill>
                  <a:prstClr val="black"/>
                </a:solidFill>
                <a:cs typeface="宋体"/>
              </a:rPr>
              <a:t>Connections   :  21184</a:t>
            </a:r>
          </a:p>
          <a:p>
            <a:pPr marL="173038" lvl="1" indent="-173038">
              <a:lnSpc>
                <a:spcPct val="150000"/>
              </a:lnSpc>
              <a:spcBef>
                <a:spcPct val="50000"/>
              </a:spcBef>
              <a:defRPr/>
            </a:pPr>
            <a:endParaRPr lang="en-US" altLang="zh-CN" sz="1400" b="1" dirty="0">
              <a:solidFill>
                <a:srgbClr val="000000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High speed requirements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Signal Integrity considerations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High component count &amp; Routing complexity</a:t>
            </a:r>
          </a:p>
          <a:p>
            <a:pPr marL="234950" lvl="1" indent="-2349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Large board size &amp; Mechanical considerations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D8A8E-AF2E-8561-FBA9-7D0CF01283E3}"/>
              </a:ext>
            </a:extLst>
          </p:cNvPr>
          <p:cNvCxnSpPr/>
          <p:nvPr/>
        </p:nvCxnSpPr>
        <p:spPr>
          <a:xfrm rot="5400000">
            <a:off x="4784725" y="2736850"/>
            <a:ext cx="2514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51923F-EA6E-75B2-2E63-051DD353B1E2}"/>
              </a:ext>
            </a:extLst>
          </p:cNvPr>
          <p:cNvCxnSpPr/>
          <p:nvPr/>
        </p:nvCxnSpPr>
        <p:spPr>
          <a:xfrm rot="5400000">
            <a:off x="4386263" y="4854576"/>
            <a:ext cx="3297238" cy="14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85E26E0B-675D-1356-00B1-5A126DD79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62801" y="990600"/>
            <a:ext cx="3114675" cy="2667000"/>
          </a:xfrm>
          <a:prstGeom prst="rect">
            <a:avLst/>
          </a:prstGeom>
        </p:spPr>
      </p:pic>
      <p:sp>
        <p:nvSpPr>
          <p:cNvPr id="10" name="Text Box 44">
            <a:extLst>
              <a:ext uri="{FF2B5EF4-FFF2-40B4-BE49-F238E27FC236}">
                <a16:creationId xmlns:a16="http://schemas.microsoft.com/office/drawing/2014/main" id="{659DDAD5-3FEE-12CC-47DA-F92B83DCC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5580063"/>
            <a:ext cx="4329112" cy="908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</a:pPr>
            <a:endParaRPr lang="en-US" altLang="zh-CN" sz="1400" b="1">
              <a:solidFill>
                <a:srgbClr val="000000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Cadence Allegro SPB 15.2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SIGXPLORER 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11DCEAAF-BFEB-AB01-19ED-E59D0F950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038601"/>
            <a:ext cx="4267200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</a:pPr>
            <a:endParaRPr lang="en-US" altLang="zh-CN" sz="1400" b="1">
              <a:solidFill>
                <a:srgbClr val="000000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Increased Reliability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Better Signal quality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Significant reduction in manufacturing cost</a:t>
            </a:r>
          </a:p>
          <a:p>
            <a:pPr marL="288925" lvl="1" indent="-166688">
              <a:lnSpc>
                <a:spcPct val="150000"/>
              </a:lnSpc>
              <a:buClr>
                <a:srgbClr val="00486C"/>
              </a:buClr>
              <a:buFont typeface="Arial" pitchFamily="34" charset="0"/>
              <a:buChar char="•"/>
            </a:pPr>
            <a:r>
              <a:rPr lang="en-US" altLang="zh-CN" sz="1300">
                <a:solidFill>
                  <a:srgbClr val="000000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Reduction in number of layer from 20 to 14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2727D06F-1C3F-1172-2409-7D765EC55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09601"/>
            <a:ext cx="4191000" cy="290513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prstClr val="white"/>
                </a:solidFill>
                <a:latin typeface="Trebuchet MS" pitchFamily="34" charset="0"/>
                <a:cs typeface="Times New Roman" pitchFamily="18" charset="0"/>
              </a:rPr>
              <a:t>Scope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53F572BA-9452-7335-4DEC-BFE9E54B9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905001"/>
            <a:ext cx="4191000" cy="290513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prstClr val="white"/>
                </a:solidFill>
                <a:latin typeface="Trebuchet MS" pitchFamily="34" charset="0"/>
                <a:cs typeface="Times New Roman" pitchFamily="18" charset="0"/>
              </a:rPr>
              <a:t>Solution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FED0D91E-7EC6-061B-F685-63CC8B99C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495801"/>
            <a:ext cx="4191000" cy="290513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prstClr val="white"/>
                </a:solidFill>
                <a:latin typeface="Trebuchet MS" pitchFamily="34" charset="0"/>
                <a:cs typeface="Times New Roman" pitchFamily="18" charset="0"/>
              </a:rPr>
              <a:t>Challenges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D09BD9DD-FC7C-6A83-8572-7434AD078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488" y="4038601"/>
            <a:ext cx="4252912" cy="290513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prstClr val="white"/>
                </a:solidFill>
                <a:latin typeface="Trebuchet MS" pitchFamily="34" charset="0"/>
                <a:cs typeface="Times New Roman" pitchFamily="18" charset="0"/>
              </a:rPr>
              <a:t>Benefits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92FFBC47-BDE9-13B5-D4C8-E40C43AF8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1" y="5562601"/>
            <a:ext cx="4252913" cy="290513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100000">
                <a:srgbClr val="C0C0C0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defTabSz="825500">
              <a:spcBef>
                <a:spcPct val="50000"/>
              </a:spcBef>
            </a:pPr>
            <a:r>
              <a:rPr lang="en-US" sz="1300" b="1">
                <a:solidFill>
                  <a:prstClr val="white"/>
                </a:solidFill>
                <a:latin typeface="Trebuchet MS" pitchFamily="34" charset="0"/>
                <a:cs typeface="Times New Roman" pitchFamily="18" charset="0"/>
              </a:rPr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2377472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4DF603A-9BE4-C072-DD90-68BCAAFF6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1" y="685800"/>
            <a:ext cx="5038301" cy="536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Business needs</a:t>
            </a:r>
          </a:p>
          <a:p>
            <a:pPr marL="548640" lvl="2" indent="-283464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Component library development in short turnaround time with near-zero defects</a:t>
            </a: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Inputs</a:t>
            </a:r>
          </a:p>
          <a:p>
            <a:pPr marL="548640" lvl="2" indent="-279400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Component part numbers or data sheets</a:t>
            </a:r>
            <a:r>
              <a:rPr lang="en-US" sz="1400" dirty="0">
                <a:solidFill>
                  <a:prstClr val="black"/>
                </a:solidFill>
                <a:latin typeface="Trebuchet MS" pitchFamily="34" charset="0"/>
                <a:cs typeface="+mn-cs"/>
              </a:rPr>
              <a:t> </a:t>
            </a:r>
          </a:p>
          <a:p>
            <a:pPr marL="548640" lvl="2" indent="-279400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Library development process guidelines and verification tools</a:t>
            </a: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Outputs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Component schematic symbols 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Component footprints</a:t>
            </a:r>
          </a:p>
          <a:p>
            <a:pPr marL="571500" lvl="2" indent="-279400">
              <a:spcBef>
                <a:spcPct val="20000"/>
              </a:spcBef>
              <a:buClr>
                <a:srgbClr val="C0504D"/>
              </a:buClr>
              <a:buSzPct val="110000"/>
              <a:tabLst>
                <a:tab pos="225425" algn="l"/>
              </a:tabLst>
              <a:defRPr/>
            </a:pPr>
            <a:endParaRPr lang="en-US" altLang="zh-CN" sz="1300" dirty="0">
              <a:solidFill>
                <a:prstClr val="black"/>
              </a:solidFill>
              <a:cs typeface="+mn-cs"/>
            </a:endParaRP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tabLst>
                <a:tab pos="225425" algn="l"/>
              </a:tabLst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Tools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‘Cadence Allegro’ for Footprints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‘Cadence </a:t>
            </a:r>
            <a:r>
              <a:rPr lang="en-US" altLang="zh-CN" sz="1300" dirty="0" err="1">
                <a:solidFill>
                  <a:prstClr val="black"/>
                </a:solidFill>
                <a:cs typeface="+mn-cs"/>
              </a:rPr>
              <a:t>ConceptHDL</a:t>
            </a: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’ for Symbols</a:t>
            </a:r>
          </a:p>
          <a:p>
            <a:pPr marL="571500" lvl="2" indent="-279400" eaLnBrk="0" hangingPunct="0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defRPr/>
            </a:pPr>
            <a:endParaRPr lang="en-US" altLang="zh-CN" sz="1300" dirty="0">
              <a:solidFill>
                <a:prstClr val="black"/>
              </a:solidFill>
              <a:cs typeface="+mn-cs"/>
            </a:endParaRP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Highlights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Component Library Creation in short turnaround times varying from 1 to 3 days.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Meeting all of Customer’s quality expectations with near-zero defects . Regular quality metrics review with customer.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Library includes complex components like connectors with high density pin-outs and challenging body outline.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Team ramp-up, Training and ramp-down as per program needs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endParaRPr lang="en-US" altLang="zh-CN" sz="1300" dirty="0">
              <a:solidFill>
                <a:prstClr val="black"/>
              </a:solidFill>
              <a:cs typeface="+mn-cs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7818398-7752-53F0-5E38-DE446F3DC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6601" y="838201"/>
            <a:ext cx="3425893" cy="2061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0E1A3770-74E6-39BE-0897-55E283D07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3505201"/>
            <a:ext cx="3379196" cy="236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F6E923-434F-BFAA-CC81-87537D843A16}"/>
              </a:ext>
            </a:extLst>
          </p:cNvPr>
          <p:cNvSpPr txBox="1"/>
          <p:nvPr/>
        </p:nvSpPr>
        <p:spPr>
          <a:xfrm rot="19766895">
            <a:off x="6756034" y="5369420"/>
            <a:ext cx="3271988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n w="12700">
                  <a:solidFill>
                    <a:srgbClr val="C0504D">
                      <a:satMod val="155000"/>
                    </a:srgbClr>
                  </a:solidFill>
                  <a:prstDash val="solid"/>
                </a:ln>
                <a:solidFill>
                  <a:prstClr val="white">
                    <a:lumMod val="75000"/>
                  </a:prst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/>
                <a:cs typeface="+mn-cs"/>
              </a:rPr>
              <a:t>Illustrative Charts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77BFD-69CE-7362-BADD-C8F1717B6550}"/>
              </a:ext>
            </a:extLst>
          </p:cNvPr>
          <p:cNvSpPr/>
          <p:nvPr/>
        </p:nvSpPr>
        <p:spPr>
          <a:xfrm>
            <a:off x="7543801" y="2971800"/>
            <a:ext cx="2911475" cy="29845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  <a:latin typeface="Arial"/>
              </a:rPr>
              <a:t>Target: DPU Critical - Less than 0.5</a:t>
            </a:r>
          </a:p>
          <a:p>
            <a:pPr marL="519113" indent="-51911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  <a:latin typeface="Arial"/>
              </a:rPr>
              <a:t>	DPU Non-Critical - Less than 1.0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39C33B-129D-9E4D-129F-76818BEDEFF8}"/>
              </a:ext>
            </a:extLst>
          </p:cNvPr>
          <p:cNvSpPr/>
          <p:nvPr/>
        </p:nvSpPr>
        <p:spPr>
          <a:xfrm>
            <a:off x="8458200" y="5943601"/>
            <a:ext cx="1296988" cy="3270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prstClr val="black"/>
                </a:solidFill>
                <a:latin typeface="Arial"/>
              </a:rPr>
              <a:t>Target 90%</a:t>
            </a:r>
          </a:p>
        </p:txBody>
      </p:sp>
    </p:spTree>
    <p:extLst>
      <p:ext uri="{BB962C8B-B14F-4D97-AF65-F5344CB8AC3E}">
        <p14:creationId xmlns:p14="http://schemas.microsoft.com/office/powerpoint/2010/main" val="359088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59D4-BE2B-F745-7181-91C091B5E596}"/>
              </a:ext>
            </a:extLst>
          </p:cNvPr>
          <p:cNvSpPr txBox="1">
            <a:spLocks/>
          </p:cNvSpPr>
          <p:nvPr/>
        </p:nvSpPr>
        <p:spPr>
          <a:xfrm>
            <a:off x="1646585" y="92558"/>
            <a:ext cx="8539163" cy="338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Component library creation using Cadence tool</a:t>
            </a:r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8B587EAC-A789-3734-CC4F-CB538BC4F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963614"/>
            <a:ext cx="3124200" cy="495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986BF15-5E6D-EFB5-CD5A-8134D720B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881" y="556592"/>
            <a:ext cx="5038301" cy="591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Business needs</a:t>
            </a:r>
          </a:p>
          <a:p>
            <a:pPr marL="548640" lvl="2" indent="-283464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Integrated board for complete Power Steering hardware</a:t>
            </a:r>
          </a:p>
          <a:p>
            <a:pPr marL="548640" lvl="2" indent="-283464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High current section with 120 Amps max. current</a:t>
            </a:r>
          </a:p>
          <a:p>
            <a:pPr marL="548640" lvl="2" indent="-283464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Power stage circuit with discrete MOSFETs</a:t>
            </a:r>
          </a:p>
          <a:p>
            <a:pPr marL="548640" lvl="2" indent="-283464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Optimized, screw-type motor lead frame</a:t>
            </a:r>
          </a:p>
          <a:p>
            <a:pPr marL="571500" lvl="2" indent="-279400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defRPr/>
            </a:pPr>
            <a:endParaRPr lang="en-US" altLang="zh-CN" sz="1300" dirty="0">
              <a:solidFill>
                <a:prstClr val="black"/>
              </a:solidFill>
              <a:cs typeface="+mn-cs"/>
            </a:endParaRP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Inputs</a:t>
            </a:r>
          </a:p>
          <a:p>
            <a:pPr marL="548640" lvl="2" indent="-279400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Ref schematics of power module and main control unit</a:t>
            </a:r>
            <a:r>
              <a:rPr lang="en-US" sz="1400" dirty="0">
                <a:solidFill>
                  <a:prstClr val="black"/>
                </a:solidFill>
                <a:latin typeface="Trebuchet MS" pitchFamily="34" charset="0"/>
                <a:cs typeface="+mn-cs"/>
              </a:rPr>
              <a:t> </a:t>
            </a: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Outputs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PCB Layout drawings, Gerber files and PCBA drawings</a:t>
            </a:r>
          </a:p>
          <a:p>
            <a:pPr marL="571500" lvl="2" indent="-279400">
              <a:spcBef>
                <a:spcPct val="20000"/>
              </a:spcBef>
              <a:buClr>
                <a:srgbClr val="C0504D"/>
              </a:buClr>
              <a:buSzPct val="110000"/>
              <a:tabLst>
                <a:tab pos="225425" algn="l"/>
              </a:tabLst>
              <a:defRPr/>
            </a:pPr>
            <a:endParaRPr lang="en-US" altLang="zh-CN" sz="1300" dirty="0">
              <a:solidFill>
                <a:prstClr val="black"/>
              </a:solidFill>
              <a:cs typeface="+mn-cs"/>
            </a:endParaRP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tabLst>
                <a:tab pos="225425" algn="l"/>
              </a:tabLst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Tools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Cadence Allegro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 err="1">
                <a:solidFill>
                  <a:prstClr val="black"/>
                </a:solidFill>
                <a:cs typeface="+mn-cs"/>
              </a:rPr>
              <a:t>Orcad</a:t>
            </a: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 Capture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 err="1">
                <a:solidFill>
                  <a:prstClr val="black"/>
                </a:solidFill>
                <a:cs typeface="+mn-cs"/>
              </a:rPr>
              <a:t>Gcpreview</a:t>
            </a:r>
            <a:endParaRPr lang="en-US" altLang="zh-CN" sz="1300" dirty="0">
              <a:solidFill>
                <a:prstClr val="black"/>
              </a:solidFill>
              <a:cs typeface="+mn-cs"/>
            </a:endParaRPr>
          </a:p>
          <a:p>
            <a:pPr marL="571500" lvl="2" indent="-279400" eaLnBrk="0" hangingPunct="0"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defRPr/>
            </a:pPr>
            <a:endParaRPr lang="en-US" altLang="zh-CN" sz="1300" dirty="0">
              <a:solidFill>
                <a:prstClr val="black"/>
              </a:solidFill>
              <a:cs typeface="+mn-cs"/>
            </a:endParaRPr>
          </a:p>
          <a:p>
            <a:pPr marL="285750" lvl="1" indent="-28575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solidFill>
                  <a:prstClr val="black"/>
                </a:solidFill>
                <a:cs typeface="+mn-cs"/>
              </a:rPr>
              <a:t>Highlights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Component Library Creation, Schematic Capture &amp; Layout Design.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Power Module and Main control units merged into a single layout.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10-Layer with 580 components (including test points) 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Up to 120 Amps of current carrying capability in high current motor section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Met all of Customer’s Design specifications </a:t>
            </a:r>
          </a:p>
          <a:p>
            <a:pPr marL="548640" lvl="2" indent="-279400">
              <a:lnSpc>
                <a:spcPct val="90000"/>
              </a:lnSpc>
              <a:spcBef>
                <a:spcPct val="20000"/>
              </a:spcBef>
              <a:buClr>
                <a:srgbClr val="C0504D"/>
              </a:buClr>
              <a:buSzPct val="110000"/>
              <a:buFont typeface="Arial" pitchFamily="34" charset="0"/>
              <a:buChar char="–"/>
              <a:tabLst>
                <a:tab pos="225425" algn="l"/>
              </a:tabLst>
            </a:pP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MCAD and </a:t>
            </a:r>
            <a:r>
              <a:rPr lang="en-US" altLang="zh-CN" sz="1300" dirty="0" err="1">
                <a:solidFill>
                  <a:prstClr val="black"/>
                </a:solidFill>
                <a:cs typeface="+mn-cs"/>
              </a:rPr>
              <a:t>eCAD</a:t>
            </a:r>
            <a:r>
              <a:rPr lang="en-US" altLang="zh-CN" sz="1300" dirty="0">
                <a:solidFill>
                  <a:prstClr val="black"/>
                </a:solidFill>
                <a:cs typeface="+mn-cs"/>
              </a:rPr>
              <a:t>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1914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宋体</vt:lpstr>
      <vt:lpstr>Aptos</vt:lpstr>
      <vt:lpstr>Aptos Display</vt:lpstr>
      <vt:lpstr>Arial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2025-10-27T11:26:09Z</dcterms:created>
  <dcterms:modified xsi:type="dcterms:W3CDTF">2025-10-27T11:30:44Z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2025-10-27T11:30:44Z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965c0672-e24b-4149-9f45-7ddc48cbb025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