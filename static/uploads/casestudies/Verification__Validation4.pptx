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CE76-C9F1-1B0B-3A38-D913142B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210C6-5F45-8A92-AB8F-4E95EF23F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70C9-F0DA-72A4-DB5E-CFF83FD6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B9464-3658-CA61-7CF2-E08FDBE3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74DD-A96B-477D-E5D9-BA558F82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4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92DD-A179-B66C-5911-6D74B6EC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5CB1-4E44-B38A-A179-C4E7C1A1C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7A5B-92D9-42DB-8542-A41CCE78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C3CBE-F51F-DBF8-3E98-84500DC3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FCA2-8F8C-9B51-B151-484D1C9C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2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382D-62AF-BFB1-272D-502DB326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0A6E-16D2-B8B6-7FB7-4D9954078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832AC-604F-897E-5417-AA5A1FFB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FF648-5F7E-3DB9-9668-3412E63C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D7F5E-52CE-A1A8-608D-D4EE0EBF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4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1578-6A8D-82D5-659D-A6FCBC47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C3E6-A50F-B155-8BAA-4D0D34EE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11409-54AF-D57A-9110-14E8E6A3E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C058B-4AFA-6242-5E19-48B8057F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2A652-8EBB-DDCF-9028-2B490314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A81B1-4C60-2601-59DD-B6EE1ACF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8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5E02-36E2-9006-6817-CB56CC04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C02CC-5077-5D89-FC13-ECDA5306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B6C6F-518A-F858-CFC3-74FA3857E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C0534-B9FD-B5A2-C17D-1DA07B9D1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D51CC-F075-F2DE-934A-4F53307AA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F6474-B90F-AA7A-562A-A6376EC7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2D8FB-5BA9-0757-6289-FD96C103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D05E0-A1DC-8991-5E5A-E4BCB2B6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8E1B-3E26-C3E0-D902-FC1FE0F3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5E78C-26D2-22A8-1775-3DE8962B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9ED02-A3EE-10A3-48B9-104D35E9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FDDBE-150E-54B3-6808-A0C6A9F0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1D0B2-47A2-CF9B-0FC4-0998ECF2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521DB-1810-62DC-9F76-0BD872C7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D578-4692-358E-4C9C-04A33907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3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3B34-C390-5D95-5ED1-B5584178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88F8-3CD0-02BA-FF48-05B2C1015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5A5D-9DDE-EE4D-839C-BBCFD5474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2E14C-2D4C-C043-F544-B82F4543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0167E-3E54-C062-1A06-9A1D4B92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C4EDB-0982-9E13-7778-BF844AC7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2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7234-003D-DEA3-C3BC-E3C078C3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B4034-B489-225E-61EC-095B3707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831CD-F8A5-50D4-D2A5-15EF1A721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5FB53-D564-3E51-3A69-53FED583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F6E7F-87DC-B5FA-4C39-FAB983EB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8D53B-6503-EC5E-DA23-8A513C5E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4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EB86-18DA-FCAA-4BF7-C71799F2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A2252-6B95-1FCF-D78C-E80BD869B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CCDF-8DE7-7C88-66DB-56F850C9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FAF1-4576-E899-57BF-3AA0C77C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E4F2-4746-5F09-D9BF-9DEE3C1F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ED0D0-3C03-E6DD-82B1-D05DD3937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B39BC-DEDE-5FB1-5AEA-1437A78EE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0FD55-FA9A-2199-7F09-B21640E2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70EB9-9829-719B-439B-927A0C8F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15D55-D533-04F0-67A5-966C12B3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C65C2-B385-FF3A-DC04-F44D9FA1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76DA4-4B64-6330-9BE5-C3E9347FB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CC48-515F-F0E8-4E79-475720693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3BC1-8265-4DA5-A4BE-9E72047F27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DC02C-4911-6436-36FB-B796A48D7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7A3C5-EDA7-7139-E073-06A511E08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3B36B-6C1D-4514-9EA6-223644BE4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5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0FD61A-4345-13E0-5A1A-025CACBF3893}"/>
              </a:ext>
            </a:extLst>
          </p:cNvPr>
          <p:cNvSpPr txBox="1">
            <a:spLocks/>
          </p:cNvSpPr>
          <p:nvPr/>
        </p:nvSpPr>
        <p:spPr>
          <a:xfrm>
            <a:off x="833152" y="1938058"/>
            <a:ext cx="3290762" cy="2086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7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drive circuit and IGBT validation  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 tests. Time delays, Overshoots, dv/dt, di/dt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 recovery characteristics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Desaturation test, Short circuit Safe operating Area(SOA), Switching loss analysis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15kW / 22kW drive, 50kW drive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E5D735-603E-FCAB-99F3-071CBFA2E8F6}"/>
              </a:ext>
            </a:extLst>
          </p:cNvPr>
          <p:cNvSpPr txBox="1">
            <a:spLocks/>
          </p:cNvSpPr>
          <p:nvPr/>
        </p:nvSpPr>
        <p:spPr>
          <a:xfrm>
            <a:off x="833152" y="4194855"/>
            <a:ext cx="3290762" cy="20311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29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observation and analysis at different temperatures (25⁰C, 100⁰C, 125⁰C)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 shoot through, Current and voltage overshoots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SC-SOA energy loss estimation</a:t>
            </a:r>
          </a:p>
          <a:p>
            <a:pPr marL="285750" lvl="1" indent="-285750" fontAlgn="auto">
              <a:lnSpc>
                <a:spcPct val="11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5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 loss measurement for comparison against the datasheet values </a:t>
            </a:r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A8248D25-1E61-0F48-1AAA-C08A42266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09" b="13786"/>
          <a:stretch/>
        </p:blipFill>
        <p:spPr>
          <a:xfrm>
            <a:off x="4324639" y="1938059"/>
            <a:ext cx="2021248" cy="1500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328587E7-A83D-9F0E-A047-6A58E40784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79" b="13786"/>
          <a:stretch/>
        </p:blipFill>
        <p:spPr>
          <a:xfrm>
            <a:off x="7022693" y="1918557"/>
            <a:ext cx="2021248" cy="1520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F3ACF42-E382-948D-6D60-DCAE3CE877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87" b="13786"/>
          <a:stretch/>
        </p:blipFill>
        <p:spPr>
          <a:xfrm>
            <a:off x="9720747" y="1909227"/>
            <a:ext cx="2021248" cy="1529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405FA5BC-37C8-19E3-9C1B-72B0C53C9A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462"/>
          <a:stretch/>
        </p:blipFill>
        <p:spPr>
          <a:xfrm>
            <a:off x="9694155" y="4270086"/>
            <a:ext cx="2021248" cy="16587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A31647E2-8724-CA7F-F636-D9EBD0022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500" y="4480589"/>
            <a:ext cx="2430201" cy="1448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6914DC69-8056-2512-C8F9-1548EC18B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8192" y="4517904"/>
            <a:ext cx="2400855" cy="1410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8FA0FC-6494-08B1-DB76-9A27821432AC}"/>
              </a:ext>
            </a:extLst>
          </p:cNvPr>
          <p:cNvSpPr txBox="1"/>
          <p:nvPr/>
        </p:nvSpPr>
        <p:spPr>
          <a:xfrm>
            <a:off x="4235343" y="3419817"/>
            <a:ext cx="2228567" cy="60446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99568" tIns="99568" rIns="99568" bIns="0" numCol="1" spcCol="1270" rtlCol="0" anchor="t" anchorCtr="0">
            <a:noAutofit/>
          </a:bodyPr>
          <a:lstStyle>
            <a:lvl1pPr algn="ctr">
              <a:buClr>
                <a:schemeClr val="tx2"/>
              </a:buClr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 tests and Gate drive 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6A35A-8181-343D-01A5-218AA7925ED1}"/>
              </a:ext>
            </a:extLst>
          </p:cNvPr>
          <p:cNvSpPr txBox="1"/>
          <p:nvPr/>
        </p:nvSpPr>
        <p:spPr>
          <a:xfrm>
            <a:off x="7047654" y="3419817"/>
            <a:ext cx="2102171" cy="36150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99568" tIns="99568" rIns="99568" bIns="0" numCol="1" spcCol="1270" rtlCol="0" anchor="t" anchorCtr="0">
            <a:noAutofit/>
          </a:bodyPr>
          <a:lstStyle>
            <a:lvl1pPr algn="ctr">
              <a:buClr>
                <a:schemeClr val="tx2"/>
              </a:buClr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Diode reverse recovery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6B9CF-97A7-6F8D-0964-D51B721CE261}"/>
              </a:ext>
            </a:extLst>
          </p:cNvPr>
          <p:cNvSpPr txBox="1"/>
          <p:nvPr/>
        </p:nvSpPr>
        <p:spPr>
          <a:xfrm>
            <a:off x="6971538" y="5976086"/>
            <a:ext cx="2234410" cy="43290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99568" tIns="99568" rIns="99568" bIns="0" numCol="1" spcCol="1270" rtlCol="0" anchor="t" anchorCtr="0">
            <a:noAutofit/>
          </a:bodyPr>
          <a:lstStyle>
            <a:lvl1pPr algn="ctr">
              <a:buClr>
                <a:schemeClr val="tx2"/>
              </a:buClr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SC-SOA energy estimation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2EB3C-FD1A-50B8-B326-C5F4B9EE619F}"/>
              </a:ext>
            </a:extLst>
          </p:cNvPr>
          <p:cNvSpPr txBox="1"/>
          <p:nvPr/>
        </p:nvSpPr>
        <p:spPr>
          <a:xfrm>
            <a:off x="9810165" y="5976086"/>
            <a:ext cx="1921833" cy="31837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99568" tIns="99568" rIns="99568" bIns="0" numCol="1" spcCol="1270" rtlCol="0" anchor="t" anchorCtr="0">
            <a:noAutofit/>
          </a:bodyPr>
          <a:lstStyle>
            <a:lvl1pPr algn="ctr">
              <a:buClr>
                <a:schemeClr val="tx2"/>
              </a:buClr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SC-SOA test -IGBT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4014B-DE21-8E27-F3D4-E8FB0FC59C95}"/>
              </a:ext>
            </a:extLst>
          </p:cNvPr>
          <p:cNvSpPr txBox="1"/>
          <p:nvPr/>
        </p:nvSpPr>
        <p:spPr>
          <a:xfrm>
            <a:off x="4137240" y="5962934"/>
            <a:ext cx="2523065" cy="3315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99568" tIns="99568" rIns="99568" bIns="0" numCol="1" spcCol="1270" rtlCol="0" anchor="t" anchorCtr="0">
            <a:noAutofit/>
          </a:bodyPr>
          <a:lstStyle>
            <a:lvl1pPr algn="ctr">
              <a:buClr>
                <a:schemeClr val="tx2"/>
              </a:buClr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 losses analysis</a:t>
            </a:r>
          </a:p>
        </p:txBody>
      </p:sp>
      <p:sp>
        <p:nvSpPr>
          <p:cNvPr id="17" name="Action Button: Go Home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C37D2BB-0CA8-2BD8-C068-3418BE694AE4}"/>
              </a:ext>
            </a:extLst>
          </p:cNvPr>
          <p:cNvSpPr/>
          <p:nvPr/>
        </p:nvSpPr>
        <p:spPr>
          <a:xfrm>
            <a:off x="11027391" y="355833"/>
            <a:ext cx="346904" cy="313898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59F08E3-7630-D7D9-67E9-6C3EE2B14F1C}"/>
              </a:ext>
            </a:extLst>
          </p:cNvPr>
          <p:cNvSpPr txBox="1">
            <a:spLocks/>
          </p:cNvSpPr>
          <p:nvPr/>
        </p:nvSpPr>
        <p:spPr>
          <a:xfrm>
            <a:off x="817705" y="512782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719AA-7C4C-1DEF-AE6E-369DED1E62C2}"/>
              </a:ext>
            </a:extLst>
          </p:cNvPr>
          <p:cNvSpPr txBox="1"/>
          <p:nvPr/>
        </p:nvSpPr>
        <p:spPr>
          <a:xfrm>
            <a:off x="1444752" y="692244"/>
            <a:ext cx="9784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IGBT Validation (Double-Pulse test) for Motor drives</a:t>
            </a:r>
          </a:p>
        </p:txBody>
      </p:sp>
    </p:spTree>
    <p:extLst>
      <p:ext uri="{BB962C8B-B14F-4D97-AF65-F5344CB8AC3E}">
        <p14:creationId xmlns:p14="http://schemas.microsoft.com/office/powerpoint/2010/main" val="3389258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2025-10-14T10:51:56Z</dcterms:created>
  <dcterms:modified xsi:type="dcterms:W3CDTF">2025-10-14T10:55:12Z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2025-10-14T10:55:12Z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1e667654-5cca-48af-834c-ea26ded8b9f8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