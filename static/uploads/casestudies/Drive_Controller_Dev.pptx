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81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62BD5-1ECA-4297-87C2-93F654E521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2ADD7-11B2-433F-B786-F638B1C16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69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100" dirty="0">
              <a:ea typeface="ＭＳ Ｐゴシック" pitchFamily="34" charset="-128"/>
              <a:cs typeface="ＭＳ Ｐゴシック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CD5FEF-0A25-4DB8-8468-EA90AD8EF7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2620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D09C-20C2-941D-B0E2-4AB6570CC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FD6A9-B1AC-9346-6160-D7E29A1E3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E9BFC-E1AD-9CCE-F57E-B38B186C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AC8B-63C6-4C44-A5D4-C80F24CE09C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2D7C2-06FE-C723-0A1B-A05167371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84D35-CC99-FCCD-CA3F-B6C499DFA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0F13-9CF6-4E26-A6FE-168E6F53F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87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2EB18-071F-BE78-5F3D-37BD519D5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04487-B401-D493-C0A5-0684D9323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1EB97-B7E0-2178-692E-7A3EC355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AC8B-63C6-4C44-A5D4-C80F24CE09C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73996-D548-CA62-7474-D37536F9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A6E3E-ECF7-5ACA-C24B-B5932BF4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0F13-9CF6-4E26-A6FE-168E6F53F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84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875CE-AC97-A261-FCE4-A285BAD80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512F1-E1B5-79A2-A00E-C2853220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00F52-4047-C12A-F777-0C412169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AC8B-63C6-4C44-A5D4-C80F24CE09C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BD5FE-C6CE-BB57-8670-4C1C11BA0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04D7-825B-C1E4-D170-FAFA12E7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0F13-9CF6-4E26-A6FE-168E6F53F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77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92A3-D82B-80BE-BE40-CB42E9DF2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02B36-52F2-813C-566B-0A7D57C6D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9688F-3C7F-2FB1-85F7-47D558A08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5551B-7AB4-FEB9-6530-5FE20308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AC8B-63C6-4C44-A5D4-C80F24CE09C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D6354-5E9C-E2C1-7948-B4404A156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C4D16-6BC1-45B1-B6C4-6A534703B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0F13-9CF6-4E26-A6FE-168E6F53F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07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28330-6681-C80A-3592-219866CEF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611CD-B227-47A3-A3E8-DC61AD4C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B9221-7013-F8F3-9ABB-018C4D91B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E849C7-A051-4692-82A2-90CE79126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CEFBD-51C2-FEEC-BF3F-FE9855357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B92961-883B-B415-4077-C9D5022C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AC8B-63C6-4C44-A5D4-C80F24CE09C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3A3B09-F850-EE07-82CB-EE17831B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0041C-DD78-A6E6-7655-4C9D7643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0F13-9CF6-4E26-A6FE-168E6F53F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7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C75F7-B2AF-DFD7-C8C4-5DB59CDD5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98F76-BE94-C20B-29DA-58E4548C0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AC8B-63C6-4C44-A5D4-C80F24CE09C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CB538-5301-6B7E-B399-2D0F21E13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90655C-4E95-ECFF-B36A-36BE169C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0F13-9CF6-4E26-A6FE-168E6F53F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69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C68DE8-93BD-0F77-FBEA-0C43308F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AC8B-63C6-4C44-A5D4-C80F24CE09C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1C86B3-1374-196B-751F-3BDF0C471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803B6-C639-0481-B8AB-73033461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0F13-9CF6-4E26-A6FE-168E6F53F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675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83B2-E1B8-9811-19F3-0507BEA29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57D30-3520-4844-6146-497DA5EA6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FAFBD-7C3A-2CA8-886B-6FBF03219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94921-B268-E3A6-753E-B98BDDA1C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AC8B-63C6-4C44-A5D4-C80F24CE09C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251EC-CD67-81C9-33B4-8DA7676E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5D95D-E02E-0DEF-57A1-65906DCD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0F13-9CF6-4E26-A6FE-168E6F53F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1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FE5CA-90CA-FE68-BDF2-603CDFC4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99050A-7816-DCA0-51C2-1490BD16AE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E8677-44F5-3D2B-6ADD-9639BC5BB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B881B-4989-5A56-FCCE-A0DC41E8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AC8B-63C6-4C44-A5D4-C80F24CE09C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5E0DD-38AA-043A-574B-C9DC6275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A53E1-85D1-E4D1-5206-2CC3A126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0F13-9CF6-4E26-A6FE-168E6F53F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3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F8E47-1A87-7476-67DE-3FD27FD0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A85AB-32FD-C996-E728-ACA352197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3E84B-ADF7-21FE-44A1-A16225A3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AC8B-63C6-4C44-A5D4-C80F24CE09C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2AAF2-E421-7F84-D48F-22FB2C396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29594-F6DF-B2D1-4799-5843F88C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0F13-9CF6-4E26-A6FE-168E6F53F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83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6D3B3-121E-A3D4-D125-193207218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BAE6C-4608-5387-A84F-5FB2DAA282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FB842-84B2-1986-27BD-8410BD15D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AC8B-63C6-4C44-A5D4-C80F24CE09C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C6E5E-8EBA-339F-0EB9-995BFBB4C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1F046-0CFE-DAA9-207F-B5D950C2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0F13-9CF6-4E26-A6FE-168E6F53F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82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41354" y="719165"/>
            <a:ext cx="10966449" cy="54002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>
              <a:defRPr lang="en-US" sz="3899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 algn="l" defTabSz="1085308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41349" y="1971697"/>
            <a:ext cx="10966451" cy="1546577"/>
          </a:xfrm>
        </p:spPr>
        <p:txBody>
          <a:bodyPr wrap="square">
            <a:spAutoFit/>
          </a:bodyPr>
          <a:lstStyle>
            <a:lvl1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20000"/>
              <a:defRPr lang="en-US" sz="21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1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1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1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1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703320" indent="-339161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Wingdings" pitchFamily="2" charset="2"/>
              <a:buChar char="§"/>
              <a:defRPr lang="en-US" sz="21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034942" indent="-324083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Arial" pitchFamily="34" charset="0"/>
              <a:buChar char="–"/>
              <a:defRPr sz="21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7pPr>
            <a:lvl8pPr marL="1899279" indent="-271325">
              <a:spcBef>
                <a:spcPts val="0"/>
              </a:spcBef>
              <a:spcAft>
                <a:spcPts val="0"/>
              </a:spcAft>
              <a:buSzPct val="70000"/>
              <a:defRPr sz="2100" baseline="0">
                <a:latin typeface="Arial" pitchFamily="34" charset="0"/>
                <a:cs typeface="Arial" pitchFamily="34" charset="0"/>
              </a:defRPr>
            </a:lvl8pPr>
            <a:lvl9pPr marL="2164959" indent="-265673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2100">
                <a:latin typeface="Arial" pitchFamily="34" charset="0"/>
                <a:cs typeface="Arial" pitchFamily="34" charset="0"/>
              </a:defRPr>
            </a:lvl9pPr>
          </a:lstStyle>
          <a:p>
            <a:pPr marL="344815" lvl="0" indent="-344815" algn="l" defTabSz="1085308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120000"/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78315" lvl="2" indent="-331622" algn="l" defTabSz="1085308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buFont typeface="Arial" pitchFamily="34" charset="0"/>
              <a:buChar char="–"/>
            </a:pPr>
            <a:r>
              <a:rPr lang="en-US" dirty="0"/>
              <a:t>Second level</a:t>
            </a:r>
          </a:p>
          <a:p>
            <a:pPr marL="1009933" lvl="3" indent="-331622" algn="l" defTabSz="1085308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</a:pPr>
            <a:r>
              <a:rPr lang="en-US" dirty="0"/>
              <a:t>Third level</a:t>
            </a:r>
          </a:p>
          <a:p>
            <a:pPr marL="1349097" lvl="4" indent="-339161" algn="l" defTabSz="1107918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703320" lvl="5" indent="-339161" algn="l" defTabSz="1085308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60000"/>
              <a:buFont typeface="Wingdings" pitchFamily="2" charset="2"/>
              <a:buChar char="§"/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5852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2FCA2-73E6-62B3-389B-F6CEC26FE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17BC1-CBDF-7DB3-87CC-140447DEC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B21D6-007D-56A9-0709-E610090DC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FAC8B-63C6-4C44-A5D4-C80F24CE09C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4A824-BA04-E80C-5101-D74A08930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04232-F04E-15BF-097B-516049E3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B0F13-9CF6-4E26-A6FE-168E6F53F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35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2047" y="768164"/>
            <a:ext cx="11833799" cy="586533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9716" tIns="54859" rIns="109716" bIns="54859" rtlCol="0" anchor="ctr"/>
          <a:lstStyle/>
          <a:p>
            <a:pPr algn="ctr" defTabSz="1097129"/>
            <a:endParaRPr lang="en-IN" sz="216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401785" y="818483"/>
            <a:ext cx="5791199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44" lvl="1" indent="-285744" defTabSz="914377">
              <a:spcBef>
                <a:spcPct val="20000"/>
              </a:spcBef>
              <a:buClr>
                <a:srgbClr val="6D6E71"/>
              </a:buClr>
              <a:buSzPct val="120000"/>
              <a:buFont typeface="Wingdings" pitchFamily="2" charset="2"/>
              <a:buChar char="§"/>
            </a:pPr>
            <a:r>
              <a:rPr lang="en-US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Business Problem</a:t>
            </a:r>
          </a:p>
          <a:p>
            <a:pPr marL="571486" lvl="2" indent="-279393" defTabSz="914377" eaLnBrk="0" hangingPunct="0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Performance Improvement in Controller for Induced Draft Fan applications in Thermal Power Plants</a:t>
            </a:r>
          </a:p>
          <a:p>
            <a:pPr marL="285744" lvl="1" indent="-285744" defTabSz="914377" eaLnBrk="0" hangingPunct="0">
              <a:spcBef>
                <a:spcPct val="20000"/>
              </a:spcBef>
              <a:buClr>
                <a:srgbClr val="6D6E71"/>
              </a:buClr>
              <a:buSzPct val="120000"/>
              <a:buFont typeface="Wingdings" pitchFamily="2" charset="2"/>
              <a:buChar char="§"/>
            </a:pPr>
            <a:r>
              <a:rPr lang="en-US" altLang="zh-CN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Solution</a:t>
            </a:r>
          </a:p>
          <a:p>
            <a:pPr marL="571486" lvl="2" indent="-279393" defTabSz="914377" eaLnBrk="0" hangingPunct="0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Design &amp; Development of a DSP based controller for1.8 MW IGBT Induction Motor Drive including enclosure and membrane keypad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Modeling and Simulation of 12 pulse, 3 level control algorithm using MATLAB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PC based SW tool for drive configuration and monitoring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CAN bus, </a:t>
            </a:r>
            <a:r>
              <a:rPr lang="en-US" altLang="zh-CN" sz="1200" dirty="0" err="1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Modbus</a:t>
            </a: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, </a:t>
            </a:r>
            <a:r>
              <a:rPr lang="en-US" altLang="zh-CN" sz="1200" dirty="0" err="1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Profibus</a:t>
            </a: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 and USB communication interface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EMI/EMC and Environmental tests as per IEC STDs and Dust Test as per IS9000 part XII – 1981 </a:t>
            </a:r>
          </a:p>
          <a:p>
            <a:pPr marL="285744" lvl="1" indent="-285744" defTabSz="914377">
              <a:spcBef>
                <a:spcPct val="20000"/>
              </a:spcBef>
              <a:buClr>
                <a:srgbClr val="6D6E71"/>
              </a:buClr>
              <a:buSzPct val="120000"/>
              <a:buFont typeface="Wingdings" pitchFamily="2" charset="2"/>
              <a:buChar char="§"/>
            </a:pPr>
            <a:r>
              <a:rPr lang="en-US" altLang="zh-CN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Approach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  <a:defRPr/>
            </a:pPr>
            <a:r>
              <a:rPr lang="en-IN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Complete </a:t>
            </a:r>
            <a:r>
              <a:rPr lang="en-IN" altLang="zh-CN" sz="1200" i="1" dirty="0">
                <a:solidFill>
                  <a:srgbClr val="C00000"/>
                </a:solidFill>
                <a:latin typeface="Century Gothic" panose="020B0502020202020204" pitchFamily="34" charset="0"/>
                <a:cs typeface="宋体" pitchFamily="2" charset="-122"/>
              </a:rPr>
              <a:t>System Design &amp; Development including H/W, S/W, Modelling and Simulation</a:t>
            </a:r>
            <a:r>
              <a:rPr lang="en-IN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 and Standard Compliance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  <a:defRPr/>
            </a:pPr>
            <a:r>
              <a:rPr lang="en-IN" altLang="zh-CN" sz="1200" i="1" dirty="0">
                <a:solidFill>
                  <a:srgbClr val="C00000"/>
                </a:solidFill>
                <a:latin typeface="Century Gothic" panose="020B0502020202020204" pitchFamily="34" charset="0"/>
                <a:cs typeface="宋体" pitchFamily="2" charset="-122"/>
              </a:rPr>
              <a:t>Requirement engineering </a:t>
            </a:r>
            <a:r>
              <a:rPr lang="en-IN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from high level product features to H/W, S/W, Integration and Compliance requirement distribution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  <a:defRPr/>
            </a:pPr>
            <a:r>
              <a:rPr lang="en-IN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Concept validation and performance study on MATLAB  &amp; </a:t>
            </a:r>
            <a:r>
              <a:rPr lang="en-IN" altLang="zh-CN" sz="1200" dirty="0" err="1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Simulink</a:t>
            </a:r>
            <a:r>
              <a:rPr lang="en-IN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 Models</a:t>
            </a:r>
          </a:p>
          <a:p>
            <a:pPr marL="285744" lvl="1" indent="-285744" defTabSz="914377">
              <a:spcBef>
                <a:spcPct val="20000"/>
              </a:spcBef>
              <a:buClr>
                <a:srgbClr val="6D6E71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Tools &amp; Utilities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PSPICE and Cadence Allegro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Code Composer Studio, XDS510PP J-TAG Emulator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F2812 starter kit and ATMEL ARM9 Development environment, DMC1500 Motor controller Board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MATLAB and </a:t>
            </a:r>
            <a:r>
              <a:rPr lang="en-US" altLang="zh-CN" sz="1200" dirty="0" err="1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Simulink</a:t>
            </a:r>
            <a:endParaRPr lang="en-US" altLang="zh-CN" sz="1200" dirty="0">
              <a:solidFill>
                <a:prstClr val="black"/>
              </a:solidFill>
              <a:latin typeface="Century Gothic" panose="020B0502020202020204" pitchFamily="34" charset="0"/>
              <a:cs typeface="宋体" pitchFamily="2" charset="-122"/>
            </a:endParaRP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10000"/>
              <a:buFont typeface="Arial" charset="0"/>
              <a:buChar char="–"/>
            </a:pPr>
            <a:endParaRPr lang="en-US" altLang="zh-CN" sz="1200" dirty="0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10000"/>
              <a:buFont typeface="Arial" charset="0"/>
              <a:buChar char="–"/>
            </a:pPr>
            <a:endParaRPr lang="en-US" altLang="zh-CN" sz="1200" dirty="0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10000"/>
              <a:buFont typeface="Arial" charset="0"/>
              <a:buChar char="–"/>
            </a:pPr>
            <a:endParaRPr lang="en-US" altLang="zh-CN" sz="1200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6192981" y="818483"/>
            <a:ext cx="5619267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44" lvl="1" indent="-285744" defTabSz="914377">
              <a:spcBef>
                <a:spcPct val="20000"/>
              </a:spcBef>
              <a:buClr>
                <a:srgbClr val="6D6E71"/>
              </a:buClr>
              <a:buSzPct val="120000"/>
              <a:buFont typeface="Wingdings" pitchFamily="2" charset="2"/>
              <a:buChar char="§"/>
            </a:pPr>
            <a:r>
              <a:rPr lang="en-US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Business &amp; Solution Highlights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Unique concept for 12 pulse 3 level Space Vector PWM generation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Sensor less vector and V/F algorithms for Induction Motor speed control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Dynamic Braking feature with Chopper control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Concept to Prototype solutions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Performance improvement by 30%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00000"/>
              <a:buFont typeface="Arial" pitchFamily="34" charset="0"/>
              <a:buChar char="–"/>
            </a:pPr>
            <a:r>
              <a:rPr lang="en-US" altLang="zh-CN" sz="1200" dirty="0">
                <a:solidFill>
                  <a:prstClr val="black"/>
                </a:solidFill>
                <a:latin typeface="Century Gothic" panose="020B0502020202020204" pitchFamily="34" charset="0"/>
                <a:cs typeface="宋体" pitchFamily="2" charset="-122"/>
              </a:rPr>
              <a:t>Development Cycle reduced by 20%</a:t>
            </a: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10000"/>
              <a:buFont typeface="Arial" pitchFamily="34" charset="0"/>
              <a:buChar char="•"/>
            </a:pPr>
            <a:endParaRPr lang="en-US" altLang="zh-CN" sz="1200" dirty="0">
              <a:solidFill>
                <a:prstClr val="black"/>
              </a:solidFill>
              <a:latin typeface="Century Gothic" panose="020B0502020202020204" pitchFamily="34" charset="0"/>
              <a:cs typeface="宋体" pitchFamily="2" charset="-122"/>
            </a:endParaRP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10000"/>
              <a:buFont typeface="Arial" pitchFamily="34" charset="0"/>
              <a:buChar char="•"/>
            </a:pPr>
            <a:endParaRPr lang="en-US" altLang="zh-CN" sz="1200" dirty="0">
              <a:solidFill>
                <a:prstClr val="black"/>
              </a:solidFill>
              <a:latin typeface="Century Gothic" panose="020B0502020202020204" pitchFamily="34" charset="0"/>
              <a:cs typeface="宋体" pitchFamily="2" charset="-122"/>
            </a:endParaRP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10000"/>
              <a:buFont typeface="Arial" pitchFamily="34" charset="0"/>
              <a:buChar char="•"/>
            </a:pPr>
            <a:endParaRPr lang="en-US" altLang="zh-CN" sz="1200" dirty="0">
              <a:solidFill>
                <a:prstClr val="black"/>
              </a:solidFill>
              <a:latin typeface="Century Gothic" panose="020B0502020202020204" pitchFamily="34" charset="0"/>
              <a:cs typeface="宋体" pitchFamily="2" charset="-122"/>
            </a:endParaRPr>
          </a:p>
          <a:p>
            <a:pPr marL="571486" lvl="2" indent="-279393" defTabSz="914377">
              <a:spcBef>
                <a:spcPct val="20000"/>
              </a:spcBef>
              <a:buClr>
                <a:srgbClr val="6D6E71"/>
              </a:buClr>
              <a:buSzPct val="110000"/>
              <a:buFont typeface="Arial" pitchFamily="34" charset="0"/>
              <a:buChar char="•"/>
            </a:pPr>
            <a:endParaRPr lang="en-US" altLang="zh-CN" sz="1200" dirty="0">
              <a:solidFill>
                <a:prstClr val="black"/>
              </a:solidFill>
              <a:latin typeface="Century Gothic" panose="020B0502020202020204" pitchFamily="34" charset="0"/>
              <a:cs typeface="宋体" pitchFamily="2" charset="-122"/>
            </a:endParaRPr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6601549" y="2952083"/>
          <a:ext cx="3346923" cy="3491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890720" imgH="7614720" progId="">
                  <p:embed/>
                </p:oleObj>
              </mc:Choice>
              <mc:Fallback>
                <p:oleObj name="VISIO" r:id="rId3" imgW="10890720" imgH="7614720" progId="">
                  <p:embed/>
                  <p:pic>
                    <p:nvPicPr>
                      <p:cNvPr id="1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1549" y="2952083"/>
                        <a:ext cx="3346923" cy="34917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4"/>
          <p:cNvSpPr>
            <a:spLocks noGrp="1" noChangeArrowheads="1"/>
          </p:cNvSpPr>
          <p:nvPr>
            <p:ph type="title"/>
          </p:nvPr>
        </p:nvSpPr>
        <p:spPr>
          <a:xfrm>
            <a:off x="1952897" y="188267"/>
            <a:ext cx="9216409" cy="33239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Century Gothic" panose="020B0502020202020204" pitchFamily="34" charset="0"/>
              </a:rPr>
              <a:t>Case Study - Drive Controller Dev. for 1.8MW Induction Motor</a:t>
            </a:r>
          </a:p>
        </p:txBody>
      </p:sp>
    </p:spTree>
    <p:extLst>
      <p:ext uri="{BB962C8B-B14F-4D97-AF65-F5344CB8AC3E}">
        <p14:creationId xmlns:p14="http://schemas.microsoft.com/office/powerpoint/2010/main" val="85633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ＭＳ Ｐゴシック</vt:lpstr>
      <vt:lpstr>Aptos</vt:lpstr>
      <vt:lpstr>Aptos Display</vt:lpstr>
      <vt:lpstr>Arial</vt:lpstr>
      <vt:lpstr>Calibri</vt:lpstr>
      <vt:lpstr>Century Gothic</vt:lpstr>
      <vt:lpstr>Wingdings</vt:lpstr>
      <vt:lpstr>Office Theme</vt:lpstr>
      <vt:lpstr>VISIO</vt:lpstr>
      <vt:lpstr>Case Study - Drive Controller Dev. for 1.8MW Induction Motor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2025-10-27T11:49:20Z</dcterms:created>
  <dcterms:modified xsi:type="dcterms:W3CDTF">2025-10-27T11:50:20Z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2025-10-27T11:50:19Z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3b038aca-47a4-4ee0-92f8-d8f4e5842cbd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