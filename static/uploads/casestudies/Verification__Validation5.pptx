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1878A4-8CCE-44D5-93ED-B766D4590CF2}" type="doc">
      <dgm:prSet loTypeId="urn:microsoft.com/office/officeart/2005/8/layout/arrow1" loCatId="relationship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0AC2D37-9F6D-4D63-B8E4-7759BC9E79BE}" type="pres">
      <dgm:prSet presAssocID="{331878A4-8CCE-44D5-93ED-B766D4590CF2}" presName="cycle" presStyleCnt="0">
        <dgm:presLayoutVars>
          <dgm:dir/>
          <dgm:resizeHandles val="exact"/>
        </dgm:presLayoutVars>
      </dgm:prSet>
      <dgm:spPr/>
    </dgm:pt>
  </dgm:ptLst>
  <dgm:cxnLst>
    <dgm:cxn modelId="{84E568C7-B22C-4D3B-86D3-8628F3602224}" type="presOf" srcId="{331878A4-8CCE-44D5-93ED-B766D4590CF2}" destId="{10AC2D37-9F6D-4D63-B8E4-7759BC9E79BE}" srcOrd="0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636F-EAA4-9F56-00A4-50CEDD9F6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785CDB-FAE8-2211-1DE9-526D914FE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79040-9ADC-299B-84CE-1C369E01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0DD4A-D421-4B3E-8A9A-40B2C9DA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23341-5F8E-12B7-1F7B-F3BEE7A03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F7016-684D-1BC9-0BD5-1057DF487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19BE2-BFB3-4B11-BE57-293FEE80A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7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DD386-157D-3D65-3CDE-A38811C05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9507-9EA5-FC35-07C7-48AF65C95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21037-FB1C-93F3-DB93-18058E339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0DD4A-D421-4B3E-8A9A-40B2C9DA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2C8E3-717D-0782-A476-D03222AB7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40482-C770-4206-7BB3-1D1321DB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19BE2-BFB3-4B11-BE57-293FEE80A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6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B2B6-6B12-D38E-06C6-EA548C724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23C89-9477-A6DA-E938-0F4E58F8A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507D4-3BDB-E8FE-D6F3-27D5889CC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0DD4A-D421-4B3E-8A9A-40B2C9DA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9CE83-36D7-4530-D0C3-5165A4B1A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D5435-7D15-EF23-000D-74733BB3B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19BE2-BFB3-4B11-BE57-293FEE80A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87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EF059-0BCE-7E53-049E-0BBAFB87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55510-399B-637A-C55A-5C18A19D9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63E15-7742-8C5A-0658-0BA8795FC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91AD5-1FA5-F8FF-FEC3-04C1DFA23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0DD4A-D421-4B3E-8A9A-40B2C9DA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2A52E-A8BA-5B45-43CB-4C254FCB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2AA0F-1C10-19A6-783A-EC92D05C6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19BE2-BFB3-4B11-BE57-293FEE80A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27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3E18-E0AA-E500-1321-2131A3D83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ECB2C-65BC-26AB-75AF-2CAF4BCD2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8B7EF-8DD5-D159-B3EA-17EDFC786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45DAA4-EA43-8DCF-2BE2-574624EBB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1DAB06-2A19-2276-D491-06D924008A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380206-453E-0E8E-FE8E-A0C99D479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0DD4A-D421-4B3E-8A9A-40B2C9DA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75A8CD-A777-BA3B-D589-3F398373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6784E8-0E42-7F8E-0FA9-9ED2BAE12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19BE2-BFB3-4B11-BE57-293FEE80A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8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186A9-E52E-653B-CB48-6346CD3C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01F812-B967-A636-F315-65506FEC7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0DD4A-D421-4B3E-8A9A-40B2C9DA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8FEF4-4115-5AB7-D69D-FFDB6885B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286A5-5DF5-88CB-699B-329B8AD4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19BE2-BFB3-4B11-BE57-293FEE80A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14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5894D7-FF24-712A-F35C-6FE2BF5E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0DD4A-D421-4B3E-8A9A-40B2C9DA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7FD721-3B07-04DA-572A-859C4B4F9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07149-AEE0-40EE-36A4-EF4B189C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19BE2-BFB3-4B11-BE57-293FEE80A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02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4FB2-2603-143A-9C52-DE6EC7136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FBA1-7EFA-C500-C4A8-0E6FEA2C7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89485-42E9-8B85-1A8B-70DF066ED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374B7-FB34-63E2-550A-0D574A7F2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0DD4A-D421-4B3E-8A9A-40B2C9DA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60950-48CC-9066-3DFA-073F9EA8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BA475-5022-5774-D3E6-C1F7674A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19BE2-BFB3-4B11-BE57-293FEE80A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96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2056F-8428-E499-8836-83D0118E8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0A0351-0131-6F7E-72CD-FBEA4DC2D8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B3C04-27A2-6ACC-5210-DB6414E57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750E8-94D6-84EE-7AAC-6D66320C1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0DD4A-D421-4B3E-8A9A-40B2C9DA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EAC09-4D59-98C1-E671-AEDCEC69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D84D-5848-39F0-6D9F-A1389B81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19BE2-BFB3-4B11-BE57-293FEE80A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14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C398B-126B-10D5-DDAF-0CB00B1F1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44781-A995-0F08-CC57-E20277D47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27AD0-8915-02FB-37FF-856BAA47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0DD4A-D421-4B3E-8A9A-40B2C9DA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F37A5-805E-80CD-8FD3-DFA83D698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B00F6-676E-941E-D8B1-84B587CE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19BE2-BFB3-4B11-BE57-293FEE80A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1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EEC84-4317-B92E-D84D-7E4406A62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66793-1CD4-3A8B-D213-DEF6A1676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4DC90-702C-1BA4-A5E9-86F977293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0DD4A-D421-4B3E-8A9A-40B2C9DA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9465B-1C07-0B4F-C246-57B105ED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28B0F-9A00-7D6F-5CCD-F5B07A94B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19BE2-BFB3-4B11-BE57-293FEE80A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05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F5715D-D644-A405-2EA4-0A882DD3F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61E8F-18CF-CE0B-9BC6-BA0087925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8E3DD-8696-BDAD-9AF9-A4691A796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B0DD4A-D421-4B3E-8A9A-40B2C9DA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9DF3-27AE-F8A7-BDE5-CEBD20C5DA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89D95-0AFB-6C3E-68F5-17CD72A2D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A19BE2-BFB3-4B11-BE57-293FEE80A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4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4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3.png"/><Relationship Id="rId9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6D4DD8-C26F-9C78-F34D-86C288C051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444481" y="1952999"/>
            <a:ext cx="2018699" cy="1391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A6F75DE2-6C6C-9023-F84E-28DD047D9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164" y="1950802"/>
            <a:ext cx="2123857" cy="1391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1CC03D-62FC-31EB-DE3C-BE16488DA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006" y="1952999"/>
            <a:ext cx="1808453" cy="1391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88DFE3-DF6C-1D4E-3DF6-BE3095AE548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755"/>
          <a:stretch/>
        </p:blipFill>
        <p:spPr>
          <a:xfrm>
            <a:off x="10023005" y="4411307"/>
            <a:ext cx="1877851" cy="1391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0577BB-EBE9-B3BE-9D00-285007D5C10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4682" r="9018"/>
          <a:stretch/>
        </p:blipFill>
        <p:spPr>
          <a:xfrm>
            <a:off x="7181164" y="4411307"/>
            <a:ext cx="2123857" cy="1391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A picture containing text, indoor, table, worktable&#10;&#10;Description automatically generated">
            <a:extLst>
              <a:ext uri="{FF2B5EF4-FFF2-40B4-BE49-F238E27FC236}">
                <a16:creationId xmlns:a16="http://schemas.microsoft.com/office/drawing/2014/main" id="{135AA88E-7E24-8349-C525-2AB0A7373CA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6093" r="25292"/>
          <a:stretch/>
        </p:blipFill>
        <p:spPr>
          <a:xfrm>
            <a:off x="4444481" y="4411307"/>
            <a:ext cx="2018699" cy="1391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00A31E-408B-2BB8-BBB1-4A02E634EA3A}"/>
              </a:ext>
            </a:extLst>
          </p:cNvPr>
          <p:cNvSpPr txBox="1"/>
          <p:nvPr/>
        </p:nvSpPr>
        <p:spPr>
          <a:xfrm>
            <a:off x="4444481" y="3380659"/>
            <a:ext cx="2018699" cy="30969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Circuit design &amp; Simulation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AD2702A4-D38A-F330-6BE5-B9B325531A64}"/>
              </a:ext>
            </a:extLst>
          </p:cNvPr>
          <p:cNvGraphicFramePr/>
          <p:nvPr/>
        </p:nvGraphicFramePr>
        <p:xfrm>
          <a:off x="9189148" y="2416604"/>
          <a:ext cx="629006" cy="459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D9ECEB8-A1B3-F45D-0AC5-18219A7099D2}"/>
              </a:ext>
            </a:extLst>
          </p:cNvPr>
          <p:cNvSpPr/>
          <p:nvPr/>
        </p:nvSpPr>
        <p:spPr>
          <a:xfrm rot="5400000" flipH="1">
            <a:off x="6676111" y="2475731"/>
            <a:ext cx="292121" cy="341684"/>
          </a:xfrm>
          <a:custGeom>
            <a:avLst/>
            <a:gdLst>
              <a:gd name="connsiteX0" fmla="*/ 0 w 387377"/>
              <a:gd name="connsiteY0" fmla="*/ 135582 h 453102"/>
              <a:gd name="connsiteX1" fmla="*/ 193689 w 387377"/>
              <a:gd name="connsiteY1" fmla="*/ 0 h 453102"/>
              <a:gd name="connsiteX2" fmla="*/ 387377 w 387377"/>
              <a:gd name="connsiteY2" fmla="*/ 135582 h 453102"/>
              <a:gd name="connsiteX3" fmla="*/ 290533 w 387377"/>
              <a:gd name="connsiteY3" fmla="*/ 135582 h 453102"/>
              <a:gd name="connsiteX4" fmla="*/ 290533 w 387377"/>
              <a:gd name="connsiteY4" fmla="*/ 453102 h 453102"/>
              <a:gd name="connsiteX5" fmla="*/ 96844 w 387377"/>
              <a:gd name="connsiteY5" fmla="*/ 453102 h 453102"/>
              <a:gd name="connsiteX6" fmla="*/ 96844 w 387377"/>
              <a:gd name="connsiteY6" fmla="*/ 135582 h 453102"/>
              <a:gd name="connsiteX7" fmla="*/ 0 w 387377"/>
              <a:gd name="connsiteY7" fmla="*/ 135582 h 45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7377" h="453102">
                <a:moveTo>
                  <a:pt x="0" y="135582"/>
                </a:moveTo>
                <a:lnTo>
                  <a:pt x="193689" y="0"/>
                </a:lnTo>
                <a:lnTo>
                  <a:pt x="387377" y="135582"/>
                </a:lnTo>
                <a:lnTo>
                  <a:pt x="290533" y="135582"/>
                </a:lnTo>
                <a:lnTo>
                  <a:pt x="290533" y="453102"/>
                </a:lnTo>
                <a:lnTo>
                  <a:pt x="96844" y="453102"/>
                </a:lnTo>
                <a:lnTo>
                  <a:pt x="96844" y="135582"/>
                </a:lnTo>
                <a:lnTo>
                  <a:pt x="0" y="135582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5076" tIns="146022" rIns="175075" bIns="7823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10E84BA-7370-95A8-2CCB-FD568C4149C2}"/>
              </a:ext>
            </a:extLst>
          </p:cNvPr>
          <p:cNvSpPr/>
          <p:nvPr/>
        </p:nvSpPr>
        <p:spPr>
          <a:xfrm rot="5400000" flipH="1">
            <a:off x="9522002" y="2475731"/>
            <a:ext cx="292121" cy="341684"/>
          </a:xfrm>
          <a:custGeom>
            <a:avLst/>
            <a:gdLst>
              <a:gd name="connsiteX0" fmla="*/ 0 w 387377"/>
              <a:gd name="connsiteY0" fmla="*/ 135582 h 453102"/>
              <a:gd name="connsiteX1" fmla="*/ 193689 w 387377"/>
              <a:gd name="connsiteY1" fmla="*/ 0 h 453102"/>
              <a:gd name="connsiteX2" fmla="*/ 387377 w 387377"/>
              <a:gd name="connsiteY2" fmla="*/ 135582 h 453102"/>
              <a:gd name="connsiteX3" fmla="*/ 290533 w 387377"/>
              <a:gd name="connsiteY3" fmla="*/ 135582 h 453102"/>
              <a:gd name="connsiteX4" fmla="*/ 290533 w 387377"/>
              <a:gd name="connsiteY4" fmla="*/ 453102 h 453102"/>
              <a:gd name="connsiteX5" fmla="*/ 96844 w 387377"/>
              <a:gd name="connsiteY5" fmla="*/ 453102 h 453102"/>
              <a:gd name="connsiteX6" fmla="*/ 96844 w 387377"/>
              <a:gd name="connsiteY6" fmla="*/ 135582 h 453102"/>
              <a:gd name="connsiteX7" fmla="*/ 0 w 387377"/>
              <a:gd name="connsiteY7" fmla="*/ 135582 h 45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7377" h="453102">
                <a:moveTo>
                  <a:pt x="0" y="135582"/>
                </a:moveTo>
                <a:lnTo>
                  <a:pt x="193689" y="0"/>
                </a:lnTo>
                <a:lnTo>
                  <a:pt x="387377" y="135582"/>
                </a:lnTo>
                <a:lnTo>
                  <a:pt x="290533" y="135582"/>
                </a:lnTo>
                <a:lnTo>
                  <a:pt x="290533" y="453102"/>
                </a:lnTo>
                <a:lnTo>
                  <a:pt x="96844" y="453102"/>
                </a:lnTo>
                <a:lnTo>
                  <a:pt x="96844" y="135582"/>
                </a:lnTo>
                <a:lnTo>
                  <a:pt x="0" y="135582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5076" tIns="146022" rIns="175075" bIns="7823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DCF76DB-F578-9795-E528-9DE723366583}"/>
              </a:ext>
            </a:extLst>
          </p:cNvPr>
          <p:cNvSpPr/>
          <p:nvPr/>
        </p:nvSpPr>
        <p:spPr>
          <a:xfrm rot="16200000" flipH="1">
            <a:off x="6676111" y="4936238"/>
            <a:ext cx="292121" cy="341684"/>
          </a:xfrm>
          <a:custGeom>
            <a:avLst/>
            <a:gdLst>
              <a:gd name="connsiteX0" fmla="*/ 0 w 387377"/>
              <a:gd name="connsiteY0" fmla="*/ 135582 h 453102"/>
              <a:gd name="connsiteX1" fmla="*/ 193689 w 387377"/>
              <a:gd name="connsiteY1" fmla="*/ 0 h 453102"/>
              <a:gd name="connsiteX2" fmla="*/ 387377 w 387377"/>
              <a:gd name="connsiteY2" fmla="*/ 135582 h 453102"/>
              <a:gd name="connsiteX3" fmla="*/ 290533 w 387377"/>
              <a:gd name="connsiteY3" fmla="*/ 135582 h 453102"/>
              <a:gd name="connsiteX4" fmla="*/ 290533 w 387377"/>
              <a:gd name="connsiteY4" fmla="*/ 453102 h 453102"/>
              <a:gd name="connsiteX5" fmla="*/ 96844 w 387377"/>
              <a:gd name="connsiteY5" fmla="*/ 453102 h 453102"/>
              <a:gd name="connsiteX6" fmla="*/ 96844 w 387377"/>
              <a:gd name="connsiteY6" fmla="*/ 135582 h 453102"/>
              <a:gd name="connsiteX7" fmla="*/ 0 w 387377"/>
              <a:gd name="connsiteY7" fmla="*/ 135582 h 45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7377" h="453102">
                <a:moveTo>
                  <a:pt x="0" y="135582"/>
                </a:moveTo>
                <a:lnTo>
                  <a:pt x="193689" y="0"/>
                </a:lnTo>
                <a:lnTo>
                  <a:pt x="387377" y="135582"/>
                </a:lnTo>
                <a:lnTo>
                  <a:pt x="290533" y="135582"/>
                </a:lnTo>
                <a:lnTo>
                  <a:pt x="290533" y="453102"/>
                </a:lnTo>
                <a:lnTo>
                  <a:pt x="96844" y="453102"/>
                </a:lnTo>
                <a:lnTo>
                  <a:pt x="96844" y="135582"/>
                </a:lnTo>
                <a:lnTo>
                  <a:pt x="0" y="135582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5076" tIns="146022" rIns="175075" bIns="7823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904D441-8641-97B1-DB4C-ADBF2AED7FFC}"/>
              </a:ext>
            </a:extLst>
          </p:cNvPr>
          <p:cNvSpPr/>
          <p:nvPr/>
        </p:nvSpPr>
        <p:spPr>
          <a:xfrm rot="16200000" flipH="1">
            <a:off x="9517953" y="4862922"/>
            <a:ext cx="292121" cy="341684"/>
          </a:xfrm>
          <a:custGeom>
            <a:avLst/>
            <a:gdLst>
              <a:gd name="connsiteX0" fmla="*/ 0 w 387377"/>
              <a:gd name="connsiteY0" fmla="*/ 135582 h 453102"/>
              <a:gd name="connsiteX1" fmla="*/ 193689 w 387377"/>
              <a:gd name="connsiteY1" fmla="*/ 0 h 453102"/>
              <a:gd name="connsiteX2" fmla="*/ 387377 w 387377"/>
              <a:gd name="connsiteY2" fmla="*/ 135582 h 453102"/>
              <a:gd name="connsiteX3" fmla="*/ 290533 w 387377"/>
              <a:gd name="connsiteY3" fmla="*/ 135582 h 453102"/>
              <a:gd name="connsiteX4" fmla="*/ 290533 w 387377"/>
              <a:gd name="connsiteY4" fmla="*/ 453102 h 453102"/>
              <a:gd name="connsiteX5" fmla="*/ 96844 w 387377"/>
              <a:gd name="connsiteY5" fmla="*/ 453102 h 453102"/>
              <a:gd name="connsiteX6" fmla="*/ 96844 w 387377"/>
              <a:gd name="connsiteY6" fmla="*/ 135582 h 453102"/>
              <a:gd name="connsiteX7" fmla="*/ 0 w 387377"/>
              <a:gd name="connsiteY7" fmla="*/ 135582 h 45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7377" h="453102">
                <a:moveTo>
                  <a:pt x="0" y="135582"/>
                </a:moveTo>
                <a:lnTo>
                  <a:pt x="193689" y="0"/>
                </a:lnTo>
                <a:lnTo>
                  <a:pt x="387377" y="135582"/>
                </a:lnTo>
                <a:lnTo>
                  <a:pt x="290533" y="135582"/>
                </a:lnTo>
                <a:lnTo>
                  <a:pt x="290533" y="453102"/>
                </a:lnTo>
                <a:lnTo>
                  <a:pt x="96844" y="453102"/>
                </a:lnTo>
                <a:lnTo>
                  <a:pt x="96844" y="135582"/>
                </a:lnTo>
                <a:lnTo>
                  <a:pt x="0" y="135582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5076" tIns="146022" rIns="175075" bIns="7823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A8DEAE3-557B-5535-C5DF-7DE4A4307588}"/>
              </a:ext>
            </a:extLst>
          </p:cNvPr>
          <p:cNvSpPr/>
          <p:nvPr/>
        </p:nvSpPr>
        <p:spPr>
          <a:xfrm rot="10800000" flipH="1">
            <a:off x="10781171" y="3833651"/>
            <a:ext cx="292121" cy="288828"/>
          </a:xfrm>
          <a:custGeom>
            <a:avLst/>
            <a:gdLst>
              <a:gd name="connsiteX0" fmla="*/ 0 w 387377"/>
              <a:gd name="connsiteY0" fmla="*/ 135582 h 453102"/>
              <a:gd name="connsiteX1" fmla="*/ 193689 w 387377"/>
              <a:gd name="connsiteY1" fmla="*/ 0 h 453102"/>
              <a:gd name="connsiteX2" fmla="*/ 387377 w 387377"/>
              <a:gd name="connsiteY2" fmla="*/ 135582 h 453102"/>
              <a:gd name="connsiteX3" fmla="*/ 290533 w 387377"/>
              <a:gd name="connsiteY3" fmla="*/ 135582 h 453102"/>
              <a:gd name="connsiteX4" fmla="*/ 290533 w 387377"/>
              <a:gd name="connsiteY4" fmla="*/ 453102 h 453102"/>
              <a:gd name="connsiteX5" fmla="*/ 96844 w 387377"/>
              <a:gd name="connsiteY5" fmla="*/ 453102 h 453102"/>
              <a:gd name="connsiteX6" fmla="*/ 96844 w 387377"/>
              <a:gd name="connsiteY6" fmla="*/ 135582 h 453102"/>
              <a:gd name="connsiteX7" fmla="*/ 0 w 387377"/>
              <a:gd name="connsiteY7" fmla="*/ 135582 h 45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7377" h="453102">
                <a:moveTo>
                  <a:pt x="0" y="135582"/>
                </a:moveTo>
                <a:lnTo>
                  <a:pt x="193689" y="0"/>
                </a:lnTo>
                <a:lnTo>
                  <a:pt x="387377" y="135582"/>
                </a:lnTo>
                <a:lnTo>
                  <a:pt x="290533" y="135582"/>
                </a:lnTo>
                <a:lnTo>
                  <a:pt x="290533" y="453102"/>
                </a:lnTo>
                <a:lnTo>
                  <a:pt x="96844" y="453102"/>
                </a:lnTo>
                <a:lnTo>
                  <a:pt x="96844" y="135582"/>
                </a:lnTo>
                <a:lnTo>
                  <a:pt x="0" y="135582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5076" tIns="146022" rIns="175075" bIns="7823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A8D495-92A8-A724-57BF-E63C8EF46EA6}"/>
              </a:ext>
            </a:extLst>
          </p:cNvPr>
          <p:cNvSpPr txBox="1"/>
          <p:nvPr/>
        </p:nvSpPr>
        <p:spPr>
          <a:xfrm>
            <a:off x="7187985" y="3380660"/>
            <a:ext cx="2123856" cy="28882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Schematic and PCB layout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C6AD8B-F636-1E7D-6946-04C789B22C22}"/>
              </a:ext>
            </a:extLst>
          </p:cNvPr>
          <p:cNvSpPr txBox="1"/>
          <p:nvPr/>
        </p:nvSpPr>
        <p:spPr>
          <a:xfrm>
            <a:off x="10036645" y="3380659"/>
            <a:ext cx="1808453" cy="3327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Board manufacturing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2145B1-6624-4C5E-8794-E34AE0020AF1}"/>
              </a:ext>
            </a:extLst>
          </p:cNvPr>
          <p:cNvSpPr txBox="1"/>
          <p:nvPr/>
        </p:nvSpPr>
        <p:spPr>
          <a:xfrm>
            <a:off x="10036645" y="5802854"/>
            <a:ext cx="1877851" cy="28882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 Tests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B71195-462E-F0EB-06E1-66D439B97483}"/>
              </a:ext>
            </a:extLst>
          </p:cNvPr>
          <p:cNvSpPr txBox="1"/>
          <p:nvPr/>
        </p:nvSpPr>
        <p:spPr>
          <a:xfrm>
            <a:off x="7187984" y="5802854"/>
            <a:ext cx="2103521" cy="39066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UL witness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26537B-A404-7189-3580-DE956DCA87DA}"/>
              </a:ext>
            </a:extLst>
          </p:cNvPr>
          <p:cNvSpPr txBox="1"/>
          <p:nvPr/>
        </p:nvSpPr>
        <p:spPr>
          <a:xfrm>
            <a:off x="4444481" y="5802854"/>
            <a:ext cx="2018699" cy="28882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Safety and EMC pre-compliance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547D6F5-282C-E1AA-3125-64B07362E245}"/>
              </a:ext>
            </a:extLst>
          </p:cNvPr>
          <p:cNvSpPr txBox="1">
            <a:spLocks/>
          </p:cNvSpPr>
          <p:nvPr/>
        </p:nvSpPr>
        <p:spPr>
          <a:xfrm>
            <a:off x="833152" y="2263753"/>
            <a:ext cx="3290762" cy="13915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 fontAlgn="auto">
              <a:spcBef>
                <a:spcPct val="0"/>
              </a:spcBef>
              <a:spcAft>
                <a:spcPct val="15000"/>
              </a:spcAft>
            </a:pPr>
            <a:r>
              <a:rPr lang="en-US" sz="14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loop/Feedback Design, IGBT Gate driver Design </a:t>
            </a:r>
          </a:p>
          <a:p>
            <a:pPr marL="285750" lvl="1" indent="-285750" fontAlgn="auto">
              <a:spcBef>
                <a:spcPct val="0"/>
              </a:spcBef>
              <a:spcAft>
                <a:spcPct val="15000"/>
              </a:spcAft>
            </a:pPr>
            <a:r>
              <a:rPr lang="en-US" sz="14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 bus component identification </a:t>
            </a:r>
          </a:p>
          <a:p>
            <a:pPr marL="285750" lvl="1" indent="-285750" fontAlgn="auto">
              <a:spcBef>
                <a:spcPct val="0"/>
              </a:spcBef>
              <a:spcAft>
                <a:spcPct val="15000"/>
              </a:spcAft>
            </a:pPr>
            <a:r>
              <a:rPr lang="en-US" sz="14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Schematics and PCB layout (Mentor Graphics </a:t>
            </a:r>
            <a:r>
              <a:rPr lang="en-US" sz="1400" dirty="0" err="1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Xpedition</a:t>
            </a:r>
            <a:r>
              <a:rPr lang="en-US" sz="14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lvl="1" indent="-285750" fontAlgn="auto">
              <a:spcBef>
                <a:spcPct val="0"/>
              </a:spcBef>
              <a:spcAft>
                <a:spcPct val="15000"/>
              </a:spcAft>
            </a:pPr>
            <a:r>
              <a:rPr lang="en-US" sz="14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 Enclosure Redesign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AA70698-CE8A-099F-E67F-F88B53EAACF7}"/>
              </a:ext>
            </a:extLst>
          </p:cNvPr>
          <p:cNvSpPr/>
          <p:nvPr/>
        </p:nvSpPr>
        <p:spPr>
          <a:xfrm>
            <a:off x="833152" y="1909227"/>
            <a:ext cx="3290763" cy="354526"/>
          </a:xfrm>
          <a:custGeom>
            <a:avLst/>
            <a:gdLst>
              <a:gd name="connsiteX0" fmla="*/ 0 w 3381053"/>
              <a:gd name="connsiteY0" fmla="*/ 0 h 354526"/>
              <a:gd name="connsiteX1" fmla="*/ 3381053 w 3381053"/>
              <a:gd name="connsiteY1" fmla="*/ 0 h 354526"/>
              <a:gd name="connsiteX2" fmla="*/ 3381053 w 3381053"/>
              <a:gd name="connsiteY2" fmla="*/ 354526 h 354526"/>
              <a:gd name="connsiteX3" fmla="*/ 0 w 3381053"/>
              <a:gd name="connsiteY3" fmla="*/ 354526 h 354526"/>
              <a:gd name="connsiteX4" fmla="*/ 0 w 3381053"/>
              <a:gd name="connsiteY4" fmla="*/ 0 h 35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81053" h="354526">
                <a:moveTo>
                  <a:pt x="0" y="0"/>
                </a:moveTo>
                <a:lnTo>
                  <a:pt x="3381053" y="0"/>
                </a:lnTo>
                <a:lnTo>
                  <a:pt x="3381053" y="354526"/>
                </a:lnTo>
                <a:lnTo>
                  <a:pt x="0" y="35452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792" tIns="65024" rIns="113792" bIns="65024" numCol="1" spcCol="1270" anchor="ctr" anchorCtr="0">
            <a:noAutofit/>
          </a:bodyPr>
          <a:lstStyle/>
          <a:p>
            <a:pPr marL="0" lvl="0" indent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latin typeface="Arial" panose="020B0604020202020204" pitchFamily="34" charset="0"/>
                <a:cs typeface="Arial" panose="020B0604020202020204" pitchFamily="34" charset="0"/>
              </a:rPr>
              <a:t>Scope</a:t>
            </a:r>
            <a:endParaRPr lang="en-US" sz="16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EEC5EA7-804B-F69E-B15C-E1A9AB0DBE32}"/>
              </a:ext>
            </a:extLst>
          </p:cNvPr>
          <p:cNvSpPr txBox="1">
            <a:spLocks/>
          </p:cNvSpPr>
          <p:nvPr/>
        </p:nvSpPr>
        <p:spPr>
          <a:xfrm>
            <a:off x="833152" y="4411307"/>
            <a:ext cx="3290762" cy="15527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 fontAlgn="auto">
              <a:spcBef>
                <a:spcPct val="0"/>
              </a:spcBef>
              <a:spcAft>
                <a:spcPct val="15000"/>
              </a:spcAft>
            </a:pPr>
            <a:r>
              <a:rPr lang="en-US" sz="14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Feedback circuit simulation</a:t>
            </a:r>
          </a:p>
          <a:p>
            <a:pPr marL="285750" lvl="1" indent="-285750" fontAlgn="auto">
              <a:spcBef>
                <a:spcPct val="0"/>
              </a:spcBef>
              <a:spcAft>
                <a:spcPct val="15000"/>
              </a:spcAft>
            </a:pPr>
            <a:r>
              <a:rPr lang="en-US" sz="14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 drive circuit simulation</a:t>
            </a:r>
          </a:p>
          <a:p>
            <a:pPr marL="285750" lvl="1" indent="-285750" fontAlgn="auto">
              <a:spcBef>
                <a:spcPct val="0"/>
              </a:spcBef>
              <a:spcAft>
                <a:spcPct val="15000"/>
              </a:spcAft>
            </a:pPr>
            <a:r>
              <a:rPr lang="en-US" sz="14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Board bring-up, Circuit operation tests, </a:t>
            </a:r>
          </a:p>
          <a:p>
            <a:pPr marL="285750" lvl="1" indent="-285750" fontAlgn="auto">
              <a:spcBef>
                <a:spcPct val="0"/>
              </a:spcBef>
              <a:spcAft>
                <a:spcPct val="15000"/>
              </a:spcAft>
            </a:pPr>
            <a:r>
              <a:rPr lang="en-US" sz="14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2-pulse test for IGBT validation</a:t>
            </a:r>
          </a:p>
          <a:p>
            <a:pPr marL="285750" lvl="1" indent="-285750" fontAlgn="auto">
              <a:spcBef>
                <a:spcPct val="0"/>
              </a:spcBef>
              <a:spcAft>
                <a:spcPct val="15000"/>
              </a:spcAft>
            </a:pPr>
            <a:r>
              <a:rPr lang="en-US" sz="1400" dirty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Thermal tests. Conformance (EMC, Safety) tests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801BC1D-A433-6925-3143-0860341D03D4}"/>
              </a:ext>
            </a:extLst>
          </p:cNvPr>
          <p:cNvSpPr/>
          <p:nvPr/>
        </p:nvSpPr>
        <p:spPr>
          <a:xfrm>
            <a:off x="833152" y="4056782"/>
            <a:ext cx="3290763" cy="354526"/>
          </a:xfrm>
          <a:custGeom>
            <a:avLst/>
            <a:gdLst>
              <a:gd name="connsiteX0" fmla="*/ 0 w 3381053"/>
              <a:gd name="connsiteY0" fmla="*/ 0 h 354526"/>
              <a:gd name="connsiteX1" fmla="*/ 3381053 w 3381053"/>
              <a:gd name="connsiteY1" fmla="*/ 0 h 354526"/>
              <a:gd name="connsiteX2" fmla="*/ 3381053 w 3381053"/>
              <a:gd name="connsiteY2" fmla="*/ 354526 h 354526"/>
              <a:gd name="connsiteX3" fmla="*/ 0 w 3381053"/>
              <a:gd name="connsiteY3" fmla="*/ 354526 h 354526"/>
              <a:gd name="connsiteX4" fmla="*/ 0 w 3381053"/>
              <a:gd name="connsiteY4" fmla="*/ 0 h 35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81053" h="354526">
                <a:moveTo>
                  <a:pt x="0" y="0"/>
                </a:moveTo>
                <a:lnTo>
                  <a:pt x="3381053" y="0"/>
                </a:lnTo>
                <a:lnTo>
                  <a:pt x="3381053" y="354526"/>
                </a:lnTo>
                <a:lnTo>
                  <a:pt x="0" y="35452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792" tIns="65024" rIns="113792" bIns="65024" numCol="1" spcCol="1270" anchor="ctr" anchorCtr="0">
            <a:noAutofit/>
          </a:bodyPr>
          <a:lstStyle/>
          <a:p>
            <a:pPr marL="0" lvl="0" indent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latin typeface="Arial" panose="020B0604020202020204" pitchFamily="34" charset="0"/>
                <a:cs typeface="Arial" panose="020B0604020202020204" pitchFamily="34" charset="0"/>
              </a:rPr>
              <a:t>Achievements</a:t>
            </a:r>
            <a:endParaRPr lang="en-US" sz="16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Action Button: Go Home 2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15D6788-495F-4996-A4C3-85B14F408527}"/>
              </a:ext>
            </a:extLst>
          </p:cNvPr>
          <p:cNvSpPr/>
          <p:nvPr/>
        </p:nvSpPr>
        <p:spPr>
          <a:xfrm>
            <a:off x="11027391" y="355833"/>
            <a:ext cx="346904" cy="313898"/>
          </a:xfrm>
          <a:prstGeom prst="actionButtonHom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DD59AD26-B5E1-DA12-1177-23518109BBE5}"/>
              </a:ext>
            </a:extLst>
          </p:cNvPr>
          <p:cNvSpPr txBox="1">
            <a:spLocks/>
          </p:cNvSpPr>
          <p:nvPr/>
        </p:nvSpPr>
        <p:spPr>
          <a:xfrm>
            <a:off x="964354" y="485845"/>
            <a:ext cx="10556590" cy="633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Range Extension of 7.5kW VFD to 15kW and 22kW</a:t>
            </a:r>
          </a:p>
        </p:txBody>
      </p:sp>
    </p:spTree>
    <p:extLst>
      <p:ext uri="{BB962C8B-B14F-4D97-AF65-F5344CB8AC3E}">
        <p14:creationId xmlns:p14="http://schemas.microsoft.com/office/powerpoint/2010/main" val="2066402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2025-10-14T11:03:04Z</dcterms:created>
  <dcterms:modified xsi:type="dcterms:W3CDTF">2025-10-14T11:05:39Z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2025-10-14T11:05:39Z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940319a5-8197-48e6-83b7-defa495cf821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